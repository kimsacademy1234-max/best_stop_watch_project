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40초] 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1분] 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 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10초] 첫 번째는 LAP 설정 검증입니다. 측정 중 D 버튼을 누르고, 당시 값이 저장되는지와 이후 표시값이 유지되는지를 확인했습니다. 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 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30초] 두 번째는 별도 구간에서 확인한 LAP 해제 검증입니다. 시나리오는 저장값 11을 표시하는 상태에서 D 버튼을 다시 누르는 것입니다. 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 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 파트 맡은 정보윤입니다. 타이머는 상태가 셋입니다. SET 에서 U · R · D 로 10초, 1분, 10분을 더하고, 최대는 59분 59초입니다. L 을 누르면 RUN 으로 가서 10 ms 마다 줄어들고, 0 이 되면 ALARM 이 되어 LED 16개가 0.5초 간격으로 깜빡입니다. 알람은 아무 버튼이나 누르면 꺼지고, RUN 중에 L 을 누르면 취소입니다.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U 를 누를 때마다 o_tm_add 펄스가 나오고 초가 10씩 늘어납니다. 여섯 번째에 50초 더하기 10초는 60초가 아니라 1분 0초가 됩니다. 아래 확대를 보면 add 펄스 다음 클럭에 분과 초가 동시에 바뀝니다.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화면이 분.초 네 자리라 60분 이상은 보여 줄 수 없습니다. 그래서 더한 결과가 60분 이상이면 59분 59초로 멈추게 했고, 59분 50초에서 U 를 눌렀을 때 59분 59초에서 멈추는 걸 확인했습니다.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10초를 설정하고 시작하면 1초마다 줄어서 0 이 되는 순간 ALARM 이 됩니다. 시작부터 알람까지 간격이 10초 하고 20 나노초인데, 20 나노초는 tick 에서 감소, 감소에서 알람까지 두 클럭입니다. 이 숫자가 처음에는 10초가 아니었는데, 뒤에서 말씀드리겠습니다.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트러블슈팅입니다. 처음에는 자원을 아끼려고 1/100초 tick 하나를 시계, 스톱워치, 타이머가 같이 썼습니다. 그랬더니 10초 타이머가 9.998초에 울렸습니다. 시계는 리셋부터 계속 돌아서 상관없지만, 타이머는 누른 순간이 0 이어야 합니다. 공유 tick 은 이미 돌고 있어서, 시작 순간이 tick 사이 어디냐에 따라 첫 감소가 8, 5, 2 ms 로 달라졌습니다.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해결책은 네 가지 구조를 같은 조건에서 합성하고 같은 TB 로 돌려 비교했습니다. 교수님 수업 방식은 정확하지만 자원이 가장 많고, 기존 팀 판은 자원이 적지만 시작이 최대 10 ms 어긋납니다. 그래서 ④, 디바운서용 4 kHz 는 그대로 공유하고 시간을 세는 100 Hz 만 기능마다 따로 두었습니다. 기존보다 FF 42개가 늘었지만 교수님 방식보다는 64개 적고 정확도는 같습니다.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결과입니다. 같은 TB 로 9.998초가 10초 20 나노초가 되었습니다. 20 나노초는 오차가 아니라 tick 에서 값이 0 이 되는 데 한 클럭, 0 을 보고 FSM 이 ALARM 으로 가는 데 한 클럭, 이렇게 레지스터 두 단을 지나는 고정 지연이라 언제 시작해도 똑같습니다. 고친 뒤 검증을 더 하다가 클럭 단위로 남은 두 가지를 찾았습니다. 알람 뒤 다시 시작하면 20 나노초 일찍 시작하던 것, 스톱워치를 tick 이 나오는 바로 그 클럭에 멈추면 1/100초 하나를 잃던 것입니다. 둘 다 고치기 전 소스에서는 FAIL, 고친 뒤에는 PASS 로 확인했습니다.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트러블슈팅입니다. 수업 때처럼 디바운서를 1 MHz 로 샘플했더니, 보드에서 R 을 한 번 눌렀는데 STOP, RUN, STOP 으로 두 번 바뀌거나 시계 설정에서 숫자가 2씩 바뀌는 일이 생겼습니다. 원인은 왼쪽 그림입니다. 버튼 접점은 누르는 순간 수백 마이크로초에서 수 밀리초 동안 튀는데, 1 MHz 로 8번 샘플하면 8 마이크로초만 1 이어도 눌림으로 인정해서, 튀는 조각마다 펄스가 나옵니다. 그래서 샘플 박자를 4 kHz 로 낮췄습니다. 그러면 8번 연속 1 이 되려면 2 ms 동안 계속 눌려 있어야 해서 튐이 걸러집니다. 그리고 같은 4 kHz 를 FND 스캔에도 써서, 8칸 한 바퀴가 2 ms 로 Basys-3 설명서 권장 범위 1~16 ms 안에 들어갑니다. 분주기 하나로 두 가지를 해결했습니다. 결과는 아래 표처럼 같은 튀는 입력 20번에 1 MHz 판은 펄스가 여러 개, 4 kHz 판은 정확히 20개였습니다. 대가는 반응이 2 ms 늦어지는 것인데 사람은 느끼지 못합니다. (→ 정보윤) 두 번째 트러블슈팅은 정보윤이 설명하겠습니다.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결론입니다. 처음 목표로 잡은 기본 기능과 추가 기능을 모두 구현했고, 왼쪽 표처럼 기능마다 Top 테스트벤치로 자동 판정해서 모두 통과했습니다, 보드에서도 같은 동작을 확인했습니다. 자원은 LUT 337개, 플립플롭 228개로 칩의 2% 미만이고, 100 MHz 에서 타이밍 여유가 3.785 나노초입니다. 고찰입니다. 첫째, 4 kHz 펄스를 클럭처럼 써서 Vivado 경고가 35개 남았습니다. enable 방식으로 바꾸면 0 개가 되는 것을 비교용 판에서 확인했고 다음 프로젝트에 적용하겠습니다. 둘째, 디바운서는 8번 연속 1 만 보기 때문에 누른 채 잠깐 끊기면 두 번 인식될 수 있습니다. 셋째, 버튼 두 개를 같은 클럭에 누르면 우선순위로 처리하는데, 이걸 사양으로 먼저 정했어야 했습니다. 마지막으로, 하루짜리 경계는 초기값을 넣어 확인했기 때문에 실제 24시간 흐름은 보드로만 볼 수 있습니다. 이상으로 발표를 마치겠습니다. 감사합니다.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질문이 나오면 쓰는 부록입니다. 테스트벤치 열한 개의 검사 수와 결과입니다.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2331720"/>
            <a:ext cx="9601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STOPWATCH ·</a:t>
            </a:r>
            <a:endParaRPr lang="ko-KR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WATCH · TIMER</a:t>
            </a:r>
            <a:endParaRPr lang="ko-KR" sz="6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48006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1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Basys-3 FPGA 3-in-1 디지털 시계 — 설계 · 시뮬레이션 검증</a:t>
            </a:r>
            <a:endParaRPr lang="ko-KR" sz="2100" dirty="0"/>
          </a:p>
        </p:txBody>
      </p:sp>
      <p:sp>
        <p:nvSpPr>
          <p:cNvPr id="5" name="chip"/>
          <p:cNvSpPr/>
          <p:nvPr/>
        </p:nvSpPr>
        <p:spPr>
          <a:xfrm>
            <a:off x="86868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6" name="chip"/>
          <p:cNvSpPr/>
          <p:nvPr/>
        </p:nvSpPr>
        <p:spPr>
          <a:xfrm>
            <a:off x="274320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300" dirty="0"/>
          </a:p>
        </p:txBody>
      </p:sp>
      <p:sp>
        <p:nvSpPr>
          <p:cNvPr id="7" name="chip"/>
          <p:cNvSpPr/>
          <p:nvPr/>
        </p:nvSpPr>
        <p:spPr>
          <a:xfrm>
            <a:off x="461772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8" name="text"/>
          <p:cNvSpPr txBox="1"/>
          <p:nvPr/>
        </p:nvSpPr>
        <p:spPr>
          <a:xfrm>
            <a:off x="868680" y="8275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2026. 10. 18</a:t>
            </a:r>
            <a:endParaRPr lang="ko-KR" sz="1500" dirty="0"/>
          </a:p>
        </p:txBody>
      </p:sp>
      <p:sp>
        <p:nvSpPr>
          <p:cNvPr id="9" name="text"/>
          <p:cNvSpPr txBox="1"/>
          <p:nvPr/>
        </p:nvSpPr>
        <p:spPr>
          <a:xfrm>
            <a:off x="868680" y="8641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팀원   정안성 · 정보윤 · 이종혁</a:t>
            </a:r>
            <a:endParaRPr lang="ko-KR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0789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Contents</a:t>
            </a:r>
            <a:endParaRPr lang="ko-KR" sz="47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21488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Basys-3 FPGA 위에 세 가지 시간 기능을 하나의 Top 으로 통합,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테스트벤치로 버튼 → FND 전체 경로를 검증</a:t>
            </a:r>
            <a:endParaRPr lang="ko-KR" sz="1400" dirty="0"/>
          </a:p>
        </p:txBody>
      </p:sp>
      <p:sp>
        <p:nvSpPr>
          <p:cNvPr id="5" name="text"/>
          <p:cNvSpPr txBox="1"/>
          <p:nvPr/>
        </p:nvSpPr>
        <p:spPr>
          <a:xfrm>
            <a:off x="7863840" y="12344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01</a:t>
            </a:r>
            <a:endParaRPr lang="ko-KR" sz="3200" dirty="0"/>
          </a:p>
        </p:txBody>
      </p:sp>
      <p:sp>
        <p:nvSpPr>
          <p:cNvPr id="6" name="text"/>
          <p:cNvSpPr txBox="1"/>
          <p:nvPr/>
        </p:nvSpPr>
        <p:spPr>
          <a:xfrm>
            <a:off x="9144000" y="12527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2200" dirty="0"/>
          </a:p>
        </p:txBody>
      </p:sp>
      <p:sp>
        <p:nvSpPr>
          <p:cNvPr id="7" name="text"/>
          <p:cNvSpPr txBox="1"/>
          <p:nvPr/>
        </p:nvSpPr>
        <p:spPr>
          <a:xfrm>
            <a:off x="914400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팀 구성 · 기능별 목표 · 핵심 결과</a:t>
            </a:r>
            <a:endParaRPr lang="ko-KR" sz="1300" dirty="0"/>
          </a:p>
        </p:txBody>
      </p:sp>
      <p:cxnSp>
        <p:nvCxnSpPr>
          <p:cNvPr id="8" name="line"/>
          <p:cNvCxnSpPr/>
          <p:nvPr/>
        </p:nvCxnSpPr>
        <p:spPr>
          <a:xfrm>
            <a:off x="7863840" y="219456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9" name="text"/>
          <p:cNvSpPr txBox="1"/>
          <p:nvPr/>
        </p:nvSpPr>
        <p:spPr>
          <a:xfrm>
            <a:off x="7863840" y="23317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02</a:t>
            </a:r>
            <a:endParaRPr lang="ko-KR" sz="3200" dirty="0"/>
          </a:p>
        </p:txBody>
      </p:sp>
      <p:sp>
        <p:nvSpPr>
          <p:cNvPr id="10" name="text"/>
          <p:cNvSpPr txBox="1"/>
          <p:nvPr/>
        </p:nvSpPr>
        <p:spPr>
          <a:xfrm>
            <a:off x="9144000" y="23500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보드 사용 설명서</a:t>
            </a:r>
            <a:endParaRPr lang="ko-KR" sz="2200" dirty="0"/>
          </a:p>
        </p:txBody>
      </p:sp>
      <p:sp>
        <p:nvSpPr>
          <p:cNvPr id="11" name="text"/>
          <p:cNvSpPr txBox="1"/>
          <p:nvPr/>
        </p:nvSpPr>
        <p:spPr>
          <a:xfrm>
            <a:off x="9144000" y="27889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스톱워치 · 시계 · 타이머 조작법</a:t>
            </a:r>
            <a:endParaRPr lang="ko-KR" sz="1300" dirty="0"/>
          </a:p>
        </p:txBody>
      </p:sp>
      <p:cxnSp>
        <p:nvCxnSpPr>
          <p:cNvPr id="12" name="line"/>
          <p:cNvCxnSpPr/>
          <p:nvPr/>
        </p:nvCxnSpPr>
        <p:spPr>
          <a:xfrm>
            <a:off x="7863840" y="329184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3" name="text"/>
          <p:cNvSpPr txBox="1"/>
          <p:nvPr/>
        </p:nvSpPr>
        <p:spPr>
          <a:xfrm>
            <a:off x="7863840" y="342900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3200" dirty="0"/>
          </a:p>
        </p:txBody>
      </p:sp>
      <p:sp>
        <p:nvSpPr>
          <p:cNvPr id="14" name="text"/>
          <p:cNvSpPr txBox="1"/>
          <p:nvPr/>
        </p:nvSpPr>
        <p:spPr>
          <a:xfrm>
            <a:off x="9144000" y="344728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시스템 구조</a:t>
            </a:r>
            <a:endParaRPr lang="ko-KR" sz="2200" dirty="0"/>
          </a:p>
        </p:txBody>
      </p:sp>
      <p:sp>
        <p:nvSpPr>
          <p:cNvPr id="15" name="text"/>
          <p:cNvSpPr txBox="1"/>
          <p:nvPr/>
        </p:nvSpPr>
        <p:spPr>
          <a:xfrm>
            <a:off x="9144000" y="38862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블록 다이어그램 · 신호 흐름</a:t>
            </a:r>
            <a:endParaRPr lang="ko-KR" sz="1300" dirty="0"/>
          </a:p>
        </p:txBody>
      </p:sp>
      <p:cxnSp>
        <p:nvCxnSpPr>
          <p:cNvPr id="16" name="line"/>
          <p:cNvCxnSpPr/>
          <p:nvPr/>
        </p:nvCxnSpPr>
        <p:spPr>
          <a:xfrm>
            <a:off x="7863840" y="438912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7" name="text"/>
          <p:cNvSpPr txBox="1"/>
          <p:nvPr/>
        </p:nvSpPr>
        <p:spPr>
          <a:xfrm>
            <a:off x="7863840" y="45262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3200" dirty="0"/>
          </a:p>
        </p:txBody>
      </p:sp>
      <p:sp>
        <p:nvSpPr>
          <p:cNvPr id="18" name="text"/>
          <p:cNvSpPr txBox="1"/>
          <p:nvPr/>
        </p:nvSpPr>
        <p:spPr>
          <a:xfrm>
            <a:off x="9144000" y="45445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시뮬레이션 검증</a:t>
            </a:r>
            <a:endParaRPr lang="ko-KR" sz="2200" dirty="0"/>
          </a:p>
        </p:txBody>
      </p:sp>
      <p:sp>
        <p:nvSpPr>
          <p:cNvPr id="19" name="text"/>
          <p:cNvSpPr txBox="1"/>
          <p:nvPr/>
        </p:nvSpPr>
        <p:spPr>
          <a:xfrm>
            <a:off x="9144000" y="4983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시계 · 스톱워치 · 타이머 시나리오</a:t>
            </a:r>
            <a:endParaRPr lang="ko-KR" sz="1300" dirty="0"/>
          </a:p>
        </p:txBody>
      </p:sp>
      <p:cxnSp>
        <p:nvCxnSpPr>
          <p:cNvPr id="20" name="line"/>
          <p:cNvCxnSpPr/>
          <p:nvPr/>
        </p:nvCxnSpPr>
        <p:spPr>
          <a:xfrm>
            <a:off x="7863840" y="548640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1" name="text"/>
          <p:cNvSpPr txBox="1"/>
          <p:nvPr/>
        </p:nvSpPr>
        <p:spPr>
          <a:xfrm>
            <a:off x="7863840" y="562356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3200" dirty="0"/>
          </a:p>
        </p:txBody>
      </p:sp>
      <p:sp>
        <p:nvSpPr>
          <p:cNvPr id="22" name="text"/>
          <p:cNvSpPr txBox="1"/>
          <p:nvPr/>
        </p:nvSpPr>
        <p:spPr>
          <a:xfrm>
            <a:off x="9144000" y="56418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</a:t>
            </a:r>
            <a:endParaRPr lang="ko-KR" sz="2200" dirty="0"/>
          </a:p>
        </p:txBody>
      </p:sp>
      <p:sp>
        <p:nvSpPr>
          <p:cNvPr id="23" name="text"/>
          <p:cNvSpPr txBox="1"/>
          <p:nvPr/>
        </p:nvSpPr>
        <p:spPr>
          <a:xfrm>
            <a:off x="9144000" y="60807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 → 원인 → 해결 → 적용 결과</a:t>
            </a:r>
            <a:endParaRPr lang="ko-KR" sz="1300" dirty="0"/>
          </a:p>
        </p:txBody>
      </p:sp>
      <p:cxnSp>
        <p:nvCxnSpPr>
          <p:cNvPr id="24" name="line"/>
          <p:cNvCxnSpPr/>
          <p:nvPr/>
        </p:nvCxnSpPr>
        <p:spPr>
          <a:xfrm>
            <a:off x="7863840" y="658368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5" name="text"/>
          <p:cNvSpPr txBox="1"/>
          <p:nvPr/>
        </p:nvSpPr>
        <p:spPr>
          <a:xfrm>
            <a:off x="7863840" y="67208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06</a:t>
            </a:r>
            <a:endParaRPr lang="ko-KR" sz="3200" dirty="0"/>
          </a:p>
        </p:txBody>
      </p:sp>
      <p:sp>
        <p:nvSpPr>
          <p:cNvPr id="26" name="text"/>
          <p:cNvSpPr txBox="1"/>
          <p:nvPr/>
        </p:nvSpPr>
        <p:spPr>
          <a:xfrm>
            <a:off x="9144000" y="67391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결론 · 고찰</a:t>
            </a:r>
            <a:endParaRPr lang="ko-KR" sz="2200" dirty="0"/>
          </a:p>
        </p:txBody>
      </p:sp>
      <p:sp>
        <p:nvSpPr>
          <p:cNvPr id="27" name="text"/>
          <p:cNvSpPr txBox="1"/>
          <p:nvPr/>
        </p:nvSpPr>
        <p:spPr>
          <a:xfrm>
            <a:off x="9144000" y="71780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목표 달성 수치 · 남은 과제</a:t>
            </a:r>
            <a:endParaRPr lang="ko-KR" sz="1300" dirty="0"/>
          </a:p>
        </p:txBody>
      </p:sp>
      <p:cxnSp>
        <p:nvCxnSpPr>
          <p:cNvPr id="28" name="line"/>
          <p:cNvCxnSpPr/>
          <p:nvPr/>
        </p:nvCxnSpPr>
        <p:spPr>
          <a:xfrm>
            <a:off x="7863840" y="768096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9" name="text"/>
          <p:cNvSpPr txBox="1"/>
          <p:nvPr/>
        </p:nvSpPr>
        <p:spPr>
          <a:xfrm>
            <a:off x="7863840" y="78181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07</a:t>
            </a:r>
            <a:endParaRPr lang="ko-KR" sz="3200" dirty="0"/>
          </a:p>
        </p:txBody>
      </p:sp>
      <p:sp>
        <p:nvSpPr>
          <p:cNvPr id="30" name="text"/>
          <p:cNvSpPr txBox="1"/>
          <p:nvPr/>
        </p:nvSpPr>
        <p:spPr>
          <a:xfrm>
            <a:off x="9144000" y="78364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시연 영상</a:t>
            </a:r>
            <a:endParaRPr lang="ko-KR" sz="2200" dirty="0"/>
          </a:p>
        </p:txBody>
      </p:sp>
      <p:sp>
        <p:nvSpPr>
          <p:cNvPr id="31" name="text"/>
          <p:cNvSpPr txBox="1"/>
          <p:nvPr/>
        </p:nvSpPr>
        <p:spPr>
          <a:xfrm>
            <a:off x="9144000" y="8275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보드 동작</a:t>
            </a:r>
            <a:endParaRPr lang="ko-KR" sz="1300" dirty="0"/>
          </a:p>
        </p:txBody>
      </p:sp>
      <p:cxnSp>
        <p:nvCxnSpPr>
          <p:cNvPr id="32" name="line"/>
          <p:cNvCxnSpPr/>
          <p:nvPr/>
        </p:nvCxnSpPr>
        <p:spPr>
          <a:xfrm>
            <a:off x="7863840" y="877824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33" name="shape"/>
          <p:cNvSpPr/>
          <p:nvPr/>
        </p:nvSpPr>
        <p:spPr>
          <a:xfrm>
            <a:off x="868680" y="6108192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1234440" y="5989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1234440" y="63825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 · 정지 · 초기화 · 업/다운 + LAP</a:t>
            </a:r>
            <a:endParaRPr lang="ko-KR" sz="1300" dirty="0"/>
          </a:p>
        </p:txBody>
      </p:sp>
      <p:sp>
        <p:nvSpPr>
          <p:cNvPr id="36" name="shape"/>
          <p:cNvSpPr/>
          <p:nvPr/>
        </p:nvSpPr>
        <p:spPr>
          <a:xfrm>
            <a:off x="868680" y="7068312"/>
            <a:ext cx="201168" cy="201168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"/>
          <p:cNvSpPr txBox="1"/>
          <p:nvPr/>
        </p:nvSpPr>
        <p:spPr>
          <a:xfrm>
            <a:off x="1234440" y="6949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1234440" y="734263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12:00 시작 · SW2 자리 단위 설정 · 12/24 h</a:t>
            </a:r>
            <a:endParaRPr lang="ko-KR" sz="1300" dirty="0"/>
          </a:p>
        </p:txBody>
      </p:sp>
      <p:sp>
        <p:nvSpPr>
          <p:cNvPr id="39" name="shape"/>
          <p:cNvSpPr/>
          <p:nvPr/>
        </p:nvSpPr>
        <p:spPr>
          <a:xfrm>
            <a:off x="868680" y="8028432"/>
            <a:ext cx="201168" cy="201168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/>
          <p:cNvSpPr txBox="1"/>
          <p:nvPr/>
        </p:nvSpPr>
        <p:spPr>
          <a:xfrm>
            <a:off x="1234440" y="7909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1234440" y="830275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+10 초 · +1 분 · +10 분 · 0 도달 알람</a:t>
            </a:r>
            <a:endParaRPr lang="ko-KR" sz="1300" dirty="0"/>
          </a:p>
        </p:txBody>
      </p:sp>
      <p:sp>
        <p:nvSpPr>
          <p:cNvPr id="4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팀 구성 · 역할 분담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Top TB / 타이머 · 시계 · 자원 최적화 / 스톱워치 · LAP — 기능 단위로 나눠 설계 · 검증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"/>
          <p:cNvSpPr/>
          <p:nvPr/>
        </p:nvSpPr>
        <p:spPr>
          <a:xfrm>
            <a:off x="2834640" y="2743200"/>
            <a:ext cx="1371600" cy="1371600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10" name="text"/>
          <p:cNvSpPr txBox="1"/>
          <p:nvPr/>
        </p:nvSpPr>
        <p:spPr>
          <a:xfrm>
            <a:off x="84124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정안성</a:t>
            </a:r>
            <a:endParaRPr lang="ko-KR" sz="26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· Top 검증</a:t>
            </a:r>
            <a:endParaRPr lang="ko-KR" sz="1500" dirty="0"/>
          </a:p>
        </p:txBody>
      </p:sp>
      <p:cxnSp>
        <p:nvCxnSpPr>
          <p:cNvPr id="12" name="line"/>
          <p:cNvCxnSpPr/>
          <p:nvPr/>
        </p:nvCxnSpPr>
        <p:spPr>
          <a:xfrm>
            <a:off x="138988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13" name="badge"/>
          <p:cNvSpPr/>
          <p:nvPr/>
        </p:nvSpPr>
        <p:spPr>
          <a:xfrm>
            <a:off x="1426464" y="5760720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89280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컨트롤러 설정 자리 점멸 기능 추가</a:t>
            </a:r>
            <a:endParaRPr lang="ko-KR" sz="1500" dirty="0"/>
          </a:p>
        </p:txBody>
      </p:sp>
      <p:sp>
        <p:nvSpPr>
          <p:cNvPr id="15" name="badge"/>
          <p:cNvSpPr/>
          <p:nvPr/>
        </p:nvSpPr>
        <p:spPr>
          <a:xfrm>
            <a:off x="1426464" y="6419088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89280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모듈 전체 TB 시나리오 구성</a:t>
            </a:r>
            <a:endParaRPr lang="ko-KR" sz="1500" dirty="0"/>
          </a:p>
        </p:txBody>
      </p:sp>
      <p:sp>
        <p:nvSpPr>
          <p:cNvPr id="17" name="badge"/>
          <p:cNvSpPr/>
          <p:nvPr/>
        </p:nvSpPr>
        <p:spPr>
          <a:xfrm>
            <a:off x="1426464" y="7077456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18" name="text"/>
          <p:cNvSpPr txBox="1"/>
          <p:nvPr/>
        </p:nvSpPr>
        <p:spPr>
          <a:xfrm>
            <a:off x="189280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 3 : 디바운서</a:t>
            </a:r>
            <a:endParaRPr lang="ko-KR" sz="1500" dirty="0"/>
          </a:p>
        </p:txBody>
      </p:sp>
      <p:sp>
        <p:nvSpPr>
          <p:cNvPr id="19" name="chip"/>
          <p:cNvSpPr/>
          <p:nvPr/>
        </p:nvSpPr>
        <p:spPr>
          <a:xfrm>
            <a:off x="1389888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</a:t>
            </a:r>
            <a:endParaRPr lang="ko-KR" sz="1100" dirty="0"/>
          </a:p>
        </p:txBody>
      </p:sp>
      <p:sp>
        <p:nvSpPr>
          <p:cNvPr id="20" name="chip"/>
          <p:cNvSpPr/>
          <p:nvPr/>
        </p:nvSpPr>
        <p:spPr>
          <a:xfrm>
            <a:off x="2130552" y="8549640"/>
            <a:ext cx="98755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TOP TB</a:t>
            </a:r>
            <a:endParaRPr lang="ko-KR" sz="1100" dirty="0"/>
          </a:p>
        </p:txBody>
      </p:sp>
      <p:sp>
        <p:nvSpPr>
          <p:cNvPr id="21" name="shape"/>
          <p:cNvSpPr/>
          <p:nvPr/>
        </p:nvSpPr>
        <p:spPr>
          <a:xfrm>
            <a:off x="646480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"/>
          <p:cNvSpPr/>
          <p:nvPr/>
        </p:nvSpPr>
        <p:spPr>
          <a:xfrm>
            <a:off x="8458200" y="2743200"/>
            <a:ext cx="1371600" cy="1371600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23" name="text"/>
          <p:cNvSpPr txBox="1"/>
          <p:nvPr/>
        </p:nvSpPr>
        <p:spPr>
          <a:xfrm>
            <a:off x="646480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정보윤</a:t>
            </a:r>
            <a:endParaRPr lang="ko-KR" sz="2600" dirty="0"/>
          </a:p>
        </p:txBody>
      </p:sp>
      <p:sp>
        <p:nvSpPr>
          <p:cNvPr id="24" name="text"/>
          <p:cNvSpPr txBox="1"/>
          <p:nvPr/>
        </p:nvSpPr>
        <p:spPr>
          <a:xfrm>
            <a:off x="646480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· Watch 설계</a:t>
            </a:r>
            <a:endParaRPr lang="ko-KR" sz="1500" dirty="0"/>
          </a:p>
        </p:txBody>
      </p:sp>
      <p:cxnSp>
        <p:nvCxnSpPr>
          <p:cNvPr id="25" name="line"/>
          <p:cNvCxnSpPr/>
          <p:nvPr/>
        </p:nvCxnSpPr>
        <p:spPr>
          <a:xfrm>
            <a:off x="701344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26" name="badge"/>
          <p:cNvSpPr/>
          <p:nvPr/>
        </p:nvSpPr>
        <p:spPr>
          <a:xfrm>
            <a:off x="7050024" y="5760720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27" name="text"/>
          <p:cNvSpPr txBox="1"/>
          <p:nvPr/>
        </p:nvSpPr>
        <p:spPr>
          <a:xfrm>
            <a:off x="751636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 · Watch 모듈 설계</a:t>
            </a:r>
            <a:endParaRPr lang="ko-KR" sz="1500" dirty="0"/>
          </a:p>
        </p:txBody>
      </p:sp>
      <p:sp>
        <p:nvSpPr>
          <p:cNvPr id="28" name="badge"/>
          <p:cNvSpPr/>
          <p:nvPr/>
        </p:nvSpPr>
        <p:spPr>
          <a:xfrm>
            <a:off x="7050024" y="641908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29" name="text"/>
          <p:cNvSpPr txBox="1"/>
          <p:nvPr/>
        </p:nvSpPr>
        <p:spPr>
          <a:xfrm>
            <a:off x="751636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최적화 — tick 구조 4 종 비교 (LUT · FF)</a:t>
            </a:r>
            <a:endParaRPr lang="ko-KR" sz="1500" dirty="0"/>
          </a:p>
        </p:txBody>
      </p:sp>
      <p:sp>
        <p:nvSpPr>
          <p:cNvPr id="30" name="badge"/>
          <p:cNvSpPr/>
          <p:nvPr/>
        </p:nvSpPr>
        <p:spPr>
          <a:xfrm>
            <a:off x="7050024" y="7077456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31" name="text"/>
          <p:cNvSpPr txBox="1"/>
          <p:nvPr/>
        </p:nvSpPr>
        <p:spPr>
          <a:xfrm>
            <a:off x="751636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 검증 · 트러블 슈팅 2</a:t>
            </a:r>
            <a:endParaRPr lang="ko-KR" sz="1500" dirty="0"/>
          </a:p>
        </p:txBody>
      </p:sp>
      <p:sp>
        <p:nvSpPr>
          <p:cNvPr id="32" name="chip"/>
          <p:cNvSpPr/>
          <p:nvPr/>
        </p:nvSpPr>
        <p:spPr>
          <a:xfrm>
            <a:off x="7013448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100" dirty="0"/>
          </a:p>
        </p:txBody>
      </p:sp>
      <p:sp>
        <p:nvSpPr>
          <p:cNvPr id="33" name="chip"/>
          <p:cNvSpPr/>
          <p:nvPr/>
        </p:nvSpPr>
        <p:spPr>
          <a:xfrm>
            <a:off x="7991856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100" dirty="0"/>
          </a:p>
        </p:txBody>
      </p:sp>
      <p:sp>
        <p:nvSpPr>
          <p:cNvPr id="34" name="chip"/>
          <p:cNvSpPr/>
          <p:nvPr/>
        </p:nvSpPr>
        <p:spPr>
          <a:xfrm>
            <a:off x="8970264" y="8549640"/>
            <a:ext cx="7680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자원</a:t>
            </a:r>
            <a:endParaRPr lang="ko-KR" sz="1100" dirty="0"/>
          </a:p>
        </p:txBody>
      </p:sp>
      <p:sp>
        <p:nvSpPr>
          <p:cNvPr id="35" name="shape"/>
          <p:cNvSpPr/>
          <p:nvPr/>
        </p:nvSpPr>
        <p:spPr>
          <a:xfrm>
            <a:off x="1208836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14081760" y="2743200"/>
            <a:ext cx="1371600" cy="1371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이</a:t>
            </a:r>
            <a:endParaRPr lang="ko-KR" sz="3400" dirty="0"/>
          </a:p>
        </p:txBody>
      </p:sp>
      <p:sp>
        <p:nvSpPr>
          <p:cNvPr id="37" name="text"/>
          <p:cNvSpPr txBox="1"/>
          <p:nvPr/>
        </p:nvSpPr>
        <p:spPr>
          <a:xfrm>
            <a:off x="1208836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</a:t>
            </a:r>
            <a:endParaRPr lang="ko-KR" sz="2600" dirty="0"/>
          </a:p>
        </p:txBody>
      </p:sp>
      <p:sp>
        <p:nvSpPr>
          <p:cNvPr id="38" name="text"/>
          <p:cNvSpPr txBox="1"/>
          <p:nvPr/>
        </p:nvSpPr>
        <p:spPr>
          <a:xfrm>
            <a:off x="1208836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· LAP</a:t>
            </a:r>
            <a:endParaRPr lang="ko-KR" sz="1500" dirty="0"/>
          </a:p>
        </p:txBody>
      </p:sp>
      <p:cxnSp>
        <p:nvCxnSpPr>
          <p:cNvPr id="39" name="line"/>
          <p:cNvCxnSpPr/>
          <p:nvPr/>
        </p:nvCxnSpPr>
        <p:spPr>
          <a:xfrm>
            <a:off x="1263700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badge"/>
          <p:cNvSpPr/>
          <p:nvPr/>
        </p:nvSpPr>
        <p:spPr>
          <a:xfrm>
            <a:off x="12673584" y="5760720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41" name="text"/>
          <p:cNvSpPr txBox="1"/>
          <p:nvPr/>
        </p:nvSpPr>
        <p:spPr>
          <a:xfrm>
            <a:off x="1313992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 기능 동작 확인 (R · L · U)</a:t>
            </a:r>
            <a:endParaRPr lang="ko-KR" sz="1500" dirty="0"/>
          </a:p>
        </p:txBody>
      </p:sp>
      <p:sp>
        <p:nvSpPr>
          <p:cNvPr id="42" name="badge"/>
          <p:cNvSpPr/>
          <p:nvPr/>
        </p:nvSpPr>
        <p:spPr>
          <a:xfrm>
            <a:off x="12673584" y="64190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43" name="text"/>
          <p:cNvSpPr txBox="1"/>
          <p:nvPr/>
        </p:nvSpPr>
        <p:spPr>
          <a:xfrm>
            <a:off x="1313992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버튼 LAP time 추가</a:t>
            </a:r>
            <a:endParaRPr lang="ko-KR" sz="1500" dirty="0"/>
          </a:p>
        </p:txBody>
      </p:sp>
      <p:sp>
        <p:nvSpPr>
          <p:cNvPr id="44" name="badge"/>
          <p:cNvSpPr/>
          <p:nvPr/>
        </p:nvSpPr>
        <p:spPr>
          <a:xfrm>
            <a:off x="12673584" y="707745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45" name="text"/>
          <p:cNvSpPr txBox="1"/>
          <p:nvPr/>
        </p:nvSpPr>
        <p:spPr>
          <a:xfrm>
            <a:off x="1313992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저장 · 해제 파형 검증</a:t>
            </a:r>
            <a:endParaRPr lang="ko-KR" sz="1500" dirty="0"/>
          </a:p>
        </p:txBody>
      </p:sp>
      <p:sp>
        <p:nvSpPr>
          <p:cNvPr id="46" name="chip"/>
          <p:cNvSpPr/>
          <p:nvPr/>
        </p:nvSpPr>
        <p:spPr>
          <a:xfrm>
            <a:off x="12637008" y="8549640"/>
            <a:ext cx="134416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100" dirty="0"/>
          </a:p>
        </p:txBody>
      </p:sp>
      <p:sp>
        <p:nvSpPr>
          <p:cNvPr id="47" name="chip"/>
          <p:cNvSpPr/>
          <p:nvPr/>
        </p:nvSpPr>
        <p:spPr>
          <a:xfrm>
            <a:off x="14090904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LAP</a:t>
            </a:r>
            <a:endParaRPr lang="ko-KR" sz="110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기능별 목표 · 핵심 결과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구현 — Top TB 검사 436 개 PASS · 보드 동작 확인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hip"/>
          <p:cNvSpPr/>
          <p:nvPr/>
        </p:nvSpPr>
        <p:spPr>
          <a:xfrm>
            <a:off x="116128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16128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설정 — 커서 + 자리 단위 올림</a:t>
            </a:r>
            <a:endParaRPr lang="ko-KR" sz="1800" dirty="0"/>
          </a:p>
        </p:txBody>
      </p:sp>
      <p:sp>
        <p:nvSpPr>
          <p:cNvPr id="11" name="text"/>
          <p:cNvSpPr txBox="1"/>
          <p:nvPr/>
        </p:nvSpPr>
        <p:spPr>
          <a:xfrm>
            <a:off x="116128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2" name="text"/>
          <p:cNvSpPr txBox="1"/>
          <p:nvPr/>
        </p:nvSpPr>
        <p:spPr>
          <a:xfrm>
            <a:off x="143560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설정 모드, L · R 로 커서 이동</a:t>
            </a:r>
            <a:endParaRPr lang="ko-KR" sz="1450" dirty="0"/>
          </a:p>
        </p:txBody>
      </p:sp>
      <p:sp>
        <p:nvSpPr>
          <p:cNvPr id="13" name="text"/>
          <p:cNvSpPr txBox="1"/>
          <p:nvPr/>
        </p:nvSpPr>
        <p:spPr>
          <a:xfrm>
            <a:off x="116128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4" name="text"/>
          <p:cNvSpPr txBox="1"/>
          <p:nvPr/>
        </p:nvSpPr>
        <p:spPr>
          <a:xfrm>
            <a:off x="143560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· D 로 그 자리만 ± (분 십의 자리 ± 10 분)</a:t>
            </a:r>
            <a:endParaRPr lang="ko-KR" sz="1450" dirty="0"/>
          </a:p>
        </p:txBody>
      </p:sp>
      <p:sp>
        <p:nvSpPr>
          <p:cNvPr id="15" name="text"/>
          <p:cNvSpPr txBox="1"/>
          <p:nvPr/>
        </p:nvSpPr>
        <p:spPr>
          <a:xfrm>
            <a:off x="116128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6" name="text"/>
          <p:cNvSpPr txBox="1"/>
          <p:nvPr/>
        </p:nvSpPr>
        <p:spPr>
          <a:xfrm>
            <a:off x="143560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중인 자리 점멸로 커서 위치 표시</a:t>
            </a:r>
            <a:endParaRPr lang="ko-KR" sz="1450" dirty="0"/>
          </a:p>
        </p:txBody>
      </p:sp>
      <p:sp>
        <p:nvSpPr>
          <p:cNvPr id="17" name="shape"/>
          <p:cNvSpPr/>
          <p:nvPr/>
        </p:nvSpPr>
        <p:spPr>
          <a:xfrm>
            <a:off x="646480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hip"/>
          <p:cNvSpPr/>
          <p:nvPr/>
        </p:nvSpPr>
        <p:spPr>
          <a:xfrm>
            <a:off x="6784848" y="260604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200" dirty="0"/>
          </a:p>
        </p:txBody>
      </p:sp>
      <p:sp>
        <p:nvSpPr>
          <p:cNvPr id="19" name="text"/>
          <p:cNvSpPr txBox="1"/>
          <p:nvPr/>
        </p:nvSpPr>
        <p:spPr>
          <a:xfrm>
            <a:off x="678484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기존 스톱워치 + D 버튼 LAP time</a:t>
            </a:r>
            <a:endParaRPr lang="ko-KR" sz="1800" dirty="0"/>
          </a:p>
        </p:txBody>
      </p:sp>
      <p:sp>
        <p:nvSpPr>
          <p:cNvPr id="20" name="text"/>
          <p:cNvSpPr txBox="1"/>
          <p:nvPr/>
        </p:nvSpPr>
        <p:spPr>
          <a:xfrm>
            <a:off x="678484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1" name="text"/>
          <p:cNvSpPr txBox="1"/>
          <p:nvPr/>
        </p:nvSpPr>
        <p:spPr>
          <a:xfrm>
            <a:off x="705916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 · 정지 · 초기화 · 업 / 다운 (R · L · U)</a:t>
            </a:r>
            <a:endParaRPr lang="ko-KR" sz="1450" dirty="0"/>
          </a:p>
        </p:txBody>
      </p:sp>
      <p:sp>
        <p:nvSpPr>
          <p:cNvPr id="22" name="text"/>
          <p:cNvSpPr txBox="1"/>
          <p:nvPr/>
        </p:nvSpPr>
        <p:spPr>
          <a:xfrm>
            <a:off x="678484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3" name="text"/>
          <p:cNvSpPr txBox="1"/>
          <p:nvPr/>
        </p:nvSpPr>
        <p:spPr>
          <a:xfrm>
            <a:off x="705916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: 현재 시간 저장 · 표시 고정, 다시 D 로 복귀</a:t>
            </a:r>
            <a:endParaRPr lang="ko-KR" sz="1450" dirty="0"/>
          </a:p>
        </p:txBody>
      </p:sp>
      <p:sp>
        <p:nvSpPr>
          <p:cNvPr id="24" name="text"/>
          <p:cNvSpPr txBox="1"/>
          <p:nvPr/>
        </p:nvSpPr>
        <p:spPr>
          <a:xfrm>
            <a:off x="678484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5" name="text"/>
          <p:cNvSpPr txBox="1"/>
          <p:nvPr/>
        </p:nvSpPr>
        <p:spPr>
          <a:xfrm>
            <a:off x="705916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중에도 내부 측정은 계속</a:t>
            </a:r>
            <a:endParaRPr lang="ko-KR" sz="1450" dirty="0"/>
          </a:p>
        </p:txBody>
      </p:sp>
      <p:sp>
        <p:nvSpPr>
          <p:cNvPr id="26" name="shape"/>
          <p:cNvSpPr/>
          <p:nvPr/>
        </p:nvSpPr>
        <p:spPr>
          <a:xfrm>
            <a:off x="1208836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hip"/>
          <p:cNvSpPr/>
          <p:nvPr/>
        </p:nvSpPr>
        <p:spPr>
          <a:xfrm>
            <a:off x="1240840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200" dirty="0"/>
          </a:p>
        </p:txBody>
      </p:sp>
      <p:sp>
        <p:nvSpPr>
          <p:cNvPr id="28" name="text"/>
          <p:cNvSpPr txBox="1"/>
          <p:nvPr/>
        </p:nvSpPr>
        <p:spPr>
          <a:xfrm>
            <a:off x="1240840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기능 — 빠른 알람 타이머</a:t>
            </a:r>
            <a:endParaRPr lang="ko-KR" sz="1800" dirty="0"/>
          </a:p>
        </p:txBody>
      </p:sp>
      <p:sp>
        <p:nvSpPr>
          <p:cNvPr id="29" name="text"/>
          <p:cNvSpPr txBox="1"/>
          <p:nvPr/>
        </p:nvSpPr>
        <p:spPr>
          <a:xfrm>
            <a:off x="1240840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0" name="text"/>
          <p:cNvSpPr txBox="1"/>
          <p:nvPr/>
        </p:nvSpPr>
        <p:spPr>
          <a:xfrm>
            <a:off x="1268272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+ 10 초 · R + 1 분 · D + 10 분, 상한 59 : 59</a:t>
            </a:r>
            <a:endParaRPr lang="ko-KR" sz="1450" dirty="0"/>
          </a:p>
        </p:txBody>
      </p:sp>
      <p:sp>
        <p:nvSpPr>
          <p:cNvPr id="31" name="text"/>
          <p:cNvSpPr txBox="1"/>
          <p:nvPr/>
        </p:nvSpPr>
        <p:spPr>
          <a:xfrm>
            <a:off x="1240840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2" name="text"/>
          <p:cNvSpPr txBox="1"/>
          <p:nvPr/>
        </p:nvSpPr>
        <p:spPr>
          <a:xfrm>
            <a:off x="1268272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 / 진행 중 취소</a:t>
            </a:r>
            <a:endParaRPr lang="ko-KR" sz="1450" dirty="0"/>
          </a:p>
        </p:txBody>
      </p:sp>
      <p:sp>
        <p:nvSpPr>
          <p:cNvPr id="33" name="text"/>
          <p:cNvSpPr txBox="1"/>
          <p:nvPr/>
        </p:nvSpPr>
        <p:spPr>
          <a:xfrm>
            <a:off x="1240840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4" name="text"/>
          <p:cNvSpPr txBox="1"/>
          <p:nvPr/>
        </p:nvSpPr>
        <p:spPr>
          <a:xfrm>
            <a:off x="1268272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 → LED 16 개 0.5 s 점멸 알람</a:t>
            </a:r>
            <a:endParaRPr lang="ko-KR" sz="1450" dirty="0"/>
          </a:p>
        </p:txBody>
      </p:sp>
      <p:sp>
        <p:nvSpPr>
          <p:cNvPr id="35" name="text"/>
          <p:cNvSpPr txBox="1"/>
          <p:nvPr/>
        </p:nvSpPr>
        <p:spPr>
          <a:xfrm>
            <a:off x="84124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C00000"/>
                </a:solidFill>
                <a:latin typeface="Malgun Gothic Semilight"/>
                <a:ea typeface="Malgun Gothic Semilight"/>
                <a:cs typeface="Malgun Gothic Semilight"/>
              </a:rPr>
              <a:t>436 / 436</a:t>
            </a:r>
            <a:endParaRPr lang="ko-KR" sz="4400" dirty="0"/>
          </a:p>
        </p:txBody>
      </p:sp>
      <p:cxnSp>
        <p:nvCxnSpPr>
          <p:cNvPr id="36" name="line"/>
          <p:cNvCxnSpPr/>
          <p:nvPr/>
        </p:nvCxnSpPr>
        <p:spPr>
          <a:xfrm>
            <a:off x="84124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37" name="text"/>
          <p:cNvSpPr txBox="1"/>
          <p:nvPr/>
        </p:nvSpPr>
        <p:spPr>
          <a:xfrm>
            <a:off x="84124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Top TB 11 개 · 검사 PASS</a:t>
            </a:r>
            <a:endParaRPr lang="ko-KR" sz="1400" dirty="0"/>
          </a:p>
        </p:txBody>
      </p:sp>
      <p:sp>
        <p:nvSpPr>
          <p:cNvPr id="38" name="text"/>
          <p:cNvSpPr txBox="1"/>
          <p:nvPr/>
        </p:nvSpPr>
        <p:spPr>
          <a:xfrm>
            <a:off x="504748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1.6 %</a:t>
            </a:r>
            <a:endParaRPr lang="ko-KR" sz="4400" dirty="0"/>
          </a:p>
        </p:txBody>
      </p:sp>
      <p:cxnSp>
        <p:nvCxnSpPr>
          <p:cNvPr id="39" name="line"/>
          <p:cNvCxnSpPr/>
          <p:nvPr/>
        </p:nvCxnSpPr>
        <p:spPr>
          <a:xfrm>
            <a:off x="504748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text"/>
          <p:cNvSpPr txBox="1"/>
          <p:nvPr/>
        </p:nvSpPr>
        <p:spPr>
          <a:xfrm>
            <a:off x="504748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LUT 337 · FF 228 (0.5 %)</a:t>
            </a:r>
            <a:endParaRPr lang="ko-KR" sz="1400" dirty="0"/>
          </a:p>
        </p:txBody>
      </p:sp>
      <p:sp>
        <p:nvSpPr>
          <p:cNvPr id="41" name="text"/>
          <p:cNvSpPr txBox="1"/>
          <p:nvPr/>
        </p:nvSpPr>
        <p:spPr>
          <a:xfrm>
            <a:off x="925372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+3.785 ns</a:t>
            </a:r>
            <a:endParaRPr lang="ko-KR" sz="4400" dirty="0"/>
          </a:p>
        </p:txBody>
      </p:sp>
      <p:cxnSp>
        <p:nvCxnSpPr>
          <p:cNvPr id="42" name="line"/>
          <p:cNvCxnSpPr/>
          <p:nvPr/>
        </p:nvCxnSpPr>
        <p:spPr>
          <a:xfrm>
            <a:off x="925372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3" name="text"/>
          <p:cNvSpPr txBox="1"/>
          <p:nvPr/>
        </p:nvSpPr>
        <p:spPr>
          <a:xfrm>
            <a:off x="925372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WNS @ 100 MHz · 래치 0</a:t>
            </a:r>
            <a:endParaRPr lang="ko-KR" sz="1400" dirty="0"/>
          </a:p>
        </p:txBody>
      </p:sp>
      <p:sp>
        <p:nvSpPr>
          <p:cNvPr id="44" name="text"/>
          <p:cNvSpPr txBox="1"/>
          <p:nvPr/>
        </p:nvSpPr>
        <p:spPr>
          <a:xfrm>
            <a:off x="1345996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10 s + 20 ns</a:t>
            </a:r>
            <a:endParaRPr lang="ko-KR" sz="4400" dirty="0"/>
          </a:p>
        </p:txBody>
      </p:sp>
      <p:cxnSp>
        <p:nvCxnSpPr>
          <p:cNvPr id="45" name="line"/>
          <p:cNvCxnSpPr/>
          <p:nvPr/>
        </p:nvCxnSpPr>
        <p:spPr>
          <a:xfrm>
            <a:off x="1345996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6" name="text"/>
          <p:cNvSpPr txBox="1"/>
          <p:nvPr/>
        </p:nvSpPr>
        <p:spPr>
          <a:xfrm>
            <a:off x="1345996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초 타이머 실측 (2 클럭 고정 지연)</a:t>
            </a:r>
            <a:endParaRPr lang="ko-KR" sz="1400" dirty="0"/>
          </a:p>
        </p:txBody>
      </p:sp>
      <p:sp>
        <p:nvSpPr>
          <p:cNvPr id="47" name="text"/>
          <p:cNvSpPr txBox="1"/>
          <p:nvPr/>
        </p:nvSpPr>
        <p:spPr>
          <a:xfrm>
            <a:off x="841248" y="877824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수치 출처 — Vivado 2022.2 구현 결과 (xc7a35t) · xsim Top TB [SUMMARY] 자동 판정 (부록 A)</a:t>
            </a:r>
            <a:endParaRPr lang="ko-KR" sz="115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보드 사용 설명서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보드 사용 설명서 — 기능별 조작법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· SW0 로 화면 선택 (타이머 &gt; 스톱워치 &gt; 시계) · 버튼 4 개는 보이는 화면의 기능만 조작</a:t>
            </a:r>
            <a:endParaRPr lang="ko-KR" sz="1900" dirty="0"/>
          </a:p>
        </p:txBody>
      </p:sp>
      <p:sp>
        <p:nvSpPr>
          <p:cNvPr id="8" name="chip"/>
          <p:cNvSpPr/>
          <p:nvPr/>
        </p:nvSpPr>
        <p:spPr>
          <a:xfrm>
            <a:off x="841248" y="2286000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2487168" y="2286000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 →  LD1</a:t>
            </a:r>
            <a:endParaRPr lang="ko-KR" sz="1350" dirty="0"/>
          </a:p>
        </p:txBody>
      </p:sp>
      <p:sp>
        <p:nvSpPr>
          <p:cNvPr id="10" name="shape"/>
          <p:cNvSpPr/>
          <p:nvPr/>
        </p:nvSpPr>
        <p:spPr>
          <a:xfrm>
            <a:off x="841248" y="2834640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"/>
          <p:cNvSpPr txBox="1"/>
          <p:nvPr/>
        </p:nvSpPr>
        <p:spPr>
          <a:xfrm>
            <a:off x="4599432" y="29443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2" name="shape"/>
          <p:cNvSpPr/>
          <p:nvPr/>
        </p:nvSpPr>
        <p:spPr>
          <a:xfrm>
            <a:off x="1115568" y="3218688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FF4136"/>
                </a:solidFill>
                <a:latin typeface="Consolas"/>
                <a:ea typeface="Consolas"/>
                <a:cs typeface="Consolas"/>
              </a:rPr>
              <a:t>05.27</a:t>
            </a:r>
            <a:endParaRPr lang="ko-KR" sz="4400" dirty="0"/>
          </a:p>
        </p:txBody>
      </p:sp>
      <p:sp>
        <p:nvSpPr>
          <p:cNvPr id="13" name="text"/>
          <p:cNvSpPr txBox="1"/>
          <p:nvPr/>
        </p:nvSpPr>
        <p:spPr>
          <a:xfrm>
            <a:off x="1115568" y="43434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SW1 = 0 → 초 . 1/100 초</a:t>
            </a:r>
            <a:endParaRPr lang="ko-KR" sz="1050" dirty="0"/>
          </a:p>
        </p:txBody>
      </p:sp>
      <p:sp>
        <p:nvSpPr>
          <p:cNvPr id="14" name="shape"/>
          <p:cNvSpPr/>
          <p:nvPr/>
        </p:nvSpPr>
        <p:spPr>
          <a:xfrm>
            <a:off x="4809744" y="31455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5" name="badge"/>
          <p:cNvSpPr/>
          <p:nvPr/>
        </p:nvSpPr>
        <p:spPr>
          <a:xfrm>
            <a:off x="5125212" y="29946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6" name="shape"/>
          <p:cNvSpPr/>
          <p:nvPr/>
        </p:nvSpPr>
        <p:spPr>
          <a:xfrm>
            <a:off x="435254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7" name="badge"/>
          <p:cNvSpPr/>
          <p:nvPr/>
        </p:nvSpPr>
        <p:spPr>
          <a:xfrm>
            <a:off x="466801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18" name="shape"/>
          <p:cNvSpPr/>
          <p:nvPr/>
        </p:nvSpPr>
        <p:spPr>
          <a:xfrm>
            <a:off x="480974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9" name="shape"/>
          <p:cNvSpPr/>
          <p:nvPr/>
        </p:nvSpPr>
        <p:spPr>
          <a:xfrm>
            <a:off x="526694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20" name="badge"/>
          <p:cNvSpPr/>
          <p:nvPr/>
        </p:nvSpPr>
        <p:spPr>
          <a:xfrm>
            <a:off x="558241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21" name="shape"/>
          <p:cNvSpPr/>
          <p:nvPr/>
        </p:nvSpPr>
        <p:spPr>
          <a:xfrm>
            <a:off x="4809744" y="40599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22" name="badge"/>
          <p:cNvSpPr/>
          <p:nvPr/>
        </p:nvSpPr>
        <p:spPr>
          <a:xfrm>
            <a:off x="5125212" y="39090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23" name="shape"/>
          <p:cNvSpPr/>
          <p:nvPr/>
        </p:nvSpPr>
        <p:spPr>
          <a:xfrm>
            <a:off x="111556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"/>
          <p:cNvSpPr/>
          <p:nvPr/>
        </p:nvSpPr>
        <p:spPr>
          <a:xfrm>
            <a:off x="111556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"/>
          <p:cNvSpPr/>
          <p:nvPr/>
        </p:nvSpPr>
        <p:spPr>
          <a:xfrm>
            <a:off x="114300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"/>
          <p:cNvSpPr/>
          <p:nvPr/>
        </p:nvSpPr>
        <p:spPr>
          <a:xfrm>
            <a:off x="142097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"/>
          <p:cNvSpPr/>
          <p:nvPr/>
        </p:nvSpPr>
        <p:spPr>
          <a:xfrm>
            <a:off x="142097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"/>
          <p:cNvSpPr/>
          <p:nvPr/>
        </p:nvSpPr>
        <p:spPr>
          <a:xfrm>
            <a:off x="144841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"/>
          <p:cNvSpPr/>
          <p:nvPr/>
        </p:nvSpPr>
        <p:spPr>
          <a:xfrm>
            <a:off x="172638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"/>
          <p:cNvSpPr/>
          <p:nvPr/>
        </p:nvSpPr>
        <p:spPr>
          <a:xfrm>
            <a:off x="172638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"/>
          <p:cNvSpPr/>
          <p:nvPr/>
        </p:nvSpPr>
        <p:spPr>
          <a:xfrm>
            <a:off x="175381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"/>
          <p:cNvSpPr/>
          <p:nvPr/>
        </p:nvSpPr>
        <p:spPr>
          <a:xfrm>
            <a:off x="203179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"/>
          <p:cNvSpPr/>
          <p:nvPr/>
        </p:nvSpPr>
        <p:spPr>
          <a:xfrm>
            <a:off x="203179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"/>
          <p:cNvSpPr/>
          <p:nvPr/>
        </p:nvSpPr>
        <p:spPr>
          <a:xfrm>
            <a:off x="205922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"/>
          <p:cNvSpPr/>
          <p:nvPr/>
        </p:nvSpPr>
        <p:spPr>
          <a:xfrm>
            <a:off x="233720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233720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"/>
          <p:cNvSpPr/>
          <p:nvPr/>
        </p:nvSpPr>
        <p:spPr>
          <a:xfrm>
            <a:off x="236463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"/>
          <p:cNvSpPr/>
          <p:nvPr/>
        </p:nvSpPr>
        <p:spPr>
          <a:xfrm>
            <a:off x="264261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"/>
          <p:cNvSpPr/>
          <p:nvPr/>
        </p:nvSpPr>
        <p:spPr>
          <a:xfrm>
            <a:off x="264261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"/>
          <p:cNvSpPr/>
          <p:nvPr/>
        </p:nvSpPr>
        <p:spPr>
          <a:xfrm>
            <a:off x="267004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"/>
          <p:cNvSpPr/>
          <p:nvPr/>
        </p:nvSpPr>
        <p:spPr>
          <a:xfrm>
            <a:off x="294802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"/>
          <p:cNvSpPr/>
          <p:nvPr/>
        </p:nvSpPr>
        <p:spPr>
          <a:xfrm>
            <a:off x="294802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"/>
          <p:cNvSpPr/>
          <p:nvPr/>
        </p:nvSpPr>
        <p:spPr>
          <a:xfrm>
            <a:off x="297545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"/>
          <p:cNvSpPr/>
          <p:nvPr/>
        </p:nvSpPr>
        <p:spPr>
          <a:xfrm>
            <a:off x="3253435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"/>
          <p:cNvSpPr/>
          <p:nvPr/>
        </p:nvSpPr>
        <p:spPr>
          <a:xfrm>
            <a:off x="325343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"/>
          <p:cNvSpPr/>
          <p:nvPr/>
        </p:nvSpPr>
        <p:spPr>
          <a:xfrm>
            <a:off x="328086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"/>
          <p:cNvSpPr/>
          <p:nvPr/>
        </p:nvSpPr>
        <p:spPr>
          <a:xfrm>
            <a:off x="3558845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"/>
          <p:cNvSpPr txBox="1"/>
          <p:nvPr/>
        </p:nvSpPr>
        <p:spPr>
          <a:xfrm>
            <a:off x="3421685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LD7</a:t>
            </a:r>
            <a:endParaRPr lang="ko-KR" sz="800" dirty="0"/>
          </a:p>
        </p:txBody>
      </p:sp>
      <p:sp>
        <p:nvSpPr>
          <p:cNvPr id="49" name="shape"/>
          <p:cNvSpPr/>
          <p:nvPr/>
        </p:nvSpPr>
        <p:spPr>
          <a:xfrm>
            <a:off x="355884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"/>
          <p:cNvSpPr/>
          <p:nvPr/>
        </p:nvSpPr>
        <p:spPr>
          <a:xfrm>
            <a:off x="358627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"/>
          <p:cNvSpPr/>
          <p:nvPr/>
        </p:nvSpPr>
        <p:spPr>
          <a:xfrm>
            <a:off x="386425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"/>
          <p:cNvSpPr/>
          <p:nvPr/>
        </p:nvSpPr>
        <p:spPr>
          <a:xfrm>
            <a:off x="386425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"/>
          <p:cNvSpPr/>
          <p:nvPr/>
        </p:nvSpPr>
        <p:spPr>
          <a:xfrm>
            <a:off x="389168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"/>
          <p:cNvSpPr/>
          <p:nvPr/>
        </p:nvSpPr>
        <p:spPr>
          <a:xfrm>
            <a:off x="416966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"/>
          <p:cNvSpPr/>
          <p:nvPr/>
        </p:nvSpPr>
        <p:spPr>
          <a:xfrm>
            <a:off x="416966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"/>
          <p:cNvSpPr/>
          <p:nvPr/>
        </p:nvSpPr>
        <p:spPr>
          <a:xfrm>
            <a:off x="419709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"/>
          <p:cNvSpPr/>
          <p:nvPr/>
        </p:nvSpPr>
        <p:spPr>
          <a:xfrm>
            <a:off x="447507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"/>
          <p:cNvSpPr/>
          <p:nvPr/>
        </p:nvSpPr>
        <p:spPr>
          <a:xfrm>
            <a:off x="4475074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"/>
          <p:cNvSpPr/>
          <p:nvPr/>
        </p:nvSpPr>
        <p:spPr>
          <a:xfrm>
            <a:off x="4502506" y="5230368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"/>
          <p:cNvSpPr txBox="1"/>
          <p:nvPr/>
        </p:nvSpPr>
        <p:spPr>
          <a:xfrm>
            <a:off x="4337914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61" name="text"/>
          <p:cNvSpPr txBox="1"/>
          <p:nvPr/>
        </p:nvSpPr>
        <p:spPr>
          <a:xfrm>
            <a:off x="4337914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sp>
        <p:nvSpPr>
          <p:cNvPr id="62" name="shape"/>
          <p:cNvSpPr/>
          <p:nvPr/>
        </p:nvSpPr>
        <p:spPr>
          <a:xfrm>
            <a:off x="4780483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"/>
          <p:cNvSpPr txBox="1"/>
          <p:nvPr/>
        </p:nvSpPr>
        <p:spPr>
          <a:xfrm>
            <a:off x="4643323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LD3</a:t>
            </a:r>
            <a:endParaRPr lang="ko-KR" sz="800" dirty="0"/>
          </a:p>
        </p:txBody>
      </p:sp>
      <p:sp>
        <p:nvSpPr>
          <p:cNvPr id="64" name="shape"/>
          <p:cNvSpPr/>
          <p:nvPr/>
        </p:nvSpPr>
        <p:spPr>
          <a:xfrm>
            <a:off x="4780483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"/>
          <p:cNvSpPr/>
          <p:nvPr/>
        </p:nvSpPr>
        <p:spPr>
          <a:xfrm>
            <a:off x="4807915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"/>
          <p:cNvSpPr/>
          <p:nvPr/>
        </p:nvSpPr>
        <p:spPr>
          <a:xfrm>
            <a:off x="5085893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"/>
          <p:cNvSpPr/>
          <p:nvPr/>
        </p:nvSpPr>
        <p:spPr>
          <a:xfrm>
            <a:off x="5085893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"/>
          <p:cNvSpPr/>
          <p:nvPr/>
        </p:nvSpPr>
        <p:spPr>
          <a:xfrm>
            <a:off x="5113325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"/>
          <p:cNvSpPr/>
          <p:nvPr/>
        </p:nvSpPr>
        <p:spPr>
          <a:xfrm>
            <a:off x="5391302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"/>
          <p:cNvSpPr txBox="1"/>
          <p:nvPr/>
        </p:nvSpPr>
        <p:spPr>
          <a:xfrm>
            <a:off x="5254142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LD1</a:t>
            </a:r>
            <a:endParaRPr lang="ko-KR" sz="800" dirty="0"/>
          </a:p>
        </p:txBody>
      </p:sp>
      <p:sp>
        <p:nvSpPr>
          <p:cNvPr id="71" name="shape"/>
          <p:cNvSpPr/>
          <p:nvPr/>
        </p:nvSpPr>
        <p:spPr>
          <a:xfrm>
            <a:off x="5391302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"/>
          <p:cNvSpPr/>
          <p:nvPr/>
        </p:nvSpPr>
        <p:spPr>
          <a:xfrm>
            <a:off x="5418734" y="5230368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"/>
          <p:cNvSpPr txBox="1"/>
          <p:nvPr/>
        </p:nvSpPr>
        <p:spPr>
          <a:xfrm>
            <a:off x="5254142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</a:t>
            </a:r>
            <a:endParaRPr lang="ko-KR" sz="800" dirty="0"/>
          </a:p>
        </p:txBody>
      </p:sp>
      <p:sp>
        <p:nvSpPr>
          <p:cNvPr id="74" name="text"/>
          <p:cNvSpPr txBox="1"/>
          <p:nvPr/>
        </p:nvSpPr>
        <p:spPr>
          <a:xfrm>
            <a:off x="5254142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0/1</a:t>
            </a:r>
            <a:endParaRPr lang="ko-KR" sz="800" dirty="0"/>
          </a:p>
        </p:txBody>
      </p:sp>
      <p:sp>
        <p:nvSpPr>
          <p:cNvPr id="75" name="shape"/>
          <p:cNvSpPr/>
          <p:nvPr/>
        </p:nvSpPr>
        <p:spPr>
          <a:xfrm>
            <a:off x="5696712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"/>
          <p:cNvSpPr/>
          <p:nvPr/>
        </p:nvSpPr>
        <p:spPr>
          <a:xfrm>
            <a:off x="5696712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"/>
          <p:cNvSpPr/>
          <p:nvPr/>
        </p:nvSpPr>
        <p:spPr>
          <a:xfrm>
            <a:off x="5724144" y="5065776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"/>
          <p:cNvSpPr txBox="1"/>
          <p:nvPr/>
        </p:nvSpPr>
        <p:spPr>
          <a:xfrm>
            <a:off x="5559552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  <a:endParaRPr lang="ko-KR" sz="800" dirty="0"/>
          </a:p>
        </p:txBody>
      </p:sp>
      <p:sp>
        <p:nvSpPr>
          <p:cNvPr id="79" name="text"/>
          <p:cNvSpPr txBox="1"/>
          <p:nvPr/>
        </p:nvSpPr>
        <p:spPr>
          <a:xfrm>
            <a:off x="5559552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graphicFrame>
        <p:nvGraphicFramePr>
          <p:cNvPr id="80" name="table"/>
          <p:cNvGraphicFramePr>
            <a:graphicFrameLocks noGrp="1"/>
          </p:cNvGraphicFramePr>
          <p:nvPr/>
        </p:nvGraphicFramePr>
        <p:xfrm>
          <a:off x="841248" y="621792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/ 정지 토글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→ 00:00:00.00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 ↔ Down 방향 전환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: 시간 저장 · 표시 고정 / 다시 → 실시간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0 : 초.1/100초 · 1 : 시.분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LD1 스톱워치 · LD7 LAP · LD3 / LD2 화면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" name="chip"/>
          <p:cNvSpPr/>
          <p:nvPr/>
        </p:nvSpPr>
        <p:spPr>
          <a:xfrm>
            <a:off x="6464808" y="2286000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300" dirty="0"/>
          </a:p>
        </p:txBody>
      </p:sp>
      <p:sp>
        <p:nvSpPr>
          <p:cNvPr id="82" name="text"/>
          <p:cNvSpPr txBox="1"/>
          <p:nvPr/>
        </p:nvSpPr>
        <p:spPr>
          <a:xfrm>
            <a:off x="7562088" y="2286000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0  →  LD0</a:t>
            </a:r>
            <a:endParaRPr lang="ko-KR" sz="1350" dirty="0"/>
          </a:p>
        </p:txBody>
      </p:sp>
      <p:sp>
        <p:nvSpPr>
          <p:cNvPr id="83" name="shape"/>
          <p:cNvSpPr/>
          <p:nvPr/>
        </p:nvSpPr>
        <p:spPr>
          <a:xfrm>
            <a:off x="6464808" y="2834640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"/>
          <p:cNvSpPr txBox="1"/>
          <p:nvPr/>
        </p:nvSpPr>
        <p:spPr>
          <a:xfrm>
            <a:off x="10222992" y="29443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85" name="shape"/>
          <p:cNvSpPr/>
          <p:nvPr/>
        </p:nvSpPr>
        <p:spPr>
          <a:xfrm>
            <a:off x="6739128" y="3218688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FF4136"/>
                </a:solidFill>
                <a:latin typeface="Consolas"/>
                <a:ea typeface="Consolas"/>
                <a:cs typeface="Consolas"/>
              </a:rPr>
              <a:t>12.00</a:t>
            </a:r>
            <a:endParaRPr lang="ko-KR" sz="4400" dirty="0"/>
          </a:p>
        </p:txBody>
      </p:sp>
      <p:sp>
        <p:nvSpPr>
          <p:cNvPr id="86" name="text"/>
          <p:cNvSpPr txBox="1"/>
          <p:nvPr/>
        </p:nvSpPr>
        <p:spPr>
          <a:xfrm>
            <a:off x="6739128" y="43434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SW1 = 1 → 시 . 분 (설정 자리 점멸)</a:t>
            </a:r>
            <a:endParaRPr lang="ko-KR" sz="1050" dirty="0"/>
          </a:p>
        </p:txBody>
      </p:sp>
      <p:sp>
        <p:nvSpPr>
          <p:cNvPr id="87" name="shape"/>
          <p:cNvSpPr/>
          <p:nvPr/>
        </p:nvSpPr>
        <p:spPr>
          <a:xfrm>
            <a:off x="10433304" y="31455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88" name="badge"/>
          <p:cNvSpPr/>
          <p:nvPr/>
        </p:nvSpPr>
        <p:spPr>
          <a:xfrm>
            <a:off x="10748772" y="29946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89" name="shape"/>
          <p:cNvSpPr/>
          <p:nvPr/>
        </p:nvSpPr>
        <p:spPr>
          <a:xfrm>
            <a:off x="997610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90" name="badge"/>
          <p:cNvSpPr/>
          <p:nvPr/>
        </p:nvSpPr>
        <p:spPr>
          <a:xfrm>
            <a:off x="1029157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91" name="shape"/>
          <p:cNvSpPr/>
          <p:nvPr/>
        </p:nvSpPr>
        <p:spPr>
          <a:xfrm>
            <a:off x="1043330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92" name="shape"/>
          <p:cNvSpPr/>
          <p:nvPr/>
        </p:nvSpPr>
        <p:spPr>
          <a:xfrm>
            <a:off x="1089050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93" name="badge"/>
          <p:cNvSpPr/>
          <p:nvPr/>
        </p:nvSpPr>
        <p:spPr>
          <a:xfrm>
            <a:off x="1120597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94" name="shape"/>
          <p:cNvSpPr/>
          <p:nvPr/>
        </p:nvSpPr>
        <p:spPr>
          <a:xfrm>
            <a:off x="10433304" y="40599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95" name="badge"/>
          <p:cNvSpPr/>
          <p:nvPr/>
        </p:nvSpPr>
        <p:spPr>
          <a:xfrm>
            <a:off x="10748772" y="39090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96" name="shape"/>
          <p:cNvSpPr/>
          <p:nvPr/>
        </p:nvSpPr>
        <p:spPr>
          <a:xfrm>
            <a:off x="673912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"/>
          <p:cNvSpPr/>
          <p:nvPr/>
        </p:nvSpPr>
        <p:spPr>
          <a:xfrm>
            <a:off x="673912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"/>
          <p:cNvSpPr/>
          <p:nvPr/>
        </p:nvSpPr>
        <p:spPr>
          <a:xfrm>
            <a:off x="676656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"/>
          <p:cNvSpPr/>
          <p:nvPr/>
        </p:nvSpPr>
        <p:spPr>
          <a:xfrm>
            <a:off x="704453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"/>
          <p:cNvSpPr/>
          <p:nvPr/>
        </p:nvSpPr>
        <p:spPr>
          <a:xfrm>
            <a:off x="704453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"/>
          <p:cNvSpPr/>
          <p:nvPr/>
        </p:nvSpPr>
        <p:spPr>
          <a:xfrm>
            <a:off x="707197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"/>
          <p:cNvSpPr/>
          <p:nvPr/>
        </p:nvSpPr>
        <p:spPr>
          <a:xfrm>
            <a:off x="734994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"/>
          <p:cNvSpPr/>
          <p:nvPr/>
        </p:nvSpPr>
        <p:spPr>
          <a:xfrm>
            <a:off x="734994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"/>
          <p:cNvSpPr/>
          <p:nvPr/>
        </p:nvSpPr>
        <p:spPr>
          <a:xfrm>
            <a:off x="737737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"/>
          <p:cNvSpPr/>
          <p:nvPr/>
        </p:nvSpPr>
        <p:spPr>
          <a:xfrm>
            <a:off x="765535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"/>
          <p:cNvSpPr/>
          <p:nvPr/>
        </p:nvSpPr>
        <p:spPr>
          <a:xfrm>
            <a:off x="765535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"/>
          <p:cNvSpPr/>
          <p:nvPr/>
        </p:nvSpPr>
        <p:spPr>
          <a:xfrm>
            <a:off x="768278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"/>
          <p:cNvSpPr/>
          <p:nvPr/>
        </p:nvSpPr>
        <p:spPr>
          <a:xfrm>
            <a:off x="796076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"/>
          <p:cNvSpPr/>
          <p:nvPr/>
        </p:nvSpPr>
        <p:spPr>
          <a:xfrm>
            <a:off x="796076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"/>
          <p:cNvSpPr/>
          <p:nvPr/>
        </p:nvSpPr>
        <p:spPr>
          <a:xfrm>
            <a:off x="798819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"/>
          <p:cNvSpPr/>
          <p:nvPr/>
        </p:nvSpPr>
        <p:spPr>
          <a:xfrm>
            <a:off x="826617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"/>
          <p:cNvSpPr/>
          <p:nvPr/>
        </p:nvSpPr>
        <p:spPr>
          <a:xfrm>
            <a:off x="826617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"/>
          <p:cNvSpPr/>
          <p:nvPr/>
        </p:nvSpPr>
        <p:spPr>
          <a:xfrm>
            <a:off x="829360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"/>
          <p:cNvSpPr/>
          <p:nvPr/>
        </p:nvSpPr>
        <p:spPr>
          <a:xfrm>
            <a:off x="857158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"/>
          <p:cNvSpPr/>
          <p:nvPr/>
        </p:nvSpPr>
        <p:spPr>
          <a:xfrm>
            <a:off x="857158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"/>
          <p:cNvSpPr/>
          <p:nvPr/>
        </p:nvSpPr>
        <p:spPr>
          <a:xfrm>
            <a:off x="859901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"/>
          <p:cNvSpPr/>
          <p:nvPr/>
        </p:nvSpPr>
        <p:spPr>
          <a:xfrm>
            <a:off x="8876995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"/>
          <p:cNvSpPr/>
          <p:nvPr/>
        </p:nvSpPr>
        <p:spPr>
          <a:xfrm>
            <a:off x="887699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"/>
          <p:cNvSpPr/>
          <p:nvPr/>
        </p:nvSpPr>
        <p:spPr>
          <a:xfrm>
            <a:off x="890442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"/>
          <p:cNvSpPr/>
          <p:nvPr/>
        </p:nvSpPr>
        <p:spPr>
          <a:xfrm>
            <a:off x="9182405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"/>
          <p:cNvSpPr/>
          <p:nvPr/>
        </p:nvSpPr>
        <p:spPr>
          <a:xfrm>
            <a:off x="918240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"/>
          <p:cNvSpPr/>
          <p:nvPr/>
        </p:nvSpPr>
        <p:spPr>
          <a:xfrm>
            <a:off x="920983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"/>
          <p:cNvSpPr/>
          <p:nvPr/>
        </p:nvSpPr>
        <p:spPr>
          <a:xfrm>
            <a:off x="948781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"/>
          <p:cNvSpPr/>
          <p:nvPr/>
        </p:nvSpPr>
        <p:spPr>
          <a:xfrm>
            <a:off x="948781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"/>
          <p:cNvSpPr/>
          <p:nvPr/>
        </p:nvSpPr>
        <p:spPr>
          <a:xfrm>
            <a:off x="951524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"/>
          <p:cNvSpPr/>
          <p:nvPr/>
        </p:nvSpPr>
        <p:spPr>
          <a:xfrm>
            <a:off x="979322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"/>
          <p:cNvSpPr/>
          <p:nvPr/>
        </p:nvSpPr>
        <p:spPr>
          <a:xfrm>
            <a:off x="979322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"/>
          <p:cNvSpPr/>
          <p:nvPr/>
        </p:nvSpPr>
        <p:spPr>
          <a:xfrm>
            <a:off x="982065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"/>
          <p:cNvSpPr/>
          <p:nvPr/>
        </p:nvSpPr>
        <p:spPr>
          <a:xfrm>
            <a:off x="1009863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"/>
          <p:cNvSpPr/>
          <p:nvPr/>
        </p:nvSpPr>
        <p:spPr>
          <a:xfrm>
            <a:off x="10098634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"/>
          <p:cNvSpPr/>
          <p:nvPr/>
        </p:nvSpPr>
        <p:spPr>
          <a:xfrm>
            <a:off x="10126066" y="5230368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"/>
          <p:cNvSpPr txBox="1"/>
          <p:nvPr/>
        </p:nvSpPr>
        <p:spPr>
          <a:xfrm>
            <a:off x="9961474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133" name="text"/>
          <p:cNvSpPr txBox="1"/>
          <p:nvPr/>
        </p:nvSpPr>
        <p:spPr>
          <a:xfrm>
            <a:off x="9961474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sp>
        <p:nvSpPr>
          <p:cNvPr id="134" name="shape"/>
          <p:cNvSpPr/>
          <p:nvPr/>
        </p:nvSpPr>
        <p:spPr>
          <a:xfrm>
            <a:off x="10404043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"/>
          <p:cNvSpPr/>
          <p:nvPr/>
        </p:nvSpPr>
        <p:spPr>
          <a:xfrm>
            <a:off x="10404043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"/>
          <p:cNvSpPr/>
          <p:nvPr/>
        </p:nvSpPr>
        <p:spPr>
          <a:xfrm>
            <a:off x="10431475" y="5230368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"/>
          <p:cNvSpPr txBox="1"/>
          <p:nvPr/>
        </p:nvSpPr>
        <p:spPr>
          <a:xfrm>
            <a:off x="10266883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  <a:endParaRPr lang="ko-KR" sz="800" dirty="0"/>
          </a:p>
        </p:txBody>
      </p:sp>
      <p:sp>
        <p:nvSpPr>
          <p:cNvPr id="138" name="text"/>
          <p:cNvSpPr txBox="1"/>
          <p:nvPr/>
        </p:nvSpPr>
        <p:spPr>
          <a:xfrm>
            <a:off x="10266883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0/1</a:t>
            </a:r>
            <a:endParaRPr lang="ko-KR" sz="800" dirty="0"/>
          </a:p>
        </p:txBody>
      </p:sp>
      <p:sp>
        <p:nvSpPr>
          <p:cNvPr id="139" name="shape"/>
          <p:cNvSpPr/>
          <p:nvPr/>
        </p:nvSpPr>
        <p:spPr>
          <a:xfrm>
            <a:off x="10709453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"/>
          <p:cNvSpPr txBox="1"/>
          <p:nvPr/>
        </p:nvSpPr>
        <p:spPr>
          <a:xfrm>
            <a:off x="10572293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LD2</a:t>
            </a:r>
            <a:endParaRPr lang="ko-KR" sz="800" dirty="0"/>
          </a:p>
        </p:txBody>
      </p:sp>
      <p:sp>
        <p:nvSpPr>
          <p:cNvPr id="141" name="shape"/>
          <p:cNvSpPr/>
          <p:nvPr/>
        </p:nvSpPr>
        <p:spPr>
          <a:xfrm>
            <a:off x="10709453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"/>
          <p:cNvSpPr/>
          <p:nvPr/>
        </p:nvSpPr>
        <p:spPr>
          <a:xfrm>
            <a:off x="10736885" y="5065776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"/>
          <p:cNvSpPr txBox="1"/>
          <p:nvPr/>
        </p:nvSpPr>
        <p:spPr>
          <a:xfrm>
            <a:off x="10572293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  <a:endParaRPr lang="ko-KR" sz="800" dirty="0"/>
          </a:p>
        </p:txBody>
      </p:sp>
      <p:sp>
        <p:nvSpPr>
          <p:cNvPr id="144" name="text"/>
          <p:cNvSpPr txBox="1"/>
          <p:nvPr/>
        </p:nvSpPr>
        <p:spPr>
          <a:xfrm>
            <a:off x="10572293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145" name="shape"/>
          <p:cNvSpPr/>
          <p:nvPr/>
        </p:nvSpPr>
        <p:spPr>
          <a:xfrm>
            <a:off x="11014862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"/>
          <p:cNvSpPr/>
          <p:nvPr/>
        </p:nvSpPr>
        <p:spPr>
          <a:xfrm>
            <a:off x="11014862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"/>
          <p:cNvSpPr/>
          <p:nvPr/>
        </p:nvSpPr>
        <p:spPr>
          <a:xfrm>
            <a:off x="11042294" y="5065776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text"/>
          <p:cNvSpPr txBox="1"/>
          <p:nvPr/>
        </p:nvSpPr>
        <p:spPr>
          <a:xfrm>
            <a:off x="10877702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</a:t>
            </a:r>
            <a:endParaRPr lang="ko-KR" sz="800" dirty="0"/>
          </a:p>
        </p:txBody>
      </p:sp>
      <p:sp>
        <p:nvSpPr>
          <p:cNvPr id="149" name="text"/>
          <p:cNvSpPr txBox="1"/>
          <p:nvPr/>
        </p:nvSpPr>
        <p:spPr>
          <a:xfrm>
            <a:off x="10877702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150" name="shape"/>
          <p:cNvSpPr/>
          <p:nvPr/>
        </p:nvSpPr>
        <p:spPr>
          <a:xfrm>
            <a:off x="11320272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text"/>
          <p:cNvSpPr txBox="1"/>
          <p:nvPr/>
        </p:nvSpPr>
        <p:spPr>
          <a:xfrm>
            <a:off x="11183112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LD0</a:t>
            </a:r>
            <a:endParaRPr lang="ko-KR" sz="800" dirty="0"/>
          </a:p>
        </p:txBody>
      </p:sp>
      <p:sp>
        <p:nvSpPr>
          <p:cNvPr id="152" name="shape"/>
          <p:cNvSpPr/>
          <p:nvPr/>
        </p:nvSpPr>
        <p:spPr>
          <a:xfrm>
            <a:off x="11320272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"/>
          <p:cNvSpPr/>
          <p:nvPr/>
        </p:nvSpPr>
        <p:spPr>
          <a:xfrm>
            <a:off x="11347704" y="5230368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"/>
          <p:cNvSpPr txBox="1"/>
          <p:nvPr/>
        </p:nvSpPr>
        <p:spPr>
          <a:xfrm>
            <a:off x="11183112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  <a:endParaRPr lang="ko-KR" sz="800" dirty="0"/>
          </a:p>
        </p:txBody>
      </p:sp>
      <p:sp>
        <p:nvSpPr>
          <p:cNvPr id="155" name="text"/>
          <p:cNvSpPr txBox="1"/>
          <p:nvPr/>
        </p:nvSpPr>
        <p:spPr>
          <a:xfrm>
            <a:off x="11183112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graphicFrame>
        <p:nvGraphicFramePr>
          <p:cNvPr id="156" name="table"/>
          <p:cNvGraphicFramePr>
            <a:graphicFrameLocks noGrp="1"/>
          </p:cNvGraphicFramePr>
          <p:nvPr/>
        </p:nvGraphicFramePr>
        <p:xfrm>
          <a:off x="6464808" y="621792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설정 모드 (분 1 의 자리부터) · 0 : 끝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 / 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자리 이동  시 ↔ 분10 ↔ 분1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+ 1  (분10 자리 : + 10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− 1  (분10 자리 : − 10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: 12 시간 (오후 LD15) · 1 : 24 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시.분 화면 — 설정 자리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7" name="chip"/>
          <p:cNvSpPr/>
          <p:nvPr/>
        </p:nvSpPr>
        <p:spPr>
          <a:xfrm>
            <a:off x="12088368" y="2286000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158" name="text"/>
          <p:cNvSpPr txBox="1"/>
          <p:nvPr/>
        </p:nvSpPr>
        <p:spPr>
          <a:xfrm>
            <a:off x="13185648" y="2286000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(우선)  →  LD5 · 진행 중 LD6</a:t>
            </a:r>
            <a:endParaRPr lang="ko-KR" sz="1350" dirty="0"/>
          </a:p>
        </p:txBody>
      </p:sp>
      <p:sp>
        <p:nvSpPr>
          <p:cNvPr id="159" name="shape"/>
          <p:cNvSpPr/>
          <p:nvPr/>
        </p:nvSpPr>
        <p:spPr>
          <a:xfrm>
            <a:off x="12088368" y="2834640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"/>
          <p:cNvSpPr txBox="1"/>
          <p:nvPr/>
        </p:nvSpPr>
        <p:spPr>
          <a:xfrm>
            <a:off x="15846552" y="2944368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61" name="shape"/>
          <p:cNvSpPr/>
          <p:nvPr/>
        </p:nvSpPr>
        <p:spPr>
          <a:xfrm>
            <a:off x="12362688" y="3218688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FF4136"/>
                </a:solidFill>
                <a:latin typeface="Consolas"/>
                <a:ea typeface="Consolas"/>
                <a:cs typeface="Consolas"/>
              </a:rPr>
              <a:t>01.30</a:t>
            </a:r>
            <a:endParaRPr lang="ko-KR" sz="4400" dirty="0"/>
          </a:p>
        </p:txBody>
      </p:sp>
      <p:sp>
        <p:nvSpPr>
          <p:cNvPr id="162" name="text"/>
          <p:cNvSpPr txBox="1"/>
          <p:nvPr/>
        </p:nvSpPr>
        <p:spPr>
          <a:xfrm>
            <a:off x="12362688" y="43434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분 . 초 고정 (MM.SS)</a:t>
            </a:r>
            <a:endParaRPr lang="ko-KR" sz="1050" dirty="0"/>
          </a:p>
        </p:txBody>
      </p:sp>
      <p:sp>
        <p:nvSpPr>
          <p:cNvPr id="163" name="shape"/>
          <p:cNvSpPr/>
          <p:nvPr/>
        </p:nvSpPr>
        <p:spPr>
          <a:xfrm>
            <a:off x="16056864" y="31455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64" name="badge"/>
          <p:cNvSpPr/>
          <p:nvPr/>
        </p:nvSpPr>
        <p:spPr>
          <a:xfrm>
            <a:off x="16372332" y="29946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165" name="shape"/>
          <p:cNvSpPr/>
          <p:nvPr/>
        </p:nvSpPr>
        <p:spPr>
          <a:xfrm>
            <a:off x="1559966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66" name="badge"/>
          <p:cNvSpPr/>
          <p:nvPr/>
        </p:nvSpPr>
        <p:spPr>
          <a:xfrm>
            <a:off x="1591513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167" name="shape"/>
          <p:cNvSpPr/>
          <p:nvPr/>
        </p:nvSpPr>
        <p:spPr>
          <a:xfrm>
            <a:off x="1605686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68" name="shape"/>
          <p:cNvSpPr/>
          <p:nvPr/>
        </p:nvSpPr>
        <p:spPr>
          <a:xfrm>
            <a:off x="16514064" y="36027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169" name="badge"/>
          <p:cNvSpPr/>
          <p:nvPr/>
        </p:nvSpPr>
        <p:spPr>
          <a:xfrm>
            <a:off x="16829532" y="34518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170" name="shape"/>
          <p:cNvSpPr/>
          <p:nvPr/>
        </p:nvSpPr>
        <p:spPr>
          <a:xfrm>
            <a:off x="16056864" y="405993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71" name="badge"/>
          <p:cNvSpPr/>
          <p:nvPr/>
        </p:nvSpPr>
        <p:spPr>
          <a:xfrm>
            <a:off x="16372332" y="390906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72" name="shape"/>
          <p:cNvSpPr/>
          <p:nvPr/>
        </p:nvSpPr>
        <p:spPr>
          <a:xfrm>
            <a:off x="1236268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"/>
          <p:cNvSpPr/>
          <p:nvPr/>
        </p:nvSpPr>
        <p:spPr>
          <a:xfrm>
            <a:off x="1236268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"/>
          <p:cNvSpPr/>
          <p:nvPr/>
        </p:nvSpPr>
        <p:spPr>
          <a:xfrm>
            <a:off x="1239012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"/>
          <p:cNvSpPr/>
          <p:nvPr/>
        </p:nvSpPr>
        <p:spPr>
          <a:xfrm>
            <a:off x="12668098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"/>
          <p:cNvSpPr/>
          <p:nvPr/>
        </p:nvSpPr>
        <p:spPr>
          <a:xfrm>
            <a:off x="12668098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"/>
          <p:cNvSpPr/>
          <p:nvPr/>
        </p:nvSpPr>
        <p:spPr>
          <a:xfrm>
            <a:off x="12695530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"/>
          <p:cNvSpPr/>
          <p:nvPr/>
        </p:nvSpPr>
        <p:spPr>
          <a:xfrm>
            <a:off x="1297350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"/>
          <p:cNvSpPr/>
          <p:nvPr/>
        </p:nvSpPr>
        <p:spPr>
          <a:xfrm>
            <a:off x="1297350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"/>
          <p:cNvSpPr/>
          <p:nvPr/>
        </p:nvSpPr>
        <p:spPr>
          <a:xfrm>
            <a:off x="1300093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"/>
          <p:cNvSpPr/>
          <p:nvPr/>
        </p:nvSpPr>
        <p:spPr>
          <a:xfrm>
            <a:off x="13278917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"/>
          <p:cNvSpPr/>
          <p:nvPr/>
        </p:nvSpPr>
        <p:spPr>
          <a:xfrm>
            <a:off x="13278917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"/>
          <p:cNvSpPr/>
          <p:nvPr/>
        </p:nvSpPr>
        <p:spPr>
          <a:xfrm>
            <a:off x="13306349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"/>
          <p:cNvSpPr/>
          <p:nvPr/>
        </p:nvSpPr>
        <p:spPr>
          <a:xfrm>
            <a:off x="1358432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"/>
          <p:cNvSpPr/>
          <p:nvPr/>
        </p:nvSpPr>
        <p:spPr>
          <a:xfrm>
            <a:off x="1358432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"/>
          <p:cNvSpPr/>
          <p:nvPr/>
        </p:nvSpPr>
        <p:spPr>
          <a:xfrm>
            <a:off x="1361175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"/>
          <p:cNvSpPr/>
          <p:nvPr/>
        </p:nvSpPr>
        <p:spPr>
          <a:xfrm>
            <a:off x="1388973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"/>
          <p:cNvSpPr/>
          <p:nvPr/>
        </p:nvSpPr>
        <p:spPr>
          <a:xfrm>
            <a:off x="1388973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"/>
          <p:cNvSpPr/>
          <p:nvPr/>
        </p:nvSpPr>
        <p:spPr>
          <a:xfrm>
            <a:off x="1391716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"/>
          <p:cNvSpPr/>
          <p:nvPr/>
        </p:nvSpPr>
        <p:spPr>
          <a:xfrm>
            <a:off x="14195146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"/>
          <p:cNvSpPr/>
          <p:nvPr/>
        </p:nvSpPr>
        <p:spPr>
          <a:xfrm>
            <a:off x="14195146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"/>
          <p:cNvSpPr/>
          <p:nvPr/>
        </p:nvSpPr>
        <p:spPr>
          <a:xfrm>
            <a:off x="14222578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"/>
          <p:cNvSpPr/>
          <p:nvPr/>
        </p:nvSpPr>
        <p:spPr>
          <a:xfrm>
            <a:off x="14500555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"/>
          <p:cNvSpPr/>
          <p:nvPr/>
        </p:nvSpPr>
        <p:spPr>
          <a:xfrm>
            <a:off x="1450055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"/>
          <p:cNvSpPr/>
          <p:nvPr/>
        </p:nvSpPr>
        <p:spPr>
          <a:xfrm>
            <a:off x="1452798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"/>
          <p:cNvSpPr/>
          <p:nvPr/>
        </p:nvSpPr>
        <p:spPr>
          <a:xfrm>
            <a:off x="14805965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"/>
          <p:cNvSpPr/>
          <p:nvPr/>
        </p:nvSpPr>
        <p:spPr>
          <a:xfrm>
            <a:off x="14805965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"/>
          <p:cNvSpPr/>
          <p:nvPr/>
        </p:nvSpPr>
        <p:spPr>
          <a:xfrm>
            <a:off x="14833397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"/>
          <p:cNvSpPr/>
          <p:nvPr/>
        </p:nvSpPr>
        <p:spPr>
          <a:xfrm>
            <a:off x="15111374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"/>
          <p:cNvSpPr txBox="1"/>
          <p:nvPr/>
        </p:nvSpPr>
        <p:spPr>
          <a:xfrm>
            <a:off x="14974214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LD6</a:t>
            </a:r>
            <a:endParaRPr lang="ko-KR" sz="800" dirty="0"/>
          </a:p>
        </p:txBody>
      </p:sp>
      <p:sp>
        <p:nvSpPr>
          <p:cNvPr id="201" name="shape"/>
          <p:cNvSpPr/>
          <p:nvPr/>
        </p:nvSpPr>
        <p:spPr>
          <a:xfrm>
            <a:off x="1511137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"/>
          <p:cNvSpPr/>
          <p:nvPr/>
        </p:nvSpPr>
        <p:spPr>
          <a:xfrm>
            <a:off x="1513880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"/>
          <p:cNvSpPr/>
          <p:nvPr/>
        </p:nvSpPr>
        <p:spPr>
          <a:xfrm>
            <a:off x="15416784" y="4800600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"/>
          <p:cNvSpPr txBox="1"/>
          <p:nvPr/>
        </p:nvSpPr>
        <p:spPr>
          <a:xfrm>
            <a:off x="15279624" y="45994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LD5</a:t>
            </a:r>
            <a:endParaRPr lang="ko-KR" sz="800" dirty="0"/>
          </a:p>
        </p:txBody>
      </p:sp>
      <p:sp>
        <p:nvSpPr>
          <p:cNvPr id="205" name="shape"/>
          <p:cNvSpPr/>
          <p:nvPr/>
        </p:nvSpPr>
        <p:spPr>
          <a:xfrm>
            <a:off x="15416784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"/>
          <p:cNvSpPr/>
          <p:nvPr/>
        </p:nvSpPr>
        <p:spPr>
          <a:xfrm>
            <a:off x="15444216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"/>
          <p:cNvSpPr/>
          <p:nvPr/>
        </p:nvSpPr>
        <p:spPr>
          <a:xfrm>
            <a:off x="15722194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"/>
          <p:cNvSpPr/>
          <p:nvPr/>
        </p:nvSpPr>
        <p:spPr>
          <a:xfrm>
            <a:off x="15722194" y="5029200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"/>
          <p:cNvSpPr/>
          <p:nvPr/>
        </p:nvSpPr>
        <p:spPr>
          <a:xfrm>
            <a:off x="15749626" y="5065776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text"/>
          <p:cNvSpPr txBox="1"/>
          <p:nvPr/>
        </p:nvSpPr>
        <p:spPr>
          <a:xfrm>
            <a:off x="15585034" y="54498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211" name="text"/>
          <p:cNvSpPr txBox="1"/>
          <p:nvPr/>
        </p:nvSpPr>
        <p:spPr>
          <a:xfrm>
            <a:off x="15585034" y="56327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212" name="shape"/>
          <p:cNvSpPr/>
          <p:nvPr/>
        </p:nvSpPr>
        <p:spPr>
          <a:xfrm>
            <a:off x="16027603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"/>
          <p:cNvSpPr/>
          <p:nvPr/>
        </p:nvSpPr>
        <p:spPr>
          <a:xfrm>
            <a:off x="16027603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"/>
          <p:cNvSpPr/>
          <p:nvPr/>
        </p:nvSpPr>
        <p:spPr>
          <a:xfrm>
            <a:off x="16055035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"/>
          <p:cNvSpPr/>
          <p:nvPr/>
        </p:nvSpPr>
        <p:spPr>
          <a:xfrm>
            <a:off x="16333013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"/>
          <p:cNvSpPr/>
          <p:nvPr/>
        </p:nvSpPr>
        <p:spPr>
          <a:xfrm>
            <a:off x="16333013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"/>
          <p:cNvSpPr/>
          <p:nvPr/>
        </p:nvSpPr>
        <p:spPr>
          <a:xfrm>
            <a:off x="16360445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"/>
          <p:cNvSpPr/>
          <p:nvPr/>
        </p:nvSpPr>
        <p:spPr>
          <a:xfrm>
            <a:off x="16638422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"/>
          <p:cNvSpPr/>
          <p:nvPr/>
        </p:nvSpPr>
        <p:spPr>
          <a:xfrm>
            <a:off x="16638422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"/>
          <p:cNvSpPr/>
          <p:nvPr/>
        </p:nvSpPr>
        <p:spPr>
          <a:xfrm>
            <a:off x="16665854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"/>
          <p:cNvSpPr/>
          <p:nvPr/>
        </p:nvSpPr>
        <p:spPr>
          <a:xfrm>
            <a:off x="16943832" y="4800600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"/>
          <p:cNvSpPr/>
          <p:nvPr/>
        </p:nvSpPr>
        <p:spPr>
          <a:xfrm>
            <a:off x="16943832" y="5029200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"/>
          <p:cNvSpPr/>
          <p:nvPr/>
        </p:nvSpPr>
        <p:spPr>
          <a:xfrm>
            <a:off x="16971264" y="5230368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4" name="table"/>
          <p:cNvGraphicFramePr>
            <a:graphicFrameLocks noGrp="1"/>
          </p:cNvGraphicFramePr>
          <p:nvPr/>
        </p:nvGraphicFramePr>
        <p:xfrm>
          <a:off x="12088368" y="621792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초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 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분 (상한 59 : 59)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(0 이면 무시) · 진행 중 취소 → 0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ALARM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도달 → LED 16 개 0.5 s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끄기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 중 아무 버튼 → SET (값 유지)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5" name="text"/>
          <p:cNvSpPr txBox="1"/>
          <p:nvPr/>
        </p:nvSpPr>
        <p:spPr>
          <a:xfrm>
            <a:off x="841248" y="932688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BTNC = 전체 리셋 (세 기능 모두 초기화) · 다른 화면을 보는 동안에도 스톱워치 · 시계 · 타이머는 계속 동작</a:t>
            </a:r>
            <a:endParaRPr lang="ko-KR" sz="1150" dirty="0"/>
          </a:p>
        </p:txBody>
      </p:sp>
      <p:sp>
        <p:nvSpPr>
          <p:cNvPr id="22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  시스템 구조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버튼에서 FND · LED 까지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기능마다 컨트롤 유닛 → tick → 데이터패스 사슬 · 화면 MUX 로 FND 공유 · 100 Hz tick 은 기능별 분리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4736592" y="2971800"/>
            <a:ext cx="6620256" cy="1572768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4828032" y="29900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000" dirty="0"/>
          </a:p>
        </p:txBody>
      </p:sp>
      <p:sp>
        <p:nvSpPr>
          <p:cNvPr id="10" name="shape"/>
          <p:cNvSpPr/>
          <p:nvPr/>
        </p:nvSpPr>
        <p:spPr>
          <a:xfrm>
            <a:off x="4736592" y="4663440"/>
            <a:ext cx="6620256" cy="2148840"/>
          </a:xfrm>
          <a:prstGeom prst="roundRect">
            <a:avLst>
              <a:gd name="adj" fmla="val 3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"/>
          <p:cNvSpPr txBox="1"/>
          <p:nvPr/>
        </p:nvSpPr>
        <p:spPr>
          <a:xfrm>
            <a:off x="4828032" y="4681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000" dirty="0"/>
          </a:p>
        </p:txBody>
      </p:sp>
      <p:sp>
        <p:nvSpPr>
          <p:cNvPr id="12" name="shape"/>
          <p:cNvSpPr/>
          <p:nvPr/>
        </p:nvSpPr>
        <p:spPr>
          <a:xfrm>
            <a:off x="4736592" y="6949440"/>
            <a:ext cx="6620256" cy="1828800"/>
          </a:xfrm>
          <a:prstGeom prst="roundRect">
            <a:avLst>
              <a:gd name="adj" fmla="val 3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"/>
          <p:cNvSpPr txBox="1"/>
          <p:nvPr/>
        </p:nvSpPr>
        <p:spPr>
          <a:xfrm>
            <a:off x="4828032" y="6967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000" dirty="0"/>
          </a:p>
        </p:txBody>
      </p:sp>
      <p:sp>
        <p:nvSpPr>
          <p:cNvPr id="14" name="shape"/>
          <p:cNvSpPr/>
          <p:nvPr/>
        </p:nvSpPr>
        <p:spPr>
          <a:xfrm>
            <a:off x="502920" y="2423160"/>
            <a:ext cx="96012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clk  W5</a:t>
            </a:r>
            <a:endParaRPr lang="ko-KR" sz="1000" dirty="0"/>
          </a:p>
        </p:txBody>
      </p:sp>
      <p:cxnSp>
        <p:nvCxnSpPr>
          <p:cNvPr id="15" name="line"/>
          <p:cNvCxnSpPr/>
          <p:nvPr/>
        </p:nvCxnSpPr>
        <p:spPr>
          <a:xfrm>
            <a:off x="1463040" y="2560320"/>
            <a:ext cx="1828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6" name="shape"/>
          <p:cNvSpPr/>
          <p:nvPr/>
        </p:nvSpPr>
        <p:spPr>
          <a:xfrm>
            <a:off x="1645920" y="2359152"/>
            <a:ext cx="2103120" cy="402336"/>
          </a:xfrm>
          <a:prstGeom prst="roundRect">
            <a:avLst>
              <a:gd name="adj" fmla="val 7000"/>
            </a:avLst>
          </a:prstGeom>
          <a:solidFill>
            <a:srgbClr val="F0F2F5"/>
          </a:solidFill>
          <a:ln w="19050">
            <a:solidFill>
              <a:srgbClr val="718096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  <a:endParaRPr lang="ko-KR" sz="11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U_CLK_GEN_4KHZ</a:t>
            </a:r>
            <a:endParaRPr lang="ko-KR" sz="900" dirty="0"/>
          </a:p>
        </p:txBody>
      </p:sp>
      <p:cxnSp>
        <p:nvCxnSpPr>
          <p:cNvPr id="17" name="line"/>
          <p:cNvCxnSpPr/>
          <p:nvPr/>
        </p:nvCxnSpPr>
        <p:spPr>
          <a:xfrm>
            <a:off x="2354580" y="2761488"/>
            <a:ext cx="0" cy="347472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cxnSp>
        <p:nvCxnSpPr>
          <p:cNvPr id="18" name="line"/>
          <p:cNvCxnSpPr/>
          <p:nvPr/>
        </p:nvCxnSpPr>
        <p:spPr>
          <a:xfrm>
            <a:off x="3749040" y="2560320"/>
            <a:ext cx="11018520" cy="0"/>
          </a:xfrm>
          <a:prstGeom prst="line">
            <a:avLst/>
          </a:prstGeom>
          <a:ln w="22225">
            <a:solidFill>
              <a:srgbClr val="D53F8C"/>
            </a:solidFill>
            <a:prstDash val="dash"/>
          </a:ln>
        </p:spPr>
      </p:cxnSp>
      <p:cxnSp>
        <p:nvCxnSpPr>
          <p:cNvPr id="19" name="line"/>
          <p:cNvCxnSpPr/>
          <p:nvPr/>
        </p:nvCxnSpPr>
        <p:spPr>
          <a:xfrm>
            <a:off x="14767560" y="2560320"/>
            <a:ext cx="0" cy="548640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sp>
        <p:nvSpPr>
          <p:cNvPr id="20" name="text"/>
          <p:cNvSpPr txBox="1"/>
          <p:nvPr/>
        </p:nvSpPr>
        <p:spPr>
          <a:xfrm>
            <a:off x="4206240" y="2331720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D53F8C"/>
                </a:solidFill>
                <a:latin typeface="Consolas"/>
                <a:ea typeface="Consolas"/>
                <a:cs typeface="Consolas"/>
              </a:rPr>
              <a:t>w_clk_4khz — 4 kHz (250 µs) · 디바운서 · FND 스캔 공용</a:t>
            </a:r>
            <a:endParaRPr lang="ko-KR" sz="900" dirty="0"/>
          </a:p>
        </p:txBody>
      </p:sp>
      <p:sp>
        <p:nvSpPr>
          <p:cNvPr id="21" name="shape"/>
          <p:cNvSpPr/>
          <p:nvPr/>
        </p:nvSpPr>
        <p:spPr>
          <a:xfrm>
            <a:off x="1645920" y="3108960"/>
            <a:ext cx="1417320" cy="2377440"/>
          </a:xfrm>
          <a:prstGeom prst="roundRect">
            <a:avLst>
              <a:gd name="adj" fmla="val 7000"/>
            </a:avLst>
          </a:prstGeom>
          <a:solidFill>
            <a:srgbClr val="F0F2F5"/>
          </a:solidFill>
          <a:ln w="19050">
            <a:solidFill>
              <a:srgbClr val="718096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btn_debounce ×4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U_BD_R/L/U/D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4 kHz 8 번 샘플</a:t>
            </a:r>
            <a:endParaRPr lang="ko-KR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(2 ms) → 1 클럭 펄스</a:t>
            </a:r>
            <a:endParaRPr lang="ko-KR" sz="1000" dirty="0"/>
          </a:p>
        </p:txBody>
      </p:sp>
      <p:sp>
        <p:nvSpPr>
          <p:cNvPr id="22" name="shape"/>
          <p:cNvSpPr/>
          <p:nvPr/>
        </p:nvSpPr>
        <p:spPr>
          <a:xfrm>
            <a:off x="502920" y="3291840"/>
            <a:ext cx="96012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btnR  T17</a:t>
            </a:r>
            <a:endParaRPr lang="ko-KR" sz="1000" dirty="0"/>
          </a:p>
        </p:txBody>
      </p:sp>
      <p:cxnSp>
        <p:nvCxnSpPr>
          <p:cNvPr id="23" name="line"/>
          <p:cNvCxnSpPr/>
          <p:nvPr/>
        </p:nvCxnSpPr>
        <p:spPr>
          <a:xfrm>
            <a:off x="1463040" y="3429000"/>
            <a:ext cx="1828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4" name="line"/>
          <p:cNvCxnSpPr/>
          <p:nvPr/>
        </p:nvCxnSpPr>
        <p:spPr>
          <a:xfrm>
            <a:off x="3063240" y="342900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25" name="text"/>
          <p:cNvSpPr txBox="1"/>
          <p:nvPr/>
        </p:nvSpPr>
        <p:spPr>
          <a:xfrm>
            <a:off x="3090672" y="3236976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btn_R</a:t>
            </a:r>
            <a:endParaRPr lang="ko-KR" sz="900" dirty="0"/>
          </a:p>
        </p:txBody>
      </p:sp>
      <p:sp>
        <p:nvSpPr>
          <p:cNvPr id="26" name="shape"/>
          <p:cNvSpPr/>
          <p:nvPr/>
        </p:nvSpPr>
        <p:spPr>
          <a:xfrm>
            <a:off x="502920" y="3840480"/>
            <a:ext cx="96012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btnL  W19</a:t>
            </a:r>
            <a:endParaRPr lang="ko-KR" sz="1000" dirty="0"/>
          </a:p>
        </p:txBody>
      </p:sp>
      <p:cxnSp>
        <p:nvCxnSpPr>
          <p:cNvPr id="27" name="line"/>
          <p:cNvCxnSpPr/>
          <p:nvPr/>
        </p:nvCxnSpPr>
        <p:spPr>
          <a:xfrm>
            <a:off x="1463040" y="3977640"/>
            <a:ext cx="1828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8" name="line"/>
          <p:cNvCxnSpPr/>
          <p:nvPr/>
        </p:nvCxnSpPr>
        <p:spPr>
          <a:xfrm>
            <a:off x="3063240" y="397764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29" name="text"/>
          <p:cNvSpPr txBox="1"/>
          <p:nvPr/>
        </p:nvSpPr>
        <p:spPr>
          <a:xfrm>
            <a:off x="3090672" y="3785616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btn_L</a:t>
            </a:r>
            <a:endParaRPr lang="ko-KR" sz="900" dirty="0"/>
          </a:p>
        </p:txBody>
      </p:sp>
      <p:sp>
        <p:nvSpPr>
          <p:cNvPr id="30" name="shape"/>
          <p:cNvSpPr/>
          <p:nvPr/>
        </p:nvSpPr>
        <p:spPr>
          <a:xfrm>
            <a:off x="502920" y="4389120"/>
            <a:ext cx="96012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btnU  T18</a:t>
            </a:r>
            <a:endParaRPr lang="ko-KR" sz="1000" dirty="0"/>
          </a:p>
        </p:txBody>
      </p:sp>
      <p:cxnSp>
        <p:nvCxnSpPr>
          <p:cNvPr id="31" name="line"/>
          <p:cNvCxnSpPr/>
          <p:nvPr/>
        </p:nvCxnSpPr>
        <p:spPr>
          <a:xfrm>
            <a:off x="1463040" y="4526280"/>
            <a:ext cx="1828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2" name="line"/>
          <p:cNvCxnSpPr/>
          <p:nvPr/>
        </p:nvCxnSpPr>
        <p:spPr>
          <a:xfrm>
            <a:off x="3063240" y="452628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3" name="text"/>
          <p:cNvSpPr txBox="1"/>
          <p:nvPr/>
        </p:nvSpPr>
        <p:spPr>
          <a:xfrm>
            <a:off x="3090672" y="4334256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btn_U</a:t>
            </a:r>
            <a:endParaRPr lang="ko-KR" sz="900" dirty="0"/>
          </a:p>
        </p:txBody>
      </p:sp>
      <p:sp>
        <p:nvSpPr>
          <p:cNvPr id="34" name="shape"/>
          <p:cNvSpPr/>
          <p:nvPr/>
        </p:nvSpPr>
        <p:spPr>
          <a:xfrm>
            <a:off x="502920" y="4937760"/>
            <a:ext cx="96012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btnD  U17</a:t>
            </a:r>
            <a:endParaRPr lang="ko-KR" sz="1000" dirty="0"/>
          </a:p>
        </p:txBody>
      </p:sp>
      <p:cxnSp>
        <p:nvCxnSpPr>
          <p:cNvPr id="35" name="line"/>
          <p:cNvCxnSpPr/>
          <p:nvPr/>
        </p:nvCxnSpPr>
        <p:spPr>
          <a:xfrm>
            <a:off x="1463040" y="5074920"/>
            <a:ext cx="1828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6" name="line"/>
          <p:cNvCxnSpPr/>
          <p:nvPr/>
        </p:nvCxnSpPr>
        <p:spPr>
          <a:xfrm>
            <a:off x="3063240" y="507492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7" name="text"/>
          <p:cNvSpPr txBox="1"/>
          <p:nvPr/>
        </p:nvSpPr>
        <p:spPr>
          <a:xfrm>
            <a:off x="3090672" y="4882896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btn_D</a:t>
            </a:r>
            <a:endParaRPr lang="ko-KR" sz="900" dirty="0"/>
          </a:p>
        </p:txBody>
      </p:sp>
      <p:sp>
        <p:nvSpPr>
          <p:cNvPr id="38" name="shape"/>
          <p:cNvSpPr/>
          <p:nvPr/>
        </p:nvSpPr>
        <p:spPr>
          <a:xfrm>
            <a:off x="502920" y="5852160"/>
            <a:ext cx="114300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SW0 mode</a:t>
            </a:r>
            <a:endParaRPr lang="ko-KR" sz="1000" dirty="0"/>
          </a:p>
        </p:txBody>
      </p:sp>
      <p:cxnSp>
        <p:nvCxnSpPr>
          <p:cNvPr id="39" name="line"/>
          <p:cNvCxnSpPr/>
          <p:nvPr/>
        </p:nvCxnSpPr>
        <p:spPr>
          <a:xfrm>
            <a:off x="1645920" y="5989320"/>
            <a:ext cx="18288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40" name="shape"/>
          <p:cNvSpPr/>
          <p:nvPr/>
        </p:nvSpPr>
        <p:spPr>
          <a:xfrm>
            <a:off x="502920" y="6309360"/>
            <a:ext cx="1143000" cy="274320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SW4 timer</a:t>
            </a:r>
            <a:endParaRPr lang="ko-KR" sz="1000" dirty="0"/>
          </a:p>
        </p:txBody>
      </p:sp>
      <p:cxnSp>
        <p:nvCxnSpPr>
          <p:cNvPr id="41" name="line"/>
          <p:cNvCxnSpPr/>
          <p:nvPr/>
        </p:nvCxnSpPr>
        <p:spPr>
          <a:xfrm>
            <a:off x="1645920" y="6446520"/>
            <a:ext cx="18288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42" name="shape"/>
          <p:cNvSpPr/>
          <p:nvPr/>
        </p:nvSpPr>
        <p:spPr>
          <a:xfrm>
            <a:off x="502920" y="8138160"/>
            <a:ext cx="960120" cy="27432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rst  U18</a:t>
            </a:r>
            <a:endParaRPr lang="ko-KR" sz="1000" dirty="0"/>
          </a:p>
        </p:txBody>
      </p:sp>
      <p:sp>
        <p:nvSpPr>
          <p:cNvPr id="43" name="text"/>
          <p:cNvSpPr txBox="1"/>
          <p:nvPr/>
        </p:nvSpPr>
        <p:spPr>
          <a:xfrm>
            <a:off x="1572768" y="8065008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BTNC → 모든 순차</a:t>
            </a:r>
            <a:endParaRPr lang="ko-KR" sz="1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모듈 비동기 리셋</a:t>
            </a:r>
            <a:endParaRPr lang="ko-KR" sz="1000" dirty="0"/>
          </a:p>
        </p:txBody>
      </p:sp>
      <p:sp>
        <p:nvSpPr>
          <p:cNvPr id="44" name="shape"/>
          <p:cNvSpPr/>
          <p:nvPr/>
        </p:nvSpPr>
        <p:spPr>
          <a:xfrm>
            <a:off x="3474720" y="3108960"/>
            <a:ext cx="1051560" cy="553212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>
            <a:solidFill>
              <a:srgbClr val="718096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모드 선택</a:t>
            </a:r>
            <a:endParaRPr lang="ko-KR" sz="12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&amp; 버튼</a:t>
            </a:r>
            <a:endParaRPr lang="ko-KR" sz="12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게이팅</a:t>
            </a:r>
            <a:endParaRPr lang="ko-KR" sz="1200" dirty="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top assign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sel_tm = SW4</a:t>
            </a:r>
            <a:endParaRPr lang="ko-KR" sz="950" dirty="0"/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sel_sw =</a:t>
            </a:r>
            <a:endParaRPr lang="ko-KR" sz="9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~SW4 &amp; SW0</a:t>
            </a:r>
            <a:endParaRPr lang="ko-KR" sz="950" dirty="0"/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sel_wt =</a:t>
            </a:r>
            <a:endParaRPr lang="ko-KR" sz="9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~SW4 &amp; ~SW0</a:t>
            </a:r>
            <a:endParaRPr lang="ko-KR" sz="950" dirty="0"/>
          </a:p>
        </p:txBody>
      </p:sp>
      <p:sp>
        <p:nvSpPr>
          <p:cNvPr id="45" name="shape"/>
          <p:cNvSpPr/>
          <p:nvPr/>
        </p:nvSpPr>
        <p:spPr>
          <a:xfrm>
            <a:off x="4937760" y="3154680"/>
            <a:ext cx="1737360" cy="96012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 w="19050">
            <a:solidFill>
              <a:srgbClr val="2B6CB0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U_STOPWATCH_CONTROL_UNIT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STOP · RUN</a:t>
            </a:r>
            <a:endParaRPr lang="ko-KR" sz="1000" dirty="0"/>
          </a:p>
        </p:txBody>
      </p:sp>
      <p:sp>
        <p:nvSpPr>
          <p:cNvPr id="46" name="shape"/>
          <p:cNvSpPr/>
          <p:nvPr/>
        </p:nvSpPr>
        <p:spPr>
          <a:xfrm>
            <a:off x="7315200" y="3154680"/>
            <a:ext cx="1554480" cy="68580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 w="19050">
            <a:solidFill>
              <a:srgbClr val="2B6CB0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  <a:endParaRPr lang="ko-KR" sz="11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U_TICK_GEN_SW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RUN 동안만 셈</a:t>
            </a:r>
            <a:endParaRPr lang="ko-KR" sz="1000" dirty="0"/>
          </a:p>
        </p:txBody>
      </p:sp>
      <p:sp>
        <p:nvSpPr>
          <p:cNvPr id="47" name="shape"/>
          <p:cNvSpPr/>
          <p:nvPr/>
        </p:nvSpPr>
        <p:spPr>
          <a:xfrm>
            <a:off x="9418320" y="3154680"/>
            <a:ext cx="1737360" cy="1188720"/>
          </a:xfrm>
          <a:prstGeom prst="roundRect">
            <a:avLst>
              <a:gd name="adj" fmla="val 7000"/>
            </a:avLst>
          </a:prstGeom>
          <a:solidFill>
            <a:srgbClr val="E6EFFA"/>
          </a:solidFill>
          <a:ln w="19050">
            <a:solidFill>
              <a:srgbClr val="2B6CB0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U_STOPWATCH_DATAPATH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경과 시간 · LAP</a:t>
            </a:r>
            <a:endParaRPr lang="ko-KR" sz="1000" dirty="0"/>
          </a:p>
        </p:txBody>
      </p:sp>
      <p:cxnSp>
        <p:nvCxnSpPr>
          <p:cNvPr id="48" name="line"/>
          <p:cNvCxnSpPr/>
          <p:nvPr/>
        </p:nvCxnSpPr>
        <p:spPr>
          <a:xfrm>
            <a:off x="4526280" y="3657600"/>
            <a:ext cx="411480" cy="0"/>
          </a:xfrm>
          <a:prstGeom prst="line">
            <a:avLst/>
          </a:prstGeom>
          <a:ln w="285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49" name="text"/>
          <p:cNvSpPr txBox="1"/>
          <p:nvPr/>
        </p:nvSpPr>
        <p:spPr>
          <a:xfrm>
            <a:off x="4562856" y="34564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×3</a:t>
            </a:r>
            <a:endParaRPr lang="ko-KR" sz="1000" dirty="0"/>
          </a:p>
        </p:txBody>
      </p:sp>
      <p:cxnSp>
        <p:nvCxnSpPr>
          <p:cNvPr id="50" name="line"/>
          <p:cNvCxnSpPr/>
          <p:nvPr/>
        </p:nvCxnSpPr>
        <p:spPr>
          <a:xfrm>
            <a:off x="6675120" y="3429000"/>
            <a:ext cx="6400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51" name="text"/>
          <p:cNvSpPr txBox="1"/>
          <p:nvPr/>
        </p:nvSpPr>
        <p:spPr>
          <a:xfrm>
            <a:off x="6711696" y="3090672"/>
            <a:ext cx="5486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run_stop</a:t>
            </a:r>
            <a:endParaRPr lang="ko-KR" sz="900" dirty="0"/>
          </a:p>
        </p:txBody>
      </p:sp>
      <p:sp>
        <p:nvSpPr>
          <p:cNvPr id="52" name="text"/>
          <p:cNvSpPr txBox="1"/>
          <p:nvPr/>
        </p:nvSpPr>
        <p:spPr>
          <a:xfrm>
            <a:off x="6711696" y="3246120"/>
            <a:ext cx="5486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clear</a:t>
            </a:r>
            <a:endParaRPr lang="ko-KR" sz="900" dirty="0"/>
          </a:p>
        </p:txBody>
      </p:sp>
      <p:cxnSp>
        <p:nvCxnSpPr>
          <p:cNvPr id="53" name="line"/>
          <p:cNvCxnSpPr/>
          <p:nvPr/>
        </p:nvCxnSpPr>
        <p:spPr>
          <a:xfrm>
            <a:off x="8869680" y="3429000"/>
            <a:ext cx="548640" cy="0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sp>
        <p:nvSpPr>
          <p:cNvPr id="54" name="text"/>
          <p:cNvSpPr txBox="1"/>
          <p:nvPr/>
        </p:nvSpPr>
        <p:spPr>
          <a:xfrm>
            <a:off x="8906256" y="32278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D53F8C"/>
                </a:solidFill>
                <a:latin typeface="Consolas"/>
                <a:ea typeface="Consolas"/>
                <a:cs typeface="Consolas"/>
              </a:rPr>
              <a:t>sw_tick</a:t>
            </a:r>
            <a:endParaRPr lang="ko-KR" sz="900" dirty="0"/>
          </a:p>
        </p:txBody>
      </p:sp>
      <p:cxnSp>
        <p:nvCxnSpPr>
          <p:cNvPr id="55" name="line"/>
          <p:cNvCxnSpPr/>
          <p:nvPr/>
        </p:nvCxnSpPr>
        <p:spPr>
          <a:xfrm>
            <a:off x="6675120" y="3977640"/>
            <a:ext cx="27432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56" name="text"/>
          <p:cNvSpPr txBox="1"/>
          <p:nvPr/>
        </p:nvSpPr>
        <p:spPr>
          <a:xfrm>
            <a:off x="7406640" y="399592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clear · down</a:t>
            </a:r>
            <a:endParaRPr lang="ko-KR" sz="900" dirty="0"/>
          </a:p>
        </p:txBody>
      </p:sp>
      <p:cxnSp>
        <p:nvCxnSpPr>
          <p:cNvPr id="57" name="line"/>
          <p:cNvCxnSpPr/>
          <p:nvPr/>
        </p:nvCxnSpPr>
        <p:spPr>
          <a:xfrm>
            <a:off x="4526280" y="4279392"/>
            <a:ext cx="48920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58" name="text"/>
          <p:cNvSpPr txBox="1"/>
          <p:nvPr/>
        </p:nvSpPr>
        <p:spPr>
          <a:xfrm>
            <a:off x="4983480" y="429768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btn_D (LAP)</a:t>
            </a:r>
            <a:endParaRPr lang="ko-KR" sz="900" dirty="0"/>
          </a:p>
        </p:txBody>
      </p:sp>
      <p:sp>
        <p:nvSpPr>
          <p:cNvPr id="59" name="shape"/>
          <p:cNvSpPr/>
          <p:nvPr/>
        </p:nvSpPr>
        <p:spPr>
          <a:xfrm>
            <a:off x="4937760" y="4846320"/>
            <a:ext cx="1737360" cy="96012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 w="19050">
            <a:solidFill>
              <a:srgbClr val="2F855A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U_WATCH_CONTROL_UNIT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NORMAL · 커서 3 자리</a:t>
            </a:r>
            <a:endParaRPr lang="ko-KR" sz="1000" dirty="0"/>
          </a:p>
        </p:txBody>
      </p:sp>
      <p:sp>
        <p:nvSpPr>
          <p:cNvPr id="60" name="shape"/>
          <p:cNvSpPr/>
          <p:nvPr/>
        </p:nvSpPr>
        <p:spPr>
          <a:xfrm>
            <a:off x="7315200" y="4846320"/>
            <a:ext cx="1554480" cy="68580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 w="19050">
            <a:solidFill>
              <a:srgbClr val="2F855A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tick_gen_100hz</a:t>
            </a:r>
            <a:endParaRPr lang="ko-KR" sz="11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U_TICK_GEN_100HZ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항상 흐름</a:t>
            </a:r>
            <a:endParaRPr lang="ko-KR" sz="1000" dirty="0"/>
          </a:p>
        </p:txBody>
      </p:sp>
      <p:sp>
        <p:nvSpPr>
          <p:cNvPr id="61" name="shape"/>
          <p:cNvSpPr/>
          <p:nvPr/>
        </p:nvSpPr>
        <p:spPr>
          <a:xfrm>
            <a:off x="9418320" y="4846320"/>
            <a:ext cx="1737360" cy="105156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 w="19050">
            <a:solidFill>
              <a:srgbClr val="2F855A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watch_datapath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U_WATCH_DATAPATH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현재 시각 (설정 ±)</a:t>
            </a:r>
            <a:endParaRPr lang="ko-KR" sz="1000" dirty="0"/>
          </a:p>
        </p:txBody>
      </p:sp>
      <p:sp>
        <p:nvSpPr>
          <p:cNvPr id="62" name="shape"/>
          <p:cNvSpPr/>
          <p:nvPr/>
        </p:nvSpPr>
        <p:spPr>
          <a:xfrm>
            <a:off x="9418320" y="6172200"/>
            <a:ext cx="1737360" cy="502920"/>
          </a:xfrm>
          <a:prstGeom prst="roundRect">
            <a:avLst>
              <a:gd name="adj" fmla="val 7000"/>
            </a:avLst>
          </a:prstGeom>
          <a:solidFill>
            <a:srgbClr val="E4F3EA"/>
          </a:solidFill>
          <a:ln w="19050">
            <a:solidFill>
              <a:srgbClr val="2F855A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hour_12_24</a:t>
            </a:r>
            <a:endParaRPr lang="ko-KR" sz="11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U_HOUR_12_24</a:t>
            </a:r>
            <a:endParaRPr lang="ko-KR" sz="900" dirty="0"/>
          </a:p>
        </p:txBody>
      </p:sp>
      <p:cxnSp>
        <p:nvCxnSpPr>
          <p:cNvPr id="63" name="line"/>
          <p:cNvCxnSpPr/>
          <p:nvPr/>
        </p:nvCxnSpPr>
        <p:spPr>
          <a:xfrm>
            <a:off x="4526280" y="5349240"/>
            <a:ext cx="411480" cy="0"/>
          </a:xfrm>
          <a:prstGeom prst="line">
            <a:avLst/>
          </a:prstGeom>
          <a:ln w="285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64" name="text"/>
          <p:cNvSpPr txBox="1"/>
          <p:nvPr/>
        </p:nvSpPr>
        <p:spPr>
          <a:xfrm>
            <a:off x="4562856" y="514807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×4</a:t>
            </a:r>
            <a:endParaRPr lang="ko-KR" sz="1000" dirty="0"/>
          </a:p>
        </p:txBody>
      </p:sp>
      <p:cxnSp>
        <p:nvCxnSpPr>
          <p:cNvPr id="65" name="line"/>
          <p:cNvCxnSpPr/>
          <p:nvPr/>
        </p:nvCxnSpPr>
        <p:spPr>
          <a:xfrm>
            <a:off x="8869680" y="5120640"/>
            <a:ext cx="548640" cy="0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sp>
        <p:nvSpPr>
          <p:cNvPr id="66" name="text"/>
          <p:cNvSpPr txBox="1"/>
          <p:nvPr/>
        </p:nvSpPr>
        <p:spPr>
          <a:xfrm>
            <a:off x="8906256" y="49194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D53F8C"/>
                </a:solidFill>
                <a:latin typeface="Consolas"/>
                <a:ea typeface="Consolas"/>
                <a:cs typeface="Consolas"/>
              </a:rPr>
              <a:t>wt_tick</a:t>
            </a:r>
            <a:endParaRPr lang="ko-KR" sz="900" dirty="0"/>
          </a:p>
        </p:txBody>
      </p:sp>
      <p:cxnSp>
        <p:nvCxnSpPr>
          <p:cNvPr id="67" name="line"/>
          <p:cNvCxnSpPr/>
          <p:nvPr/>
        </p:nvCxnSpPr>
        <p:spPr>
          <a:xfrm>
            <a:off x="6675120" y="5669280"/>
            <a:ext cx="27432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68" name="text"/>
          <p:cNvSpPr txBox="1"/>
          <p:nvPr/>
        </p:nvSpPr>
        <p:spPr>
          <a:xfrm>
            <a:off x="7406640" y="56875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cursor · up · down</a:t>
            </a:r>
            <a:endParaRPr lang="ko-KR" sz="900" dirty="0"/>
          </a:p>
        </p:txBody>
      </p:sp>
      <p:cxnSp>
        <p:nvCxnSpPr>
          <p:cNvPr id="69" name="line"/>
          <p:cNvCxnSpPr/>
          <p:nvPr/>
        </p:nvCxnSpPr>
        <p:spPr>
          <a:xfrm flipV="1">
            <a:off x="5806440" y="5806440"/>
            <a:ext cx="0" cy="393192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70" name="text"/>
          <p:cNvSpPr txBox="1"/>
          <p:nvPr/>
        </p:nvSpPr>
        <p:spPr>
          <a:xfrm>
            <a:off x="5257800" y="621792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SW2 (설정)</a:t>
            </a:r>
            <a:endParaRPr lang="ko-KR" sz="1000" dirty="0"/>
          </a:p>
        </p:txBody>
      </p:sp>
      <p:cxnSp>
        <p:nvCxnSpPr>
          <p:cNvPr id="71" name="line"/>
          <p:cNvCxnSpPr/>
          <p:nvPr/>
        </p:nvCxnSpPr>
        <p:spPr>
          <a:xfrm>
            <a:off x="10287000" y="5897880"/>
            <a:ext cx="0" cy="27432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72" name="text"/>
          <p:cNvSpPr txBox="1"/>
          <p:nvPr/>
        </p:nvSpPr>
        <p:spPr>
          <a:xfrm>
            <a:off x="10341864" y="59436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hour</a:t>
            </a:r>
            <a:endParaRPr lang="ko-KR" sz="900" dirty="0"/>
          </a:p>
        </p:txBody>
      </p:sp>
      <p:cxnSp>
        <p:nvCxnSpPr>
          <p:cNvPr id="73" name="line"/>
          <p:cNvCxnSpPr/>
          <p:nvPr/>
        </p:nvCxnSpPr>
        <p:spPr>
          <a:xfrm>
            <a:off x="9006840" y="6419088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74" name="text"/>
          <p:cNvSpPr txBox="1"/>
          <p:nvPr/>
        </p:nvSpPr>
        <p:spPr>
          <a:xfrm>
            <a:off x="7726680" y="6327648"/>
            <a:ext cx="12435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SW3 (12/24h)</a:t>
            </a:r>
            <a:endParaRPr lang="ko-KR" sz="1000" dirty="0"/>
          </a:p>
        </p:txBody>
      </p:sp>
      <p:sp>
        <p:nvSpPr>
          <p:cNvPr id="75" name="shape"/>
          <p:cNvSpPr/>
          <p:nvPr/>
        </p:nvSpPr>
        <p:spPr>
          <a:xfrm>
            <a:off x="4937760" y="7132320"/>
            <a:ext cx="1737360" cy="1280160"/>
          </a:xfrm>
          <a:prstGeom prst="roundRect">
            <a:avLst>
              <a:gd name="adj" fmla="val 7000"/>
            </a:avLst>
          </a:prstGeom>
          <a:solidFill>
            <a:srgbClr val="FCEDE1"/>
          </a:solidFill>
          <a:ln w="19050">
            <a:solidFill>
              <a:srgbClr val="C05621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U_TIMER_CONTROL_UNIT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SET · RUN · ALARM</a:t>
            </a:r>
            <a:endParaRPr lang="ko-KR" sz="1000" dirty="0"/>
          </a:p>
        </p:txBody>
      </p:sp>
      <p:sp>
        <p:nvSpPr>
          <p:cNvPr id="76" name="shape"/>
          <p:cNvSpPr/>
          <p:nvPr/>
        </p:nvSpPr>
        <p:spPr>
          <a:xfrm>
            <a:off x="7315200" y="7132320"/>
            <a:ext cx="1554480" cy="685800"/>
          </a:xfrm>
          <a:prstGeom prst="roundRect">
            <a:avLst>
              <a:gd name="adj" fmla="val 7000"/>
            </a:avLst>
          </a:prstGeom>
          <a:solidFill>
            <a:srgbClr val="FCEDE1"/>
          </a:solidFill>
          <a:ln w="19050">
            <a:solidFill>
              <a:srgbClr val="C05621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  <a:endParaRPr lang="ko-KR" sz="11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U_TICK_GEN_TM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clear = 취소 | 알람</a:t>
            </a:r>
            <a:endParaRPr lang="ko-KR" sz="1000" dirty="0"/>
          </a:p>
        </p:txBody>
      </p:sp>
      <p:sp>
        <p:nvSpPr>
          <p:cNvPr id="77" name="shape"/>
          <p:cNvSpPr/>
          <p:nvPr/>
        </p:nvSpPr>
        <p:spPr>
          <a:xfrm>
            <a:off x="9418320" y="7132320"/>
            <a:ext cx="1737360" cy="1280160"/>
          </a:xfrm>
          <a:prstGeom prst="roundRect">
            <a:avLst>
              <a:gd name="adj" fmla="val 7000"/>
            </a:avLst>
          </a:prstGeom>
          <a:solidFill>
            <a:srgbClr val="FCEDE1"/>
          </a:solidFill>
          <a:ln w="19050">
            <a:solidFill>
              <a:srgbClr val="C05621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timer_datapath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U_TIMER_DATAPATH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남은 시간 다운카운트</a:t>
            </a:r>
            <a:endParaRPr lang="ko-KR" sz="1000" dirty="0"/>
          </a:p>
        </p:txBody>
      </p:sp>
      <p:cxnSp>
        <p:nvCxnSpPr>
          <p:cNvPr id="78" name="line"/>
          <p:cNvCxnSpPr/>
          <p:nvPr/>
        </p:nvCxnSpPr>
        <p:spPr>
          <a:xfrm>
            <a:off x="4526280" y="7772400"/>
            <a:ext cx="411480" cy="0"/>
          </a:xfrm>
          <a:prstGeom prst="line">
            <a:avLst/>
          </a:prstGeom>
          <a:ln w="285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79" name="text"/>
          <p:cNvSpPr txBox="1"/>
          <p:nvPr/>
        </p:nvSpPr>
        <p:spPr>
          <a:xfrm>
            <a:off x="4562856" y="75712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×4</a:t>
            </a:r>
            <a:endParaRPr lang="ko-KR" sz="1000" dirty="0"/>
          </a:p>
        </p:txBody>
      </p:sp>
      <p:cxnSp>
        <p:nvCxnSpPr>
          <p:cNvPr id="80" name="line"/>
          <p:cNvCxnSpPr/>
          <p:nvPr/>
        </p:nvCxnSpPr>
        <p:spPr>
          <a:xfrm>
            <a:off x="6675120" y="7406640"/>
            <a:ext cx="64008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81" name="text"/>
          <p:cNvSpPr txBox="1"/>
          <p:nvPr/>
        </p:nvSpPr>
        <p:spPr>
          <a:xfrm>
            <a:off x="6711696" y="72054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run·clr</a:t>
            </a:r>
            <a:endParaRPr lang="ko-KR" sz="900" dirty="0"/>
          </a:p>
        </p:txBody>
      </p:sp>
      <p:cxnSp>
        <p:nvCxnSpPr>
          <p:cNvPr id="82" name="line"/>
          <p:cNvCxnSpPr/>
          <p:nvPr/>
        </p:nvCxnSpPr>
        <p:spPr>
          <a:xfrm>
            <a:off x="8869680" y="7406640"/>
            <a:ext cx="548640" cy="0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sp>
        <p:nvSpPr>
          <p:cNvPr id="83" name="text"/>
          <p:cNvSpPr txBox="1"/>
          <p:nvPr/>
        </p:nvSpPr>
        <p:spPr>
          <a:xfrm>
            <a:off x="8906256" y="72054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D53F8C"/>
                </a:solidFill>
                <a:latin typeface="Consolas"/>
                <a:ea typeface="Consolas"/>
                <a:cs typeface="Consolas"/>
              </a:rPr>
              <a:t>tm_tick</a:t>
            </a:r>
            <a:endParaRPr lang="ko-KR" sz="900" dirty="0"/>
          </a:p>
        </p:txBody>
      </p:sp>
      <p:cxnSp>
        <p:nvCxnSpPr>
          <p:cNvPr id="84" name="line"/>
          <p:cNvCxnSpPr/>
          <p:nvPr/>
        </p:nvCxnSpPr>
        <p:spPr>
          <a:xfrm>
            <a:off x="6675120" y="8046720"/>
            <a:ext cx="27432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85" name="text"/>
          <p:cNvSpPr txBox="1"/>
          <p:nvPr/>
        </p:nvSpPr>
        <p:spPr>
          <a:xfrm>
            <a:off x="7406640" y="80650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run · clear · add · amount</a:t>
            </a:r>
            <a:endParaRPr lang="ko-KR" sz="900" dirty="0"/>
          </a:p>
        </p:txBody>
      </p:sp>
      <p:cxnSp>
        <p:nvCxnSpPr>
          <p:cNvPr id="86" name="line"/>
          <p:cNvCxnSpPr/>
          <p:nvPr/>
        </p:nvCxnSpPr>
        <p:spPr>
          <a:xfrm flipH="1">
            <a:off x="6675120" y="8293608"/>
            <a:ext cx="274320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87" name="text"/>
          <p:cNvSpPr txBox="1"/>
          <p:nvPr/>
        </p:nvSpPr>
        <p:spPr>
          <a:xfrm>
            <a:off x="7406640" y="8311896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zero</a:t>
            </a:r>
            <a:endParaRPr lang="ko-KR" sz="900" dirty="0"/>
          </a:p>
        </p:txBody>
      </p:sp>
      <p:sp>
        <p:nvSpPr>
          <p:cNvPr id="88" name="shape"/>
          <p:cNvSpPr/>
          <p:nvPr/>
        </p:nvSpPr>
        <p:spPr>
          <a:xfrm>
            <a:off x="11567160" y="3154680"/>
            <a:ext cx="594360" cy="525780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9050">
            <a:solidFill>
              <a:srgbClr val="718096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</a:t>
            </a:r>
            <a:endParaRPr lang="ko-KR" sz="12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MUX</a:t>
            </a:r>
            <a:endParaRPr lang="ko-KR" sz="1200" dirty="0"/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3:1 ×4</a:t>
            </a:r>
            <a:endParaRPr lang="ko-KR" sz="950" dirty="0"/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msec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sec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min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ko-KR" altLang="en-US" sz="9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hour</a:t>
            </a:r>
            <a:endParaRPr lang="ko-KR" sz="900" dirty="0"/>
          </a:p>
        </p:txBody>
      </p:sp>
      <p:cxnSp>
        <p:nvCxnSpPr>
          <p:cNvPr id="89" name="line"/>
          <p:cNvCxnSpPr/>
          <p:nvPr/>
        </p:nvCxnSpPr>
        <p:spPr>
          <a:xfrm>
            <a:off x="11155680" y="3703320"/>
            <a:ext cx="4114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90" name="text"/>
          <p:cNvSpPr txBox="1"/>
          <p:nvPr/>
        </p:nvSpPr>
        <p:spPr>
          <a:xfrm>
            <a:off x="11183112" y="35021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SW</a:t>
            </a:r>
            <a:endParaRPr lang="ko-KR" sz="900" dirty="0"/>
          </a:p>
        </p:txBody>
      </p:sp>
      <p:cxnSp>
        <p:nvCxnSpPr>
          <p:cNvPr id="91" name="line"/>
          <p:cNvCxnSpPr/>
          <p:nvPr/>
        </p:nvCxnSpPr>
        <p:spPr>
          <a:xfrm>
            <a:off x="11155680" y="5257800"/>
            <a:ext cx="4114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92" name="text"/>
          <p:cNvSpPr txBox="1"/>
          <p:nvPr/>
        </p:nvSpPr>
        <p:spPr>
          <a:xfrm>
            <a:off x="11183112" y="505663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WT</a:t>
            </a:r>
            <a:endParaRPr lang="ko-KR" sz="900" dirty="0"/>
          </a:p>
        </p:txBody>
      </p:sp>
      <p:cxnSp>
        <p:nvCxnSpPr>
          <p:cNvPr id="93" name="line"/>
          <p:cNvCxnSpPr/>
          <p:nvPr/>
        </p:nvCxnSpPr>
        <p:spPr>
          <a:xfrm>
            <a:off x="11155680" y="6419088"/>
            <a:ext cx="4114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94" name="text"/>
          <p:cNvSpPr txBox="1"/>
          <p:nvPr/>
        </p:nvSpPr>
        <p:spPr>
          <a:xfrm>
            <a:off x="11183112" y="621792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hour</a:t>
            </a:r>
            <a:endParaRPr lang="ko-KR" sz="900" dirty="0"/>
          </a:p>
        </p:txBody>
      </p:sp>
      <p:cxnSp>
        <p:nvCxnSpPr>
          <p:cNvPr id="95" name="line"/>
          <p:cNvCxnSpPr/>
          <p:nvPr/>
        </p:nvCxnSpPr>
        <p:spPr>
          <a:xfrm>
            <a:off x="11155680" y="7726680"/>
            <a:ext cx="4114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96" name="text"/>
          <p:cNvSpPr txBox="1"/>
          <p:nvPr/>
        </p:nvSpPr>
        <p:spPr>
          <a:xfrm>
            <a:off x="11183112" y="752551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TM</a:t>
            </a:r>
            <a:endParaRPr lang="ko-KR" sz="900" dirty="0"/>
          </a:p>
        </p:txBody>
      </p:sp>
      <p:cxnSp>
        <p:nvCxnSpPr>
          <p:cNvPr id="97" name="line"/>
          <p:cNvCxnSpPr/>
          <p:nvPr/>
        </p:nvCxnSpPr>
        <p:spPr>
          <a:xfrm flipV="1">
            <a:off x="11864340" y="8412480"/>
            <a:ext cx="0" cy="32004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98" name="text"/>
          <p:cNvSpPr txBox="1"/>
          <p:nvPr/>
        </p:nvSpPr>
        <p:spPr>
          <a:xfrm>
            <a:off x="11018520" y="8741664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sel : SW4 &gt; SW0</a:t>
            </a:r>
            <a:endParaRPr lang="ko-KR" sz="1000" dirty="0"/>
          </a:p>
        </p:txBody>
      </p:sp>
      <p:sp>
        <p:nvSpPr>
          <p:cNvPr id="99" name="shape"/>
          <p:cNvSpPr/>
          <p:nvPr/>
        </p:nvSpPr>
        <p:spPr>
          <a:xfrm>
            <a:off x="13716000" y="3108960"/>
            <a:ext cx="2103120" cy="2468880"/>
          </a:xfrm>
          <a:prstGeom prst="roundRect">
            <a:avLst>
              <a:gd name="adj" fmla="val 7000"/>
            </a:avLst>
          </a:prstGeom>
          <a:solidFill>
            <a:srgbClr val="F0EBFB"/>
          </a:solidFill>
          <a:ln w="19050">
            <a:solidFill>
              <a:srgbClr val="6B46C1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SW2_FND_CONTROLLER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U_FND_CONTROLLER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자리 분리 → 설정 자리 점멸</a:t>
            </a:r>
            <a:endParaRPr lang="ko-KR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→ 8 칸 스캔 (4 kHz)</a:t>
            </a:r>
            <a:endParaRPr lang="ko-KR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→ 세그먼트</a:t>
            </a:r>
            <a:endParaRPr lang="ko-KR" sz="1000" dirty="0"/>
          </a:p>
        </p:txBody>
      </p:sp>
      <p:cxnSp>
        <p:nvCxnSpPr>
          <p:cNvPr id="100" name="line"/>
          <p:cNvCxnSpPr/>
          <p:nvPr/>
        </p:nvCxnSpPr>
        <p:spPr>
          <a:xfrm>
            <a:off x="12161520" y="3520440"/>
            <a:ext cx="15544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101" name="text"/>
          <p:cNvSpPr txBox="1"/>
          <p:nvPr/>
        </p:nvSpPr>
        <p:spPr>
          <a:xfrm>
            <a:off x="12234672" y="331012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w_disp_*</a:t>
            </a:r>
            <a:endParaRPr lang="ko-KR" sz="900" dirty="0"/>
          </a:p>
        </p:txBody>
      </p:sp>
      <p:sp>
        <p:nvSpPr>
          <p:cNvPr id="102" name="shape"/>
          <p:cNvSpPr/>
          <p:nvPr/>
        </p:nvSpPr>
        <p:spPr>
          <a:xfrm>
            <a:off x="12298680" y="389534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wt_cursor</a:t>
            </a:r>
            <a:endParaRPr lang="ko-KR" sz="1000" dirty="0"/>
          </a:p>
        </p:txBody>
      </p:sp>
      <p:cxnSp>
        <p:nvCxnSpPr>
          <p:cNvPr id="103" name="line"/>
          <p:cNvCxnSpPr/>
          <p:nvPr/>
        </p:nvCxnSpPr>
        <p:spPr>
          <a:xfrm>
            <a:off x="13624560" y="402336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04" name="shape"/>
          <p:cNvSpPr/>
          <p:nvPr/>
        </p:nvSpPr>
        <p:spPr>
          <a:xfrm>
            <a:off x="12298680" y="426110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sel_wt</a:t>
            </a:r>
            <a:endParaRPr lang="ko-KR" sz="1000" dirty="0"/>
          </a:p>
        </p:txBody>
      </p:sp>
      <p:cxnSp>
        <p:nvCxnSpPr>
          <p:cNvPr id="105" name="line"/>
          <p:cNvCxnSpPr/>
          <p:nvPr/>
        </p:nvCxnSpPr>
        <p:spPr>
          <a:xfrm>
            <a:off x="13624560" y="438912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06" name="shape"/>
          <p:cNvSpPr/>
          <p:nvPr/>
        </p:nvSpPr>
        <p:spPr>
          <a:xfrm>
            <a:off x="12298680" y="462686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SW1 | SW4</a:t>
            </a:r>
            <a:endParaRPr lang="ko-KR" sz="1000" dirty="0"/>
          </a:p>
        </p:txBody>
      </p:sp>
      <p:cxnSp>
        <p:nvCxnSpPr>
          <p:cNvPr id="107" name="line"/>
          <p:cNvCxnSpPr/>
          <p:nvPr/>
        </p:nvCxnSpPr>
        <p:spPr>
          <a:xfrm>
            <a:off x="13624560" y="475488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08" name="shape"/>
          <p:cNvSpPr/>
          <p:nvPr/>
        </p:nvSpPr>
        <p:spPr>
          <a:xfrm>
            <a:off x="12298680" y="499262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SW2 set</a:t>
            </a:r>
            <a:endParaRPr lang="ko-KR" sz="1000" dirty="0"/>
          </a:p>
        </p:txBody>
      </p:sp>
      <p:cxnSp>
        <p:nvCxnSpPr>
          <p:cNvPr id="109" name="line"/>
          <p:cNvCxnSpPr/>
          <p:nvPr/>
        </p:nvCxnSpPr>
        <p:spPr>
          <a:xfrm>
            <a:off x="13624560" y="512064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10" name="shape"/>
          <p:cNvSpPr/>
          <p:nvPr/>
        </p:nvSpPr>
        <p:spPr>
          <a:xfrm>
            <a:off x="13716000" y="5989320"/>
            <a:ext cx="2103120" cy="2423160"/>
          </a:xfrm>
          <a:prstGeom prst="roundRect">
            <a:avLst>
              <a:gd name="adj" fmla="val 7000"/>
            </a:avLst>
          </a:prstGeom>
          <a:solidFill>
            <a:srgbClr val="F0F2F5"/>
          </a:solidFill>
          <a:ln w="19050">
            <a:solidFill>
              <a:srgbClr val="718096"/>
            </a:solidFill>
            <a:prstDash val="solid"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LED 로직</a:t>
            </a:r>
            <a:endParaRPr lang="ko-KR" sz="115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8C8C8C"/>
                </a:solidFill>
                <a:latin typeface="Consolas"/>
                <a:ea typeface="Consolas"/>
                <a:cs typeface="Consolas"/>
              </a:rPr>
              <a:t>top assign</a:t>
            </a:r>
            <a:endParaRPr lang="ko-KR" sz="9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화면 · 동작 상태 표시</a:t>
            </a:r>
            <a:endParaRPr lang="ko-KR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알람 : 16 개 0.5 s 점멸</a:t>
            </a:r>
            <a:endParaRPr lang="ko-KR" sz="1000" dirty="0"/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(wt_msec ≥ 50 박자)</a:t>
            </a:r>
            <a:endParaRPr lang="ko-KR" sz="1000" dirty="0"/>
          </a:p>
        </p:txBody>
      </p:sp>
      <p:sp>
        <p:nvSpPr>
          <p:cNvPr id="111" name="shape"/>
          <p:cNvSpPr/>
          <p:nvPr/>
        </p:nvSpPr>
        <p:spPr>
          <a:xfrm>
            <a:off x="12298680" y="622706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sel_sw/wt/tm</a:t>
            </a:r>
            <a:endParaRPr lang="ko-KR" sz="1000" dirty="0"/>
          </a:p>
        </p:txBody>
      </p:sp>
      <p:cxnSp>
        <p:nvCxnSpPr>
          <p:cNvPr id="112" name="line"/>
          <p:cNvCxnSpPr/>
          <p:nvPr/>
        </p:nvCxnSpPr>
        <p:spPr>
          <a:xfrm>
            <a:off x="13624560" y="635508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13" name="shape"/>
          <p:cNvSpPr/>
          <p:nvPr/>
        </p:nvSpPr>
        <p:spPr>
          <a:xfrm>
            <a:off x="12298680" y="659282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SW1 · SW3 · SW4</a:t>
            </a:r>
            <a:endParaRPr lang="ko-KR" sz="1000" dirty="0"/>
          </a:p>
        </p:txBody>
      </p:sp>
      <p:cxnSp>
        <p:nvCxnSpPr>
          <p:cNvPr id="114" name="line"/>
          <p:cNvCxnSpPr/>
          <p:nvPr/>
        </p:nvCxnSpPr>
        <p:spPr>
          <a:xfrm>
            <a:off x="13624560" y="672084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15" name="shape"/>
          <p:cNvSpPr/>
          <p:nvPr/>
        </p:nvSpPr>
        <p:spPr>
          <a:xfrm>
            <a:off x="12298680" y="695858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tm_run·alarm</a:t>
            </a:r>
            <a:endParaRPr lang="ko-KR" sz="1000" dirty="0"/>
          </a:p>
        </p:txBody>
      </p:sp>
      <p:cxnSp>
        <p:nvCxnSpPr>
          <p:cNvPr id="116" name="line"/>
          <p:cNvCxnSpPr/>
          <p:nvPr/>
        </p:nvCxnSpPr>
        <p:spPr>
          <a:xfrm>
            <a:off x="13624560" y="708660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17" name="shape"/>
          <p:cNvSpPr/>
          <p:nvPr/>
        </p:nvSpPr>
        <p:spPr>
          <a:xfrm>
            <a:off x="12298680" y="732434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sw_lap · wt_pm</a:t>
            </a:r>
            <a:endParaRPr lang="ko-KR" sz="1000" dirty="0"/>
          </a:p>
        </p:txBody>
      </p:sp>
      <p:cxnSp>
        <p:nvCxnSpPr>
          <p:cNvPr id="118" name="line"/>
          <p:cNvCxnSpPr/>
          <p:nvPr/>
        </p:nvCxnSpPr>
        <p:spPr>
          <a:xfrm>
            <a:off x="13624560" y="745236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19" name="shape"/>
          <p:cNvSpPr/>
          <p:nvPr/>
        </p:nvSpPr>
        <p:spPr>
          <a:xfrm>
            <a:off x="12298680" y="7690104"/>
            <a:ext cx="1325880" cy="256032"/>
          </a:xfrm>
          <a:prstGeom prst="homePlate">
            <a:avLst/>
          </a:prstGeom>
          <a:solidFill>
            <a:srgbClr val="40404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wt_msec</a:t>
            </a:r>
            <a:endParaRPr lang="ko-KR" sz="1000" dirty="0"/>
          </a:p>
        </p:txBody>
      </p:sp>
      <p:cxnSp>
        <p:nvCxnSpPr>
          <p:cNvPr id="120" name="line"/>
          <p:cNvCxnSpPr/>
          <p:nvPr/>
        </p:nvCxnSpPr>
        <p:spPr>
          <a:xfrm>
            <a:off x="13624560" y="7818120"/>
            <a:ext cx="9144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121" name="line"/>
          <p:cNvCxnSpPr/>
          <p:nvPr/>
        </p:nvCxnSpPr>
        <p:spPr>
          <a:xfrm>
            <a:off x="15819120" y="3931920"/>
            <a:ext cx="1828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122" name="shape"/>
          <p:cNvSpPr/>
          <p:nvPr/>
        </p:nvSpPr>
        <p:spPr>
          <a:xfrm>
            <a:off x="16002000" y="3794760"/>
            <a:ext cx="1600200" cy="27432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fnd_com[3:0]</a:t>
            </a:r>
            <a:endParaRPr lang="ko-KR" sz="1000" dirty="0"/>
          </a:p>
        </p:txBody>
      </p:sp>
      <p:cxnSp>
        <p:nvCxnSpPr>
          <p:cNvPr id="123" name="line"/>
          <p:cNvCxnSpPr/>
          <p:nvPr/>
        </p:nvCxnSpPr>
        <p:spPr>
          <a:xfrm>
            <a:off x="15819120" y="4754880"/>
            <a:ext cx="1828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124" name="shape"/>
          <p:cNvSpPr/>
          <p:nvPr/>
        </p:nvSpPr>
        <p:spPr>
          <a:xfrm>
            <a:off x="16002000" y="4617720"/>
            <a:ext cx="1600200" cy="27432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fnd_font[7:0]</a:t>
            </a:r>
            <a:endParaRPr lang="ko-KR" sz="1000" dirty="0"/>
          </a:p>
        </p:txBody>
      </p:sp>
      <p:cxnSp>
        <p:nvCxnSpPr>
          <p:cNvPr id="125" name="line"/>
          <p:cNvCxnSpPr/>
          <p:nvPr/>
        </p:nvCxnSpPr>
        <p:spPr>
          <a:xfrm>
            <a:off x="15819120" y="7178040"/>
            <a:ext cx="18288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126" name="shape"/>
          <p:cNvSpPr/>
          <p:nvPr/>
        </p:nvSpPr>
        <p:spPr>
          <a:xfrm>
            <a:off x="16002000" y="7040880"/>
            <a:ext cx="1600200" cy="274320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txBody>
          <a:bodyPr wrap="square" lIns="64008" tIns="0" rIns="109728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led[15:0]</a:t>
            </a:r>
            <a:endParaRPr lang="ko-KR" sz="1000" dirty="0"/>
          </a:p>
        </p:txBody>
      </p:sp>
      <p:sp>
        <p:nvSpPr>
          <p:cNvPr id="127" name="shape"/>
          <p:cNvSpPr/>
          <p:nvPr/>
        </p:nvSpPr>
        <p:spPr>
          <a:xfrm>
            <a:off x="841248" y="9125712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E6EFFA"/>
          </a:solidFill>
          <a:ln w="1587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"/>
          <p:cNvSpPr txBox="1"/>
          <p:nvPr/>
        </p:nvSpPr>
        <p:spPr>
          <a:xfrm>
            <a:off x="1188720" y="90708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lang="ko-KR" sz="1150" dirty="0"/>
          </a:p>
        </p:txBody>
      </p:sp>
      <p:sp>
        <p:nvSpPr>
          <p:cNvPr id="129" name="shape"/>
          <p:cNvSpPr/>
          <p:nvPr/>
        </p:nvSpPr>
        <p:spPr>
          <a:xfrm>
            <a:off x="2075688" y="9125712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E4F3EA"/>
          </a:solidFill>
          <a:ln w="15875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"/>
          <p:cNvSpPr txBox="1"/>
          <p:nvPr/>
        </p:nvSpPr>
        <p:spPr>
          <a:xfrm>
            <a:off x="2423160" y="90708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lang="ko-KR" sz="1150" dirty="0"/>
          </a:p>
        </p:txBody>
      </p:sp>
      <p:sp>
        <p:nvSpPr>
          <p:cNvPr id="131" name="shape"/>
          <p:cNvSpPr/>
          <p:nvPr/>
        </p:nvSpPr>
        <p:spPr>
          <a:xfrm>
            <a:off x="3310128" y="9125712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FCEDE1"/>
          </a:solidFill>
          <a:ln w="1587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"/>
          <p:cNvSpPr txBox="1"/>
          <p:nvPr/>
        </p:nvSpPr>
        <p:spPr>
          <a:xfrm>
            <a:off x="3657600" y="90708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타이머</a:t>
            </a:r>
            <a:endParaRPr lang="ko-KR" sz="1150" dirty="0"/>
          </a:p>
        </p:txBody>
      </p:sp>
      <p:sp>
        <p:nvSpPr>
          <p:cNvPr id="133" name="shape"/>
          <p:cNvSpPr/>
          <p:nvPr/>
        </p:nvSpPr>
        <p:spPr>
          <a:xfrm>
            <a:off x="4544568" y="9125712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F0EBFB"/>
          </a:solidFill>
          <a:ln w="15875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"/>
          <p:cNvSpPr txBox="1"/>
          <p:nvPr/>
        </p:nvSpPr>
        <p:spPr>
          <a:xfrm>
            <a:off x="4892040" y="90708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lang="ko-KR" sz="1150" dirty="0"/>
          </a:p>
        </p:txBody>
      </p:sp>
      <p:sp>
        <p:nvSpPr>
          <p:cNvPr id="135" name="shape"/>
          <p:cNvSpPr/>
          <p:nvPr/>
        </p:nvSpPr>
        <p:spPr>
          <a:xfrm>
            <a:off x="5779008" y="9125712"/>
            <a:ext cx="292608" cy="201168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 w="15875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"/>
          <p:cNvSpPr txBox="1"/>
          <p:nvPr/>
        </p:nvSpPr>
        <p:spPr>
          <a:xfrm>
            <a:off x="6126480" y="9070848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공통</a:t>
            </a:r>
            <a:endParaRPr lang="ko-KR" sz="1150" dirty="0"/>
          </a:p>
        </p:txBody>
      </p:sp>
      <p:cxnSp>
        <p:nvCxnSpPr>
          <p:cNvPr id="137" name="line"/>
          <p:cNvCxnSpPr/>
          <p:nvPr/>
        </p:nvCxnSpPr>
        <p:spPr>
          <a:xfrm>
            <a:off x="7104888" y="9226296"/>
            <a:ext cx="502920" cy="0"/>
          </a:xfrm>
          <a:prstGeom prst="line">
            <a:avLst/>
          </a:prstGeom>
          <a:ln w="28575">
            <a:solidFill>
              <a:srgbClr val="262626"/>
            </a:solidFill>
            <a:prstDash val="solid"/>
            <a:tailEnd type="triangle"/>
          </a:ln>
        </p:spPr>
      </p:cxnSp>
      <p:sp>
        <p:nvSpPr>
          <p:cNvPr id="138" name="text"/>
          <p:cNvSpPr txBox="1"/>
          <p:nvPr/>
        </p:nvSpPr>
        <p:spPr>
          <a:xfrm>
            <a:off x="7699248" y="9070848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데이터 (시간 값 버스)</a:t>
            </a:r>
            <a:endParaRPr lang="ko-KR" sz="1150" dirty="0"/>
          </a:p>
        </p:txBody>
      </p:sp>
      <p:cxnSp>
        <p:nvCxnSpPr>
          <p:cNvPr id="139" name="line"/>
          <p:cNvCxnSpPr/>
          <p:nvPr/>
        </p:nvCxnSpPr>
        <p:spPr>
          <a:xfrm>
            <a:off x="9619488" y="9226296"/>
            <a:ext cx="502920" cy="0"/>
          </a:xfrm>
          <a:prstGeom prst="line">
            <a:avLst/>
          </a:prstGeom>
          <a:ln w="15875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40" name="text"/>
          <p:cNvSpPr txBox="1"/>
          <p:nvPr/>
        </p:nvSpPr>
        <p:spPr>
          <a:xfrm>
            <a:off x="10213848" y="9070848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제어 신호</a:t>
            </a:r>
            <a:endParaRPr lang="ko-KR" sz="1150" dirty="0"/>
          </a:p>
        </p:txBody>
      </p:sp>
      <p:cxnSp>
        <p:nvCxnSpPr>
          <p:cNvPr id="141" name="line"/>
          <p:cNvCxnSpPr/>
          <p:nvPr/>
        </p:nvCxnSpPr>
        <p:spPr>
          <a:xfrm>
            <a:off x="12134088" y="9226296"/>
            <a:ext cx="502920" cy="0"/>
          </a:xfrm>
          <a:prstGeom prst="line">
            <a:avLst/>
          </a:prstGeom>
          <a:ln w="22225">
            <a:solidFill>
              <a:srgbClr val="D53F8C"/>
            </a:solidFill>
            <a:prstDash val="dash"/>
            <a:tailEnd type="triangle"/>
          </a:ln>
        </p:spPr>
      </p:cxnSp>
      <p:sp>
        <p:nvSpPr>
          <p:cNvPr id="142" name="text"/>
          <p:cNvSpPr txBox="1"/>
          <p:nvPr/>
        </p:nvSpPr>
        <p:spPr>
          <a:xfrm>
            <a:off x="12728448" y="9070848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tick · 4 kHz 클럭</a:t>
            </a:r>
            <a:endParaRPr lang="ko-KR" sz="1150" dirty="0"/>
          </a:p>
        </p:txBody>
      </p:sp>
      <p:sp>
        <p:nvSpPr>
          <p:cNvPr id="143" name="text"/>
          <p:cNvSpPr txBox="1"/>
          <p:nvPr/>
        </p:nvSpPr>
        <p:spPr>
          <a:xfrm>
            <a:off x="14557248" y="907084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▶ 태그 = 보드 핀 · 같은 이름의 net</a:t>
            </a:r>
            <a:endParaRPr lang="ko-KR" sz="115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lang="ko-K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566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시뮬레이션 검증</a:t>
            </a:r>
            <a:endParaRPr lang="ko-KR" sz="4700" dirty="0"/>
          </a:p>
        </p:txBody>
      </p:sp>
      <p:sp>
        <p:nvSpPr>
          <p:cNvPr id="5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lang="ko-KR" sz="2000" dirty="0"/>
          </a:p>
        </p:txBody>
      </p:sp>
      <p:sp>
        <p:nvSpPr>
          <p:cNvPr id="7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SW2 설정 · 커서 · 자리 단위 증감 — 시나리오 5 개 (작성 중)</a:t>
            </a:r>
            <a:endParaRPr lang="ko-KR" sz="1400" dirty="0"/>
          </a:p>
        </p:txBody>
      </p:sp>
      <p:sp>
        <p:nvSpPr>
          <p:cNvPr id="8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 · L · U 기본 동작 + D 버튼 LAP 저장 · 해제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49377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51023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타이머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55961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더하기 · 59:59 상한 · 10 초 카운트다운 · 알람 · 백그라운드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공통 검증 방법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Top 모듈을 넣은 TB · 100 MHz 그대로 (주파수 축소 없음)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시나리오 표 (입력 → 확인 신호 → 예상 결과) → 파형 · 콘솔 판정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lang="ko-KR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시나리오 5 개 — 표 · 파형 추가 예정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621792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lang="ko-KR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시나리오 1 :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검증 결과 한 줄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286000"/>
            <a:ext cx="16605504" cy="5120640"/>
          </a:xfrm>
          <a:prstGeom prst="rect">
            <a:avLst/>
          </a:prstGeom>
          <a:noFill/>
          <a:ln w="19050">
            <a:solidFill>
              <a:srgbClr val="BFBFBF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파형 캡처 삽입 영역</a:t>
            </a:r>
            <a:endParaRPr lang="ko-KR" sz="2000" dirty="0"/>
          </a:p>
        </p:txBody>
      </p:sp>
      <p:sp>
        <p:nvSpPr>
          <p:cNvPr id="9" name="badge"/>
          <p:cNvSpPr/>
          <p:nvPr/>
        </p:nvSpPr>
        <p:spPr>
          <a:xfrm>
            <a:off x="886968" y="7699248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371600" y="7680960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1" name="badge"/>
          <p:cNvSpPr/>
          <p:nvPr/>
        </p:nvSpPr>
        <p:spPr>
          <a:xfrm>
            <a:off x="886968" y="8174736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200" dirty="0"/>
          </a:p>
        </p:txBody>
      </p:sp>
      <p:sp>
        <p:nvSpPr>
          <p:cNvPr id="12" name="text"/>
          <p:cNvSpPr txBox="1"/>
          <p:nvPr/>
        </p:nvSpPr>
        <p:spPr>
          <a:xfrm>
            <a:off x="1371600" y="8156448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3" name="badge"/>
          <p:cNvSpPr/>
          <p:nvPr/>
        </p:nvSpPr>
        <p:spPr>
          <a:xfrm>
            <a:off x="886968" y="8650224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371600" y="8631936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시계 시나리오 1  (작성 중)</a:t>
            </a:r>
            <a:endParaRPr lang="ko-KR" sz="1150" dirty="0"/>
          </a:p>
        </p:txBody>
      </p:sp>
      <p:sp>
        <p:nvSpPr>
          <p:cNvPr id="1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lang="ko-K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시나리오 2 :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검증 결과 한 줄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286000"/>
            <a:ext cx="16605504" cy="5120640"/>
          </a:xfrm>
          <a:prstGeom prst="rect">
            <a:avLst/>
          </a:prstGeom>
          <a:noFill/>
          <a:ln w="19050">
            <a:solidFill>
              <a:srgbClr val="BFBFBF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파형 캡처 삽입 영역</a:t>
            </a:r>
            <a:endParaRPr lang="ko-KR" sz="2000" dirty="0"/>
          </a:p>
        </p:txBody>
      </p:sp>
      <p:sp>
        <p:nvSpPr>
          <p:cNvPr id="9" name="badge"/>
          <p:cNvSpPr/>
          <p:nvPr/>
        </p:nvSpPr>
        <p:spPr>
          <a:xfrm>
            <a:off x="886968" y="7699248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371600" y="7680960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1" name="badge"/>
          <p:cNvSpPr/>
          <p:nvPr/>
        </p:nvSpPr>
        <p:spPr>
          <a:xfrm>
            <a:off x="886968" y="8174736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200" dirty="0"/>
          </a:p>
        </p:txBody>
      </p:sp>
      <p:sp>
        <p:nvSpPr>
          <p:cNvPr id="12" name="text"/>
          <p:cNvSpPr txBox="1"/>
          <p:nvPr/>
        </p:nvSpPr>
        <p:spPr>
          <a:xfrm>
            <a:off x="1371600" y="8156448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3" name="badge"/>
          <p:cNvSpPr/>
          <p:nvPr/>
        </p:nvSpPr>
        <p:spPr>
          <a:xfrm>
            <a:off x="886968" y="8650224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371600" y="8631936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시계 시나리오 2  (작성 중)</a:t>
            </a:r>
            <a:endParaRPr lang="ko-KR" sz="1150" dirty="0"/>
          </a:p>
        </p:txBody>
      </p:sp>
      <p:sp>
        <p:nvSpPr>
          <p:cNvPr id="1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시나리오 3 :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검증 결과 한 줄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286000"/>
            <a:ext cx="16605504" cy="5120640"/>
          </a:xfrm>
          <a:prstGeom prst="rect">
            <a:avLst/>
          </a:prstGeom>
          <a:noFill/>
          <a:ln w="19050">
            <a:solidFill>
              <a:srgbClr val="BFBFBF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파형 캡처 삽입 영역</a:t>
            </a:r>
            <a:endParaRPr lang="ko-KR" sz="2000" dirty="0"/>
          </a:p>
        </p:txBody>
      </p:sp>
      <p:sp>
        <p:nvSpPr>
          <p:cNvPr id="9" name="badge"/>
          <p:cNvSpPr/>
          <p:nvPr/>
        </p:nvSpPr>
        <p:spPr>
          <a:xfrm>
            <a:off x="886968" y="7699248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371600" y="7680960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1" name="badge"/>
          <p:cNvSpPr/>
          <p:nvPr/>
        </p:nvSpPr>
        <p:spPr>
          <a:xfrm>
            <a:off x="886968" y="8174736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200" dirty="0"/>
          </a:p>
        </p:txBody>
      </p:sp>
      <p:sp>
        <p:nvSpPr>
          <p:cNvPr id="12" name="text"/>
          <p:cNvSpPr txBox="1"/>
          <p:nvPr/>
        </p:nvSpPr>
        <p:spPr>
          <a:xfrm>
            <a:off x="1371600" y="8156448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3" name="badge"/>
          <p:cNvSpPr/>
          <p:nvPr/>
        </p:nvSpPr>
        <p:spPr>
          <a:xfrm>
            <a:off x="886968" y="8650224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371600" y="8631936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시계 시나리오 3  (작성 중)</a:t>
            </a:r>
            <a:endParaRPr lang="ko-KR" sz="1150" dirty="0"/>
          </a:p>
        </p:txBody>
      </p:sp>
      <p:sp>
        <p:nvSpPr>
          <p:cNvPr id="1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lang="ko-K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시나리오 4 :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검증 결과 한 줄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286000"/>
            <a:ext cx="16605504" cy="5120640"/>
          </a:xfrm>
          <a:prstGeom prst="rect">
            <a:avLst/>
          </a:prstGeom>
          <a:noFill/>
          <a:ln w="19050">
            <a:solidFill>
              <a:srgbClr val="BFBFBF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파형 캡처 삽입 영역</a:t>
            </a:r>
            <a:endParaRPr lang="ko-KR" sz="2000" dirty="0"/>
          </a:p>
        </p:txBody>
      </p:sp>
      <p:sp>
        <p:nvSpPr>
          <p:cNvPr id="9" name="badge"/>
          <p:cNvSpPr/>
          <p:nvPr/>
        </p:nvSpPr>
        <p:spPr>
          <a:xfrm>
            <a:off x="886968" y="7699248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371600" y="7680960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1" name="badge"/>
          <p:cNvSpPr/>
          <p:nvPr/>
        </p:nvSpPr>
        <p:spPr>
          <a:xfrm>
            <a:off x="886968" y="8174736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200" dirty="0"/>
          </a:p>
        </p:txBody>
      </p:sp>
      <p:sp>
        <p:nvSpPr>
          <p:cNvPr id="12" name="text"/>
          <p:cNvSpPr txBox="1"/>
          <p:nvPr/>
        </p:nvSpPr>
        <p:spPr>
          <a:xfrm>
            <a:off x="1371600" y="8156448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3" name="badge"/>
          <p:cNvSpPr/>
          <p:nvPr/>
        </p:nvSpPr>
        <p:spPr>
          <a:xfrm>
            <a:off x="886968" y="8650224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371600" y="8631936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시계 시나리오 4  (작성 중)</a:t>
            </a:r>
            <a:endParaRPr lang="ko-KR" sz="1150" dirty="0"/>
          </a:p>
        </p:txBody>
      </p:sp>
      <p:sp>
        <p:nvSpPr>
          <p:cNvPr id="1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lang="ko-KR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04  시뮬레이션 · 시계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시나리오 5 :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검증 결과 한 줄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286000"/>
            <a:ext cx="16605504" cy="5120640"/>
          </a:xfrm>
          <a:prstGeom prst="rect">
            <a:avLst/>
          </a:prstGeom>
          <a:noFill/>
          <a:ln w="19050">
            <a:solidFill>
              <a:srgbClr val="BFBFBF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파형 캡처 삽입 영역</a:t>
            </a:r>
            <a:endParaRPr lang="ko-KR" sz="2000" dirty="0"/>
          </a:p>
        </p:txBody>
      </p:sp>
      <p:sp>
        <p:nvSpPr>
          <p:cNvPr id="9" name="badge"/>
          <p:cNvSpPr/>
          <p:nvPr/>
        </p:nvSpPr>
        <p:spPr>
          <a:xfrm>
            <a:off x="886968" y="7699248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371600" y="7680960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1" name="badge"/>
          <p:cNvSpPr/>
          <p:nvPr/>
        </p:nvSpPr>
        <p:spPr>
          <a:xfrm>
            <a:off x="886968" y="8174736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200" dirty="0"/>
          </a:p>
        </p:txBody>
      </p:sp>
      <p:sp>
        <p:nvSpPr>
          <p:cNvPr id="12" name="text"/>
          <p:cNvSpPr txBox="1"/>
          <p:nvPr/>
        </p:nvSpPr>
        <p:spPr>
          <a:xfrm>
            <a:off x="1371600" y="8156448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3" name="badge"/>
          <p:cNvSpPr/>
          <p:nvPr/>
        </p:nvSpPr>
        <p:spPr>
          <a:xfrm>
            <a:off x="886968" y="8650224"/>
            <a:ext cx="329184" cy="32918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371600" y="8631936"/>
            <a:ext cx="1463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i="1" dirty="0">
                <a:solidFill>
                  <a:srgbClr val="BFBFBF"/>
                </a:solidFill>
                <a:latin typeface="Malgun Gothic"/>
                <a:ea typeface="Malgun Gothic"/>
                <a:cs typeface="Malgun Gothic"/>
              </a:rPr>
              <a:t>확인 포인트 (파형 번호와 같은 번호)</a:t>
            </a:r>
            <a:endParaRPr lang="ko-KR" sz="150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시계 시나리오 5  (작성 중)</a:t>
            </a:r>
            <a:endParaRPr lang="ko-KR" sz="1150" dirty="0"/>
          </a:p>
        </p:txBody>
      </p:sp>
      <p:sp>
        <p:nvSpPr>
          <p:cNvPr id="1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lang="ko-KR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· L · U 기본 동작 3 개 + D 버튼 LAP 2 개 — 버튼마다 한 시나리오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416052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 정지 · 재실행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R → 정지 → R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w_sw_run_stop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값 유지, 재실행 후 증가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 정지 중 초기화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로 정지 → L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w_sw_clear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Clear 펄스 → 16 → 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  감소 방향 전환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U → R 로 실행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w_sw_down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Down 1 → 5 · 4 · … · 0 감소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저장 · 표시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중 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o_sw_lap · save_msec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카운터 증가, 표시 21 유지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해제 · 현재 값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중 D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save_msec · w_disp_msec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저장값 11 유지, 표시 17 (현재)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812280"/>
            <a:ext cx="16605504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1188720" y="6903720"/>
            <a:ext cx="16002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규칙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실행 중 L · U 입력 무시 (STOP 에서만 동작) · D 는 화면에 보낼 값만 바꾸고 내부 측정은 계속</a:t>
            </a:r>
            <a:endParaRPr lang="ko-KR" sz="15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담당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 — LAP 구현 및 버튼 동작 검증</a:t>
            </a:r>
            <a:endParaRPr lang="ko-KR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시나리오 3 의 99 → 5 구간은 감소를 짧게 보이기 위한 검증용 프리로드</a:t>
            </a:r>
            <a:endParaRPr lang="ko-KR" sz="1150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lang="ko-KR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: R 버튼 — 정지 · 재실행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값 유지, 재실행 후 카운터 증가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입력으로 정지한 뒤 다시 R 입력으로 실행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3780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3780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0007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0007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62350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62350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272309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1.  스톱워치 R 버튼 정지 · 재실행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lang="ko-KR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2 : L 버튼 — 정지 중 초기화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신호 발생 후 시간 값 16 → 0 초기화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로 정지한 뒤 L 입력으로 시간 초기화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593141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593141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55411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55411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17682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17682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5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468880"/>
            <a:ext cx="16605504" cy="292936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2.  스톱워치 L 버튼 정지 중 초기화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 : U 버튼 — 감소 방향 전환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Down 신호 활성화 후 카운터 감소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정지 중 U 입력 후 R 로 실행하여 감소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50998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50998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1326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1326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7553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7553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978402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3.  스톱워치 U 버튼 감소 방향 전환 (99 → 5 는 검증용 프리로드)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17</a:t>
            </a:r>
            <a:endParaRPr lang="ko-KR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LAP 기능 코드 설계 — 저장 · 출력 선택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입력마다 LAP 토글, 켤 때만 저장 · 출력은 LAP 상태로 선택</a:t>
            </a:r>
            <a:endParaRPr lang="ko-KR" sz="1900" dirty="0"/>
          </a:p>
        </p:txBody>
      </p:sp>
      <p:sp>
        <p:nvSpPr>
          <p:cNvPr id="8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1063746" y="2909140"/>
            <a:ext cx="9550640" cy="4933352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10999160" y="2909140"/>
            <a:ext cx="6225093" cy="210251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1173682" y="2194560"/>
            <a:ext cx="9207092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11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11205289" y="2194560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2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1201166" y="3046560"/>
            <a:ext cx="9619350" cy="48371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sz="2489" b="0">
              <a:solidFill>
                <a:srgbClr val="262626"/>
              </a:solidFill>
              <a:latin typeface="Consolas"/>
              <a:ea typeface="Consolas"/>
              <a:cs typeface="Consolas"/>
            </a:endParaRP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3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11205289" y="3115269"/>
            <a:ext cx="5909029" cy="16490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11205289" y="5382687"/>
            <a:ext cx="5909029" cy="11543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5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11205289" y="6880558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6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1228649" y="8172299"/>
            <a:ext cx="15665798" cy="6183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7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11205289" y="7485202"/>
            <a:ext cx="5909029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1228649" y="9024298"/>
            <a:ext cx="15665798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18</a:t>
            </a:r>
            <a:endParaRPr lang="ko-KR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LAP — 시간 저장 · 표시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카운터는 증가, 표시값은 21 유지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측정 중 D 버튼 입력 후 시간 저장과 표시 유지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6348754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6348754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971460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971460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59416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59416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3764046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4.  스톱워치 LAP 시간 저장 · 표시 유지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19</a:t>
            </a:r>
            <a:endParaRPr lang="ko-KR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04  시뮬레이션 · 스톱워치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 : LAP — 해제 · 현재 값 표시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 대신 현재 카운터 값 17 표시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LAP 상태에서 D 버튼 재입력 후 현재 값 복귀 확인</a:t>
            </a:r>
            <a:endParaRPr lang="ko-KR" sz="1500" dirty="0"/>
          </a:p>
        </p:txBody>
      </p:sp>
      <p:sp>
        <p:nvSpPr>
          <p:cNvPr id="9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1645577" y="2983145"/>
            <a:ext cx="15048738" cy="3243262"/>
          </a:xfrm>
          <a:prstGeom prst="rect">
            <a:avLst/>
          </a:prstGeom>
          <a:solidFill>
            <a:srgbClr val="F4F7FA"/>
          </a:solidFill>
          <a:ln w="12973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1710442" y="660262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2553691" y="660262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1710442" y="7225333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2553691" y="7225333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4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1710442" y="784803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2553691" y="784803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16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4081855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5.  스톱워치 LAP 해제 · 현재 값 복귀  — Vivado xsim 파형</a:t>
            </a:r>
            <a:endParaRPr lang="ko-KR" sz="1150" dirty="0"/>
          </a:p>
        </p:txBody>
      </p:sp>
      <p:sp>
        <p:nvSpPr>
          <p:cNvPr id="1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lang="ko-KR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동작 사양 — SET · RUN · ALARM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4 개로 더하고 · 시작하고 · 끈다 (3 상태 FSM)</a:t>
            </a:r>
            <a:endParaRPr lang="ko-KR" sz="1900" dirty="0"/>
          </a:p>
        </p:txBody>
      </p:sp>
      <p:sp>
        <p:nvSpPr>
          <p:cNvPr id="8" name="Text 3"/>
          <p:cNvSpPr/>
          <p:nvPr/>
        </p:nvSpPr>
        <p:spPr>
          <a:xfrm>
            <a:off x="1167513" y="4551249"/>
            <a:ext cx="3172466" cy="1722196"/>
          </a:xfrm>
          <a:prstGeom prst="ellipse">
            <a:avLst/>
          </a:prstGeom>
          <a:solidFill>
            <a:srgbClr val="E6ECF5"/>
          </a:solidFill>
          <a:ln w="28325">
            <a:solidFill>
              <a:srgbClr val="40404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172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</a:t>
            </a:r>
            <a:endParaRPr lang="en-US" sz="3172" dirty="0"/>
          </a:p>
          <a:p>
            <a:pPr algn="ctr"/>
            <a:r>
              <a:rPr lang="en-US" sz="2082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화면 MM.SS</a:t>
            </a:r>
            <a:endParaRPr lang="en-US" sz="3172" dirty="0"/>
          </a:p>
        </p:txBody>
      </p:sp>
      <p:sp>
        <p:nvSpPr>
          <p:cNvPr id="9" name="Text 4"/>
          <p:cNvSpPr/>
          <p:nvPr/>
        </p:nvSpPr>
        <p:spPr>
          <a:xfrm>
            <a:off x="7149878" y="2194560"/>
            <a:ext cx="3172466" cy="1722196"/>
          </a:xfrm>
          <a:prstGeom prst="ellipse">
            <a:avLst/>
          </a:prstGeom>
          <a:solidFill>
            <a:srgbClr val="E3F1E4"/>
          </a:solidFill>
          <a:ln w="28325">
            <a:solidFill>
              <a:srgbClr val="40404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172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3172" dirty="0"/>
          </a:p>
          <a:p>
            <a:pPr algn="ctr"/>
            <a:r>
              <a:rPr lang="en-US" sz="2082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 마다 −1</a:t>
            </a:r>
            <a:endParaRPr lang="en-US" sz="3172" dirty="0"/>
          </a:p>
        </p:txBody>
      </p:sp>
      <p:sp>
        <p:nvSpPr>
          <p:cNvPr id="10" name="Text 5"/>
          <p:cNvSpPr/>
          <p:nvPr/>
        </p:nvSpPr>
        <p:spPr>
          <a:xfrm>
            <a:off x="13132243" y="4551249"/>
            <a:ext cx="3172466" cy="1722196"/>
          </a:xfrm>
          <a:prstGeom prst="ellipse">
            <a:avLst/>
          </a:prstGeom>
          <a:solidFill>
            <a:srgbClr val="FFF4D6"/>
          </a:solidFill>
          <a:ln w="28325">
            <a:solidFill>
              <a:srgbClr val="40404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172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ALARM</a:t>
            </a:r>
            <a:endParaRPr lang="en-US" sz="3172" dirty="0"/>
          </a:p>
          <a:p>
            <a:pPr algn="ctr"/>
            <a:r>
              <a:rPr lang="en-US" sz="2082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16개 점멸</a:t>
            </a:r>
            <a:endParaRPr lang="en-US" sz="3172" dirty="0"/>
          </a:p>
        </p:txBody>
      </p:sp>
      <p:sp>
        <p:nvSpPr>
          <p:cNvPr id="11" name="Shape 6"/>
          <p:cNvSpPr/>
          <p:nvPr/>
        </p:nvSpPr>
        <p:spPr>
          <a:xfrm flipV="1">
            <a:off x="3845238" y="3425221"/>
            <a:ext cx="3458155" cy="1362303"/>
          </a:xfrm>
          <a:prstGeom prst="line">
            <a:avLst/>
          </a:prstGeom>
          <a:noFill/>
          <a:ln w="33046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 txBox="1"/>
          <p:nvPr/>
        </p:nvSpPr>
        <p:spPr>
          <a:xfrm>
            <a:off x="3977412" y="3463547"/>
            <a:ext cx="2719257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7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r>
              <a:rPr lang="en-US" sz="237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(값 ≠ 0)</a:t>
            </a:r>
            <a:endParaRPr lang="en-US" sz="2379" dirty="0"/>
          </a:p>
        </p:txBody>
      </p:sp>
      <p:sp>
        <p:nvSpPr>
          <p:cNvPr id="13" name="Shape 8"/>
          <p:cNvSpPr/>
          <p:nvPr/>
        </p:nvSpPr>
        <p:spPr>
          <a:xfrm flipH="1">
            <a:off x="4186465" y="3680483"/>
            <a:ext cx="3458155" cy="1362303"/>
          </a:xfrm>
          <a:prstGeom prst="line">
            <a:avLst/>
          </a:prstGeom>
          <a:noFill/>
          <a:ln w="33046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5790250" y="4678148"/>
            <a:ext cx="3444392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7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r>
              <a:rPr lang="en-US" sz="237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취소 (0 으로)</a:t>
            </a:r>
            <a:endParaRPr lang="en-US" sz="2379" dirty="0"/>
          </a:p>
        </p:txBody>
      </p:sp>
      <p:sp>
        <p:nvSpPr>
          <p:cNvPr id="15" name="Shape 10"/>
          <p:cNvSpPr/>
          <p:nvPr/>
        </p:nvSpPr>
        <p:spPr>
          <a:xfrm>
            <a:off x="10019930" y="3561406"/>
            <a:ext cx="3414731" cy="1345198"/>
          </a:xfrm>
          <a:prstGeom prst="line">
            <a:avLst/>
          </a:prstGeom>
          <a:noFill/>
          <a:ln w="33046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11953899" y="3517932"/>
            <a:ext cx="1812838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7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도달</a:t>
            </a:r>
            <a:endParaRPr lang="en-US" sz="2379" dirty="0"/>
          </a:p>
        </p:txBody>
      </p:sp>
      <p:sp>
        <p:nvSpPr>
          <p:cNvPr id="17" name="Shape 12"/>
          <p:cNvSpPr/>
          <p:nvPr/>
        </p:nvSpPr>
        <p:spPr>
          <a:xfrm flipH="1">
            <a:off x="4192518" y="5774915"/>
            <a:ext cx="9087189" cy="1813"/>
          </a:xfrm>
          <a:prstGeom prst="line">
            <a:avLst/>
          </a:prstGeom>
          <a:noFill/>
          <a:ln w="33046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971534" y="5910878"/>
            <a:ext cx="5801081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37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버튼</a:t>
            </a:r>
            <a:r>
              <a:rPr lang="en-US" sz="237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알람 끄기 (값 그대로)</a:t>
            </a:r>
            <a:endParaRPr lang="en-US" sz="2379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1167513" y="7089222"/>
          <a:ext cx="9789321" cy="1087702"/>
        </p:xfrm>
        <a:graphic>
          <a:graphicData uri="http://schemas.openxmlformats.org/drawingml/2006/table">
            <a:tbl>
              <a:tblPr/>
              <a:tblGrid>
                <a:gridCol w="2537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2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38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 에서 버튼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79" b="1" dirty="0">
                          <a:solidFill>
                            <a:srgbClr val="4040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+10초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+1분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+10분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7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</a:t>
                      </a:r>
                      <a:endParaRPr lang="en-US" sz="237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770" marR="108770" marT="54385" marB="54385" anchor="ctr">
                    <a:lnL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6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1167513" y="8412594"/>
            <a:ext cx="15590406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7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59:59</a:t>
            </a:r>
            <a:r>
              <a:rPr lang="en-US" sz="237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더해서 60분 이상이면 59:59 로 멈춤 (화면이 분.초 4자리)</a:t>
            </a:r>
            <a:endParaRPr lang="en-US" sz="2379" dirty="0"/>
          </a:p>
        </p:txBody>
      </p:sp>
      <p:sp>
        <p:nvSpPr>
          <p:cNvPr id="21" name="Text 15"/>
          <p:cNvSpPr txBox="1"/>
          <p:nvPr/>
        </p:nvSpPr>
        <p:spPr>
          <a:xfrm>
            <a:off x="1167513" y="8956445"/>
            <a:ext cx="15952974" cy="50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7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중 U · R · D 는 무시</a:t>
            </a:r>
            <a:r>
              <a:rPr lang="en-US" sz="227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timer_sw4 = 1 이면 다른 화면보다 우선  ·  다른 화면에서도 타이머는 계속 감</a:t>
            </a:r>
            <a:endParaRPr lang="en-US" sz="2279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21</a:t>
            </a:r>
            <a:endParaRPr lang="ko-KR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 3 개 · 검사 73 개를 $display 로 자동 판정 → 전부 PASS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352044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더하기 · 자리 올림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 에서 U 6 번 (+10 초씩)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o_tm_add · o_tm_min/sec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00:50 + 10 초 = 01:00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59:59 상한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59:40 에서 U 2 번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 · o_tm_sec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59:50 → 59:59 유지 (60:00 X)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초 카운트다운 · 알람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00:10 설정 → L 시작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알람까지 10 s + 20 ns · LED 0.5 s 점멸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다운카운트 빌림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01:00.00 · 10:00.00 에서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o_tm_min/sec/msec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00:59.99 · 09:59.99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백그라운드 · 화면 우선순위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sw4 1 → 0 / 알람 중 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 화면에서도 알람 · R 은 알람만 끔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172200"/>
            <a:ext cx="10241280" cy="2514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274320" tIns="182880" rIns="274320" bIns="18288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Vivado xsim 콘솔 — 팀 TB (SystemVerilog) 마지막 줄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455.019 ms] [SUMMARY] TM1 checks=21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[11597.002 ms] [SUMMARY] TM2 checks=41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547.009 ms] [SUMMARY] TM3 checks=11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같은 시나리오를 수업 Verilog 문법 (err 카운트) 으로 옮긴 TB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TM1 checks = 21, TOTAL MISMATCH = 0   (TM2 41 · TM3 11 도 0)</a:t>
            </a:r>
            <a:endParaRPr lang="ko-KR" sz="1300" dirty="0"/>
          </a:p>
        </p:txBody>
      </p:sp>
      <p:sp>
        <p:nvSpPr>
          <p:cNvPr id="10" name="text"/>
          <p:cNvSpPr txBox="1"/>
          <p:nvPr/>
        </p:nvSpPr>
        <p:spPr>
          <a:xfrm>
            <a:off x="11521440" y="617220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2E7D32"/>
                </a:solidFill>
                <a:latin typeface="Malgun Gothic Semilight"/>
                <a:ea typeface="Malgun Gothic Semilight"/>
                <a:cs typeface="Malgun Gothic Semilight"/>
              </a:rPr>
              <a:t>73 / 73</a:t>
            </a:r>
            <a:endParaRPr lang="ko-KR" sz="3800" dirty="0"/>
          </a:p>
        </p:txBody>
      </p:sp>
      <p:sp>
        <p:nvSpPr>
          <p:cNvPr id="11" name="text"/>
          <p:cNvSpPr txBox="1"/>
          <p:nvPr/>
        </p:nvSpPr>
        <p:spPr>
          <a:xfrm>
            <a:off x="11521440" y="69220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검사 PASS (TM1 21 · TM2 41 · TM3 11)</a:t>
            </a:r>
            <a:endParaRPr lang="ko-KR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1521440" y="747064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0</a:t>
            </a:r>
            <a:endParaRPr lang="ko-KR" sz="3800" dirty="0"/>
          </a:p>
        </p:txBody>
      </p:sp>
      <p:sp>
        <p:nvSpPr>
          <p:cNvPr id="13" name="text"/>
          <p:cNvSpPr txBox="1"/>
          <p:nvPr/>
        </p:nvSpPr>
        <p:spPr>
          <a:xfrm>
            <a:off x="11521440" y="82204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TOTAL MISMATCH (Verilog TB)</a:t>
            </a:r>
            <a:endParaRPr lang="ko-KR" sz="1300" dirty="0"/>
          </a:p>
        </p:txBody>
      </p:sp>
      <p:sp>
        <p:nvSpPr>
          <p:cNvPr id="14" name="text"/>
          <p:cNvSpPr txBox="1"/>
          <p:nvPr/>
        </p:nvSpPr>
        <p:spPr>
          <a:xfrm>
            <a:off x="841248" y="891540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판정 예 — if (값 !== 기대값) err = err + 1; $display("FAIL …") · 캡처는 10/17 소스, 결과 숫자는 10/18 최종 소스 기준 (둘 다 전부 PASS)</a:t>
            </a:r>
            <a:endParaRPr lang="ko-KR" sz="115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22</a:t>
            </a:r>
            <a:endParaRPr lang="ko-KR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: 더하기 · 자리 올림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6 번째 — 00:50 + 10 초 = 01:00 (60 초 아님)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17" y="2194560"/>
            <a:ext cx="15050764" cy="221665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618617" y="2194560"/>
            <a:ext cx="15050764" cy="2216655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6598059" y="2772819"/>
            <a:ext cx="6457210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6336306" y="2511066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147" dirty="0"/>
          </a:p>
        </p:txBody>
      </p:sp>
      <p:sp>
        <p:nvSpPr>
          <p:cNvPr id="12" name="Shape 6"/>
          <p:cNvSpPr/>
          <p:nvPr/>
        </p:nvSpPr>
        <p:spPr>
          <a:xfrm>
            <a:off x="4590221" y="3865082"/>
            <a:ext cx="8111672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4328468" y="3603330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147" dirty="0"/>
          </a:p>
        </p:txBody>
      </p:sp>
      <p:sp>
        <p:nvSpPr>
          <p:cNvPr id="14" name="Shape 8"/>
          <p:cNvSpPr/>
          <p:nvPr/>
        </p:nvSpPr>
        <p:spPr>
          <a:xfrm>
            <a:off x="12734016" y="3351076"/>
            <a:ext cx="3935366" cy="1060139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2472263" y="3089322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147" dirty="0"/>
          </a:p>
        </p:txBody>
      </p:sp>
      <p:sp>
        <p:nvSpPr>
          <p:cNvPr id="16" name="Text 10"/>
          <p:cNvSpPr txBox="1"/>
          <p:nvPr/>
        </p:nvSpPr>
        <p:spPr>
          <a:xfrm>
            <a:off x="1618617" y="4493013"/>
            <a:ext cx="15050764" cy="52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4 · 5 · 6번째 add 펄스</a:t>
            </a:r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30 → 40 → 50</a:t>
            </a:r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en-US" sz="232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6번째: 분 1 · 초 0</a:t>
            </a:r>
            <a:endParaRPr lang="en-US" sz="2325" dirty="0"/>
          </a:p>
        </p:txBody>
      </p:sp>
      <p:pic>
        <p:nvPicPr>
          <p:cNvPr id="17" name="Image 1" descr="C:\Users\LG\Developer\Lec_verilog\Mini_Project_watch\timer_present\_gen\strips\P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17" y="5221072"/>
            <a:ext cx="13923252" cy="22903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618617" y="5221072"/>
            <a:ext cx="13923252" cy="2290334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7764621" y="5814253"/>
            <a:ext cx="1631245" cy="560227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7502867" y="5552499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147" dirty="0"/>
          </a:p>
        </p:txBody>
      </p:sp>
      <p:sp>
        <p:nvSpPr>
          <p:cNvPr id="21" name="Shape 14"/>
          <p:cNvSpPr/>
          <p:nvPr/>
        </p:nvSpPr>
        <p:spPr>
          <a:xfrm>
            <a:off x="9115754" y="6374479"/>
            <a:ext cx="527271" cy="1136928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8854000" y="6112726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147" dirty="0"/>
          </a:p>
        </p:txBody>
      </p:sp>
      <p:sp>
        <p:nvSpPr>
          <p:cNvPr id="23" name="Shape 16"/>
          <p:cNvSpPr/>
          <p:nvPr/>
        </p:nvSpPr>
        <p:spPr>
          <a:xfrm>
            <a:off x="4617472" y="5814251"/>
            <a:ext cx="1367609" cy="1697155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4355720" y="5552499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147" dirty="0"/>
          </a:p>
        </p:txBody>
      </p:sp>
      <p:sp>
        <p:nvSpPr>
          <p:cNvPr id="25" name="Text 18"/>
          <p:cNvSpPr txBox="1"/>
          <p:nvPr/>
        </p:nvSpPr>
        <p:spPr>
          <a:xfrm>
            <a:off x="1618617" y="7593204"/>
            <a:ext cx="15050764" cy="52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6번째 add 펄스 (ns 확대)</a:t>
            </a:r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en-US" sz="232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클럭 00:50 → 01:00</a:t>
            </a:r>
            <a:r>
              <a:rPr lang="en-US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⑥ </a:t>
            </a:r>
            <a:r>
              <a:rPr lang="en-US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값: 분 1 · 초 0</a:t>
            </a:r>
            <a:endParaRPr lang="en-US" sz="2325" dirty="0"/>
          </a:p>
        </p:txBody>
      </p:sp>
      <p:sp>
        <p:nvSpPr>
          <p:cNvPr id="26" name="Text 19"/>
          <p:cNvSpPr/>
          <p:nvPr/>
        </p:nvSpPr>
        <p:spPr>
          <a:xfrm>
            <a:off x="4236142" y="8280304"/>
            <a:ext cx="9815716" cy="817976"/>
          </a:xfrm>
          <a:prstGeom prst="rect">
            <a:avLst/>
          </a:prstGeom>
          <a:solidFill>
            <a:srgbClr val="F3F4F6"/>
          </a:solidFill>
          <a:ln w="17041">
            <a:solidFill>
              <a:srgbClr val="C9CED6"/>
            </a:solidFill>
          </a:ln>
        </p:spPr>
        <p:txBody>
          <a:bodyPr wrap="square" lIns="908" tIns="908" rIns="908" bIns="908" rtlCol="0" anchor="ctr"/>
          <a:lstStyle/>
          <a:p>
            <a:pPr algn="ctr"/>
            <a:r>
              <a:rPr lang="en-US" sz="3042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00:50 + 0:10</a:t>
            </a:r>
            <a:r>
              <a:rPr lang="en-US" sz="3042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초 60  →  분 올림  →  </a:t>
            </a:r>
            <a:r>
              <a:rPr lang="en-US" sz="3042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</a:t>
            </a:r>
            <a:endParaRPr lang="en-US" sz="3042" dirty="0"/>
          </a:p>
        </p:txBody>
      </p:sp>
      <p:sp>
        <p:nvSpPr>
          <p:cNvPr id="2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6.  타이머 더하기 · 자리 올림 (위 : 전체, 아래 : ns 확대)  — Vivado xsim 파형</a:t>
            </a:r>
            <a:endParaRPr lang="ko-KR" sz="1150" dirty="0"/>
          </a:p>
        </p:txBody>
      </p:sp>
      <p:sp>
        <p:nvSpPr>
          <p:cNvPr id="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23</a:t>
            </a:r>
            <a:endParaRPr lang="ko-KR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2 : 59:59 상한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59:50 + 10 초 → 59:59 에서 멈춤 (분.초 4 자리라 60:00 불가)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5792075" cy="306840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5792075" cy="3068408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6937154" y="3094629"/>
            <a:ext cx="900067" cy="21683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6648362" y="280583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69" dirty="0"/>
          </a:p>
        </p:txBody>
      </p:sp>
      <p:sp>
        <p:nvSpPr>
          <p:cNvPr id="12" name="Shape 6"/>
          <p:cNvSpPr/>
          <p:nvPr/>
        </p:nvSpPr>
        <p:spPr>
          <a:xfrm>
            <a:off x="11130646" y="3094629"/>
            <a:ext cx="695507" cy="21683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0841853" y="280583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69" dirty="0"/>
          </a:p>
        </p:txBody>
      </p:sp>
      <p:sp>
        <p:nvSpPr>
          <p:cNvPr id="14" name="Shape 8"/>
          <p:cNvSpPr/>
          <p:nvPr/>
        </p:nvSpPr>
        <p:spPr>
          <a:xfrm>
            <a:off x="11989798" y="3831044"/>
            <a:ext cx="4643524" cy="1431924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1701007" y="3542253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69" dirty="0"/>
          </a:p>
        </p:txBody>
      </p:sp>
      <p:sp>
        <p:nvSpPr>
          <p:cNvPr id="16" name="Text 10"/>
          <p:cNvSpPr txBox="1"/>
          <p:nvPr/>
        </p:nvSpPr>
        <p:spPr>
          <a:xfrm>
            <a:off x="841248" y="5371265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59:40 → 59:50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59:50 → 59:59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59:59 유지 (60:00 아님)</a:t>
            </a:r>
            <a:endParaRPr lang="en-US" sz="2566" dirty="0"/>
          </a:p>
        </p:txBody>
      </p:sp>
      <p:sp>
        <p:nvSpPr>
          <p:cNvPr id="17" name="Text 11"/>
          <p:cNvSpPr/>
          <p:nvPr/>
        </p:nvSpPr>
        <p:spPr>
          <a:xfrm>
            <a:off x="3007183" y="6616678"/>
            <a:ext cx="12273633" cy="1119067"/>
          </a:xfrm>
          <a:prstGeom prst="rect">
            <a:avLst/>
          </a:prstGeom>
          <a:solidFill>
            <a:srgbClr val="F3F4F6"/>
          </a:solidFill>
          <a:ln w="18801">
            <a:solidFill>
              <a:srgbClr val="C9CED6"/>
            </a:solidFill>
          </a:ln>
        </p:spPr>
        <p:txBody>
          <a:bodyPr wrap="square" lIns="1002" tIns="1002" rIns="1002" bIns="1002" rtlCol="0" anchor="ctr"/>
          <a:lstStyle/>
          <a:p>
            <a:pPr algn="ctr"/>
            <a:r>
              <a:rPr lang="en-US" sz="39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59:50 + 0:10 = 60:00</a:t>
            </a:r>
            <a:r>
              <a:rPr lang="en-US" sz="394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상한 적용   →   </a:t>
            </a:r>
            <a:r>
              <a:rPr lang="en-US" sz="394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59:59</a:t>
            </a:r>
            <a:endParaRPr lang="en-US" sz="3948" dirty="0"/>
          </a:p>
        </p:txBody>
      </p:sp>
      <p:sp>
        <p:nvSpPr>
          <p:cNvPr id="18" name="Text 12"/>
          <p:cNvSpPr txBox="1"/>
          <p:nvPr/>
        </p:nvSpPr>
        <p:spPr>
          <a:xfrm>
            <a:off x="841248" y="8150882"/>
            <a:ext cx="16605504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36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timer_datapath: 더한 값이 60분 이상이면 59:59 로 제한</a:t>
            </a:r>
            <a:endParaRPr lang="en-US" sz="2369" dirty="0"/>
          </a:p>
        </p:txBody>
      </p:sp>
      <p:sp>
        <p:nvSpPr>
          <p:cNvPr id="19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7.  타이머 59:59 상한  — Vivado xsim 파형</a:t>
            </a:r>
            <a:endParaRPr lang="ko-KR" sz="1150" dirty="0"/>
          </a:p>
        </p:txBody>
      </p:sp>
      <p:sp>
        <p:nvSpPr>
          <p:cNvPr id="2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24</a:t>
            </a:r>
            <a:endParaRPr lang="ko-KR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3-1 : 10 초 카운트다운 → 알람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00:10 설정 → 시작부터 알람까지 10.000000020 s (= 10 s + 2 클럭)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6" y="2194560"/>
            <a:ext cx="16418747" cy="569016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34626" y="2194560"/>
            <a:ext cx="16418747" cy="5690160"/>
          </a:xfrm>
          <a:prstGeom prst="rect">
            <a:avLst/>
          </a:prstGeom>
          <a:solidFill>
            <a:srgbClr val="FFFFFF">
              <a:alpha val="0"/>
            </a:srgbClr>
          </a:solidFill>
          <a:ln w="1394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694646" y="2545497"/>
            <a:ext cx="3058149" cy="451203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141404" y="252124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42" dirty="0"/>
          </a:p>
        </p:txBody>
      </p:sp>
      <p:sp>
        <p:nvSpPr>
          <p:cNvPr id="12" name="Shape 6"/>
          <p:cNvSpPr/>
          <p:nvPr/>
        </p:nvSpPr>
        <p:spPr>
          <a:xfrm>
            <a:off x="11287211" y="3848969"/>
            <a:ext cx="6066163" cy="2306145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1001667" y="356342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42" dirty="0"/>
          </a:p>
        </p:txBody>
      </p:sp>
      <p:sp>
        <p:nvSpPr>
          <p:cNvPr id="14" name="Shape 8"/>
          <p:cNvSpPr/>
          <p:nvPr/>
        </p:nvSpPr>
        <p:spPr>
          <a:xfrm>
            <a:off x="11337345" y="7107651"/>
            <a:ext cx="3208550" cy="426136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0784105" y="7070868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42" dirty="0"/>
          </a:p>
        </p:txBody>
      </p:sp>
      <p:sp>
        <p:nvSpPr>
          <p:cNvPr id="16" name="Text 10"/>
          <p:cNvSpPr txBox="1"/>
          <p:nvPr/>
        </p:nvSpPr>
        <p:spPr>
          <a:xfrm>
            <a:off x="934626" y="7991799"/>
            <a:ext cx="16418747" cy="57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537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시작 커서 0.012 s</a:t>
            </a:r>
            <a:r>
              <a:rPr lang="en-US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r>
              <a:rPr lang="en-US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en-US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10.000000020 s</a:t>
            </a:r>
            <a:endParaRPr lang="en-US" sz="2537" dirty="0"/>
          </a:p>
        </p:txBody>
      </p:sp>
      <p:sp>
        <p:nvSpPr>
          <p:cNvPr id="17" name="Text 11"/>
          <p:cNvSpPr txBox="1"/>
          <p:nvPr/>
        </p:nvSpPr>
        <p:spPr>
          <a:xfrm>
            <a:off x="934626" y="8634272"/>
            <a:ext cx="16418747" cy="4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4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≋ = 1 s ~ 10 s 생략 (초 9 → 1 이 1초마다 줄어듦) · After = ④ 소스, 클로드코드 배치 실행 wdb 를 열어 캡처</a:t>
            </a:r>
            <a:endParaRPr lang="en-US" sz="2049" dirty="0"/>
          </a:p>
        </p:txBody>
      </p:sp>
      <p:sp>
        <p:nvSpPr>
          <p:cNvPr id="18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8.  타이머 10 초 카운트다운 → 알람  — Vivado xsim 파형</a:t>
            </a:r>
            <a:endParaRPr lang="ko-KR" sz="1150" dirty="0"/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lang="ko-KR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3-2 : 알람 LED 점멸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중 LED 16 개가 0.5 s 켜짐 · 0.5 s 꺼짐 반복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4" cy="222326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4" cy="2223268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3263843" y="3574518"/>
            <a:ext cx="11760315" cy="429320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2704309" y="353648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69" dirty="0"/>
          </a:p>
        </p:txBody>
      </p:sp>
      <p:sp>
        <p:nvSpPr>
          <p:cNvPr id="12" name="Shape 6"/>
          <p:cNvSpPr/>
          <p:nvPr/>
        </p:nvSpPr>
        <p:spPr>
          <a:xfrm>
            <a:off x="14916827" y="3973174"/>
            <a:ext cx="2529925" cy="44465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4357293" y="394280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69" dirty="0"/>
          </a:p>
        </p:txBody>
      </p:sp>
      <p:sp>
        <p:nvSpPr>
          <p:cNvPr id="14" name="Text 8"/>
          <p:cNvSpPr txBox="1"/>
          <p:nvPr/>
        </p:nvSpPr>
        <p:spPr>
          <a:xfrm>
            <a:off x="841248" y="4508074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= ffff, 0.5 s 동안 켜짐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1/100초 00 → led 0000 (꺼짐)</a:t>
            </a:r>
            <a:endParaRPr lang="en-US" sz="2566" dirty="0"/>
          </a:p>
        </p:txBody>
      </p:sp>
      <p:pic>
        <p:nvPicPr>
          <p:cNvPr id="15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056" y="5353214"/>
            <a:ext cx="14587889" cy="26171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850056" y="5353214"/>
            <a:ext cx="14587889" cy="261717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8677460" y="6673180"/>
            <a:ext cx="1729610" cy="134272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8388669" y="638438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69" dirty="0"/>
          </a:p>
        </p:txBody>
      </p:sp>
      <p:sp>
        <p:nvSpPr>
          <p:cNvPr id="19" name="Text 12"/>
          <p:cNvSpPr txBox="1"/>
          <p:nvPr/>
        </p:nvSpPr>
        <p:spPr>
          <a:xfrm>
            <a:off x="841248" y="8060633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확대: 시계 1/100초 49 → 50 인 클럭에 0000 → ffff</a:t>
            </a:r>
            <a:endParaRPr lang="en-US" sz="2566" dirty="0"/>
          </a:p>
        </p:txBody>
      </p:sp>
      <p:sp>
        <p:nvSpPr>
          <p:cNvPr id="20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9.  타이머 알람 LED 점멸 (아래 : 49 → 50 확대)  — Vivado xsim 파형</a:t>
            </a:r>
            <a:endParaRPr lang="ko-KR" sz="1150" dirty="0"/>
          </a:p>
        </p:txBody>
      </p:sp>
      <p:sp>
        <p:nvSpPr>
          <p:cNvPr id="2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26</a:t>
            </a:r>
            <a:endParaRPr lang="ko-KR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다운카운트 빌림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빌림 정상 — 01:00.00 → 00:59.99, 10:00.00 → 09:59.99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4" y="2194560"/>
            <a:ext cx="16144031" cy="279752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71984" y="2194560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860295" y="3321341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579529" y="3040575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03" dirty="0"/>
          </a:p>
        </p:txBody>
      </p:sp>
      <p:sp>
        <p:nvSpPr>
          <p:cNvPr id="12" name="Shape 6"/>
          <p:cNvSpPr/>
          <p:nvPr/>
        </p:nvSpPr>
        <p:spPr>
          <a:xfrm>
            <a:off x="12436917" y="2621959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2156150" y="2341194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03" dirty="0"/>
          </a:p>
        </p:txBody>
      </p:sp>
      <p:sp>
        <p:nvSpPr>
          <p:cNvPr id="14" name="Text 8"/>
          <p:cNvSpPr txBox="1"/>
          <p:nvPr/>
        </p:nvSpPr>
        <p:spPr>
          <a:xfrm>
            <a:off x="1071984" y="5062272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01:00.00 넣음</a:t>
            </a:r>
            <a:r>
              <a:rPr lang="en-US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00:59.99</a:t>
            </a:r>
            <a:endParaRPr lang="en-US" sz="2494" dirty="0"/>
          </a:p>
        </p:txBody>
      </p:sp>
      <p:pic>
        <p:nvPicPr>
          <p:cNvPr id="15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84" y="5704132"/>
            <a:ext cx="16144031" cy="279752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71984" y="5704132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4860295" y="6830913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9529" y="6550147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03" dirty="0"/>
          </a:p>
        </p:txBody>
      </p:sp>
      <p:sp>
        <p:nvSpPr>
          <p:cNvPr id="19" name="Shape 12"/>
          <p:cNvSpPr/>
          <p:nvPr/>
        </p:nvSpPr>
        <p:spPr>
          <a:xfrm>
            <a:off x="12436917" y="6131532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12156150" y="5850766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303" dirty="0"/>
          </a:p>
        </p:txBody>
      </p:sp>
      <p:sp>
        <p:nvSpPr>
          <p:cNvPr id="21" name="Text 14"/>
          <p:cNvSpPr txBox="1"/>
          <p:nvPr/>
        </p:nvSpPr>
        <p:spPr>
          <a:xfrm>
            <a:off x="1071984" y="8571844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10:00.00 넣음</a:t>
            </a:r>
            <a:r>
              <a:rPr lang="en-US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④ </a:t>
            </a:r>
            <a:r>
              <a:rPr lang="en-US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09:59.99</a:t>
            </a:r>
            <a:endParaRPr lang="en-US" sz="2494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10.  타이머 다운카운트 빌림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27</a:t>
            </a:r>
            <a:endParaRPr lang="ko-KR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5-1 : 백그라운드 동작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화면으로 바꿔도 타이머는 계속 줄고, 0 이 되면 알람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1" y="2194561"/>
            <a:ext cx="7877322" cy="284100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01151" y="2194561"/>
            <a:ext cx="7877322" cy="2841001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763056" y="2614254"/>
            <a:ext cx="645682" cy="516546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214299" y="2624701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23" dirty="0"/>
          </a:p>
        </p:txBody>
      </p:sp>
      <p:sp>
        <p:nvSpPr>
          <p:cNvPr id="12" name="Shape 6"/>
          <p:cNvSpPr/>
          <p:nvPr/>
        </p:nvSpPr>
        <p:spPr>
          <a:xfrm>
            <a:off x="5843767" y="4099322"/>
            <a:ext cx="3034705" cy="451978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5295010" y="4077485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23" dirty="0"/>
          </a:p>
        </p:txBody>
      </p:sp>
      <p:pic>
        <p:nvPicPr>
          <p:cNvPr id="14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528" y="2194560"/>
            <a:ext cx="7877322" cy="29944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409528" y="2194560"/>
            <a:ext cx="7877322" cy="2994404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3867106" y="3181354"/>
            <a:ext cx="3419743" cy="1020820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13583876" y="2898123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23" dirty="0"/>
          </a:p>
        </p:txBody>
      </p:sp>
      <p:sp>
        <p:nvSpPr>
          <p:cNvPr id="18" name="Shape 11"/>
          <p:cNvSpPr/>
          <p:nvPr/>
        </p:nvSpPr>
        <p:spPr>
          <a:xfrm>
            <a:off x="13867106" y="4678554"/>
            <a:ext cx="3419743" cy="510409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/>
          <p:nvPr/>
        </p:nvSpPr>
        <p:spPr>
          <a:xfrm>
            <a:off x="13318349" y="4685932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323" dirty="0"/>
          </a:p>
        </p:txBody>
      </p:sp>
      <p:sp>
        <p:nvSpPr>
          <p:cNvPr id="20" name="Text 13"/>
          <p:cNvSpPr txBox="1"/>
          <p:nvPr/>
        </p:nvSpPr>
        <p:spPr>
          <a:xfrm>
            <a:off x="1001151" y="5247983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en-US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timer_sw4 1 → 0 (시계 화면)</a:t>
            </a:r>
            <a:endParaRPr lang="en-US" sz="2516" dirty="0"/>
          </a:p>
          <a:p>
            <a:pPr>
              <a:spcAft>
                <a:spcPts val="968"/>
              </a:spcAft>
            </a:pPr>
            <a:r>
              <a:rPr lang="en-US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계속 줄어듦 99 → 30 → 29 …</a:t>
            </a:r>
            <a:endParaRPr lang="en-US" sz="2516" dirty="0"/>
          </a:p>
        </p:txBody>
      </p:sp>
      <p:sp>
        <p:nvSpPr>
          <p:cNvPr id="21" name="Text 14"/>
          <p:cNvSpPr txBox="1"/>
          <p:nvPr/>
        </p:nvSpPr>
        <p:spPr>
          <a:xfrm>
            <a:off x="9409528" y="5401386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en-US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en-US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endParaRPr lang="en-US" sz="2516" dirty="0"/>
          </a:p>
          <a:p>
            <a:pPr>
              <a:spcAft>
                <a:spcPts val="968"/>
              </a:spcAft>
            </a:pPr>
            <a:r>
              <a:rPr lang="en-US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(이 순간은 꺼진 쪽 0000)</a:t>
            </a:r>
            <a:endParaRPr lang="en-US" sz="2516" dirty="0"/>
          </a:p>
        </p:txBody>
      </p:sp>
      <p:sp>
        <p:nvSpPr>
          <p:cNvPr id="22" name="Text 15"/>
          <p:cNvSpPr/>
          <p:nvPr/>
        </p:nvSpPr>
        <p:spPr>
          <a:xfrm>
            <a:off x="1001151" y="8213188"/>
            <a:ext cx="4602480" cy="885092"/>
          </a:xfrm>
          <a:prstGeom prst="rect">
            <a:avLst/>
          </a:prstGeom>
          <a:solidFill>
            <a:srgbClr val="E6ECF5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en-US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~150 ms</a:t>
            </a:r>
            <a:r>
              <a:rPr lang="en-US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sw4 → 0 (시계 화면)</a:t>
            </a:r>
            <a:endParaRPr lang="en-US" sz="2516" dirty="0"/>
          </a:p>
        </p:txBody>
      </p:sp>
      <p:sp>
        <p:nvSpPr>
          <p:cNvPr id="23" name="Shape 16"/>
          <p:cNvSpPr/>
          <p:nvPr/>
        </p:nvSpPr>
        <p:spPr>
          <a:xfrm>
            <a:off x="5692140" y="8655734"/>
            <a:ext cx="6903720" cy="1770"/>
          </a:xfrm>
          <a:prstGeom prst="line">
            <a:avLst/>
          </a:prstGeom>
          <a:noFill/>
          <a:ln w="46098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5692140" y="8124678"/>
            <a:ext cx="6903720" cy="49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310 ms 동안 화면은 시계, 타이머는 계속 감소</a:t>
            </a:r>
            <a:endParaRPr lang="en-US" sz="2420" dirty="0"/>
          </a:p>
        </p:txBody>
      </p:sp>
      <p:sp>
        <p:nvSpPr>
          <p:cNvPr id="25" name="Text 18"/>
          <p:cNvSpPr/>
          <p:nvPr/>
        </p:nvSpPr>
        <p:spPr>
          <a:xfrm>
            <a:off x="12684369" y="8213188"/>
            <a:ext cx="4602480" cy="885092"/>
          </a:xfrm>
          <a:prstGeom prst="rect">
            <a:avLst/>
          </a:prstGeom>
          <a:solidFill>
            <a:srgbClr val="FFF4D6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en-US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~460 ms</a:t>
            </a:r>
            <a:r>
              <a:rPr lang="en-US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 → ALARM</a:t>
            </a:r>
            <a:endParaRPr lang="en-US" sz="2516" dirty="0"/>
          </a:p>
        </p:txBody>
      </p:sp>
      <p:sp>
        <p:nvSpPr>
          <p:cNvPr id="2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11.  타이머 백그라운드 동작 (왼쪽 : 화면 전환, 오른쪽 : 알람)  — Vivado xsim 파형</a:t>
            </a:r>
            <a:endParaRPr lang="ko-KR" sz="1150" dirty="0"/>
          </a:p>
        </p:txBody>
      </p:sp>
      <p:sp>
        <p:nvSpPr>
          <p:cNvPr id="2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28</a:t>
            </a:r>
            <a:endParaRPr lang="ko-KR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5-2 : 화면 우선순위 · 알람 끄기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· sw0 모두 1 → 타이머 화면, 알람 중 R 은 알람만 끄고 값 유지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3" cy="54875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3" cy="548750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917635" y="3481533"/>
            <a:ext cx="679235" cy="175171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628843" y="3192740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369" dirty="0"/>
          </a:p>
        </p:txBody>
      </p:sp>
      <p:sp>
        <p:nvSpPr>
          <p:cNvPr id="12" name="Shape 6"/>
          <p:cNvSpPr/>
          <p:nvPr/>
        </p:nvSpPr>
        <p:spPr>
          <a:xfrm>
            <a:off x="6668368" y="2730797"/>
            <a:ext cx="7757577" cy="67923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6379576" y="244200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369" dirty="0"/>
          </a:p>
        </p:txBody>
      </p:sp>
      <p:sp>
        <p:nvSpPr>
          <p:cNvPr id="14" name="Shape 8"/>
          <p:cNvSpPr/>
          <p:nvPr/>
        </p:nvSpPr>
        <p:spPr>
          <a:xfrm>
            <a:off x="9170813" y="5268992"/>
            <a:ext cx="8275939" cy="114397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8882020" y="498019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369" dirty="0"/>
          </a:p>
        </p:txBody>
      </p:sp>
      <p:sp>
        <p:nvSpPr>
          <p:cNvPr id="16" name="Shape 10"/>
          <p:cNvSpPr/>
          <p:nvPr/>
        </p:nvSpPr>
        <p:spPr>
          <a:xfrm>
            <a:off x="7276105" y="6484463"/>
            <a:ext cx="10170647" cy="607736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987312" y="619567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369" dirty="0"/>
          </a:p>
        </p:txBody>
      </p:sp>
      <p:sp>
        <p:nvSpPr>
          <p:cNvPr id="18" name="Shape 12"/>
          <p:cNvSpPr/>
          <p:nvPr/>
        </p:nvSpPr>
        <p:spPr>
          <a:xfrm>
            <a:off x="9170813" y="7127949"/>
            <a:ext cx="8275939" cy="55411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8611278" y="715231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369" dirty="0"/>
          </a:p>
        </p:txBody>
      </p:sp>
      <p:sp>
        <p:nvSpPr>
          <p:cNvPr id="20" name="Text 14"/>
          <p:cNvSpPr txBox="1"/>
          <p:nvPr/>
        </p:nvSpPr>
        <p:spPr>
          <a:xfrm>
            <a:off x="841248" y="7772309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sw4 1 (sw0 도 1) → 타이머 화면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누름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ALARM → SET, alarm 0</a:t>
            </a:r>
            <a:endParaRPr lang="en-US" sz="2566" dirty="0"/>
          </a:p>
        </p:txBody>
      </p:sp>
      <p:sp>
        <p:nvSpPr>
          <p:cNvPr id="21" name="Text 15"/>
          <p:cNvSpPr txBox="1"/>
          <p:nvPr/>
        </p:nvSpPr>
        <p:spPr>
          <a:xfrm>
            <a:off x="841248" y="8349892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그대로 (1분 안 더함)</a:t>
            </a:r>
            <a:r>
              <a:rPr lang="en-US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en-US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끝 (0020)</a:t>
            </a:r>
            <a:endParaRPr lang="en-US" sz="2566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12.  타이머 화면 우선순위 · 알람 끄기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29</a:t>
            </a:r>
            <a:endParaRPr lang="ko-KR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04  시뮬레이션 · 타이머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검증 신뢰도 — 변이 테스트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bug 2 종 주입 → TB 가 FAIL 7 개 · 1 개로 검출, 원 설계 MISMATCH 0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41248" y="2194560"/>
          <a:ext cx="16605503" cy="2743516"/>
        </p:xfrm>
        <a:graphic>
          <a:graphicData uri="http://schemas.openxmlformats.org/drawingml/2006/table">
            <a:tbl>
              <a:tblPr/>
              <a:tblGrid>
                <a:gridCol w="10107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일부러 넣은 bug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timer_datapath: 59:59 상한 조건을 끔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7개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timer_control_unit: RUN 에서 U 를 받아 +10초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TM3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1개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설계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 · TM3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69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MISMATCH 0</a:t>
                      </a:r>
                      <a:endParaRPr lang="en-US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841248" y="5443463"/>
            <a:ext cx="16605504" cy="2526925"/>
          </a:xfrm>
          <a:prstGeom prst="rect">
            <a:avLst/>
          </a:prstGeom>
          <a:solidFill>
            <a:srgbClr val="1E1E1E"/>
          </a:solidFill>
          <a:ln w="94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021743" y="5587859"/>
            <a:ext cx="16244515" cy="223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2172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en-US" sz="2172" dirty="0"/>
          </a:p>
          <a:p>
            <a:pPr>
              <a:lnSpc>
                <a:spcPct val="90000"/>
              </a:lnSpc>
            </a:pPr>
            <a:r>
              <a:rPr lang="en-US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en-US" sz="2172" dirty="0"/>
          </a:p>
          <a:p>
            <a:pPr>
              <a:lnSpc>
                <a:spcPct val="90000"/>
              </a:lnSpc>
            </a:pPr>
            <a:r>
              <a:rPr lang="en-US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en-US" sz="2172" dirty="0"/>
          </a:p>
          <a:p>
            <a:pPr>
              <a:lnSpc>
                <a:spcPct val="90000"/>
              </a:lnSpc>
            </a:pPr>
            <a:r>
              <a:rPr lang="en-US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en-US" sz="2172" dirty="0"/>
          </a:p>
          <a:p>
            <a:pPr>
              <a:lnSpc>
                <a:spcPct val="90000"/>
              </a:lnSpc>
            </a:pPr>
            <a:r>
              <a:rPr lang="en-US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en-US" sz="2172" dirty="0"/>
          </a:p>
        </p:txBody>
      </p:sp>
      <p:sp>
        <p:nvSpPr>
          <p:cNvPr id="11" name="Text 5"/>
          <p:cNvSpPr txBox="1"/>
          <p:nvPr/>
        </p:nvSpPr>
        <p:spPr>
          <a:xfrm>
            <a:off x="841248" y="8331377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MISMATCH 0 은 "검사가 엉성해서 0" 이 아니라 설계가 사양대로라는 뜻</a:t>
            </a:r>
            <a:endParaRPr lang="en-US" sz="2566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lang="ko-K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566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트러블 슈팅</a:t>
            </a:r>
            <a:endParaRPr lang="ko-KR" sz="4700" dirty="0"/>
          </a:p>
        </p:txBody>
      </p:sp>
      <p:sp>
        <p:nvSpPr>
          <p:cNvPr id="5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718096"/>
                </a:solidFill>
                <a:latin typeface="Malgun Gothic"/>
                <a:ea typeface="Malgun Gothic"/>
                <a:cs typeface="Malgun Gothic"/>
              </a:rPr>
              <a:t>1. 버튼 동시 입력 — 예상과 다른 반응</a:t>
            </a:r>
            <a:endParaRPr lang="ko-KR" sz="2000" dirty="0"/>
          </a:p>
        </p:txBody>
      </p:sp>
      <p:sp>
        <p:nvSpPr>
          <p:cNvPr id="7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오류 처리 목표 → 우선순위 동작 (작성 중)</a:t>
            </a:r>
            <a:endParaRPr lang="ko-KR" sz="1400" dirty="0"/>
          </a:p>
        </p:txBody>
      </p:sp>
      <p:sp>
        <p:nvSpPr>
          <p:cNvPr id="8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2. 10 초 타이머가 9.998 초에 울림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100 Hz tick 공유 → 기능별 tick 분리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49377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0EBF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51023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3. 한 번 눌렀는데 두 번 인식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55961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디바운서 샘플 1 MHz → 4 kHz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분석 순서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 현상 → ② 원인 → ③ 해결 → ④ 적용 결과 (Before / After)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31</a:t>
            </a:r>
            <a:endParaRPr lang="ko-KR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버튼 동시 입력 시 예상과 다른 반응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원인 · 해결 · 적용 결과 자료 추가 예정</a:t>
            </a:r>
            <a:endParaRPr lang="ko-KR" sz="1900" dirty="0"/>
          </a:p>
        </p:txBody>
      </p:sp>
      <p:sp>
        <p:nvSpPr>
          <p:cNvPr id="16" name="shape"/>
          <p:cNvSpPr/>
          <p:nvPr/>
        </p:nvSpPr>
        <p:spPr>
          <a:xfrm>
            <a:off x="841248" y="2286000"/>
            <a:ext cx="8211312" cy="3291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"/>
          <p:cNvSpPr txBox="1"/>
          <p:nvPr/>
        </p:nvSpPr>
        <p:spPr>
          <a:xfrm>
            <a:off x="1161288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① 현상</a:t>
            </a:r>
            <a:endParaRPr lang="ko-KR" sz="1900" dirty="0"/>
          </a:p>
        </p:txBody>
      </p:sp>
      <p:sp>
        <p:nvSpPr>
          <p:cNvPr id="18" name="text"/>
          <p:cNvSpPr txBox="1"/>
          <p:nvPr/>
        </p:nvSpPr>
        <p:spPr>
          <a:xfrm>
            <a:off x="1161288" y="3154680"/>
            <a:ext cx="7589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: 버튼 2 개 이상 동시 입력 → 반응하지 않고 오류 처리</a:t>
            </a:r>
            <a:endParaRPr lang="ko-KR" sz="15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실제 : 우선순위대로 한 버튼만 동작 (시뮬레이션에서 확인)</a:t>
            </a:r>
            <a:endParaRPr lang="ko-KR" sz="1500" dirty="0"/>
          </a:p>
        </p:txBody>
      </p:sp>
      <p:sp>
        <p:nvSpPr>
          <p:cNvPr id="19" name="shape"/>
          <p:cNvSpPr/>
          <p:nvPr/>
        </p:nvSpPr>
        <p:spPr>
          <a:xfrm>
            <a:off x="9235440" y="2286000"/>
            <a:ext cx="8211312" cy="32918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"/>
          <p:cNvSpPr txBox="1"/>
          <p:nvPr/>
        </p:nvSpPr>
        <p:spPr>
          <a:xfrm>
            <a:off x="955548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 원인</a:t>
            </a:r>
            <a:endParaRPr lang="ko-KR" sz="1900" dirty="0"/>
          </a:p>
        </p:txBody>
      </p:sp>
      <p:sp>
        <p:nvSpPr>
          <p:cNvPr id="21" name="text"/>
          <p:cNvSpPr txBox="1"/>
          <p:nvPr/>
        </p:nvSpPr>
        <p:spPr>
          <a:xfrm>
            <a:off x="9555480" y="3154680"/>
            <a:ext cx="7589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</a:t>
            </a:r>
            <a:endParaRPr lang="ko-KR" sz="1500" dirty="0"/>
          </a:p>
        </p:txBody>
      </p:sp>
      <p:sp>
        <p:nvSpPr>
          <p:cNvPr id="22" name="shape"/>
          <p:cNvSpPr/>
          <p:nvPr/>
        </p:nvSpPr>
        <p:spPr>
          <a:xfrm>
            <a:off x="841248" y="5806440"/>
            <a:ext cx="8211312" cy="32918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"/>
          <p:cNvSpPr txBox="1"/>
          <p:nvPr/>
        </p:nvSpPr>
        <p:spPr>
          <a:xfrm>
            <a:off x="1161288" y="6035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 해결</a:t>
            </a:r>
            <a:endParaRPr lang="ko-KR" sz="1900" dirty="0"/>
          </a:p>
        </p:txBody>
      </p:sp>
      <p:sp>
        <p:nvSpPr>
          <p:cNvPr id="24" name="text"/>
          <p:cNvSpPr txBox="1"/>
          <p:nvPr/>
        </p:nvSpPr>
        <p:spPr>
          <a:xfrm>
            <a:off x="1161288" y="6675120"/>
            <a:ext cx="7589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</a:t>
            </a:r>
            <a:endParaRPr lang="ko-KR" sz="1500" dirty="0"/>
          </a:p>
        </p:txBody>
      </p:sp>
      <p:sp>
        <p:nvSpPr>
          <p:cNvPr id="25" name="shape"/>
          <p:cNvSpPr/>
          <p:nvPr/>
        </p:nvSpPr>
        <p:spPr>
          <a:xfrm>
            <a:off x="9235440" y="5806440"/>
            <a:ext cx="8211312" cy="32918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"/>
          <p:cNvSpPr txBox="1"/>
          <p:nvPr/>
        </p:nvSpPr>
        <p:spPr>
          <a:xfrm>
            <a:off x="9555480" y="6035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 적용 결과</a:t>
            </a:r>
            <a:endParaRPr lang="ko-KR" sz="1900" dirty="0"/>
          </a:p>
        </p:txBody>
      </p:sp>
      <p:sp>
        <p:nvSpPr>
          <p:cNvPr id="27" name="text"/>
          <p:cNvSpPr txBox="1"/>
          <p:nvPr/>
        </p:nvSpPr>
        <p:spPr>
          <a:xfrm>
            <a:off x="9555480" y="6675120"/>
            <a:ext cx="7589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[작성 중] Before / After 비교</a:t>
            </a:r>
            <a:endParaRPr lang="ko-KR" sz="1500" dirty="0"/>
          </a:p>
        </p:txBody>
      </p:sp>
      <p:sp>
        <p:nvSpPr>
          <p:cNvPr id="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32</a:t>
            </a:r>
            <a:endParaRPr lang="ko-KR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10 초 타이머가 9.998 초에 울림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 : 100 Hz tick 1 개를 시계 · 스톱워치 · 타이머가 공유 → 시작 시점 따라 최대 10 ms 일찍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0" y="2194561"/>
            <a:ext cx="9433016" cy="3672288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64880" y="2194561"/>
            <a:ext cx="9433016" cy="3672288"/>
          </a:xfrm>
          <a:prstGeom prst="rect">
            <a:avLst/>
          </a:prstGeom>
          <a:solidFill>
            <a:srgbClr val="FFFFFF">
              <a:alpha val="0"/>
            </a:srgbClr>
          </a:solidFill>
          <a:ln w="1352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8102983" y="5222097"/>
            <a:ext cx="2032373" cy="280327"/>
          </a:xfrm>
          <a:prstGeom prst="rect">
            <a:avLst/>
          </a:prstGeom>
          <a:solidFill>
            <a:srgbClr val="FFFFFF">
              <a:alpha val="0"/>
            </a:srgbClr>
          </a:solidFill>
          <a:ln w="40566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7566425" y="5119943"/>
            <a:ext cx="484632" cy="484632"/>
          </a:xfrm>
          <a:prstGeom prst="ellipse">
            <a:avLst/>
          </a:prstGeom>
          <a:solidFill>
            <a:srgbClr val="FF0000"/>
          </a:solidFill>
          <a:ln w="1352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71" dirty="0"/>
          </a:p>
        </p:txBody>
      </p:sp>
      <p:sp>
        <p:nvSpPr>
          <p:cNvPr id="20" name="Text 6"/>
          <p:cNvSpPr txBox="1"/>
          <p:nvPr/>
        </p:nvSpPr>
        <p:spPr>
          <a:xfrm>
            <a:off x="1164880" y="5970698"/>
            <a:ext cx="9519557" cy="5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현상</a:t>
            </a:r>
            <a:r>
              <a:rPr lang="en-US" sz="2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RUN 시작 → ALARM 간격 </a:t>
            </a:r>
            <a:r>
              <a:rPr lang="en-US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en-US" sz="2460" dirty="0"/>
          </a:p>
        </p:txBody>
      </p:sp>
      <p:sp>
        <p:nvSpPr>
          <p:cNvPr id="21" name="Text 7"/>
          <p:cNvSpPr txBox="1"/>
          <p:nvPr/>
        </p:nvSpPr>
        <p:spPr>
          <a:xfrm>
            <a:off x="1164880" y="6524563"/>
            <a:ext cx="9519557" cy="4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 캡처 · 가운데 ≋ = 1~9 s 생략</a:t>
            </a:r>
            <a:endParaRPr lang="en-US" sz="1988" dirty="0"/>
          </a:p>
        </p:txBody>
      </p:sp>
      <p:sp>
        <p:nvSpPr>
          <p:cNvPr id="22" name="Text 8"/>
          <p:cNvSpPr txBox="1"/>
          <p:nvPr/>
        </p:nvSpPr>
        <p:spPr>
          <a:xfrm>
            <a:off x="10944062" y="2194560"/>
            <a:ext cx="6057900" cy="43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7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원인</a:t>
            </a:r>
            <a:endParaRPr lang="en-US" sz="2271" dirty="0"/>
          </a:p>
        </p:txBody>
      </p:sp>
      <p:sp>
        <p:nvSpPr>
          <p:cNvPr id="23" name="Text 9"/>
          <p:cNvSpPr txBox="1"/>
          <p:nvPr/>
        </p:nvSpPr>
        <p:spPr>
          <a:xfrm>
            <a:off x="10944062" y="2765733"/>
            <a:ext cx="6057900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tick (리셋부터 항상 10 ms 박자)</a:t>
            </a:r>
            <a:endParaRPr lang="en-US" sz="1988" dirty="0"/>
          </a:p>
        </p:txBody>
      </p:sp>
      <p:sp>
        <p:nvSpPr>
          <p:cNvPr id="24" name="Shape 10"/>
          <p:cNvSpPr/>
          <p:nvPr/>
        </p:nvSpPr>
        <p:spPr>
          <a:xfrm>
            <a:off x="10944062" y="3925389"/>
            <a:ext cx="6057900" cy="1731"/>
          </a:xfrm>
          <a:prstGeom prst="line">
            <a:avLst/>
          </a:prstGeom>
          <a:noFill/>
          <a:ln w="18029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1"/>
          <p:cNvSpPr/>
          <p:nvPr/>
        </p:nvSpPr>
        <p:spPr>
          <a:xfrm>
            <a:off x="11290227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2"/>
          <p:cNvSpPr/>
          <p:nvPr/>
        </p:nvSpPr>
        <p:spPr>
          <a:xfrm>
            <a:off x="13021056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/>
          <p:cNvSpPr/>
          <p:nvPr/>
        </p:nvSpPr>
        <p:spPr>
          <a:xfrm>
            <a:off x="14751885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4"/>
          <p:cNvSpPr/>
          <p:nvPr/>
        </p:nvSpPr>
        <p:spPr>
          <a:xfrm>
            <a:off x="16482713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5"/>
          <p:cNvSpPr txBox="1"/>
          <p:nvPr/>
        </p:nvSpPr>
        <p:spPr>
          <a:xfrm>
            <a:off x="11636393" y="3458065"/>
            <a:ext cx="1038497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</a:t>
            </a:r>
            <a:endParaRPr lang="en-US" sz="1988" dirty="0"/>
          </a:p>
        </p:txBody>
      </p:sp>
      <p:sp>
        <p:nvSpPr>
          <p:cNvPr id="30" name="Shape 16"/>
          <p:cNvSpPr/>
          <p:nvPr/>
        </p:nvSpPr>
        <p:spPr>
          <a:xfrm>
            <a:off x="13021056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7"/>
          <p:cNvSpPr/>
          <p:nvPr/>
        </p:nvSpPr>
        <p:spPr>
          <a:xfrm>
            <a:off x="14751885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8"/>
          <p:cNvSpPr txBox="1"/>
          <p:nvPr/>
        </p:nvSpPr>
        <p:spPr>
          <a:xfrm>
            <a:off x="12224875" y="4444637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988" dirty="0"/>
          </a:p>
        </p:txBody>
      </p:sp>
      <p:sp>
        <p:nvSpPr>
          <p:cNvPr id="33" name="Shape 19"/>
          <p:cNvSpPr/>
          <p:nvPr/>
        </p:nvSpPr>
        <p:spPr>
          <a:xfrm>
            <a:off x="13280680" y="4565795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0"/>
          <p:cNvSpPr/>
          <p:nvPr/>
        </p:nvSpPr>
        <p:spPr>
          <a:xfrm>
            <a:off x="13453763" y="4652337"/>
            <a:ext cx="1298121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 txBox="1"/>
          <p:nvPr/>
        </p:nvSpPr>
        <p:spPr>
          <a:xfrm>
            <a:off x="14873043" y="4444637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ms</a:t>
            </a:r>
            <a:r>
              <a:rPr lang="en-US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en-US" sz="1988" dirty="0"/>
          </a:p>
        </p:txBody>
      </p:sp>
      <p:sp>
        <p:nvSpPr>
          <p:cNvPr id="36" name="Shape 22"/>
          <p:cNvSpPr/>
          <p:nvPr/>
        </p:nvSpPr>
        <p:spPr>
          <a:xfrm>
            <a:off x="13021056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3"/>
          <p:cNvSpPr/>
          <p:nvPr/>
        </p:nvSpPr>
        <p:spPr>
          <a:xfrm>
            <a:off x="14751885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12744123" y="5136969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988" dirty="0"/>
          </a:p>
        </p:txBody>
      </p:sp>
      <p:sp>
        <p:nvSpPr>
          <p:cNvPr id="39" name="Shape 25"/>
          <p:cNvSpPr/>
          <p:nvPr/>
        </p:nvSpPr>
        <p:spPr>
          <a:xfrm>
            <a:off x="13799929" y="5258127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6"/>
          <p:cNvSpPr/>
          <p:nvPr/>
        </p:nvSpPr>
        <p:spPr>
          <a:xfrm>
            <a:off x="13973012" y="5344668"/>
            <a:ext cx="778873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7"/>
          <p:cNvSpPr txBox="1"/>
          <p:nvPr/>
        </p:nvSpPr>
        <p:spPr>
          <a:xfrm>
            <a:off x="14873043" y="5136969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ms</a:t>
            </a:r>
            <a:r>
              <a:rPr lang="en-US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en-US" sz="1988" dirty="0"/>
          </a:p>
        </p:txBody>
      </p:sp>
      <p:sp>
        <p:nvSpPr>
          <p:cNvPr id="42" name="Shape 28"/>
          <p:cNvSpPr/>
          <p:nvPr/>
        </p:nvSpPr>
        <p:spPr>
          <a:xfrm>
            <a:off x="13021056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9"/>
          <p:cNvSpPr/>
          <p:nvPr/>
        </p:nvSpPr>
        <p:spPr>
          <a:xfrm>
            <a:off x="14751885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0"/>
          <p:cNvSpPr txBox="1"/>
          <p:nvPr/>
        </p:nvSpPr>
        <p:spPr>
          <a:xfrm>
            <a:off x="13263372" y="5829300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988" dirty="0"/>
          </a:p>
        </p:txBody>
      </p:sp>
      <p:sp>
        <p:nvSpPr>
          <p:cNvPr id="45" name="Shape 31"/>
          <p:cNvSpPr/>
          <p:nvPr/>
        </p:nvSpPr>
        <p:spPr>
          <a:xfrm>
            <a:off x="14319177" y="5950458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/>
          <p:cNvSpPr/>
          <p:nvPr/>
        </p:nvSpPr>
        <p:spPr>
          <a:xfrm>
            <a:off x="14492260" y="6036999"/>
            <a:ext cx="259624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3"/>
          <p:cNvSpPr txBox="1"/>
          <p:nvPr/>
        </p:nvSpPr>
        <p:spPr>
          <a:xfrm>
            <a:off x="14873043" y="5829300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ms</a:t>
            </a:r>
            <a:r>
              <a:rPr lang="en-US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en-US" sz="1988" dirty="0"/>
          </a:p>
        </p:txBody>
      </p:sp>
      <p:sp>
        <p:nvSpPr>
          <p:cNvPr id="48" name="Text 34"/>
          <p:cNvSpPr txBox="1"/>
          <p:nvPr/>
        </p:nvSpPr>
        <p:spPr>
          <a:xfrm>
            <a:off x="10944062" y="6435090"/>
            <a:ext cx="6144441" cy="95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7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시계: 시작이 없어 상관없음</a:t>
            </a:r>
            <a:endParaRPr lang="en-US" sz="2176" dirty="0"/>
          </a:p>
          <a:p>
            <a:r>
              <a:rPr lang="en-US" sz="217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스톱워치 · 타이머: 누른 순간이 0 이어야 함</a:t>
            </a:r>
            <a:endParaRPr lang="en-US" sz="2176" dirty="0"/>
          </a:p>
        </p:txBody>
      </p:sp>
      <p:sp>
        <p:nvSpPr>
          <p:cNvPr id="49" name="Text 35"/>
          <p:cNvSpPr txBox="1"/>
          <p:nvPr/>
        </p:nvSpPr>
        <p:spPr>
          <a:xfrm>
            <a:off x="1164880" y="8685167"/>
            <a:ext cx="15923623" cy="77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83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sz="2083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tb_tm_2 P1 9,998 ms · 시작 시각을 3 ms 씩 바꿔 돌린 TB 에서 첫 감소 8 / 5 / 2 ms</a:t>
            </a:r>
            <a:endParaRPr lang="en-US" sz="2083" dirty="0"/>
          </a:p>
        </p:txBody>
      </p:sp>
      <p:sp>
        <p:nvSpPr>
          <p:cNvPr id="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33</a:t>
            </a:r>
            <a:endParaRPr lang="ko-KR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해결 : tick 구조 4 종 비교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④ 선택 : 4 kHz 공유 + 100 Hz 기능별 분리 → 매번 정확히 10 ms (FF + 42)</a:t>
            </a:r>
            <a:endParaRPr lang="ko-KR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87307" y="2194560"/>
          <a:ext cx="16513384" cy="3589865"/>
        </p:xfrm>
        <a:graphic>
          <a:graphicData uri="http://schemas.openxmlformats.org/drawingml/2006/table">
            <a:tbl>
              <a:tblPr/>
              <a:tblGrid>
                <a:gridCol w="8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→ 첫 tick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방식: 디바운서마다 분주 + 데이터패스마다 tick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403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292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+3.47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10 ms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팀 판: 4 kHz 공유 + 100 Hz 1개 셋이 공유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327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186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+3.22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10 ms 일찍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참고: ② + 4 kHz 를 enable 로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317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172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+2.94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와 같음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kHz 공유 + 100 Hz 기능마다 따로 (RUN 순간부터)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356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+3.63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정확히 10 ms</a:t>
                      </a:r>
                      <a:endParaRPr lang="en-US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3"/>
          <p:cNvSpPr txBox="1"/>
          <p:nvPr/>
        </p:nvSpPr>
        <p:spPr>
          <a:xfrm>
            <a:off x="887307" y="6143413"/>
            <a:ext cx="16513387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5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④</a:t>
            </a:r>
            <a:r>
              <a:rPr lang="en-US" sz="235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100 Hz 는 "언제 시작했나" 가 기능이라 나누고, 4 kHz 는 디바운서가 "8번 연속 1" 만 봐서 시작 시점이 없으니 공유 유지</a:t>
            </a:r>
            <a:endParaRPr lang="en-US" sz="2356" dirty="0"/>
          </a:p>
        </p:txBody>
      </p:sp>
      <p:sp>
        <p:nvSpPr>
          <p:cNvPr id="18" name="Text 4"/>
          <p:cNvSpPr txBox="1"/>
          <p:nvPr/>
        </p:nvSpPr>
        <p:spPr>
          <a:xfrm>
            <a:off x="887307" y="7130627"/>
            <a:ext cx="16513387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35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</a:t>
            </a:r>
            <a:r>
              <a:rPr lang="en-US" sz="235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② 보다 FF +42 (tick 생성기 2개 × 21)  ·  ① 보다 LUT −47 · FF −64 (분주 공유 이득은 그대로)</a:t>
            </a:r>
            <a:endParaRPr lang="en-US" sz="2356" dirty="0"/>
          </a:p>
        </p:txBody>
      </p:sp>
      <p:sp>
        <p:nvSpPr>
          <p:cNvPr id="19" name="Text 5"/>
          <p:cNvSpPr txBox="1"/>
          <p:nvPr/>
        </p:nvSpPr>
        <p:spPr>
          <a:xfrm>
            <a:off x="887307" y="8476827"/>
            <a:ext cx="16513387" cy="98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2022.2 · xc7a35t · 구현(place &amp; route) 후 · 같은 xdc. WNS 는 모두 양수(100 MHz 만족)라 우열로 보지 않음. ①③ 은 비교용으로 만든 판(팀 코드 아님), 측정은 클로드코드 배치 실행</a:t>
            </a:r>
            <a:endParaRPr lang="en-US" sz="2061" dirty="0"/>
          </a:p>
        </p:txBody>
      </p:sp>
      <p:sp>
        <p:nvSpPr>
          <p:cNvPr id="2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34</a:t>
            </a:r>
            <a:endParaRPr lang="ko-KR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적용 결과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9.998000010 s → 10.000000020 s (10 s + 2 클럭 고정 지연) · 잔여 2 건도 PASS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27" y="2194560"/>
            <a:ext cx="7593706" cy="263744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94327" y="2194560"/>
            <a:ext cx="7593706" cy="2637440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5648762" y="4070861"/>
            <a:ext cx="2655142" cy="407123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5119760" y="403551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39" dirty="0"/>
          </a:p>
        </p:txBody>
      </p:sp>
      <p:sp>
        <p:nvSpPr>
          <p:cNvPr id="20" name="Text 6"/>
          <p:cNvSpPr txBox="1"/>
          <p:nvPr/>
        </p:nvSpPr>
        <p:spPr>
          <a:xfrm>
            <a:off x="1294327" y="4917323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r>
              <a:rPr lang="en-US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en-US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en-US" sz="2799" dirty="0"/>
          </a:p>
        </p:txBody>
      </p:sp>
      <p:pic>
        <p:nvPicPr>
          <p:cNvPr id="2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68" y="2194560"/>
            <a:ext cx="7593706" cy="2537409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9399968" y="2194560"/>
            <a:ext cx="7593706" cy="2537409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8"/>
          <p:cNvSpPr/>
          <p:nvPr/>
        </p:nvSpPr>
        <p:spPr>
          <a:xfrm>
            <a:off x="12548579" y="3935555"/>
            <a:ext cx="2407760" cy="444510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9"/>
          <p:cNvSpPr/>
          <p:nvPr/>
        </p:nvSpPr>
        <p:spPr>
          <a:xfrm>
            <a:off x="12019578" y="391890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39" dirty="0"/>
          </a:p>
        </p:txBody>
      </p:sp>
      <p:sp>
        <p:nvSpPr>
          <p:cNvPr id="25" name="Text 10"/>
          <p:cNvSpPr txBox="1"/>
          <p:nvPr/>
        </p:nvSpPr>
        <p:spPr>
          <a:xfrm>
            <a:off x="9399968" y="4817292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r>
              <a:rPr lang="en-US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en-US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10.000000020 s</a:t>
            </a:r>
            <a:endParaRPr lang="en-US" sz="2799" dirty="0"/>
          </a:p>
        </p:txBody>
      </p:sp>
      <p:sp>
        <p:nvSpPr>
          <p:cNvPr id="26" name="Text 11"/>
          <p:cNvSpPr txBox="1"/>
          <p:nvPr/>
        </p:nvSpPr>
        <p:spPr>
          <a:xfrm>
            <a:off x="1294327" y="5514581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시점에 따라 </a:t>
            </a:r>
            <a:r>
              <a:rPr lang="en-US" sz="223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 ms 일찍</a:t>
            </a:r>
            <a:r>
              <a:rPr lang="en-US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(이 캡처는 2 ms)</a:t>
            </a:r>
            <a:endParaRPr lang="en-US" sz="2239" dirty="0"/>
          </a:p>
        </p:txBody>
      </p:sp>
      <p:sp>
        <p:nvSpPr>
          <p:cNvPr id="27" name="Text 12"/>
          <p:cNvSpPr txBox="1"/>
          <p:nvPr/>
        </p:nvSpPr>
        <p:spPr>
          <a:xfrm>
            <a:off x="9399968" y="5414549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10 s + </a:t>
            </a:r>
            <a:r>
              <a:rPr lang="en-US" sz="223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r>
              <a:rPr lang="en-US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2클럭 고정 (매번 같음)</a:t>
            </a:r>
            <a:endParaRPr lang="en-US" sz="2239" dirty="0"/>
          </a:p>
        </p:txBody>
      </p:sp>
      <p:sp>
        <p:nvSpPr>
          <p:cNvPr id="28" name="Shape 13"/>
          <p:cNvSpPr/>
          <p:nvPr/>
        </p:nvSpPr>
        <p:spPr>
          <a:xfrm>
            <a:off x="1294327" y="6546009"/>
            <a:ext cx="15699346" cy="2303708"/>
          </a:xfrm>
          <a:prstGeom prst="rect">
            <a:avLst/>
          </a:prstGeom>
          <a:solidFill>
            <a:srgbClr val="1E1E1E"/>
          </a:solidFill>
          <a:ln w="8887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4"/>
          <p:cNvSpPr txBox="1"/>
          <p:nvPr/>
        </p:nvSpPr>
        <p:spPr>
          <a:xfrm>
            <a:off x="1464972" y="6682525"/>
            <a:ext cx="15358056" cy="203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2053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en-US" sz="2053" dirty="0"/>
          </a:p>
          <a:p>
            <a:pPr>
              <a:lnSpc>
                <a:spcPct val="90000"/>
              </a:lnSpc>
            </a:pPr>
            <a:r>
              <a:rPr lang="en-US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en-US" sz="2053" dirty="0"/>
          </a:p>
          <a:p>
            <a:pPr>
              <a:lnSpc>
                <a:spcPct val="90000"/>
              </a:lnSpc>
            </a:pPr>
            <a:r>
              <a:rPr lang="en-US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en-US" sz="2053" dirty="0"/>
          </a:p>
          <a:p>
            <a:pPr>
              <a:lnSpc>
                <a:spcPct val="90000"/>
              </a:lnSpc>
            </a:pPr>
            <a:r>
              <a:rPr lang="en-US" sz="2053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en-US" sz="2053" dirty="0"/>
          </a:p>
          <a:p>
            <a:pPr>
              <a:lnSpc>
                <a:spcPct val="90000"/>
              </a:lnSpc>
            </a:pPr>
            <a:r>
              <a:rPr lang="en-US" sz="2053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en-US" sz="2053" dirty="0"/>
          </a:p>
        </p:txBody>
      </p:sp>
      <p:sp>
        <p:nvSpPr>
          <p:cNvPr id="30" name="Text 15"/>
          <p:cNvSpPr txBox="1"/>
          <p:nvPr/>
        </p:nvSpPr>
        <p:spPr>
          <a:xfrm>
            <a:off x="1294327" y="9020363"/>
            <a:ext cx="14675476" cy="44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6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것: 타이머 tick clear = 취소 | 알람  ·  스톱워치 데이터패스의 중복 AND 삭제 (tick 생성기가 이미 run 을 봄)</a:t>
            </a:r>
            <a:endParaRPr lang="en-US" sz="1960" dirty="0"/>
          </a:p>
        </p:txBody>
      </p:sp>
      <p:sp>
        <p:nvSpPr>
          <p:cNvPr id="3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35</a:t>
            </a:r>
            <a:endParaRPr lang="ko-KR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3 — 한 번 눌렀는데 두 번 인식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샘플 1 MHz → 4 kHz : 같은 튐 입력 20 번 → 펄스 158 개 → 20 개</a:t>
            </a:r>
            <a:endParaRPr lang="ko-KR" sz="1900" dirty="0"/>
          </a:p>
        </p:txBody>
      </p:sp>
      <p:sp>
        <p:nvSpPr>
          <p:cNvPr id="16" name="Text 4"/>
          <p:cNvSpPr txBox="1"/>
          <p:nvPr/>
        </p:nvSpPr>
        <p:spPr>
          <a:xfrm>
            <a:off x="1482956" y="2194560"/>
            <a:ext cx="2383436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 (보드 버튼)</a:t>
            </a:r>
            <a:endParaRPr lang="en-US" sz="1955" dirty="0"/>
          </a:p>
        </p:txBody>
      </p:sp>
      <p:sp>
        <p:nvSpPr>
          <p:cNvPr id="17" name="Shape 5"/>
          <p:cNvSpPr/>
          <p:nvPr/>
        </p:nvSpPr>
        <p:spPr>
          <a:xfrm>
            <a:off x="1482956" y="3216033"/>
            <a:ext cx="766104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8" name="Shape 6"/>
          <p:cNvSpPr/>
          <p:nvPr/>
        </p:nvSpPr>
        <p:spPr>
          <a:xfrm>
            <a:off x="2249060" y="2620174"/>
            <a:ext cx="170245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9" name="Shape 7"/>
          <p:cNvSpPr/>
          <p:nvPr/>
        </p:nvSpPr>
        <p:spPr>
          <a:xfrm>
            <a:off x="2249060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0" name="Shape 8"/>
          <p:cNvSpPr/>
          <p:nvPr/>
        </p:nvSpPr>
        <p:spPr>
          <a:xfrm>
            <a:off x="2419305" y="3216033"/>
            <a:ext cx="136196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1" name="Shape 9"/>
          <p:cNvSpPr/>
          <p:nvPr/>
        </p:nvSpPr>
        <p:spPr>
          <a:xfrm>
            <a:off x="2419305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2" name="Shape 10"/>
          <p:cNvSpPr/>
          <p:nvPr/>
        </p:nvSpPr>
        <p:spPr>
          <a:xfrm>
            <a:off x="2555502" y="2620174"/>
            <a:ext cx="28941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3" name="Shape 11"/>
          <p:cNvSpPr/>
          <p:nvPr/>
        </p:nvSpPr>
        <p:spPr>
          <a:xfrm>
            <a:off x="2555502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4" name="Shape 12"/>
          <p:cNvSpPr/>
          <p:nvPr/>
        </p:nvSpPr>
        <p:spPr>
          <a:xfrm>
            <a:off x="284491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5" name="Shape 13"/>
          <p:cNvSpPr/>
          <p:nvPr/>
        </p:nvSpPr>
        <p:spPr>
          <a:xfrm>
            <a:off x="284491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6" name="Shape 14"/>
          <p:cNvSpPr/>
          <p:nvPr/>
        </p:nvSpPr>
        <p:spPr>
          <a:xfrm>
            <a:off x="2947066" y="2620174"/>
            <a:ext cx="272393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7" name="Shape 15"/>
          <p:cNvSpPr/>
          <p:nvPr/>
        </p:nvSpPr>
        <p:spPr>
          <a:xfrm>
            <a:off x="294706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8" name="Shape 16"/>
          <p:cNvSpPr/>
          <p:nvPr/>
        </p:nvSpPr>
        <p:spPr>
          <a:xfrm>
            <a:off x="321945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9" name="Shape 17"/>
          <p:cNvSpPr/>
          <p:nvPr/>
        </p:nvSpPr>
        <p:spPr>
          <a:xfrm>
            <a:off x="321945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0" name="Shape 18"/>
          <p:cNvSpPr/>
          <p:nvPr/>
        </p:nvSpPr>
        <p:spPr>
          <a:xfrm>
            <a:off x="3321606" y="2620174"/>
            <a:ext cx="5652148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1" name="Shape 19"/>
          <p:cNvSpPr/>
          <p:nvPr/>
        </p:nvSpPr>
        <p:spPr>
          <a:xfrm>
            <a:off x="332160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2" name="Text 20"/>
          <p:cNvSpPr txBox="1"/>
          <p:nvPr/>
        </p:nvSpPr>
        <p:spPr>
          <a:xfrm>
            <a:off x="2249060" y="3267106"/>
            <a:ext cx="1191718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접점 튐</a:t>
            </a:r>
            <a:endParaRPr lang="en-US" sz="1955" dirty="0"/>
          </a:p>
        </p:txBody>
      </p:sp>
      <p:sp>
        <p:nvSpPr>
          <p:cNvPr id="33" name="Text 21"/>
          <p:cNvSpPr txBox="1"/>
          <p:nvPr/>
        </p:nvSpPr>
        <p:spPr>
          <a:xfrm>
            <a:off x="1482956" y="3760818"/>
            <a:ext cx="374540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MHz 판 o_btn (창 8 µs)</a:t>
            </a:r>
            <a:endParaRPr lang="en-US" sz="1955" dirty="0"/>
          </a:p>
        </p:txBody>
      </p:sp>
      <p:sp>
        <p:nvSpPr>
          <p:cNvPr id="34" name="Shape 22"/>
          <p:cNvSpPr/>
          <p:nvPr/>
        </p:nvSpPr>
        <p:spPr>
          <a:xfrm>
            <a:off x="1482956" y="4612045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5" name="Shape 23"/>
          <p:cNvSpPr/>
          <p:nvPr/>
        </p:nvSpPr>
        <p:spPr>
          <a:xfrm>
            <a:off x="2266084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6" name="Shape 24"/>
          <p:cNvSpPr/>
          <p:nvPr/>
        </p:nvSpPr>
        <p:spPr>
          <a:xfrm>
            <a:off x="2572526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7" name="Shape 25"/>
          <p:cNvSpPr/>
          <p:nvPr/>
        </p:nvSpPr>
        <p:spPr>
          <a:xfrm>
            <a:off x="296409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8" name="Shape 26"/>
          <p:cNvSpPr/>
          <p:nvPr/>
        </p:nvSpPr>
        <p:spPr>
          <a:xfrm>
            <a:off x="333863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9" name="Text 27"/>
          <p:cNvSpPr txBox="1"/>
          <p:nvPr/>
        </p:nvSpPr>
        <p:spPr>
          <a:xfrm>
            <a:off x="3611023" y="4237505"/>
            <a:ext cx="408589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조각마다 펄스 → 여러 번</a:t>
            </a:r>
            <a:endParaRPr lang="en-US" sz="1955" dirty="0"/>
          </a:p>
        </p:txBody>
      </p:sp>
      <p:sp>
        <p:nvSpPr>
          <p:cNvPr id="40" name="Text 28"/>
          <p:cNvSpPr txBox="1"/>
          <p:nvPr/>
        </p:nvSpPr>
        <p:spPr>
          <a:xfrm>
            <a:off x="1482956" y="4833364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판 o_btn (창 8 × 250 µs = 2 ms)</a:t>
            </a:r>
            <a:endParaRPr lang="en-US" sz="1955" dirty="0"/>
          </a:p>
        </p:txBody>
      </p:sp>
      <p:sp>
        <p:nvSpPr>
          <p:cNvPr id="41" name="Shape 29"/>
          <p:cNvSpPr/>
          <p:nvPr/>
        </p:nvSpPr>
        <p:spPr>
          <a:xfrm>
            <a:off x="1482956" y="5684591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2" name="Shape 30"/>
          <p:cNvSpPr/>
          <p:nvPr/>
        </p:nvSpPr>
        <p:spPr>
          <a:xfrm>
            <a:off x="233418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3" name="Shape 31"/>
          <p:cNvSpPr/>
          <p:nvPr/>
        </p:nvSpPr>
        <p:spPr>
          <a:xfrm>
            <a:off x="275979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4" name="Shape 32"/>
          <p:cNvSpPr/>
          <p:nvPr/>
        </p:nvSpPr>
        <p:spPr>
          <a:xfrm>
            <a:off x="3185410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5" name="Shape 33"/>
          <p:cNvSpPr/>
          <p:nvPr/>
        </p:nvSpPr>
        <p:spPr>
          <a:xfrm>
            <a:off x="361102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6" name="Shape 34"/>
          <p:cNvSpPr/>
          <p:nvPr/>
        </p:nvSpPr>
        <p:spPr>
          <a:xfrm>
            <a:off x="4036637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7" name="Shape 35"/>
          <p:cNvSpPr/>
          <p:nvPr/>
        </p:nvSpPr>
        <p:spPr>
          <a:xfrm>
            <a:off x="446225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8" name="Shape 36"/>
          <p:cNvSpPr/>
          <p:nvPr/>
        </p:nvSpPr>
        <p:spPr>
          <a:xfrm>
            <a:off x="4887864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9" name="Shape 37"/>
          <p:cNvSpPr/>
          <p:nvPr/>
        </p:nvSpPr>
        <p:spPr>
          <a:xfrm>
            <a:off x="5313478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0" name="Shape 38"/>
          <p:cNvSpPr/>
          <p:nvPr/>
        </p:nvSpPr>
        <p:spPr>
          <a:xfrm>
            <a:off x="573909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1" name="Shape 39"/>
          <p:cNvSpPr/>
          <p:nvPr/>
        </p:nvSpPr>
        <p:spPr>
          <a:xfrm>
            <a:off x="6164705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2" name="Shape 40"/>
          <p:cNvSpPr/>
          <p:nvPr/>
        </p:nvSpPr>
        <p:spPr>
          <a:xfrm>
            <a:off x="659031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3" name="Shape 41"/>
          <p:cNvSpPr/>
          <p:nvPr/>
        </p:nvSpPr>
        <p:spPr>
          <a:xfrm>
            <a:off x="7015932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4" name="Shape 42"/>
          <p:cNvSpPr/>
          <p:nvPr/>
        </p:nvSpPr>
        <p:spPr>
          <a:xfrm>
            <a:off x="744154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5" name="Shape 43"/>
          <p:cNvSpPr/>
          <p:nvPr/>
        </p:nvSpPr>
        <p:spPr>
          <a:xfrm>
            <a:off x="786715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6" name="Shape 44"/>
          <p:cNvSpPr/>
          <p:nvPr/>
        </p:nvSpPr>
        <p:spPr>
          <a:xfrm>
            <a:off x="6726515" y="5258978"/>
            <a:ext cx="1702" cy="425614"/>
          </a:xfrm>
          <a:prstGeom prst="line">
            <a:avLst/>
          </a:prstGeom>
          <a:noFill/>
          <a:ln w="44334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7" name="Shape 45"/>
          <p:cNvSpPr/>
          <p:nvPr/>
        </p:nvSpPr>
        <p:spPr>
          <a:xfrm>
            <a:off x="3321606" y="5939960"/>
            <a:ext cx="3404909" cy="1702"/>
          </a:xfrm>
          <a:prstGeom prst="line">
            <a:avLst/>
          </a:prstGeom>
          <a:noFill/>
          <a:ln w="17733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8" name="Text 46"/>
          <p:cNvSpPr txBox="1"/>
          <p:nvPr/>
        </p:nvSpPr>
        <p:spPr>
          <a:xfrm>
            <a:off x="3355655" y="5991033"/>
            <a:ext cx="5447854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끝 → 8샘플 연속 1 (2 ms) → 펄스 1개</a:t>
            </a:r>
            <a:endParaRPr lang="en-US" sz="1955" dirty="0"/>
          </a:p>
        </p:txBody>
      </p:sp>
      <p:sp>
        <p:nvSpPr>
          <p:cNvPr id="59" name="Text 47"/>
          <p:cNvSpPr txBox="1"/>
          <p:nvPr/>
        </p:nvSpPr>
        <p:spPr>
          <a:xfrm>
            <a:off x="1482956" y="6399622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개념도 (가로 1 칸 ≈ 1 ms)</a:t>
            </a:r>
            <a:endParaRPr lang="en-US" sz="1955" dirty="0"/>
          </a:p>
        </p:txBody>
      </p:sp>
      <p:sp>
        <p:nvSpPr>
          <p:cNvPr id="60" name="Shape 48"/>
          <p:cNvSpPr/>
          <p:nvPr/>
        </p:nvSpPr>
        <p:spPr>
          <a:xfrm>
            <a:off x="9484491" y="2194560"/>
            <a:ext cx="7490799" cy="4511504"/>
          </a:xfrm>
          <a:prstGeom prst="rect">
            <a:avLst/>
          </a:prstGeom>
          <a:solidFill>
            <a:srgbClr val="F8FAFC"/>
          </a:solidFill>
          <a:ln w="1330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61" name="Text 49"/>
          <p:cNvSpPr txBox="1"/>
          <p:nvPr/>
        </p:nvSpPr>
        <p:spPr>
          <a:xfrm>
            <a:off x="9688785" y="2313732"/>
            <a:ext cx="7150308" cy="434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72"/>
              </a:spcAft>
            </a:pPr>
            <a:r>
              <a:rPr lang="en-US" sz="232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해결 — 4 kHz 하나로 두 가지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디바운서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CLK_FRQ 4000 → 250 µs 마다 샘플, 8번 연속 1 = 2 ms 눌려야 인정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스캔 (같은 4 kHz)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× 250 µs = 한 바퀴 2 ms (500 Hz)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 설명서 권장 한 바퀴 1 ~ 16 ms 안 → 깜빡임 없음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4칸 = 1 ms, 빈칸 · 점 4칸 = 1 ms (자리당 250 µs)</a:t>
            </a:r>
            <a:endParaRPr lang="en-US" sz="2048" dirty="0"/>
          </a:p>
          <a:p>
            <a:pPr>
              <a:spcAft>
                <a:spcPts val="372"/>
              </a:spcAft>
            </a:pPr>
            <a:r>
              <a:rPr lang="en-US" sz="2048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분주기 1개를 디바운서 4개 + FND 가 공유</a:t>
            </a:r>
            <a:endParaRPr lang="en-US" sz="2048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/>
        </p:nvGraphicFramePr>
        <p:xfrm>
          <a:off x="1312710" y="6961432"/>
          <a:ext cx="15662579" cy="2042944"/>
        </p:xfrm>
        <a:graphic>
          <a:graphicData uri="http://schemas.openxmlformats.org/drawingml/2006/table">
            <a:tbl>
              <a:tblPr/>
              <a:tblGrid>
                <a:gridCol w="7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  1 MHz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  4 kHz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시뮬: 같은 튀는 입력 20번 → o_btn 개수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158개 (20번 모두 틀림)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(모두 1번)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보드: 타이머 U 20번 → 표시 (기대 03.20)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필요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필요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8 µs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1.75 ~ 2 ms (못 느낌)</a:t>
                      </a:r>
                      <a:endParaRPr lang="en-US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0"/>
          <p:cNvSpPr txBox="1"/>
          <p:nvPr/>
        </p:nvSpPr>
        <p:spPr>
          <a:xfrm>
            <a:off x="1312710" y="9089500"/>
            <a:ext cx="12938653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모델: 누를 때 · 뗄 때 20 ~ 400 µs 조각 4 ~ 11개 (실제보다 심함) · 클로드코드 Icarus 실행</a:t>
            </a:r>
            <a:endParaRPr lang="en-US" sz="1955" dirty="0"/>
          </a:p>
        </p:txBody>
      </p:sp>
      <p:sp>
        <p:nvSpPr>
          <p:cNvPr id="6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lang="ko-KR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결론 · 고찰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결론 · 고찰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Top TB PASS · 보드 확인 — 고찰 : 남은 경고 · 입력 처리 한계 → 다음 목표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9809416" cy="3144228"/>
        </p:xfrm>
        <a:graphic>
          <a:graphicData uri="http://schemas.openxmlformats.org/drawingml/2006/table">
            <a:tbl>
              <a:tblPr/>
              <a:tblGrid>
                <a:gridCol w="14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TB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업다운 · 랩 · 자정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 PASS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 시작 · 설정 · 점멸 · 12/24 · 동시 입력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264 PASS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59:59 상한 · 10 s · 알람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PASS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 · FND 스캔 · 게이팅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 PASS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5610340"/>
            <a:ext cx="9809419" cy="9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</a:t>
            </a:r>
            <a:r>
              <a:rPr lang="en-US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337 (1.6%) · FF 228 (0.5%) · WNS +3.785 ns @100 MHz · 래치 0</a:t>
            </a:r>
            <a:endParaRPr lang="en-US" sz="2108" dirty="0"/>
          </a:p>
          <a:p>
            <a:r>
              <a:rPr lang="en-US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1/100초 = 10.000 ms · 10초 타이머 = 10 s + 20 ns</a:t>
            </a:r>
            <a:endParaRPr lang="en-US" sz="2108" dirty="0"/>
          </a:p>
        </p:txBody>
      </p:sp>
      <p:sp>
        <p:nvSpPr>
          <p:cNvPr id="10" name="Text 5"/>
          <p:cNvSpPr txBox="1"/>
          <p:nvPr/>
        </p:nvSpPr>
        <p:spPr>
          <a:xfrm>
            <a:off x="1086263" y="6836517"/>
            <a:ext cx="9809419" cy="140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r>
              <a:rPr lang="en-US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en-US" sz="2108" dirty="0"/>
          </a:p>
        </p:txBody>
      </p:sp>
      <p:sp>
        <p:nvSpPr>
          <p:cNvPr id="11" name="Shape 6"/>
          <p:cNvSpPr/>
          <p:nvPr/>
        </p:nvSpPr>
        <p:spPr>
          <a:xfrm>
            <a:off x="11246018" y="2194560"/>
            <a:ext cx="5955719" cy="7269480"/>
          </a:xfrm>
          <a:prstGeom prst="rect">
            <a:avLst/>
          </a:prstGeom>
          <a:solidFill>
            <a:srgbClr val="F8FAFC"/>
          </a:solidFill>
          <a:ln w="1368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448"/>
          </a:p>
        </p:txBody>
      </p:sp>
      <p:sp>
        <p:nvSpPr>
          <p:cNvPr id="12" name="Text 7"/>
          <p:cNvSpPr txBox="1"/>
          <p:nvPr/>
        </p:nvSpPr>
        <p:spPr>
          <a:xfrm>
            <a:off x="11456220" y="2334695"/>
            <a:ext cx="5570349" cy="700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83"/>
              </a:spcAft>
            </a:pPr>
            <a:r>
              <a:rPr lang="en-US" sz="2395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고찰 (아쉬운 점 → 다음 목표)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경고 35개 남음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펄스를 클럭으로 씀 (TIMING-17) → enable 방식이면 0 개 (비교용 판 확인) → 다음 프로젝트 적용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디바운서 한계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 연속 1 만 봄 → 누른 채 잠깐 끊기면 두 번 인식 가능 → 뗄 때도 8번 연속 0 보기 검토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버튼 동시 입력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클럭이면 우선순위로 처리 (부록 B) → 사양에 먼저 적었어야 함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긴 경계</a:t>
            </a:r>
            <a:endParaRPr lang="en-US" sz="2011" dirty="0"/>
          </a:p>
          <a:p>
            <a:pPr>
              <a:spcAft>
                <a:spcPts val="383"/>
              </a:spcAft>
            </a:pPr>
            <a:r>
              <a:rPr lang="en-US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23:59:59 등은 초기값으로 확인 → 실제 24시간 흐름은 보드로만</a:t>
            </a:r>
            <a:endParaRPr lang="en-US" sz="2011" dirty="0"/>
          </a:p>
        </p:txBody>
      </p:sp>
      <p:sp>
        <p:nvSpPr>
          <p:cNvPr id="1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37</a:t>
            </a:r>
            <a:endParaRPr lang="ko-KR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07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영상 — 보드 동작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i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[후첨] 보드 시연 영상 삽입 예정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3840480" y="2331720"/>
            <a:ext cx="10607040" cy="5971032"/>
          </a:xfrm>
          <a:prstGeom prst="rect">
            <a:avLst/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"/>
          <p:cNvSpPr/>
          <p:nvPr/>
        </p:nvSpPr>
        <p:spPr>
          <a:xfrm>
            <a:off x="8641080" y="4846320"/>
            <a:ext cx="1005840" cy="1005840"/>
          </a:xfrm>
          <a:prstGeom prst="triangl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3840480" y="6400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영상 삽입 영역 (16 : 9)</a:t>
            </a:r>
            <a:endParaRPr lang="ko-KR" sz="16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38</a:t>
            </a:r>
            <a:endParaRPr lang="ko-KR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0" y="3840480"/>
            <a:ext cx="18288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54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Q &amp; A</a:t>
            </a:r>
            <a:endParaRPr lang="ko-KR" sz="5400" dirty="0"/>
          </a:p>
        </p:txBody>
      </p:sp>
      <p:sp>
        <p:nvSpPr>
          <p:cNvPr id="4" name="text"/>
          <p:cNvSpPr txBox="1"/>
          <p:nvPr/>
        </p:nvSpPr>
        <p:spPr>
          <a:xfrm>
            <a:off x="0" y="4983480"/>
            <a:ext cx="1828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lang="ko-KR" sz="1800" dirty="0"/>
          </a:p>
        </p:txBody>
      </p:sp>
      <p:sp>
        <p:nvSpPr>
          <p:cNvPr id="5" name="text"/>
          <p:cNvSpPr txBox="1"/>
          <p:nvPr/>
        </p:nvSpPr>
        <p:spPr>
          <a:xfrm>
            <a:off x="10972800" y="841248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200" dirty="0"/>
          </a:p>
          <a:p>
            <a:pPr algn="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정안성 · 정보윤 · 이종혁</a:t>
            </a:r>
            <a:endParaRPr lang="ko-KR" sz="1200" dirty="0"/>
          </a:p>
        </p:txBody>
      </p:sp>
      <p:sp>
        <p:nvSpPr>
          <p:cNvPr id="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39</a:t>
            </a:r>
            <a:endParaRPr lang="ko-KR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A — 검증 전체 : TB 11 개 · 검사 436 개 PASS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을 넣은 TB · 100 MHz 그대로 · 콘솔 [SUMMARY] 자동 판정 · 최신 소스로 다시 실행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5470" cy="6489977"/>
        </p:xfrm>
        <a:graphic>
          <a:graphicData uri="http://schemas.openxmlformats.org/drawingml/2006/table">
            <a:tbl>
              <a:tblPr/>
              <a:tblGrid>
                <a:gridCol w="157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2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 시간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디바운서: 누름 시간 · 바운스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2,205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tb_top_2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FND 스캔 · 자리별 출력 · 점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2,180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동작 중 무시 · 동시 R+L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2,290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tb_sw_2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올림 · 자정 순환 · 다운 빌림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485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tb_sw_3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랩 고정 · 해제 · 지우기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1,230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올림 · 59:59 상한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455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tb_tm_2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10 초 · 알람 · 빌림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11,597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tb_tm_3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백그라운드 · 화면 우선순위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547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tb_wt_1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UI · 커서 · 경계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tb_wt_2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정확도 · 자정 올림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2,245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tb_wt_3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12/24 표시 · 점멸 · LED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6,050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tb_wt_4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중 R · L · U · D 동시 누름 16가지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 ms</a:t>
                      </a:r>
                      <a:endParaRPr lang="en-US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938535"/>
            <a:ext cx="16115474" cy="525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1a65fa8 재실행 5개(tm_1 · sw_2 · tm_3 · wt_1 · wt_4) + 8e939ae 7개 (차이는 시계 U+D 처리뿐) · xsim 배치 (클로드코드)</a:t>
            </a:r>
            <a:endParaRPr lang="en-US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40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7099</Words>
  <Application>Microsoft Office PowerPoint</Application>
  <PresentationFormat>사용자 지정</PresentationFormat>
  <Paragraphs>1152</Paragraphs>
  <Slides>40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맑은 고딕</vt:lpstr>
      <vt:lpstr>맑은 고딕</vt:lpstr>
      <vt:lpstr>Malgun Gothic Semilight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kccistc</dc:creator>
  <cp:lastModifiedBy>안성 정</cp:lastModifiedBy>
  <cp:revision>2</cp:revision>
  <dcterms:created xsi:type="dcterms:W3CDTF">2006-08-16T00:00:00Z</dcterms:created>
  <dcterms:modified xsi:type="dcterms:W3CDTF">2026-10-18T10:26:57Z</dcterms:modified>
</cp:coreProperties>
</file>