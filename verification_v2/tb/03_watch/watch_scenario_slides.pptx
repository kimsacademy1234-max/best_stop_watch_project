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1" r:id="rIdS1"/>
    <p:sldId id="302" r:id="rIdS2"/>
    <p:sldId id="303" r:id="rIdS3"/>
    <p:sldId id="304" r:id="rIdS4"/>
    <p:sldId id="305" r:id="rIdS5"/>
    <p:sldId id="306" r:id="rIdS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30" y="-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9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0A4B3-CA1E-4FF1-8F8B-7B92F1823D8C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C412D-2024-4FE9-9C42-3C14E8CA90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58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708B6-A0CB-AD3D-8EA3-9AE059327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68D456-833F-4031-E90B-1D12EC6E9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1BFCD0-BBD5-B254-3B40-649F80BC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FFC66-88E5-DBCD-3AD7-820B1866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FED7FE-30D7-5D8D-BF91-3CD30BCB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27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B89A7-817A-5512-ED6E-44A93121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E030A-E9E9-9BD9-2400-06371EF07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96C378-E847-EEC9-FE84-31DC6034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D4E31-7966-8295-EBDD-5BE80770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A4242F-ADC0-6B4B-3F62-ED9D6969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67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3C99B-2116-0A8D-9D04-DABBA142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B037D5-AE35-4245-C3BD-886D6FE86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779B4-44A1-964A-12A8-5AC6113F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86F202-D9F0-8DBA-8093-0DBB8110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A7D761-E7AD-7769-A636-312C6972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21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7A72E-34FB-EE98-84B6-D6274888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E7D24D-2469-636A-7793-500965EED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296658-363B-7D6F-E951-9AD1AA6C4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131787-0870-397D-8655-7FBECFF9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D6E61C-F45C-A224-8BB8-84189E07D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118D7A-E00D-B29D-FA11-D6DBD936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800FE-CC49-BD6E-C9F8-E3B81577B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96C0BD-F068-C84F-3083-3E632B80B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F9438C-E486-715E-F64D-9A9015E80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B8F176-128C-E7B1-E0C2-351F5658A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1DEC65-A928-138D-ABD7-E2ED4FDAD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A11F7E-F64D-DDC9-C184-9CC931AC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DCE54C-24A2-77A1-85C4-9F84E2D0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F5B560-9B6E-4F12-2A8C-5F8219CE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59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97E7-5CAC-26A1-11BE-80000A1D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245C2C-83C4-745F-A762-7B94B01A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D8CD62-6622-ED92-EA0C-51FD9BF9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168A10-F03C-FE48-3F66-09279E8A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877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BE7696-11BD-9DC0-6B3A-8FF9FEC8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C9A881-B2F7-2B09-EC21-2F8210AA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DBB4BD-DE58-2A33-9276-4494C2C9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19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D7CE4-4815-CC1F-A4E1-1578C234F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249F44-46FB-45D4-24E3-69D7CEFA8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82EA21-EB3B-53F3-7D7A-3400D636E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2EF2AC-3A3B-62CB-140D-B691F547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9262F4-0B0F-8BD8-CB92-2D1C8908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3DC644-AAE7-5E93-1F53-69EBE994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91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1741C-9C18-72ED-6128-7EEB8BF7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0C6F50-9FF7-DC03-72E5-B719F946D0A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B66949-F666-093A-9B79-0A719E00D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79BF81-3DE0-F9D2-9617-576E955C2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BC979B-9BA3-6262-8922-EB2F14FB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C2F84B-F68D-8045-199A-B97598E0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6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AB0D6-0C33-616D-D85B-4618E1A2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4F09A0-0DD2-CF30-25E6-92FDB412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0F908-4D66-6586-D721-F43A4E77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F8211E-2965-1DB7-A7C5-B1D01AED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265F6F-B536-79BE-33C7-EAC3773F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823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1A03FD1-8C27-0622-C383-5DB06F66A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3BFA3E-B8A9-A35A-55BB-C9864EADE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A2E36B-EA5A-9338-BD2D-EF03B2DC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D2A96F-83C5-573E-F888-22AEB558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9DFFC-00B4-F917-289D-856B9A43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10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FF6C98B-EA0F-DE3A-F05D-DC7E9FB22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6F6218-3D80-9EA4-8A14-17F4A7A0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68E980-F312-D1FA-3550-064E7A2950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ADE31-F0DA-4525-8F7E-DAF618595163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511A87-46DC-0393-D647-D31905B26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B63FF7-5A01-590B-0305-36930D724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DF04A-CC8C-44C5-BD51-C25453536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40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 band 3"/>
          <p:cNvSpPr/>
          <p:nvPr/>
        </p:nvSpPr>
        <p:spPr>
          <a:xfrm>
            <a:off x="365760" y="228600"/>
            <a:ext cx="11457432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Title 4"/>
          <p:cNvSpPr txBox="1"/>
          <p:nvPr/>
        </p:nvSpPr>
        <p:spPr>
          <a:xfrm>
            <a:off x="457200" y="41148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2800" b="1" dirty="0">
                <a:solidFill>
                  <a:srgbClr val="000000"/>
                </a:solidFill>
              </a:rPr>
              <a:t>3. Watch 시뮬레이션</a:t>
            </a:r>
          </a:p>
        </p:txBody>
      </p:sp>
      <p:sp>
        <p:nvSpPr>
          <p:cNvPr id="5" name="Subtitle 5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7F7F7F"/>
                </a:solidFill>
              </a:rPr>
              <a:t>시뮬레이션 시나리오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70916" y="2468880"/>
          <a:ext cx="11247120" cy="3401568"/>
        </p:xfrm>
        <a:graphic>
          <a:graphicData uri="http://schemas.openxmlformats.org/drawingml/2006/table">
            <a:tbl>
              <a:tblPr firstRow="1" bandRow="1"/>
              <a:tblGrid>
                <a:gridCol w="822960"/>
                <a:gridCol w="4023360"/>
                <a:gridCol w="274320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000000"/>
                          </a:solidFill>
                        </a:rPr>
                        <a:t>순서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000000"/>
                          </a:solidFill>
                        </a:rPr>
                        <a:t>입력/동작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000000"/>
                          </a:solidFill>
                        </a:rPr>
                        <a:t>확인 내용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000000"/>
                          </a:solidFill>
                        </a:rPr>
                        <a:t>예상 결과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set_sw2 = 1 → L × 3 · R × 3 · U · D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커서 FSM 상태 천이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NORMAL → SET_MIN_1 → 회전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L+R · U+D · L+U · R+L+U+D 동시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동시 입력 동작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L 우선, U+D 무효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rst 후 대기 (2 s)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1 초 정확도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초 간격 = 1,000,000,000 ns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SET_MIN_1 에서 U · D (분 00)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경계값 분 00 ↔ 59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12:59 ↔ 12:00, 시 12 유지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CFD5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시.분 화면, set_sw2 = 1, L × 2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FND 점멸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rgbClr val="000000"/>
                          </a:solidFill>
                        </a:rPr>
                        <a:t>커서 자리 0.5 s 빈칸</a:t>
                      </a:r>
                    </a:p>
                  </a:txBody>
                  <a:tcPr marL="45720" marR="45720" marT="22860" marB="2286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sp>
        <p:nvSpPr>
          <p:cNvPr id="7" name="Group box 7"/>
          <p:cNvSpPr/>
          <p:nvPr/>
        </p:nvSpPr>
        <p:spPr>
          <a:xfrm>
            <a:off x="1330452" y="1463040"/>
            <a:ext cx="3950208" cy="448056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Group label 8"/>
          <p:cNvSpPr txBox="1"/>
          <p:nvPr/>
        </p:nvSpPr>
        <p:spPr>
          <a:xfrm>
            <a:off x="1330452" y="1508760"/>
            <a:ext cx="3950208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2200" b="1" dirty="0">
                <a:solidFill>
                  <a:srgbClr val="000000"/>
                </a:solidFill>
              </a:rPr>
              <a:t>Input Stimulus</a:t>
            </a:r>
          </a:p>
          <a:p>
            <a:pPr algn="ctr">
              <a:buNone/>
            </a:pPr>
            <a:r>
              <a:rPr lang="ko-KR" altLang="en-US" sz="2200" b="1" dirty="0">
                <a:solidFill>
                  <a:srgbClr val="000000"/>
                </a:solidFill>
              </a:rPr>
              <a:t>OP Check</a:t>
            </a:r>
          </a:p>
        </p:txBody>
      </p:sp>
      <p:sp>
        <p:nvSpPr>
          <p:cNvPr id="9" name="Group box 9"/>
          <p:cNvSpPr/>
          <p:nvPr/>
        </p:nvSpPr>
        <p:spPr>
          <a:xfrm>
            <a:off x="5353812" y="1463040"/>
            <a:ext cx="2670048" cy="44805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0" name="Group label 10"/>
          <p:cNvSpPr txBox="1"/>
          <p:nvPr/>
        </p:nvSpPr>
        <p:spPr>
          <a:xfrm>
            <a:off x="5353812" y="1508760"/>
            <a:ext cx="2670048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2600" b="1" dirty="0">
                <a:solidFill>
                  <a:srgbClr val="000000"/>
                </a:solidFill>
              </a:rPr>
              <a:t>Checklist</a:t>
            </a:r>
          </a:p>
        </p:txBody>
      </p:sp>
      <p:sp>
        <p:nvSpPr>
          <p:cNvPr id="11" name="Group box 11"/>
          <p:cNvSpPr/>
          <p:nvPr/>
        </p:nvSpPr>
        <p:spPr>
          <a:xfrm>
            <a:off x="8097012" y="1463040"/>
            <a:ext cx="3584448" cy="44805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12" name="Group label 12"/>
          <p:cNvSpPr txBox="1"/>
          <p:nvPr/>
        </p:nvSpPr>
        <p:spPr>
          <a:xfrm>
            <a:off x="8097012" y="1508760"/>
            <a:ext cx="3584448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ko-KR" altLang="en-US" sz="2600" b="1" dirty="0">
                <a:solidFill>
                  <a:srgbClr val="000000"/>
                </a:solidFill>
              </a:rPr>
              <a:t>Expectation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 band 3"/>
          <p:cNvSpPr/>
          <p:nvPr/>
        </p:nvSpPr>
        <p:spPr>
          <a:xfrm>
            <a:off x="365760" y="228600"/>
            <a:ext cx="11457432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Title 4"/>
          <p:cNvSpPr txBox="1"/>
          <p:nvPr/>
        </p:nvSpPr>
        <p:spPr>
          <a:xfrm>
            <a:off x="457200" y="41148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2800" b="1" dirty="0">
                <a:solidFill>
                  <a:srgbClr val="000000"/>
                </a:solidFill>
              </a:rPr>
              <a:t>3. Watch 시뮬레이션</a:t>
            </a:r>
          </a:p>
        </p:txBody>
      </p:sp>
      <p:sp>
        <p:nvSpPr>
          <p:cNvPr id="5" name="Subtitle 5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7F7F7F"/>
                </a:solidFill>
              </a:rPr>
              <a:t>시나리오 1 : '리셋 뒤 커서 FSM — R · L · U · D'</a:t>
            </a:r>
          </a:p>
        </p:txBody>
      </p:sp>
      <p:sp>
        <p:nvSpPr>
          <p:cNvPr id="6" name="TB name 6"/>
          <p:cNvSpPr txBox="1"/>
          <p:nvPr/>
        </p:nvSpPr>
        <p:spPr>
          <a:xfrm>
            <a:off x="8046720" y="502920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ko-KR" altLang="en-US" sz="1000" dirty="0">
                <a:solidFill>
                  <a:srgbClr val="7F7F7F"/>
                </a:solidFill>
              </a:rPr>
              <a:t>tb_wt_s1_cursor_fsm.sv</a:t>
            </a:r>
          </a:p>
        </p:txBody>
      </p:sp>
      <p:sp>
        <p:nvSpPr>
          <p:cNvPr id="7" name="Wave notes 7"/>
          <p:cNvSpPr txBox="1"/>
          <p:nvPr/>
        </p:nvSpPr>
        <p:spPr>
          <a:xfrm>
            <a:off x="548640" y="1417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set_sw2 = 0 : R · L · U · D tick 이 와도 NORMAL 유지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set_sw2 = 1 : SET_MIN_1 진입 → L 왼쪽 회전 / R 오른쪽 회전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U · D : 상태 그대로 (자기 루프), 커서 자리 값만 ±1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set_sw2 = 0 : NORMAL 복귀</a:t>
            </a:r>
          </a:p>
        </p:txBody>
      </p:sp>
      <p:sp>
        <p:nvSpPr>
          <p:cNvPr id="8" name="Waveform 8"/>
          <p:cNvSpPr/>
          <p:nvPr/>
        </p:nvSpPr>
        <p:spPr>
          <a:xfrm>
            <a:off x="457200" y="2423160"/>
            <a:ext cx="11274552" cy="374904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  <a:prstDash val="dash"/>
          </a:ln>
        </p:spPr>
        <p:txBody>
          <a:bodyPr rtlCol="0" anchor="ctr"/>
          <a:lstStyle/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파형 캡처 붙여넣기</a:t>
            </a:r>
          </a:p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tb_wt_s1_cursor_fsm_behav.wcfg · 전체 줌 0 ~ 190 ms · 마커 1 ~ 7 = 표 순서</a:t>
            </a:r>
          </a:p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번호 박스 · 화살표 주석은 체크 레퍼런스 받은 뒤 추가</a:t>
            </a:r>
          </a:p>
        </p:txBody>
      </p:sp>
      <p:sp>
        <p:nvSpPr>
          <p:cNvPr id="9" name="Caption 9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ko-KR" altLang="en-US" sz="1100" dirty="0">
                <a:solidFill>
                  <a:srgbClr val="C00000"/>
                </a:solidFill>
              </a:rPr>
              <a:t>Figure 1. Waveform result of cursor FSM after reset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 band 3"/>
          <p:cNvSpPr/>
          <p:nvPr/>
        </p:nvSpPr>
        <p:spPr>
          <a:xfrm>
            <a:off x="365760" y="228600"/>
            <a:ext cx="11457432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Title 4"/>
          <p:cNvSpPr txBox="1"/>
          <p:nvPr/>
        </p:nvSpPr>
        <p:spPr>
          <a:xfrm>
            <a:off x="457200" y="41148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2800" b="1" dirty="0">
                <a:solidFill>
                  <a:srgbClr val="000000"/>
                </a:solidFill>
              </a:rPr>
              <a:t>3. Watch 시뮬레이션</a:t>
            </a:r>
          </a:p>
        </p:txBody>
      </p:sp>
      <p:sp>
        <p:nvSpPr>
          <p:cNvPr id="5" name="Subtitle 5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7F7F7F"/>
                </a:solidFill>
              </a:rPr>
              <a:t>시나리오 2 : 'R · L · U · D 동시 입력'</a:t>
            </a:r>
          </a:p>
        </p:txBody>
      </p:sp>
      <p:sp>
        <p:nvSpPr>
          <p:cNvPr id="6" name="TB name 6"/>
          <p:cNvSpPr txBox="1"/>
          <p:nvPr/>
        </p:nvSpPr>
        <p:spPr>
          <a:xfrm>
            <a:off x="8046720" y="502920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ko-KR" altLang="en-US" sz="1000" dirty="0">
                <a:solidFill>
                  <a:srgbClr val="7F7F7F"/>
                </a:solidFill>
              </a:rPr>
              <a:t>tb_wt_s2_btn_simul.sv</a:t>
            </a:r>
          </a:p>
        </p:txBody>
      </p:sp>
      <p:sp>
        <p:nvSpPr>
          <p:cNvPr id="7" name="Wave notes 7"/>
          <p:cNvSpPr txBox="1"/>
          <p:nvPr/>
        </p:nvSpPr>
        <p:spPr>
          <a:xfrm>
            <a:off x="548640" y="1417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버튼을 같은 순간에 눌러 tick 이 같은 클럭에 겹치게 함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L + R → L 우선 (SET_MIN_1 → SET_MIN_10)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U + D → 무효 (o_wt_up · o_wt_down 모두 0)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L + U → 이동 + 분 +10 같은 클럭 / 4 개 동시 → L 이동만</a:t>
            </a:r>
          </a:p>
        </p:txBody>
      </p:sp>
      <p:sp>
        <p:nvSpPr>
          <p:cNvPr id="8" name="Waveform 8"/>
          <p:cNvSpPr/>
          <p:nvPr/>
        </p:nvSpPr>
        <p:spPr>
          <a:xfrm>
            <a:off x="457200" y="2423160"/>
            <a:ext cx="11274552" cy="374904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  <a:prstDash val="dash"/>
          </a:ln>
        </p:spPr>
        <p:txBody>
          <a:bodyPr rtlCol="0" anchor="ctr"/>
          <a:lstStyle/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파형 캡처 붙여넣기</a:t>
            </a:r>
          </a:p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tb_wt_s2_btn_simul_behav.wcfg · 전체 줌 0 ~ 50 ms · 마커 1 ~ 5 = 표 순서</a:t>
            </a:r>
          </a:p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번호 박스 · 화살표 주석은 체크 레퍼런스 받은 뒤 추가</a:t>
            </a:r>
          </a:p>
        </p:txBody>
      </p:sp>
      <p:sp>
        <p:nvSpPr>
          <p:cNvPr id="9" name="Caption 9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ko-KR" altLang="en-US" sz="1100" dirty="0">
                <a:solidFill>
                  <a:srgbClr val="C00000"/>
                </a:solidFill>
              </a:rPr>
              <a:t>Figure 2. Waveform result of simultaneous button 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 band 3"/>
          <p:cNvSpPr/>
          <p:nvPr/>
        </p:nvSpPr>
        <p:spPr>
          <a:xfrm>
            <a:off x="365760" y="228600"/>
            <a:ext cx="11457432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Title 4"/>
          <p:cNvSpPr txBox="1"/>
          <p:nvPr/>
        </p:nvSpPr>
        <p:spPr>
          <a:xfrm>
            <a:off x="457200" y="41148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2800" b="1" dirty="0">
                <a:solidFill>
                  <a:srgbClr val="000000"/>
                </a:solidFill>
              </a:rPr>
              <a:t>3. Watch 시뮬레이션</a:t>
            </a:r>
          </a:p>
        </p:txBody>
      </p:sp>
      <p:sp>
        <p:nvSpPr>
          <p:cNvPr id="5" name="Subtitle 5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7F7F7F"/>
                </a:solidFill>
              </a:rPr>
              <a:t>시나리오 3 : '1 초 = 실제 1 초'</a:t>
            </a:r>
          </a:p>
        </p:txBody>
      </p:sp>
      <p:sp>
        <p:nvSpPr>
          <p:cNvPr id="6" name="TB name 6"/>
          <p:cNvSpPr txBox="1"/>
          <p:nvPr/>
        </p:nvSpPr>
        <p:spPr>
          <a:xfrm>
            <a:off x="8046720" y="502920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ko-KR" altLang="en-US" sz="1000" dirty="0">
                <a:solidFill>
                  <a:srgbClr val="7F7F7F"/>
                </a:solidFill>
              </a:rPr>
              <a:t>tb_wt_s3_one_sec.sv</a:t>
            </a:r>
          </a:p>
        </p:txBody>
      </p:sp>
      <p:sp>
        <p:nvSpPr>
          <p:cNvPr id="7" name="Wave notes 7"/>
          <p:cNvSpPr txBox="1"/>
          <p:nvPr/>
        </p:nvSpPr>
        <p:spPr>
          <a:xfrm>
            <a:off x="548640" y="1417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리셋 뒤 버튼 · 프리로드 없이 대기 (시계는 항상 흐름)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o_tick_10ms : 10 ms 마다 1 펄스 (100 MHz × 1,000,000)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tick 100 개 → o_wt_msec 99 → 00, o_wt_sec +1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마커 3 → 4 간격 = 1.000000000 s</a:t>
            </a:r>
          </a:p>
        </p:txBody>
      </p:sp>
      <p:sp>
        <p:nvSpPr>
          <p:cNvPr id="8" name="Waveform 8"/>
          <p:cNvSpPr/>
          <p:nvPr/>
        </p:nvSpPr>
        <p:spPr>
          <a:xfrm>
            <a:off x="457200" y="2423160"/>
            <a:ext cx="11274552" cy="374904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  <a:prstDash val="dash"/>
          </a:ln>
        </p:spPr>
        <p:txBody>
          <a:bodyPr rtlCol="0" anchor="ctr"/>
          <a:lstStyle/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파형 캡처 붙여넣기</a:t>
            </a:r>
          </a:p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tb_wt_s3_one_sec_behav.wcfg · 전체 줌 0 ~ 2.05 s · 마커 1 ~ 4 = 표 순서</a:t>
            </a:r>
          </a:p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번호 박스 · 화살표 주석은 체크 레퍼런스 받은 뒤 추가</a:t>
            </a:r>
          </a:p>
        </p:txBody>
      </p:sp>
      <p:sp>
        <p:nvSpPr>
          <p:cNvPr id="9" name="Caption 9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ko-KR" altLang="en-US" sz="1100" dirty="0">
                <a:solidFill>
                  <a:srgbClr val="C00000"/>
                </a:solidFill>
              </a:rPr>
              <a:t>Figure 3. Waveform result of 1 s accuracy after reset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 band 3"/>
          <p:cNvSpPr/>
          <p:nvPr/>
        </p:nvSpPr>
        <p:spPr>
          <a:xfrm>
            <a:off x="365760" y="228600"/>
            <a:ext cx="11457432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Title 4"/>
          <p:cNvSpPr txBox="1"/>
          <p:nvPr/>
        </p:nvSpPr>
        <p:spPr>
          <a:xfrm>
            <a:off x="457200" y="41148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2800" b="1" dirty="0">
                <a:solidFill>
                  <a:srgbClr val="000000"/>
                </a:solidFill>
              </a:rPr>
              <a:t>3. Watch 시뮬레이션</a:t>
            </a:r>
          </a:p>
        </p:txBody>
      </p:sp>
      <p:sp>
        <p:nvSpPr>
          <p:cNvPr id="5" name="Subtitle 5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7F7F7F"/>
                </a:solidFill>
              </a:rPr>
              <a:t>시나리오 4 : '경계값 — 분 00 ↔ 59 (U · D)'</a:t>
            </a:r>
          </a:p>
        </p:txBody>
      </p:sp>
      <p:sp>
        <p:nvSpPr>
          <p:cNvPr id="6" name="TB name 6"/>
          <p:cNvSpPr txBox="1"/>
          <p:nvPr/>
        </p:nvSpPr>
        <p:spPr>
          <a:xfrm>
            <a:off x="8046720" y="502920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ko-KR" altLang="en-US" sz="1000" dirty="0">
                <a:solidFill>
                  <a:srgbClr val="7F7F7F"/>
                </a:solidFill>
              </a:rPr>
              <a:t>tb_wt_s4_min_boundary.sv</a:t>
            </a:r>
          </a:p>
        </p:txBody>
      </p:sp>
      <p:sp>
        <p:nvSpPr>
          <p:cNvPr id="7" name="Wave notes 7"/>
          <p:cNvSpPr txBox="1"/>
          <p:nvPr/>
        </p:nvSpPr>
        <p:spPr>
          <a:xfrm>
            <a:off x="548640" y="1417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리셋값 12:00, 커서 = 분 일의 자리 (SET_MIN_1)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보통 : U → 12:01, D → 12:00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경계 : D → 12:59, U → 12:00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o_wt_hour 12 고정, min_carry 없음 → 올림 · 내림 없음</a:t>
            </a:r>
          </a:p>
        </p:txBody>
      </p:sp>
      <p:sp>
        <p:nvSpPr>
          <p:cNvPr id="8" name="Waveform 8"/>
          <p:cNvSpPr/>
          <p:nvPr/>
        </p:nvSpPr>
        <p:spPr>
          <a:xfrm>
            <a:off x="457200" y="2423160"/>
            <a:ext cx="11274552" cy="374904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  <a:prstDash val="dash"/>
          </a:ln>
        </p:spPr>
        <p:txBody>
          <a:bodyPr rtlCol="0" anchor="ctr"/>
          <a:lstStyle/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파형 캡처 붙여넣기</a:t>
            </a:r>
          </a:p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tb_wt_s4_min_boundary_behav.wcfg · 전체 줌 0 ~ 50 ms · 마커 1 ~ 5 = 표 순서</a:t>
            </a:r>
          </a:p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번호 박스 · 화살표 주석은 체크 레퍼런스 받은 뒤 추가</a:t>
            </a:r>
          </a:p>
        </p:txBody>
      </p:sp>
      <p:sp>
        <p:nvSpPr>
          <p:cNvPr id="9" name="Caption 9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ko-KR" altLang="en-US" sz="1100" dirty="0">
                <a:solidFill>
                  <a:srgbClr val="C00000"/>
                </a:solidFill>
              </a:rPr>
              <a:t>Figure 4. Waveform result of minute boundary 00 ↔ 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 band 3"/>
          <p:cNvSpPr/>
          <p:nvPr/>
        </p:nvSpPr>
        <p:spPr>
          <a:xfrm>
            <a:off x="365760" y="228600"/>
            <a:ext cx="11457432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Title 4"/>
          <p:cNvSpPr txBox="1"/>
          <p:nvPr/>
        </p:nvSpPr>
        <p:spPr>
          <a:xfrm>
            <a:off x="457200" y="41148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2800" b="1" dirty="0">
                <a:solidFill>
                  <a:srgbClr val="000000"/>
                </a:solidFill>
              </a:rPr>
              <a:t>3. Watch 시뮬레이션</a:t>
            </a:r>
          </a:p>
        </p:txBody>
      </p:sp>
      <p:sp>
        <p:nvSpPr>
          <p:cNvPr id="5" name="Subtitle 5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7F7F7F"/>
                </a:solidFill>
              </a:rPr>
              <a:t>시나리오 5 : 'FND 점멸 — 설정 중 커서 자리'</a:t>
            </a:r>
          </a:p>
        </p:txBody>
      </p:sp>
      <p:sp>
        <p:nvSpPr>
          <p:cNvPr id="6" name="TB name 6"/>
          <p:cNvSpPr txBox="1"/>
          <p:nvPr/>
        </p:nvSpPr>
        <p:spPr>
          <a:xfrm>
            <a:off x="8046720" y="502920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ko-KR" altLang="en-US" sz="1000" dirty="0">
                <a:solidFill>
                  <a:srgbClr val="7F7F7F"/>
                </a:solidFill>
              </a:rPr>
              <a:t>tb_wt_s5_fnd_blink.sv</a:t>
            </a:r>
          </a:p>
        </p:txBody>
      </p:sp>
      <p:sp>
        <p:nvSpPr>
          <p:cNvPr id="7" name="Wave notes 7"/>
          <p:cNvSpPr txBox="1"/>
          <p:nvPr/>
        </p:nvSpPr>
        <p:spPr>
          <a:xfrm>
            <a:off x="548640" y="1417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시.분 화면 · 설정 중 o_wt_msec ≥ 50 이면 커서 자리만 빈칸 (0.5 s)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커서 0 → 1 → 2 : AN0 → AN1 → AN2 점멸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"12.0_" → "12._0" → "1_.00"</a:t>
            </a:r>
          </a:p>
          <a:p>
            <a:pPr algn="l" marL="285750" indent="-285750">
              <a:buFont typeface="Arial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set_sw2 = 0 → 점멸 해제, "12.00" 고정</a:t>
            </a:r>
          </a:p>
        </p:txBody>
      </p:sp>
      <p:sp>
        <p:nvSpPr>
          <p:cNvPr id="8" name="Waveform 8"/>
          <p:cNvSpPr/>
          <p:nvPr/>
        </p:nvSpPr>
        <p:spPr>
          <a:xfrm>
            <a:off x="457200" y="2423160"/>
            <a:ext cx="11274552" cy="374904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  <a:prstDash val="dash"/>
          </a:ln>
        </p:spPr>
        <p:txBody>
          <a:bodyPr rtlCol="0" anchor="ctr"/>
          <a:lstStyle/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파형 캡처 붙여넣기</a:t>
            </a:r>
          </a:p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tb_wt_s5_fnd_blink_behav.wcfg · 전체 줌 0 ~ 4 s · 마커 1 ~ 4 = 표 순서</a:t>
            </a:r>
          </a:p>
          <a:p>
            <a:pPr algn="ctr"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번호 박스 · 화살표 주석은 체크 레퍼런스 받은 뒤 추가</a:t>
            </a:r>
          </a:p>
        </p:txBody>
      </p:sp>
      <p:sp>
        <p:nvSpPr>
          <p:cNvPr id="9" name="Caption 9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ko-KR" altLang="en-US" sz="1100" dirty="0">
                <a:solidFill>
                  <a:srgbClr val="C00000"/>
                </a:solidFill>
              </a:rPr>
              <a:t>Figure 5. Waveform result of FND blink in set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540</Words>
  <Application>Microsoft Office PowerPoint</Application>
  <PresentationFormat>와이드스크린</PresentationFormat>
  <Paragraphs>117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4</cp:revision>
  <dcterms:created xsi:type="dcterms:W3CDTF">2026-10-17T08:11:08Z</dcterms:created>
  <dcterms:modified xsi:type="dcterms:W3CDTF">2026-10-17T17:19:29Z</dcterms:modified>
</cp:coreProperties>
</file>