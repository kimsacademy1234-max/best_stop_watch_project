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7" r:id="rId2"/>
    <p:sldId id="258" r:id="rId3"/>
    <p:sldId id="259" r:id="rId4"/>
    <p:sldId id="261" r:id="rId5"/>
    <p:sldId id="262" r:id="rId6"/>
    <p:sldId id="265" r:id="rId7"/>
    <p:sldId id="266" r:id="rId8"/>
    <p:sldId id="267" r:id="rId9"/>
    <p:sldId id="268" r:id="rId10"/>
    <p:sldId id="269" r:id="rId11"/>
    <p:sldId id="256" r:id="rId12"/>
    <p:sldId id="272" r:id="rId13"/>
    <p:sldId id="273" r:id="rId14"/>
    <p:sldId id="274" r:id="rId15"/>
    <p:sldId id="275" r:id="rId16"/>
    <p:sldId id="276" r:id="rId17"/>
    <p:sldId id="260" r:id="rId18"/>
    <p:sldId id="270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63" r:id="rId27"/>
    <p:sldId id="264" r:id="rId28"/>
    <p:sldId id="284" r:id="rId29"/>
    <p:sldId id="288" r:id="rId30"/>
    <p:sldId id="285" r:id="rId31"/>
    <p:sldId id="289" r:id="rId32"/>
    <p:sldId id="290" r:id="rId33"/>
    <p:sldId id="286" r:id="rId34"/>
    <p:sldId id="287" r:id="rId35"/>
    <p:sldId id="292" r:id="rId36"/>
    <p:sldId id="293" r:id="rId37"/>
    <p:sldId id="294" r:id="rId38"/>
    <p:sldId id="291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864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F9404-0AAD-4DA9-BE77-553DABDF5FFE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48BE3-5186-4E09-A6C0-A5DA018F1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058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약 40초]</a:t>
            </a:r>
          </a:p>
          <a:p>
            <a:r>
              <a:t>제가 맡은 부분은 스톱워치의 LAP 기능 추가입니다. 측정 중 특정 순간의 시간을 확인할 수 있도록 구현했습니다. D 버튼을 누르면 당시 시간을 저장해서 표시하고, 다시 누르면 현재 측정 중인 시간으로 돌아옵니다. 이 과정에서도 내부 시간 측정은 계속됩니다. 이어서 제가 추가한 코드와 두 가지 검증 결과를 설명하겠습니다.</a:t>
            </a:r>
          </a:p>
          <a:p>
            <a:r>
              <a:t>출처: 사용자가 제공한 lap_controller Verilog 코드.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약 1분]</a:t>
            </a:r>
          </a:p>
          <a:p>
            <a:r>
              <a:t>버튼 입력이 들어오면 lap_enable을 반전시켜 LAP 상태를 전환합니다. if (!lap_enable)은 상태가 바뀌기 전 값을 확인합니다. 논블로킹 대입을 사용하므로 이 클럭에서 조건을 판단할 때는 기존 상태를 봅니다. 따라서 LAP이 꺼져 있을 때 버튼을 누른 경우에만 현재 시간을 저장합니다. 해제할 때는 저장값을 바꾸지 않습니다.</a:t>
            </a:r>
          </a:p>
          <a:p>
            <a:r>
              <a:t>오른쪽 출력 부분에서는 LAP 상태에 따라 저장값과 현재 카운터 값 중 하나를 선택합니다. 여기에는 1/100초 출력만 대표로 제시했고, 초와 분, 시도 같은 방식입니다. 화면에 내보낼 값만 선택하므로 내부 카운터는 별도로 계속 동작합니다. Reset 또는 Clear가 들어오면 LAP 상태와 저장값을 초기화하도록 구현했습니다.</a:t>
            </a:r>
          </a:p>
          <a:p>
            <a:r>
              <a:t>출처: 사용자가 제공한 lap_controller Verilog 코드. 코드 일부 발췌. Reset/Clear 동작은 코드 설명이며 다음 두 파형의 검증 범위에는 포함하지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약 1분 10초]</a:t>
            </a:r>
          </a:p>
          <a:p>
            <a:r>
              <a:t>첫 번째는 LAP 설정 검증입니다. 측정 중 D 버튼을 누르고, 당시 값이 저장되는지와 이후 표시값이 유지되는지를 확인했습니다.</a:t>
            </a:r>
          </a:p>
          <a:p>
            <a:r>
              <a:t>먼저 입력 전을 보면 내부 카운터와 출력값, 표시값이 18, 19, 20으로 함께 증가합니다. ① 약 212 ms에서 버튼 입력이 처리되면 LAP 상태가 0에서 1로 바뀝니다. ② 이때 현재 카운터 값인 21이 save_msec에 저장됩니다. ③ 이후 내부 카운터는 22부터 26까지 계속 증가합니다. 반면 저장값과 출력값, 화면에 전달되는 값은 21을 유지합니다.</a:t>
            </a:r>
          </a:p>
          <a:p>
            <a:r>
              <a:t>여기서 i_cnt_msec는 내부 카운터, save_msec는 저장값, o_sw_msec는 LAP 컨트롤러 출력, w_disp_msec는 화면에 전달되는 값입니다. 따라서 LAP이 시간 측정을 멈추는 것이 아니라 저장한 시간을 표시하도록 동작하는 것을 확인했습니다.</a:t>
            </a:r>
          </a:p>
          <a:p>
            <a:r>
              <a:t>출처: C:/Users/kccistc/AppData/Local/Temp/codex-clipboard-4ff90817-60ed-4225-8add-a08a6c48a9ae.png (사용자 원본 파형). 이 파일에는 파형 이미지를 포함하지 않음. 안내 상자 위치에 사용자가 해당 원본 캡처를 삽입.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약 1분 30초]</a:t>
            </a:r>
          </a:p>
          <a:p>
            <a:r>
              <a:t>두 번째는 별도 구간에서 확인한 LAP 해제 검증입니다. 시나리오는 저장값 11을 표시하는 상태에서 D 버튼을 다시 누르는 것입니다.</a:t>
            </a:r>
          </a:p>
          <a:p>
            <a:r>
              <a:t>해제 전에는 내부 카운터가 15, 16, 17로 증가해도 표시값은 11로 유지됩니다. ① 약 492 ms에서 버튼 입력 후 LAP 상태가 0으로 바뀝니다. ② 저장값 11은 그대로 남아 있습니다. 앞서 설명한 코드에서 해제할 때는 저장하지 않기 때문입니다. ③ 출력과 화면 표시값은 현재 카운터 값인 17로 바뀝니다. 즉 저장값을 지운 것이 아니라 출력에서 선택하는 값이 바뀐 것입니다.</a:t>
            </a:r>
          </a:p>
          <a:p>
            <a:r>
              <a:t>이 결과는 LAP 상태에 따라 저장값과 현재 값 중 하나를 선택하도록 작성한 코드와 일치합니다. 두 검증을 통해 LAP 설정 시 시간 저장과 표시 유지, 해제 시 현재 값 복귀를 확인했습니다.</a:t>
            </a:r>
          </a:p>
          <a:p>
            <a:r>
              <a:t>출처: C:/Users/kccistc/AppData/Local/Temp/codex-clipboard-b4f65bb5-0ae2-4743-a09e-adb0cd93a7b6.png (사용자 원본 파형). 이 파일에는 파형 이미지를 포함하지 않음. 안내 상자 위치에 사용자가 해당 원본 캡처를 삽입. 첫 번째 파형과는 별도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타이머 파트 맡은 정보윤입니다. 타이머는 상태가 셋입니다. SET 에서 U · R · D 로 10초, 1분, 10분을 더하고, 최대는 59분 59초입니다. L 을 누르면 RUN 으로 가서 10 ms 마다 줄어들고, 0 이 되면 ALARM 이 되어 LED 16개가 0.5초 간격으로 깜빡입니다. 알람은 아무 버튼이나 누르면 꺼지고, RUN 중에 L 을 누르면 취소입니다.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구조는 수업에서 배운 대로 컨트롤 유닛과 데이터패스로 나눴습니다. 버튼은 디바운서와 화면 게이팅을 거쳐 타이머 FSM 으로 들어가고, FSM 이 run · clear · add 를 내보내면 데이터패스가 값을 바꿉니다. 값이 0 이 되면 o_tm_zero 가 FSM 으로 되돌아가 ALARM 이 됩니다. 1/100초 박자는 타이머 전용 tick 생성기가 RUN 순간부터 셉니다 — 이건 뒤 트러블슈팅에서 나온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검증은 TB 세 개로 했습니다. 더하기와 상한, 실제 10초 카운트다운과 알람, 취소와 백그라운드입니다. 각 TB 가 기대값과 실제값을 비교해서 콘솔에 FAIL 이나 PASS 를 찍게 해서, 검사 73개가 전부 PASS 입니다. 팀 TB 가 SystemVerilog 라 수업에서 배운 Verilog 문법으로도 옮겨 돌려 봤고, 결과가 같았습니다. 다음부터 핵심 장면을 파형으로 보여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를 누를 때마다 o_tm_add 펄스가 나오고 초가 10씩 늘어납니다. 여섯 번째에 50초 더하기 10초는 60초가 아니라 1분 0초가 됩니다. 아래 확대를 보면 add 펄스 다음 클럭에 분과 초가 동시에 바뀝니다.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화면이 분.초 네 자리라 60분 이상은 보여 줄 수 없습니다. 그래서 더한 결과가 60분 이상이면 59분 59초로 멈추게 했고, 59분 50초에서 U 를 눌렀을 때 59분 59초에서 멈추는 걸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10초를 설정하고 시작하면 1초마다 줄어서 0 이 되는 순간 ALARM 이 됩니다. 시작부터 알람까지 간격이 10초 하고 20 나노초인데, 20 나노초는 tick 에서 감소, 감소에서 알람까지 두 클럭입니다. 이 숫자가 처음에는 10초가 아니었는데, 뒤에서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알람 중에는 LED 16개가 0.5초 켜지고 0.5초 꺼집니다. 박자는 새로 만들지 않고 시계의 1/100초가 50 이상인지로 정했습니다. 아래 확대처럼 시계 값이 49 에서 50 이 되는 클럭에 LED 가 켜집니다.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거꾸로 셀 때 1/100초가 0 이면 99 로 가고 윗자리에서 하나를 빌립니다. 1분 0초에서 0분 59.99초로, 10분에서 9분 59.99초로 넘어가는 걸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타이머를 켜 놓고 시계 화면으로 바꿔도 타이머는 뒤에서 계속 갑니다. 0 이 되면 시계 화면인 채로 알람 LED 가 깜빡입니다. 화면만 바꾸는 거지 타이머를 멈추는 게 아니어서입니다.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타이머 스위치와 스톱워치 스위치가 둘 다 올라가 있으면 타이머 화면이 우선입니다. 이때 R 은 원래 1분 더하기지만, 알람 중에는 알람만 끄고 값은 더하지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마지막으로, MISMATCH 0 이 검사가 엉성해서 나온 0 이 아닌지 확인했습니다. 설계 복사본에 일부러 bug 를 넣었습니다. 59분 59초 상한을 지우니 TM1 이 60분을 FAIL 로 잡았고, RUN 중에 U 로 10초가 더해지게 바꾸니 TM3 가 FAIL 로 잡았습니다. 원래 설계는 0 이라 TB 를 믿을 수 있습니다. 이상입니다.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트러블슈팅입니다. 처음에는 자원을 아끼려고 1/100초 tick 하나를 시계, 스톱워치, 타이머가 같이 썼습니다. 그랬더니 10초 타이머가 9.998초에 울렸습니다. 시계는 리셋부터 계속 돌아서 상관없지만, 타이머는 누른 순간이 0 이어야 합니다. 공유 tick 은 이미 돌고 있어서, 시작 순간이 tick 사이 어디냐에 따라 첫 감소가 8, 5, 2 ms 로 달라졌습니다.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해결책은 네 가지 구조를 같은 조건에서 합성하고 같은 TB 로 돌려 비교했습니다. 교수님 수업 방식은 정확하지만 자원이 가장 많고, 기존 팀 판은 자원이 적지만 시작이 최대 10 ms 어긋납니다. 그래서 ④, 디바운서용 4 kHz 는 그대로 공유하고 시간을 세는 100 Hz 만 기능마다 따로 두었습니다. 기존보다 FF 42개가 늘었지만 교수님 방식보다는 64개 적고 정확도는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결과입니다. 같은 TB 로 9.998초가 10초 20 나노초가 되었습니다. 20 나노초는 오차가 아니라 tick 에서 값이 0 이 되는 데 한 클럭, 0 을 보고 FSM 이 ALARM 으로 가는 데 한 클럭, 이렇게 레지스터 두 단을 지나는 고정 지연이라 언제 시작해도 똑같습니다. 고친 뒤 검증을 더 하다가 클럭 단위로 남은 두 가지를 찾았습니다. 알람 뒤 다시 시작하면 20 나노초 일찍 시작하던 것, 스톱워치를 tick 이 나오는 바로 그 클럭에 멈추면 1/100초 하나를 잃던 것입니다. 둘 다 고치기 전 소스에서는 FAIL, 고친 뒤에는 PASS 로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트러블슈팅입니다. 수업 때처럼 디바운서를 1 MHz 로 샘플했더니, 보드에서 R 을 한 번 눌렀는데 STOP, RUN, STOP 으로 두 번 바뀌거나 시계 설정에서 숫자가 2씩 바뀌는 일이 생겼습니다. 원인은 왼쪽 그림입니다. 버튼 접점은 누르는 순간 수백 마이크로초에서 수 밀리초 동안 튀는데, 1 MHz 로 8번 샘플하면 8 마이크로초만 1 이어도 눌림으로 인정해서, 튀는 조각마다 펄스가 나옵니다. 그래서 샘플 박자를 4 kHz 로 낮췄습니다. 그러면 8번 연속 1 이 되려면 2 ms 동안 계속 눌려 있어야 해서 튐이 걸러집니다. 그리고 같은 4 kHz 를 FND 스캔에도 써서, 8칸 한 바퀴가 2 ms 로 Basys-3 설명서 권장 범위 1~16 ms 안에 들어갑니다. 분주기 하나로 두 가지를 해결했습니다. 결과는 아래 표처럼 같은 튀는 입력 20번에 1 MHz 판은 펄스가 여러 개, 4 kHz 판은 정확히 20개였습니다. 대가는 반응이 2 ms 늦어지는 것인데 사람은 느끼지 못합니다. (→ 정보윤) 두 번째 트러블슈팅은 정보윤이 설명하겠습니다.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결론입니다. 처음 목표로 잡은 기본 기능과 추가 기능을 모두 구현했고, 왼쪽 표처럼 기능마다 Top 테스트벤치로 자동 판정해서 모두 통과했습니다, 보드에서도 같은 동작을 확인했습니다. 자원은 LUT 337개, 플립플롭 228개로 칩의 2% 미만이고, 100 MHz 에서 타이밍 여유가 3.785 나노초입니다. 고찰입니다. 첫째, 4 kHz 펄스를 클럭처럼 써서 Vivado 경고가 35개 남았습니다. enable 방식으로 바꾸면 0 개가 되는 것을 비교용 판에서 확인했고 다음 프로젝트에 적용하겠습니다. 둘째, 디바운서는 8번 연속 1 만 보기 때문에 누른 채 잠깐 끊기면 두 번 인식될 수 있습니다. 셋째, 버튼 두 개를 같은 클럭에 누르면 우선순위로 처리하는데, 이걸 사양으로 먼저 정했어야 했습니다. 마지막으로, 하루짜리 경계는 초기값을 넣어 확인했기 때문에 실제 24시간 흐름은 보드로만 볼 수 있습니다. 이상으로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나오면 쓰는 부록입니다. 테스트벤치 열한 개의 검사 수와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947C39-4AB0-B227-9EF3-438C73E71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AA64DD-A98D-CAB3-362C-86777DE6D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3C5E90-05E8-227B-F86E-64BE6C95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0414B6-97FD-3E7A-1921-45A85695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494DD5-1B4E-82F6-80AE-5D8B72E22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05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1561F-A9AD-507A-9154-23B4A140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DC05A9-AB37-645F-9449-AE1D445C7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72345-1DB6-70F0-32DD-5F8F99F2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C0D9C1-73E7-7E06-294F-19D50620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DAA3B6-94E4-B1EE-1511-BFCADA41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67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CD38F-3E92-2F44-90A6-8C12C3FC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ECA05D-DBE7-C4D7-646F-451952AC5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0FE0E7-B0F1-137E-220E-E7D482C5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95744A-E6A0-3DD2-D512-AB67A7D7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F87DF1-4B0B-E7EF-EA6D-818629EA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177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F7330-B305-316F-33B5-249103DC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C9177-A29F-5DFA-61F7-85C17EAD0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4469B2-212A-8EFD-4751-6CED58DF2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233CF4-383D-1DBE-91C2-21C89763C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774346-0AC0-EB8A-47B7-C438CA45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1A6CEE-4922-9A2C-2226-D8AFB3D8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739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BF080-D1B2-5FB4-FA72-0F6DE8733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545706-4B69-5D44-E67E-363E9112B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63F797-2D8D-99F5-8A1E-B5BA03004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AA6211-4E5D-647E-A3E9-3586332DD8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414BC6-5E68-7A18-971F-DED9FDF37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96E7E7-FD45-2345-C4EA-CEB8BF1C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7AB344-31D5-E996-2EA8-1E1FC673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59431A-B74F-6984-4E67-54AD19E3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453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8E03C-3EA2-4AF6-7AE2-075286EB0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EA481F-CB62-55CE-7B23-DF5D9BD5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CBB981-CE17-8B5C-19DF-6110F9667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699AFE-5A21-7B10-DCF7-B5C017A4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386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203D59-070D-ABD6-C33A-2DB7880A1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5E0CAA-C9B0-0644-3967-616B7773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28B75F-869A-62D8-70CE-407DDF40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478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C6D38-9039-7451-21FC-1F27B5466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5B86ED-4FBC-8568-DD8C-D73F23A30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B47D2C-70A3-EFB9-808D-7D0C6E94F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D2FAAA-B822-9B7D-E316-D011E55D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8DF167-57A5-100A-834E-FFE44875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C318AE-EDBB-6311-9659-E4B49A006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21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2F9021-3717-5CC0-AB6A-C16A446B6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5D3722-AC0F-6828-2F96-620F59AEF5D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2A3036-6BA8-24C1-2FD6-C01D257DB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D4D40E-A0E4-6CB2-DF7D-9836E20D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18B2BF-EDC0-A30E-9848-DD40CEB7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0BB613-5D1C-4335-3AE4-E07835DA7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93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83A47-EC2A-C126-6EFB-DB0BEB4A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EE953E-1B6E-3C9F-1CAB-4255188AE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FFABE0-1B4F-DAFC-FC64-59EF6711D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F2AC1-9DA6-4B19-C976-CDD2A0E3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1C3196-81DB-8304-3F4F-AD496977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24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204D4A-B77B-4163-B3C9-DB001CC0C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9F55E5-40AC-DF40-76EF-E453312E8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294490-32D7-F0FF-E848-805C04D8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742D0-5B4E-D162-2A6A-F6EFE207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EC4060-E411-E21F-E67D-2678B8F8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06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256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2FAB0D-856F-B4A2-5173-9D7B80757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77BD12-DC8B-4FB9-7701-CDC29FF6F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B7F776-3D6F-C202-9A31-B20F8F9A3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3421B3-9F71-E1FE-C8B0-E243011E2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DE412E-C07C-9FA9-1333-D26162666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381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3A748-2E6F-28BB-8B19-46B898EF7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11B13D-A88F-771F-9C6A-55F900404990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61230-82FB-9AD8-C628-6465A197ACA1}"/>
              </a:ext>
            </a:extLst>
          </p:cNvPr>
          <p:cNvSpPr txBox="1"/>
          <p:nvPr/>
        </p:nvSpPr>
        <p:spPr>
          <a:xfrm>
            <a:off x="5978852" y="265044"/>
            <a:ext cx="628153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ppt </a:t>
            </a:r>
            <a:r>
              <a:rPr lang="ko-KR" altLang="en-US" sz="1100"/>
              <a:t>제작에 앞서 전체 개요 설명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1. </a:t>
            </a:r>
            <a:r>
              <a:rPr lang="ko-KR" altLang="en-US" sz="1100"/>
              <a:t>모든 참조 파일은 </a:t>
            </a:r>
            <a:r>
              <a:rPr lang="en-US" altLang="ko-KR" sz="1100"/>
              <a:t>verification_v2 </a:t>
            </a:r>
            <a:r>
              <a:rPr lang="ko-KR" altLang="en-US" sz="1100"/>
              <a:t>폴더에서 찾는다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2. </a:t>
            </a:r>
            <a:r>
              <a:rPr lang="ko-KR" altLang="en-US" sz="1100"/>
              <a:t>참조 파일을 그대로 쓰지 않고 재구성해야한다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3.</a:t>
            </a:r>
            <a:r>
              <a:rPr lang="ko-KR" altLang="en-US" sz="1100"/>
              <a:t> 내가 지정해준 목차를 그대로 쓰지 않는다</a:t>
            </a:r>
            <a:r>
              <a:rPr lang="en-US" altLang="ko-KR" sz="1100"/>
              <a:t>. </a:t>
            </a:r>
            <a:r>
              <a:rPr lang="ko-KR" altLang="en-US" sz="1100"/>
              <a:t>해당 슬라이드의 컨셉에 맞게 </a:t>
            </a:r>
            <a:endParaRPr lang="en-US" altLang="ko-KR" sz="1100"/>
          </a:p>
          <a:p>
            <a:r>
              <a:rPr lang="ko-KR" altLang="en-US" sz="1100"/>
              <a:t>알맞은 제목과 내용을 구성해야함</a:t>
            </a:r>
            <a:endParaRPr lang="en-US" altLang="ko-KR" sz="1100"/>
          </a:p>
          <a:p>
            <a:r>
              <a:rPr lang="en-US" altLang="ko-KR" sz="1100"/>
              <a:t>4. ppt </a:t>
            </a:r>
            <a:r>
              <a:rPr lang="ko-KR" altLang="en-US" sz="1100"/>
              <a:t>제작 시 유의 사항은 </a:t>
            </a:r>
            <a:r>
              <a:rPr lang="en-US" altLang="ko-KR" sz="1100"/>
              <a:t>.md </a:t>
            </a:r>
            <a:r>
              <a:rPr lang="ko-KR" altLang="en-US" sz="1100"/>
              <a:t>파일을 참조</a:t>
            </a:r>
            <a:endParaRPr lang="en-US" altLang="ko-KR" sz="1100"/>
          </a:p>
          <a:p>
            <a:r>
              <a:rPr lang="en-US" altLang="ko-KR" sz="1100"/>
              <a:t>5. ppt </a:t>
            </a:r>
            <a:r>
              <a:rPr lang="ko-KR" altLang="en-US" sz="1100"/>
              <a:t>디자인 또한 폴더에 넣어놓았다</a:t>
            </a:r>
            <a:r>
              <a:rPr lang="en-US" altLang="ko-KR" sz="1100"/>
              <a:t>. </a:t>
            </a:r>
            <a:r>
              <a:rPr lang="ko-KR" altLang="en-US" sz="1100"/>
              <a:t>해당</a:t>
            </a:r>
            <a:r>
              <a:rPr lang="en-US" altLang="ko-KR" sz="1100"/>
              <a:t> ppt base</a:t>
            </a:r>
            <a:r>
              <a:rPr lang="ko-KR" altLang="en-US" sz="1100"/>
              <a:t>로 </a:t>
            </a:r>
            <a:r>
              <a:rPr lang="en-US" altLang="ko-KR" sz="1100"/>
              <a:t>ppt </a:t>
            </a:r>
            <a:r>
              <a:rPr lang="ko-KR" altLang="en-US" sz="1100"/>
              <a:t>제작을 시작 할 것 </a:t>
            </a:r>
            <a:endParaRPr lang="en-US" altLang="ko-KR" sz="1100"/>
          </a:p>
          <a:p>
            <a:r>
              <a:rPr lang="en-US" altLang="ko-KR" sz="1100"/>
              <a:t>6. </a:t>
            </a:r>
            <a:r>
              <a:rPr lang="ko-KR" altLang="en-US" sz="1100"/>
              <a:t>해당 내용별로 원하는 요구사항이 있다</a:t>
            </a:r>
            <a:r>
              <a:rPr lang="en-US" altLang="ko-KR" sz="1100"/>
              <a:t>. ppt </a:t>
            </a:r>
            <a:r>
              <a:rPr lang="ko-KR" altLang="en-US" sz="1100"/>
              <a:t>제작에 참조 할 것</a:t>
            </a:r>
            <a:endParaRPr lang="en-US" altLang="ko-KR" sz="1100"/>
          </a:p>
          <a:p>
            <a:r>
              <a:rPr lang="en-US" altLang="ko-KR" sz="1100"/>
              <a:t>7. </a:t>
            </a:r>
            <a:r>
              <a:rPr lang="ko-KR" altLang="en-US" sz="1100"/>
              <a:t>해당 슬라이드는 다른 팀원들의 작업까지 함께 합친 내용이다</a:t>
            </a:r>
            <a:r>
              <a:rPr lang="en-US" altLang="ko-KR" sz="1100"/>
              <a:t>. </a:t>
            </a:r>
            <a:r>
              <a:rPr lang="ko-KR" altLang="en-US" sz="1100"/>
              <a:t>통일성을 갖추지만</a:t>
            </a:r>
            <a:r>
              <a:rPr lang="en-US" altLang="ko-KR" sz="1100"/>
              <a:t>,</a:t>
            </a:r>
          </a:p>
          <a:p>
            <a:r>
              <a:rPr lang="ko-KR" altLang="en-US" sz="1100"/>
              <a:t>보여주려는 내용의 핵심이 훼손되어선 안됨</a:t>
            </a:r>
            <a:r>
              <a:rPr lang="en-US" altLang="ko-KR" sz="1100"/>
              <a:t>.(</a:t>
            </a:r>
            <a:r>
              <a:rPr lang="ko-KR" altLang="en-US" sz="1100"/>
              <a:t> 특히 시뮬레이션의 경우 </a:t>
            </a:r>
            <a:r>
              <a:rPr lang="en-US" altLang="ko-KR" sz="1100"/>
              <a:t>– </a:t>
            </a:r>
            <a:r>
              <a:rPr lang="ko-KR" altLang="en-US" sz="1100"/>
              <a:t>각자 보여주려는</a:t>
            </a:r>
            <a:endParaRPr lang="en-US" altLang="ko-KR" sz="1100"/>
          </a:p>
          <a:p>
            <a:r>
              <a:rPr lang="ko-KR" altLang="en-US" sz="1100"/>
              <a:t>게 무엇인지</a:t>
            </a:r>
            <a:r>
              <a:rPr lang="en-US" altLang="ko-KR" sz="1100"/>
              <a:t>)</a:t>
            </a:r>
          </a:p>
          <a:p>
            <a:endParaRPr lang="en-US" altLang="ko-KR" sz="11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0A6760-A7CA-73D7-2025-05E6B1CB6536}"/>
              </a:ext>
            </a:extLst>
          </p:cNvPr>
          <p:cNvSpPr txBox="1"/>
          <p:nvPr/>
        </p:nvSpPr>
        <p:spPr>
          <a:xfrm>
            <a:off x="364436" y="978347"/>
            <a:ext cx="901713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800"/>
              <a:t>표지</a:t>
            </a:r>
            <a:endParaRPr lang="en-US" altLang="ko-KR" sz="800"/>
          </a:p>
          <a:p>
            <a:pPr marL="342900" indent="-342900">
              <a:buAutoNum type="arabicPeriod"/>
            </a:pPr>
            <a:r>
              <a:rPr lang="ko-KR" altLang="en-US" sz="800"/>
              <a:t>목차</a:t>
            </a:r>
            <a:endParaRPr lang="en-US" altLang="ko-KR" sz="800"/>
          </a:p>
          <a:p>
            <a:pPr marL="342900" indent="-342900">
              <a:buAutoNum type="arabicPeriod"/>
            </a:pPr>
            <a:r>
              <a:rPr lang="ko-KR" altLang="en-US" sz="800"/>
              <a:t>역할 </a:t>
            </a:r>
            <a:endParaRPr lang="en-US" altLang="ko-KR" sz="800"/>
          </a:p>
          <a:p>
            <a:endParaRPr lang="en-US" altLang="ko-KR" sz="800"/>
          </a:p>
          <a:p>
            <a:r>
              <a:rPr lang="ko-KR" altLang="en-US" sz="800"/>
              <a:t>정안성 </a:t>
            </a:r>
            <a:r>
              <a:rPr lang="en-US" altLang="ko-KR" sz="800"/>
              <a:t>:</a:t>
            </a:r>
            <a:r>
              <a:rPr lang="ko-KR" altLang="en-US" sz="800"/>
              <a:t>  </a:t>
            </a:r>
            <a:r>
              <a:rPr lang="en-US" altLang="ko-KR" sz="800"/>
              <a:t>FND </a:t>
            </a:r>
            <a:r>
              <a:rPr lang="ko-KR" altLang="en-US" sz="800"/>
              <a:t>컨트롤러 점멸 기능 추가 및  </a:t>
            </a:r>
            <a:r>
              <a:rPr lang="en-US" altLang="ko-KR" sz="800"/>
              <a:t>top </a:t>
            </a:r>
            <a:r>
              <a:rPr lang="ko-KR" altLang="en-US" sz="800"/>
              <a:t>모듈 전체 </a:t>
            </a:r>
            <a:r>
              <a:rPr lang="en-US" altLang="ko-KR" sz="800"/>
              <a:t>tb </a:t>
            </a:r>
            <a:r>
              <a:rPr lang="ko-KR" altLang="en-US" sz="800"/>
              <a:t>시나리오 구성  </a:t>
            </a:r>
            <a:endParaRPr lang="en-US" altLang="ko-KR" sz="800"/>
          </a:p>
          <a:p>
            <a:r>
              <a:rPr lang="ko-KR" altLang="en-US" sz="800"/>
              <a:t>정보윤 </a:t>
            </a:r>
            <a:r>
              <a:rPr lang="en-US" altLang="ko-KR" sz="800"/>
              <a:t>: </a:t>
            </a:r>
            <a:r>
              <a:rPr lang="ko-KR" altLang="en-US" sz="800"/>
              <a:t> </a:t>
            </a:r>
            <a:r>
              <a:rPr lang="ko-KR" altLang="ko-KR" sz="1000"/>
              <a:t>Timer, Watch 모듈 설계, 자원 최적화</a:t>
            </a:r>
            <a:endParaRPr lang="en-US" altLang="ko-KR" sz="800"/>
          </a:p>
          <a:p>
            <a:r>
              <a:rPr lang="ko-KR" altLang="en-US" sz="800"/>
              <a:t>이종혁 </a:t>
            </a:r>
            <a:r>
              <a:rPr lang="en-US" altLang="ko-KR" sz="800"/>
              <a:t>:  Stopwatch </a:t>
            </a:r>
            <a:r>
              <a:rPr lang="ko-KR" altLang="en-US" sz="800"/>
              <a:t>기능 동작 확인 및 </a:t>
            </a:r>
            <a:r>
              <a:rPr lang="en-US" altLang="ko-KR" sz="800"/>
              <a:t>D-laptime </a:t>
            </a:r>
            <a:r>
              <a:rPr lang="ko-KR" altLang="en-US" sz="800"/>
              <a:t>추가 </a:t>
            </a:r>
            <a:endParaRPr lang="en-US" altLang="ko-KR" sz="800"/>
          </a:p>
          <a:p>
            <a:pPr lvl="2"/>
            <a:endParaRPr lang="en-US" altLang="ko-KR" sz="800"/>
          </a:p>
          <a:p>
            <a:r>
              <a:rPr lang="en-US" altLang="ko-KR" sz="800"/>
              <a:t>3. </a:t>
            </a:r>
            <a:r>
              <a:rPr lang="ko-KR" altLang="en-US" sz="800"/>
              <a:t>목적 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Watch : SW2</a:t>
            </a:r>
            <a:r>
              <a:rPr lang="ko-KR" altLang="en-US" sz="800"/>
              <a:t> 조절 시 커서 기능과 함께 자릿수 올림 기능 구현</a:t>
            </a:r>
            <a:endParaRPr lang="en-US" altLang="ko-KR" sz="800"/>
          </a:p>
          <a:p>
            <a:r>
              <a:rPr lang="en-US" altLang="ko-KR" sz="800"/>
              <a:t>	 StopWatch : </a:t>
            </a:r>
            <a:r>
              <a:rPr lang="ko-KR" altLang="en-US" sz="800"/>
              <a:t>기존의 </a:t>
            </a:r>
            <a:r>
              <a:rPr lang="en-US" altLang="ko-KR" sz="800"/>
              <a:t>Stopwatch </a:t>
            </a:r>
            <a:r>
              <a:rPr lang="ko-KR" altLang="en-US" sz="800"/>
              <a:t>모듈에 </a:t>
            </a:r>
            <a:r>
              <a:rPr lang="en-US" altLang="ko-KR" sz="800"/>
              <a:t>D-lap time </a:t>
            </a:r>
            <a:r>
              <a:rPr lang="ko-KR" altLang="en-US" sz="800"/>
              <a:t>추가 및 기능 확인</a:t>
            </a:r>
            <a:endParaRPr lang="en-US" altLang="ko-KR" sz="800"/>
          </a:p>
          <a:p>
            <a:r>
              <a:rPr lang="en-US" altLang="ko-KR" sz="800"/>
              <a:t>	 Timer : </a:t>
            </a:r>
            <a:r>
              <a:rPr lang="ko-KR" altLang="en-US" sz="800"/>
              <a:t>새로운 기능 추가</a:t>
            </a:r>
            <a:r>
              <a:rPr lang="en-US" altLang="ko-KR" sz="800"/>
              <a:t>. 10</a:t>
            </a:r>
            <a:r>
              <a:rPr lang="ko-KR" altLang="en-US" sz="800"/>
              <a:t>초</a:t>
            </a:r>
            <a:r>
              <a:rPr lang="en-US" altLang="ko-KR" sz="800"/>
              <a:t>, 1</a:t>
            </a:r>
            <a:r>
              <a:rPr lang="ko-KR" altLang="en-US" sz="800"/>
              <a:t>분</a:t>
            </a:r>
            <a:r>
              <a:rPr lang="en-US" altLang="ko-KR" sz="800"/>
              <a:t>, 10</a:t>
            </a:r>
            <a:r>
              <a:rPr lang="ko-KR" altLang="en-US" sz="800"/>
              <a:t>분 </a:t>
            </a:r>
            <a:endParaRPr lang="en-US" altLang="ko-KR" sz="800"/>
          </a:p>
          <a:p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4. </a:t>
            </a:r>
            <a:r>
              <a:rPr lang="ko-KR" altLang="en-US" sz="800"/>
              <a:t>보드 설명 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3. Block </a:t>
            </a:r>
            <a:r>
              <a:rPr lang="ko-KR" altLang="en-US" sz="800"/>
              <a:t>별 설명 </a:t>
            </a:r>
            <a:r>
              <a:rPr lang="en-US" altLang="ko-KR" sz="800"/>
              <a:t>– </a:t>
            </a:r>
            <a:r>
              <a:rPr lang="ko-KR" altLang="en-US" sz="800"/>
              <a:t>전체 블럭 다이어그램 </a:t>
            </a:r>
            <a:r>
              <a:rPr lang="en-US" altLang="ko-KR" sz="800"/>
              <a:t>– </a:t>
            </a:r>
            <a:r>
              <a:rPr lang="ko-KR" altLang="en-US" sz="800"/>
              <a:t>기능 간단 표시 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4. </a:t>
            </a:r>
            <a:r>
              <a:rPr lang="ko-KR" altLang="en-US" sz="800"/>
              <a:t>시뮬레이션 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watch </a:t>
            </a:r>
            <a:r>
              <a:rPr lang="ko-KR" altLang="en-US" sz="800"/>
              <a:t>슬라이드 </a:t>
            </a:r>
            <a:r>
              <a:rPr lang="en-US" altLang="ko-KR" sz="800"/>
              <a:t>6 </a:t>
            </a:r>
          </a:p>
          <a:p>
            <a:r>
              <a:rPr lang="ko-KR" altLang="en-US" sz="800"/>
              <a:t>시나리오 표 소개 </a:t>
            </a:r>
            <a:endParaRPr lang="en-US" altLang="ko-KR" sz="800"/>
          </a:p>
          <a:p>
            <a:r>
              <a:rPr lang="ko-KR" altLang="en-US" sz="800"/>
              <a:t>시나리오 </a:t>
            </a:r>
            <a:r>
              <a:rPr lang="en-US" altLang="ko-KR" sz="800"/>
              <a:t>5</a:t>
            </a:r>
            <a:r>
              <a:rPr lang="ko-KR" altLang="en-US" sz="800"/>
              <a:t>개 파형 및 결론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stop watch </a:t>
            </a:r>
            <a:r>
              <a:rPr lang="ko-KR" altLang="en-US" sz="800"/>
              <a:t>슬라이드 </a:t>
            </a:r>
            <a:r>
              <a:rPr lang="en-US" altLang="ko-KR" sz="800"/>
              <a:t>6 </a:t>
            </a:r>
          </a:p>
          <a:p>
            <a:r>
              <a:rPr lang="ko-KR" altLang="en-US" sz="800"/>
              <a:t>시나리오 표 소개 </a:t>
            </a:r>
            <a:endParaRPr lang="en-US" altLang="ko-KR" sz="800"/>
          </a:p>
          <a:p>
            <a:r>
              <a:rPr lang="ko-KR" altLang="en-US" sz="800"/>
              <a:t>시나리오 </a:t>
            </a:r>
            <a:r>
              <a:rPr lang="en-US" altLang="ko-KR" sz="800"/>
              <a:t>5</a:t>
            </a:r>
            <a:r>
              <a:rPr lang="ko-KR" altLang="en-US" sz="800"/>
              <a:t>개 파형 및 결론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timer </a:t>
            </a:r>
            <a:r>
              <a:rPr lang="ko-KR" altLang="en-US" sz="800"/>
              <a:t>슬라이드 </a:t>
            </a:r>
            <a:r>
              <a:rPr lang="en-US" altLang="ko-KR" sz="800"/>
              <a:t>6 </a:t>
            </a:r>
          </a:p>
          <a:p>
            <a:r>
              <a:rPr lang="ko-KR" altLang="en-US" sz="800"/>
              <a:t>시나리오 표 소개 </a:t>
            </a:r>
            <a:endParaRPr lang="en-US" altLang="ko-KR" sz="800"/>
          </a:p>
          <a:p>
            <a:r>
              <a:rPr lang="ko-KR" altLang="en-US" sz="800"/>
              <a:t>시나리오 </a:t>
            </a:r>
            <a:r>
              <a:rPr lang="en-US" altLang="ko-KR" sz="800"/>
              <a:t>5</a:t>
            </a:r>
            <a:r>
              <a:rPr lang="ko-KR" altLang="en-US" sz="800"/>
              <a:t>개 파형 및 결론</a:t>
            </a:r>
            <a:endParaRPr lang="en-US" altLang="ko-KR" sz="800"/>
          </a:p>
          <a:p>
            <a:endParaRPr lang="en-US" altLang="ko-KR" sz="800" b="1"/>
          </a:p>
          <a:p>
            <a:r>
              <a:rPr lang="ko-KR" altLang="en-US" sz="800"/>
              <a:t> </a:t>
            </a:r>
            <a:r>
              <a:rPr lang="en-US" altLang="ko-KR" sz="800"/>
              <a:t>5. </a:t>
            </a:r>
            <a:r>
              <a:rPr lang="ko-KR" altLang="en-US" sz="800"/>
              <a:t>트러블 슈팅 </a:t>
            </a:r>
            <a:endParaRPr lang="en-US" altLang="ko-KR" sz="800"/>
          </a:p>
          <a:p>
            <a:r>
              <a:rPr lang="en-US" altLang="ko-KR" sz="800"/>
              <a:t> 6. </a:t>
            </a:r>
            <a:r>
              <a:rPr lang="ko-KR" altLang="en-US" sz="800"/>
              <a:t>결론 고찰</a:t>
            </a:r>
            <a:endParaRPr lang="en-US" altLang="ko-KR" sz="800"/>
          </a:p>
          <a:p>
            <a:r>
              <a:rPr lang="en-US" altLang="ko-KR" sz="800"/>
              <a:t> 7. </a:t>
            </a:r>
            <a:r>
              <a:rPr lang="ko-KR" altLang="en-US" sz="800"/>
              <a:t>시연 영상 </a:t>
            </a:r>
            <a:r>
              <a:rPr lang="en-US" altLang="ko-KR" sz="800"/>
              <a:t> </a:t>
            </a:r>
          </a:p>
          <a:p>
            <a:r>
              <a:rPr lang="en-US" altLang="ko-KR" sz="800"/>
              <a:t>     -&gt; 3</a:t>
            </a:r>
            <a:r>
              <a:rPr lang="ko-KR" altLang="en-US" sz="800"/>
              <a:t>개 슬라이드 </a:t>
            </a:r>
            <a:endParaRPr lang="en-US" altLang="ko-KR" sz="800"/>
          </a:p>
          <a:p>
            <a:endParaRPr lang="en-US" altLang="ko-KR" sz="800"/>
          </a:p>
          <a:p>
            <a:endParaRPr lang="en-US" altLang="ko-KR" sz="800"/>
          </a:p>
          <a:p>
            <a:endParaRPr lang="en-US" altLang="ko-KR" sz="800"/>
          </a:p>
          <a:p>
            <a:endParaRPr lang="en-US" altLang="ko-KR" sz="800"/>
          </a:p>
          <a:p>
            <a:endParaRPr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1825992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B9944-3BD0-A25D-22A9-5CD42D33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26BEC0-701B-2A2E-B48B-6C9D586AC1AC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C9C9FE-196E-6E46-3DC0-2864FE10C8ED}"/>
              </a:ext>
            </a:extLst>
          </p:cNvPr>
          <p:cNvSpPr txBox="1"/>
          <p:nvPr/>
        </p:nvSpPr>
        <p:spPr>
          <a:xfrm>
            <a:off x="364436" y="218661"/>
            <a:ext cx="149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5F285-9993-5D05-6909-5CDBA418F3D1}"/>
              </a:ext>
            </a:extLst>
          </p:cNvPr>
          <p:cNvSpPr txBox="1"/>
          <p:nvPr/>
        </p:nvSpPr>
        <p:spPr>
          <a:xfrm>
            <a:off x="5751444" y="2808597"/>
            <a:ext cx="3909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표지 </a:t>
            </a:r>
          </a:p>
        </p:txBody>
      </p:sp>
    </p:spTree>
    <p:extLst>
      <p:ext uri="{BB962C8B-B14F-4D97-AF65-F5344CB8AC3E}">
        <p14:creationId xmlns:p14="http://schemas.microsoft.com/office/powerpoint/2010/main" val="566421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BE147-47C8-5F8B-0555-27F1447C8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9CA7DE-A7CF-76A6-F474-57668C9D9986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1BF339-73BF-CB96-02E2-BEFBF256131C}"/>
              </a:ext>
            </a:extLst>
          </p:cNvPr>
          <p:cNvSpPr txBox="1"/>
          <p:nvPr/>
        </p:nvSpPr>
        <p:spPr>
          <a:xfrm>
            <a:off x="364436" y="218661"/>
            <a:ext cx="149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8C719-8718-142A-C13C-20D657D3DD68}"/>
              </a:ext>
            </a:extLst>
          </p:cNvPr>
          <p:cNvSpPr txBox="1"/>
          <p:nvPr/>
        </p:nvSpPr>
        <p:spPr>
          <a:xfrm>
            <a:off x="5758070" y="2828475"/>
            <a:ext cx="3909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목차 </a:t>
            </a:r>
          </a:p>
        </p:txBody>
      </p:sp>
    </p:spTree>
    <p:extLst>
      <p:ext uri="{BB962C8B-B14F-4D97-AF65-F5344CB8AC3E}">
        <p14:creationId xmlns:p14="http://schemas.microsoft.com/office/powerpoint/2010/main" val="66780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B910-F92E-CCCB-5BFD-A3291E62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DAC728-D4E6-745E-A7A3-4C4C9906239C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399AA3-2334-03E8-CF68-B9ED4F7EF32B}"/>
              </a:ext>
            </a:extLst>
          </p:cNvPr>
          <p:cNvSpPr txBox="1"/>
          <p:nvPr/>
        </p:nvSpPr>
        <p:spPr>
          <a:xfrm>
            <a:off x="364436" y="218661"/>
            <a:ext cx="149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8877E-9CBA-CB18-9ABC-98B8FE92A059}"/>
              </a:ext>
            </a:extLst>
          </p:cNvPr>
          <p:cNvSpPr txBox="1"/>
          <p:nvPr/>
        </p:nvSpPr>
        <p:spPr>
          <a:xfrm>
            <a:off x="4943061" y="2841728"/>
            <a:ext cx="3909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역할 </a:t>
            </a:r>
            <a:r>
              <a:rPr lang="en-US" altLang="ko-KR"/>
              <a:t>+ </a:t>
            </a:r>
            <a:r>
              <a:rPr lang="ko-KR" altLang="en-US"/>
              <a:t>목적 </a:t>
            </a:r>
          </a:p>
        </p:txBody>
      </p:sp>
    </p:spTree>
    <p:extLst>
      <p:ext uri="{BB962C8B-B14F-4D97-AF65-F5344CB8AC3E}">
        <p14:creationId xmlns:p14="http://schemas.microsoft.com/office/powerpoint/2010/main" val="205760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F29EE-F6F3-4495-E50E-06CE1B2E5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FBA0A8-5E56-9050-939C-051B798F6BA3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494BFD-DA9A-9511-1015-D9E7626AE2B4}"/>
              </a:ext>
            </a:extLst>
          </p:cNvPr>
          <p:cNvSpPr txBox="1"/>
          <p:nvPr/>
        </p:nvSpPr>
        <p:spPr>
          <a:xfrm>
            <a:off x="364436" y="218661"/>
            <a:ext cx="149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1E55F-70F8-B2BA-9F0F-83B5A8960C58}"/>
              </a:ext>
            </a:extLst>
          </p:cNvPr>
          <p:cNvSpPr txBox="1"/>
          <p:nvPr/>
        </p:nvSpPr>
        <p:spPr>
          <a:xfrm>
            <a:off x="176256" y="126544"/>
            <a:ext cx="8527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전체 블럭 다이어그램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전체 </a:t>
            </a:r>
            <a:r>
              <a:rPr lang="en-US" altLang="ko-KR" sz="1200"/>
              <a:t>block diagram </a:t>
            </a:r>
            <a:r>
              <a:rPr lang="ko-KR" altLang="en-US" sz="1200"/>
              <a:t>흐름도</a:t>
            </a:r>
            <a:endParaRPr lang="en-US" altLang="ko-KR" sz="1200"/>
          </a:p>
          <a:p>
            <a:r>
              <a:rPr lang="en-US" altLang="ko-KR" sz="1200"/>
              <a:t>- </a:t>
            </a:r>
            <a:r>
              <a:rPr lang="ko-KR" altLang="en-US" sz="1200"/>
              <a:t>아래의 그림처럼 </a:t>
            </a:r>
            <a:r>
              <a:rPr lang="en-US" altLang="ko-KR" sz="1200"/>
              <a:t>**</a:t>
            </a:r>
            <a:r>
              <a:rPr lang="ko-KR" altLang="en-US" sz="1200"/>
              <a:t>한눈에 알아 볼 수 있어야 함</a:t>
            </a:r>
            <a:r>
              <a:rPr lang="en-US" altLang="ko-KR" sz="1200"/>
              <a:t>** // </a:t>
            </a:r>
            <a:r>
              <a:rPr lang="ko-KR" altLang="en-US" sz="1200"/>
              <a:t>아래는 참조용</a:t>
            </a:r>
            <a:r>
              <a:rPr lang="en-US" altLang="ko-KR" sz="1200"/>
              <a:t> </a:t>
            </a:r>
            <a:r>
              <a:rPr lang="ko-KR" altLang="en-US" sz="1200"/>
              <a:t>슬라이드</a:t>
            </a:r>
            <a:r>
              <a:rPr lang="en-US" altLang="ko-KR" sz="1200"/>
              <a:t>, </a:t>
            </a:r>
            <a:r>
              <a:rPr lang="ko-KR" altLang="en-US" sz="1200"/>
              <a:t>다음 슬라이드에 실제 우리 모듈의 </a:t>
            </a:r>
            <a:r>
              <a:rPr lang="en-US" altLang="ko-KR" sz="1200"/>
              <a:t>RTL Schem </a:t>
            </a:r>
            <a:r>
              <a:rPr lang="ko-KR" altLang="en-US" sz="1200"/>
              <a:t>첨부 해놓았음 </a:t>
            </a:r>
            <a:endParaRPr lang="en-US" altLang="ko-KR" sz="1200"/>
          </a:p>
          <a:p>
            <a:r>
              <a:rPr lang="en-US" altLang="ko-KR" sz="1200"/>
              <a:t>- </a:t>
            </a:r>
            <a:r>
              <a:rPr lang="ko-KR" altLang="en-US" sz="1200"/>
              <a:t>각 기능을 담당하는 모듈은 동일한 박스 색깔로 구분 해놓을 것 </a:t>
            </a:r>
            <a:endParaRPr lang="en-US" altLang="ko-KR" sz="12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841D211-0F18-86D5-BF02-0F88ABE14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663" y="1681118"/>
            <a:ext cx="7554489" cy="441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1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A931-F536-D92F-A774-B5593294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8EE7FD-0307-213B-6F31-E4CD5B1156C8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0A7DBF-B26C-1119-19B5-71728B16D095}"/>
              </a:ext>
            </a:extLst>
          </p:cNvPr>
          <p:cNvSpPr txBox="1"/>
          <p:nvPr/>
        </p:nvSpPr>
        <p:spPr>
          <a:xfrm>
            <a:off x="364436" y="218661"/>
            <a:ext cx="149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C20EA-B87C-0A90-BD31-1979B9660ED3}"/>
              </a:ext>
            </a:extLst>
          </p:cNvPr>
          <p:cNvSpPr txBox="1"/>
          <p:nvPr/>
        </p:nvSpPr>
        <p:spPr>
          <a:xfrm>
            <a:off x="176256" y="126544"/>
            <a:ext cx="8527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전체 블럭 다이어그램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전체 </a:t>
            </a:r>
            <a:r>
              <a:rPr lang="en-US" altLang="ko-KR" sz="1200"/>
              <a:t>block diagram </a:t>
            </a:r>
            <a:r>
              <a:rPr lang="ko-KR" altLang="en-US" sz="1200"/>
              <a:t>흐름도</a:t>
            </a:r>
            <a:endParaRPr lang="en-US" altLang="ko-KR" sz="1200"/>
          </a:p>
          <a:p>
            <a:r>
              <a:rPr lang="en-US" altLang="ko-KR" sz="1200"/>
              <a:t>- </a:t>
            </a:r>
            <a:r>
              <a:rPr lang="ko-KR" altLang="en-US" sz="1200"/>
              <a:t>아래의 그림처럼 </a:t>
            </a:r>
            <a:r>
              <a:rPr lang="en-US" altLang="ko-KR" sz="1200"/>
              <a:t>**</a:t>
            </a:r>
            <a:r>
              <a:rPr lang="ko-KR" altLang="en-US" sz="1200"/>
              <a:t>한눈에 알아 볼 수 있어야 함</a:t>
            </a:r>
            <a:r>
              <a:rPr lang="en-US" altLang="ko-KR" sz="1200"/>
              <a:t>** // </a:t>
            </a:r>
            <a:r>
              <a:rPr lang="ko-KR" altLang="en-US" sz="1200"/>
              <a:t>아래는 참조용</a:t>
            </a:r>
            <a:r>
              <a:rPr lang="en-US" altLang="ko-KR" sz="1200"/>
              <a:t> </a:t>
            </a:r>
            <a:r>
              <a:rPr lang="ko-KR" altLang="en-US" sz="1200"/>
              <a:t>슬라이드</a:t>
            </a:r>
            <a:r>
              <a:rPr lang="en-US" altLang="ko-KR" sz="1200"/>
              <a:t>, </a:t>
            </a:r>
            <a:r>
              <a:rPr lang="ko-KR" altLang="en-US" sz="1200"/>
              <a:t>다음 슬라이드에 실제 우리 모듈의 </a:t>
            </a:r>
            <a:r>
              <a:rPr lang="en-US" altLang="ko-KR" sz="1200"/>
              <a:t>RTL Schem </a:t>
            </a:r>
            <a:r>
              <a:rPr lang="ko-KR" altLang="en-US" sz="1200"/>
              <a:t>첨부 해놓았음 </a:t>
            </a:r>
            <a:r>
              <a:rPr lang="en-US" altLang="ko-KR" sz="1200"/>
              <a:t>– </a:t>
            </a:r>
            <a:r>
              <a:rPr lang="ko-KR" altLang="en-US" sz="1200"/>
              <a:t>연결 안된 선은 좀 연결 했으면 좋겠다</a:t>
            </a:r>
            <a:r>
              <a:rPr lang="en-US" altLang="ko-KR" sz="1200"/>
              <a:t>. </a:t>
            </a:r>
          </a:p>
          <a:p>
            <a:pPr marL="171450" indent="-171450">
              <a:buFontTx/>
              <a:buChar char="-"/>
            </a:pPr>
            <a:r>
              <a:rPr lang="ko-KR" altLang="en-US" sz="1200"/>
              <a:t>각 기능을 담당하는 모듈은 </a:t>
            </a:r>
            <a:r>
              <a:rPr lang="en-US" altLang="ko-KR" sz="1200"/>
              <a:t>**</a:t>
            </a:r>
            <a:r>
              <a:rPr lang="ko-KR" altLang="en-US" sz="1200"/>
              <a:t>동일한 박스 색깔로 구분</a:t>
            </a:r>
            <a:r>
              <a:rPr lang="en-US" altLang="ko-KR" sz="1200"/>
              <a:t>**</a:t>
            </a:r>
            <a:r>
              <a:rPr lang="ko-KR" altLang="en-US" sz="1200"/>
              <a:t> 해놓을 것 </a:t>
            </a:r>
            <a:endParaRPr lang="en-US" altLang="ko-KR" sz="120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135EE04-3C3B-AF7D-11F4-B24352738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21" y="1507368"/>
            <a:ext cx="9126512" cy="456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15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E461-7454-E918-4B74-86C50463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7038BE-102C-B8E4-1D8E-3340AB1BB9B0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80988A-24F7-FB5B-54EC-A787563FEB55}"/>
              </a:ext>
            </a:extLst>
          </p:cNvPr>
          <p:cNvSpPr txBox="1"/>
          <p:nvPr/>
        </p:nvSpPr>
        <p:spPr>
          <a:xfrm>
            <a:off x="364436" y="218661"/>
            <a:ext cx="149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5E7AE6-2FE0-2362-243F-376C9C63B050}"/>
              </a:ext>
            </a:extLst>
          </p:cNvPr>
          <p:cNvSpPr txBox="1"/>
          <p:nvPr/>
        </p:nvSpPr>
        <p:spPr>
          <a:xfrm>
            <a:off x="176256" y="126544"/>
            <a:ext cx="11101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보드 동작 구성 </a:t>
            </a:r>
            <a:r>
              <a:rPr lang="en-US" altLang="ko-KR" sz="1200"/>
              <a:t>– **</a:t>
            </a:r>
            <a:r>
              <a:rPr lang="ko-KR" altLang="en-US" sz="1200"/>
              <a:t>각 기능 별 설명서 느낌</a:t>
            </a:r>
            <a:r>
              <a:rPr lang="en-US" altLang="ko-KR" sz="1200"/>
              <a:t>**</a:t>
            </a:r>
            <a:r>
              <a:rPr lang="ko-KR" altLang="en-US" sz="1200"/>
              <a:t>이면 좋겠다</a:t>
            </a:r>
            <a:r>
              <a:rPr lang="en-US" altLang="ko-KR" sz="1200"/>
              <a:t> – </a:t>
            </a:r>
            <a:r>
              <a:rPr lang="ko-KR" altLang="en-US" sz="1200"/>
              <a:t>아래의 사항은 참고 사항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            stopwatch 	                          l                                        watch  		           l                                timer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3CB8658-2FDE-69CF-4311-180851268A8C}"/>
              </a:ext>
            </a:extLst>
          </p:cNvPr>
          <p:cNvCxnSpPr/>
          <p:nvPr/>
        </p:nvCxnSpPr>
        <p:spPr>
          <a:xfrm>
            <a:off x="3523488" y="902208"/>
            <a:ext cx="0" cy="43891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B8CC7EC-DD00-2704-EA87-0D559AA99E77}"/>
              </a:ext>
            </a:extLst>
          </p:cNvPr>
          <p:cNvCxnSpPr/>
          <p:nvPr/>
        </p:nvCxnSpPr>
        <p:spPr>
          <a:xfrm>
            <a:off x="8199120" y="877824"/>
            <a:ext cx="0" cy="43891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0C6410C5-A2A1-EF18-42B6-D37F3F3F56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311" r="1289" b="27303"/>
          <a:stretch>
            <a:fillRect/>
          </a:stretch>
        </p:blipFill>
        <p:spPr>
          <a:xfrm>
            <a:off x="176256" y="1171658"/>
            <a:ext cx="3272386" cy="20503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B2BCF5-3EB4-882A-FE2A-E0F17CEAA787}"/>
              </a:ext>
            </a:extLst>
          </p:cNvPr>
          <p:cNvSpPr txBox="1"/>
          <p:nvPr/>
        </p:nvSpPr>
        <p:spPr>
          <a:xfrm>
            <a:off x="-37422" y="4387176"/>
            <a:ext cx="4956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2. </a:t>
            </a:r>
            <a:r>
              <a:rPr lang="ko-KR" altLang="en-US" sz="1200"/>
              <a:t>입출력 포트와 각 버튼의 기능에 대한 표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83F3B97-7B2A-F0E4-762D-5F0C84404345}"/>
              </a:ext>
            </a:extLst>
          </p:cNvPr>
          <p:cNvCxnSpPr/>
          <p:nvPr/>
        </p:nvCxnSpPr>
        <p:spPr>
          <a:xfrm flipV="1">
            <a:off x="492929" y="3261360"/>
            <a:ext cx="932688" cy="390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E82679-298C-0E1A-5980-1857B79310DE}"/>
              </a:ext>
            </a:extLst>
          </p:cNvPr>
          <p:cNvSpPr txBox="1"/>
          <p:nvPr/>
        </p:nvSpPr>
        <p:spPr>
          <a:xfrm>
            <a:off x="-37422" y="3686873"/>
            <a:ext cx="4956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1. </a:t>
            </a:r>
            <a:r>
              <a:rPr lang="ko-KR" altLang="en-US" sz="1200"/>
              <a:t>입 출력 </a:t>
            </a:r>
            <a:r>
              <a:rPr lang="en-US" altLang="ko-KR" sz="1200"/>
              <a:t>IO </a:t>
            </a:r>
            <a:r>
              <a:rPr lang="ko-KR" altLang="en-US" sz="1200"/>
              <a:t>표시</a:t>
            </a:r>
            <a:r>
              <a:rPr lang="en-US" altLang="ko-KR" sz="1200"/>
              <a:t>+ PPT Design</a:t>
            </a:r>
            <a:r>
              <a:rPr lang="ko-KR" altLang="en-US" sz="1200"/>
              <a:t>에 맞게 </a:t>
            </a:r>
          </a:p>
        </p:txBody>
      </p:sp>
    </p:spTree>
    <p:extLst>
      <p:ext uri="{BB962C8B-B14F-4D97-AF65-F5344CB8AC3E}">
        <p14:creationId xmlns:p14="http://schemas.microsoft.com/office/powerpoint/2010/main" val="3532676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72C9B5-F8F7-7DBA-749D-6786D9AC5060}"/>
              </a:ext>
            </a:extLst>
          </p:cNvPr>
          <p:cNvSpPr txBox="1"/>
          <p:nvPr/>
        </p:nvSpPr>
        <p:spPr>
          <a:xfrm>
            <a:off x="286512" y="365760"/>
            <a:ext cx="773582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시뮬레이션 참고 사항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기능에 대한 시나리오 표</a:t>
            </a:r>
            <a:r>
              <a:rPr lang="en-US" altLang="ko-KR"/>
              <a:t>(</a:t>
            </a:r>
            <a:r>
              <a:rPr lang="ko-KR" altLang="en-US"/>
              <a:t>공통</a:t>
            </a:r>
            <a:r>
              <a:rPr lang="en-US" altLang="ko-KR"/>
              <a:t>) </a:t>
            </a:r>
          </a:p>
          <a:p>
            <a:r>
              <a:rPr lang="ko-KR" altLang="en-US"/>
              <a:t>기능 별 슬라이드 시작 첫 페이지 </a:t>
            </a:r>
            <a:endParaRPr lang="en-US" altLang="ko-KR"/>
          </a:p>
          <a:p>
            <a:r>
              <a:rPr lang="en-US" altLang="ko-KR"/>
              <a:t> </a:t>
            </a:r>
          </a:p>
          <a:p>
            <a:r>
              <a:rPr lang="en-US" altLang="ko-KR"/>
              <a:t> 1.  ex) watch </a:t>
            </a:r>
            <a:r>
              <a:rPr lang="ko-KR" altLang="en-US"/>
              <a:t>시뮬레이션 시나리오 </a:t>
            </a:r>
            <a:endParaRPr lang="en-US" altLang="ko-KR"/>
          </a:p>
          <a:p>
            <a:r>
              <a:rPr lang="ko-KR" altLang="en-US"/>
              <a:t>시나리오 </a:t>
            </a:r>
            <a:r>
              <a:rPr lang="en-US" altLang="ko-KR"/>
              <a:t>– </a:t>
            </a:r>
            <a:r>
              <a:rPr lang="ko-KR" altLang="en-US"/>
              <a:t>입출력 범위</a:t>
            </a:r>
            <a:r>
              <a:rPr lang="en-US" altLang="ko-KR"/>
              <a:t> – </a:t>
            </a:r>
            <a:r>
              <a:rPr lang="ko-KR" altLang="en-US"/>
              <a:t>예상 결과 </a:t>
            </a:r>
            <a:endParaRPr lang="en-US" altLang="ko-KR"/>
          </a:p>
          <a:p>
            <a:r>
              <a:rPr lang="ko-KR" altLang="en-US"/>
              <a:t>   </a:t>
            </a:r>
            <a:r>
              <a:rPr lang="en-US" altLang="ko-KR"/>
              <a:t>//</a:t>
            </a:r>
            <a:r>
              <a:rPr lang="ko-KR" altLang="en-US"/>
              <a:t> 발표를 봤을 때 가독성이 좋아야 한다</a:t>
            </a:r>
            <a:r>
              <a:rPr lang="en-US" altLang="ko-KR"/>
              <a:t>// </a:t>
            </a:r>
            <a:r>
              <a:rPr lang="ko-KR" altLang="en-US"/>
              <a:t>표로 구성 하고</a:t>
            </a:r>
            <a:r>
              <a:rPr lang="en-US" altLang="ko-KR"/>
              <a:t>, </a:t>
            </a:r>
            <a:r>
              <a:rPr lang="ko-KR" altLang="en-US"/>
              <a:t>각 기능별 개인이 한 </a:t>
            </a:r>
            <a:r>
              <a:rPr lang="en-US" altLang="ko-KR"/>
              <a:t>ppt</a:t>
            </a:r>
            <a:r>
              <a:rPr lang="ko-KR" altLang="en-US"/>
              <a:t>를 첨부해 놓았다</a:t>
            </a:r>
            <a:r>
              <a:rPr lang="en-US" altLang="ko-KR"/>
              <a:t>. </a:t>
            </a:r>
            <a:r>
              <a:rPr lang="ko-KR" altLang="en-US"/>
              <a:t>참조 할 것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요구 사항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1. </a:t>
            </a:r>
            <a:r>
              <a:rPr lang="ko-KR" altLang="en-US"/>
              <a:t>각 기능 별로 검증했기 때문에 </a:t>
            </a:r>
            <a:r>
              <a:rPr lang="en-US" altLang="ko-KR"/>
              <a:t>ppt </a:t>
            </a:r>
            <a:r>
              <a:rPr lang="ko-KR" altLang="en-US"/>
              <a:t>디자인이 다르다</a:t>
            </a:r>
            <a:r>
              <a:rPr lang="en-US" altLang="ko-KR"/>
              <a:t>. </a:t>
            </a:r>
            <a:r>
              <a:rPr lang="ko-KR" altLang="en-US"/>
              <a:t>통일 할것 </a:t>
            </a:r>
            <a:endParaRPr lang="en-US" altLang="ko-KR"/>
          </a:p>
          <a:p>
            <a:r>
              <a:rPr lang="en-US" altLang="ko-KR"/>
              <a:t>2. </a:t>
            </a:r>
            <a:r>
              <a:rPr lang="ko-KR" altLang="en-US"/>
              <a:t>본인이 발표하는 내용이기 때문에 최대한 보여주려는 내용을 훼손하지 않으면서 </a:t>
            </a:r>
            <a:r>
              <a:rPr lang="en-US" altLang="ko-KR"/>
              <a:t>ppt</a:t>
            </a:r>
            <a:r>
              <a:rPr lang="ko-KR" altLang="en-US"/>
              <a:t>의 통일성을 갖출 것 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44965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9023-DAA1-5162-CD85-2EE1AE37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AC97BA-8CEC-2CA7-CC95-E024D5AE4F3F}"/>
              </a:ext>
            </a:extLst>
          </p:cNvPr>
          <p:cNvSpPr txBox="1"/>
          <p:nvPr/>
        </p:nvSpPr>
        <p:spPr>
          <a:xfrm>
            <a:off x="292608" y="341376"/>
            <a:ext cx="33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 watch </a:t>
            </a:r>
            <a:r>
              <a:rPr lang="ko-KR" altLang="en-US"/>
              <a:t>시뮬레이션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1636B-13BA-5CF1-75C1-F81CA9369EBF}"/>
              </a:ext>
            </a:extLst>
          </p:cNvPr>
          <p:cNvSpPr txBox="1"/>
          <p:nvPr/>
        </p:nvSpPr>
        <p:spPr>
          <a:xfrm>
            <a:off x="4090416" y="2194560"/>
            <a:ext cx="454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아직 제작중</a:t>
            </a:r>
            <a:r>
              <a:rPr lang="en-US" altLang="ko-KR"/>
              <a:t>. </a:t>
            </a:r>
            <a:r>
              <a:rPr lang="ko-KR" altLang="en-US"/>
              <a:t>공백으로 </a:t>
            </a:r>
          </a:p>
        </p:txBody>
      </p:sp>
    </p:spTree>
    <p:extLst>
      <p:ext uri="{BB962C8B-B14F-4D97-AF65-F5344CB8AC3E}">
        <p14:creationId xmlns:p14="http://schemas.microsoft.com/office/powerpoint/2010/main" val="336131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2EAB-E615-EB18-6133-693FC2F1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722BBD-B838-F45E-95CD-012D2DF91DFA}"/>
              </a:ext>
            </a:extLst>
          </p:cNvPr>
          <p:cNvSpPr txBox="1"/>
          <p:nvPr/>
        </p:nvSpPr>
        <p:spPr>
          <a:xfrm>
            <a:off x="4639056" y="2602992"/>
            <a:ext cx="461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2. stopwatch</a:t>
            </a:r>
            <a:r>
              <a:rPr lang="ko-KR" altLang="en-US"/>
              <a:t> 시뮬레이션 </a:t>
            </a:r>
          </a:p>
        </p:txBody>
      </p:sp>
    </p:spTree>
    <p:extLst>
      <p:ext uri="{BB962C8B-B14F-4D97-AF65-F5344CB8AC3E}">
        <p14:creationId xmlns:p14="http://schemas.microsoft.com/office/powerpoint/2010/main" val="181832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5E389A-C3C8-4705-966F-D0CBBD5FBCDF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8456C6-E04D-4513-8F07-66A9CE48E2AD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버튼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기능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검증</a:t>
            </a:r>
            <a:endParaRPr sz="2700" b="1" dirty="0">
              <a:solidFill>
                <a:srgbClr val="10274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E0C3C86-D017-469C-9BDD-BCF7A9F25FC2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922906-11CD-4F5F-948F-CFDC4C0F5A01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검증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FD385F-C02F-4DF7-9695-9364BF4A4594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B659B9A2-FE5B-42A1-928E-9845914B6E01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R·L·U 기본 동작과 D 버튼 LAP 기능을 검증</a:t>
            </a:r>
          </a:p>
          <a:p>
            <a: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endParaRPr sz="2500" b="1">
              <a:solidFill>
                <a:srgbClr val="10274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DF8A077-D552-49A7-BBA6-B387FA64B1C2}"/>
              </a:ext>
            </a:extLst>
          </p:cNvPr>
          <p:cNvSpPr>
            <a:spLocks noGrp="1"/>
          </p:cNvSpPr>
          <p:nvPr/>
        </p:nvSpPr>
        <p:spPr>
          <a:xfrm>
            <a:off x="619125" y="238125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R 버튼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156089A-1627-48A3-840A-91BE6C0989AE}"/>
              </a:ext>
            </a:extLst>
          </p:cNvPr>
          <p:cNvSpPr>
            <a:spLocks noGrp="1"/>
          </p:cNvSpPr>
          <p:nvPr/>
        </p:nvSpPr>
        <p:spPr>
          <a:xfrm>
            <a:off x="2952750" y="2381250"/>
            <a:ext cx="838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실행과 정지 전환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DF8A077-D552-49A7-BBA6-B387FA64B1C2}"/>
              </a:ext>
            </a:extLst>
          </p:cNvPr>
          <p:cNvSpPr>
            <a:spLocks noGrp="1"/>
          </p:cNvSpPr>
          <p:nvPr/>
        </p:nvSpPr>
        <p:spPr>
          <a:xfrm>
            <a:off x="619125" y="309562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L 버튼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156089A-1627-48A3-840A-91BE6C0989AE}"/>
              </a:ext>
            </a:extLst>
          </p:cNvPr>
          <p:cNvSpPr>
            <a:spLocks noGrp="1"/>
          </p:cNvSpPr>
          <p:nvPr/>
        </p:nvSpPr>
        <p:spPr>
          <a:xfrm>
            <a:off x="2952750" y="3095625"/>
            <a:ext cx="838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정지 중 시간 초기화 및 LAP 해제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DF8A077-D552-49A7-BBA6-B387FA64B1C2}"/>
              </a:ext>
            </a:extLst>
          </p:cNvPr>
          <p:cNvSpPr>
            <a:spLocks noGrp="1"/>
          </p:cNvSpPr>
          <p:nvPr/>
        </p:nvSpPr>
        <p:spPr>
          <a:xfrm>
            <a:off x="619125" y="381000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U 버튼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1156089A-1627-48A3-840A-91BE6C0989AE}"/>
              </a:ext>
            </a:extLst>
          </p:cNvPr>
          <p:cNvSpPr>
            <a:spLocks noGrp="1"/>
          </p:cNvSpPr>
          <p:nvPr/>
        </p:nvSpPr>
        <p:spPr>
          <a:xfrm>
            <a:off x="2952750" y="3810000"/>
            <a:ext cx="838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정지 중 증가·감소 방향 전환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0DF8A077-D552-49A7-BBA6-B387FA64B1C2}"/>
              </a:ext>
            </a:extLst>
          </p:cNvPr>
          <p:cNvSpPr>
            <a:spLocks noGrp="1"/>
          </p:cNvSpPr>
          <p:nvPr/>
        </p:nvSpPr>
        <p:spPr>
          <a:xfrm>
            <a:off x="619125" y="452437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D 버튼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156089A-1627-48A3-840A-91BE6C0989AE}"/>
              </a:ext>
            </a:extLst>
          </p:cNvPr>
          <p:cNvSpPr>
            <a:spLocks noGrp="1"/>
          </p:cNvSpPr>
          <p:nvPr/>
        </p:nvSpPr>
        <p:spPr>
          <a:xfrm>
            <a:off x="2952750" y="4524375"/>
            <a:ext cx="838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현재 시간 저장·표시 고정, 다시 누르면 실시간 복귀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BBB351F-86CA-41CB-9E99-533514131CD1}"/>
              </a:ext>
            </a:extLst>
          </p:cNvPr>
          <p:cNvSpPr>
            <a:spLocks noGrp="1"/>
          </p:cNvSpPr>
          <p:nvPr/>
        </p:nvSpPr>
        <p:spPr>
          <a:xfrm>
            <a:off x="619125" y="552450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실행 중 L·U 입력은 무시  /  담당: LAP 구현 및 버튼 동작 검증</a:t>
            </a:r>
          </a:p>
        </p:txBody>
      </p:sp>
    </p:spTree>
    <p:extLst>
      <p:ext uri="{BB962C8B-B14F-4D97-AF65-F5344CB8AC3E}">
        <p14:creationId xmlns:p14="http://schemas.microsoft.com/office/powerpoint/2010/main" val="177573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B023DF-2679-413C-8CBC-238BD0CE139C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52EEE2-561D-442F-98E0-0DF752918F8A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R 버튼 검증. 정지 및 재실행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02AB08-97A9-420C-8232-066FC0FEE0A7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E25284-738A-42D1-9C25-EE0AFD836943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검증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01E678-2A4E-4873-9398-841F3B6F4CCD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4F4CBA-B80F-45EB-BFC9-72036EA5C8A9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결과: 정지 중 값 유지, 재실행 후 카운터 증가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0FACB-28F8-4A5B-8C5B-70F4B34DEC8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시나리오: R 입력으로 정지한 뒤 다시 R 입력으로 실행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8EB692-90C0-4B1F-BBD7-9603ADE64785}"/>
              </a:ext>
            </a:extLst>
          </p:cNvPr>
          <p:cNvSpPr>
            <a:spLocks noGrp="1"/>
          </p:cNvSpPr>
          <p:nvPr/>
        </p:nvSpPr>
        <p:spPr>
          <a:xfrm>
            <a:off x="4000500" y="30480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파형 이미지 붙여넣기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9078BD-623F-49CA-9203-63CDC3E18045}"/>
              </a:ext>
            </a:extLst>
          </p:cNvPr>
          <p:cNvSpPr>
            <a:spLocks noGrp="1"/>
          </p:cNvSpPr>
          <p:nvPr/>
        </p:nvSpPr>
        <p:spPr>
          <a:xfrm>
            <a:off x="3048000" y="3524250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이 안내 상자를 삭제한 뒤 원본 캡처를 넣어 주세요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619125" y="48958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첫 R 입력 후 실행 신호 1에서 0으로 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정지 구간에서 카운터 값 0 유지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다시 R 입력 후 실행 신호 1, 카운터 1·2·3 증가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270E532-317A-DC25-25CF-6DBD5481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2025650"/>
            <a:ext cx="12192000" cy="240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68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B023DF-2679-413C-8CBC-238BD0CE139C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52EEE2-561D-442F-98E0-0DF752918F8A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L 버튼 검증. 정지 중 초기화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02AB08-97A9-420C-8232-066FC0FEE0A7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E25284-738A-42D1-9C25-EE0AFD836943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검증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01E678-2A4E-4873-9398-841F3B6F4CCD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4F4CBA-B80F-45EB-BFC9-72036EA5C8A9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결과: Clear 신호 발생 후 시간 값 16에서 0으로 초기화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0FACB-28F8-4A5B-8C5B-70F4B34DEC8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시나리오: R로 정지한 뒤 L 입력으로 시간 초기화 확인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8EB692-90C0-4B1F-BBD7-9603ADE64785}"/>
              </a:ext>
            </a:extLst>
          </p:cNvPr>
          <p:cNvSpPr>
            <a:spLocks noGrp="1"/>
          </p:cNvSpPr>
          <p:nvPr/>
        </p:nvSpPr>
        <p:spPr>
          <a:xfrm>
            <a:off x="4000500" y="30480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파형 이미지 붙여넣기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9078BD-623F-49CA-9203-63CDC3E18045}"/>
              </a:ext>
            </a:extLst>
          </p:cNvPr>
          <p:cNvSpPr>
            <a:spLocks noGrp="1"/>
          </p:cNvSpPr>
          <p:nvPr/>
        </p:nvSpPr>
        <p:spPr>
          <a:xfrm>
            <a:off x="3048000" y="3524250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이 안내 상자를 삭제한 뒤 원본 캡처를 넣어 주세요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619125" y="48958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R 입력 후 정지, 카운터 값 16 유지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L 입력 후 Clear 펄스 발생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카운터 값 16에서 0으로 초기화</a:t>
            </a:r>
          </a:p>
        </p:txBody>
      </p:sp>
      <p:pic>
        <p:nvPicPr>
          <p:cNvPr id="19" name="그림 18" descr="스크린샷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7F512960-993A-4F19-F0A5-1A14CFD26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3609"/>
            <a:ext cx="12192000" cy="215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611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B023DF-2679-413C-8CBC-238BD0CE139C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52EEE2-561D-442F-98E0-0DF752918F8A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U 버튼 검증. 감소 방향 전환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02AB08-97A9-420C-8232-066FC0FEE0A7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E25284-738A-42D1-9C25-EE0AFD836943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검증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01E678-2A4E-4873-9398-841F3B6F4CCD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4F4CBA-B80F-45EB-BFC9-72036EA5C8A9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결과: Down 신호 활성화 후 카운터 감소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0FACB-28F8-4A5B-8C5B-70F4B34DEC8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시나리오: 정지 중 U 입력 후 R로 실행하여 감소 확인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8EB692-90C0-4B1F-BBD7-9603ADE64785}"/>
              </a:ext>
            </a:extLst>
          </p:cNvPr>
          <p:cNvSpPr>
            <a:spLocks noGrp="1"/>
          </p:cNvSpPr>
          <p:nvPr/>
        </p:nvSpPr>
        <p:spPr>
          <a:xfrm>
            <a:off x="4000500" y="30480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파형 이미지 붙여넣기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9078BD-623F-49CA-9203-63CDC3E18045}"/>
              </a:ext>
            </a:extLst>
          </p:cNvPr>
          <p:cNvSpPr>
            <a:spLocks noGrp="1"/>
          </p:cNvSpPr>
          <p:nvPr/>
        </p:nvSpPr>
        <p:spPr>
          <a:xfrm>
            <a:off x="3048000" y="3524250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99에서 5로 바뀌는 구간은 검증용 프리로드입니다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619125" y="48958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정지 중 U 입력 후 Down 신호 0에서 1로 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R 입력 후 실행 신호 0에서 1로 전환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검증용 값 5 설정 후 5·4·3·2·1·0 감소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23415EB-9CF3-BC5D-6A38-A6B6E0494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1928812"/>
            <a:ext cx="121920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82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B2582F-2D03-4BCB-AE18-D1DAC12825F5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3197C3-EA55-4C7B-AEE9-DA5C8753CEFA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LAP 기능 코드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61DA8B-42AB-4F93-A753-8B1CD0B19A08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1D2A11-CAED-4158-A8FE-02EF33BE09C7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LAP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4E7814-6B9B-4F92-BB58-D9879A4C0DE4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F06CE7-FDEF-469F-B659-2302BFC16E15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6619875" cy="3419475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2ACCCB-67E8-4CAC-AA73-890A4C679E2C}"/>
              </a:ext>
            </a:extLst>
          </p:cNvPr>
          <p:cNvSpPr>
            <a:spLocks noGrp="1"/>
          </p:cNvSpPr>
          <p:nvPr/>
        </p:nvSpPr>
        <p:spPr>
          <a:xfrm>
            <a:off x="7381875" y="1762125"/>
            <a:ext cx="4314825" cy="1457325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53690C-B786-4278-B287-3CC9302FD45E}"/>
              </a:ext>
            </a:extLst>
          </p:cNvPr>
          <p:cNvSpPr>
            <a:spLocks noGrp="1"/>
          </p:cNvSpPr>
          <p:nvPr/>
        </p:nvSpPr>
        <p:spPr>
          <a:xfrm>
            <a:off x="571500" y="1266825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① 상태 전환과 시간 저장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82DE73-764B-4C6C-860C-DEECFDCE7B8C}"/>
              </a:ext>
            </a:extLst>
          </p:cNvPr>
          <p:cNvSpPr>
            <a:spLocks noGrp="1"/>
          </p:cNvSpPr>
          <p:nvPr/>
        </p:nvSpPr>
        <p:spPr>
          <a:xfrm>
            <a:off x="7524750" y="1266825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② 출력값 선택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12F89A-7DD4-432F-9FCC-E2D5CD4A45E3}"/>
              </a:ext>
            </a:extLst>
          </p:cNvPr>
          <p:cNvSpPr>
            <a:spLocks noGrp="1"/>
          </p:cNvSpPr>
          <p:nvPr/>
        </p:nvSpPr>
        <p:spPr>
          <a:xfrm>
            <a:off x="590550" y="1857375"/>
            <a:ext cx="6667500" cy="335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defPPr>
            <a:lvl1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1pPr>
            <a:lvl2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2pPr>
            <a:lvl3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3pPr>
            <a:lvl4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4pPr>
            <a:lvl5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5pPr>
            <a:lvl6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6pPr>
            <a:lvl7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7pPr>
            <a:lvl8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8pPr>
            <a:lvl9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if (i_sw_btn_D) begin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lap_enable &lt;= ~lap_enable;</a:t>
            </a:r>
          </a:p>
          <a:p>
            <a:endParaRPr sz="1725" b="0">
              <a:solidFill>
                <a:srgbClr val="202D3C"/>
              </a:solidFill>
              <a:latin typeface="Consolas"/>
              <a:ea typeface="Consolas"/>
              <a:cs typeface="Consolas"/>
            </a:endParaRP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if (!lap_enable) begin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    save_msec &lt;= i_cnt_msec;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    save_sec  &lt;= i_cnt_sec;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    save_min  &lt;= i_cnt_min;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    save_hour &lt;= i_cnt_hour;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end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end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E4C89F-1666-4DDF-85A4-2D08A4028A0C}"/>
              </a:ext>
            </a:extLst>
          </p:cNvPr>
          <p:cNvSpPr>
            <a:spLocks noGrp="1"/>
          </p:cNvSpPr>
          <p:nvPr/>
        </p:nvSpPr>
        <p:spPr>
          <a:xfrm>
            <a:off x="7524750" y="1905000"/>
            <a:ext cx="40957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assign o_sw_msec =</a:t>
            </a:r>
          </a:p>
          <a:p>
            <a: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lap_enable ?</a:t>
            </a:r>
          </a:p>
          <a:p>
            <a: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save_msec : i_cnt_msec;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63ACBC-2F55-4146-95E8-82D1EC4E5EBA}"/>
              </a:ext>
            </a:extLst>
          </p:cNvPr>
          <p:cNvSpPr>
            <a:spLocks noGrp="1"/>
          </p:cNvSpPr>
          <p:nvPr/>
        </p:nvSpPr>
        <p:spPr>
          <a:xfrm>
            <a:off x="7524750" y="3476625"/>
            <a:ext cx="4095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LAP 1: 저장값 출력</a:t>
            </a:r>
          </a:p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LAP 0: 현재 카운터 값 출력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76AAAE-7C8F-4FA6-9618-4CE031880F4E}"/>
              </a:ext>
            </a:extLst>
          </p:cNvPr>
          <p:cNvSpPr>
            <a:spLocks noGrp="1"/>
          </p:cNvSpPr>
          <p:nvPr/>
        </p:nvSpPr>
        <p:spPr>
          <a:xfrm>
            <a:off x="7524750" y="45148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초·분·시도 같은 방식으로 선택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49649F-BA58-408E-9E6C-E8A6D3553436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LAP을 켤 때만 저장하고, 해제할 때는 저장값 유지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0A44F1E-43E0-4268-B75E-C7ED379A1085}"/>
              </a:ext>
            </a:extLst>
          </p:cNvPr>
          <p:cNvSpPr>
            <a:spLocks noGrp="1"/>
          </p:cNvSpPr>
          <p:nvPr/>
        </p:nvSpPr>
        <p:spPr>
          <a:xfrm>
            <a:off x="7524750" y="493395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현재 카운터는 이 선택과 별개로 계속 동작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D1D2DD-D371-4B9F-83E3-8F25B4CF9197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Reset 또는 Clear 입력 시 LAP 상태와 저장값 초기화</a:t>
            </a:r>
          </a:p>
        </p:txBody>
      </p:sp>
    </p:spTree>
    <p:extLst>
      <p:ext uri="{BB962C8B-B14F-4D97-AF65-F5344CB8AC3E}">
        <p14:creationId xmlns:p14="http://schemas.microsoft.com/office/powerpoint/2010/main" val="724859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B023DF-2679-413C-8CBC-238BD0CE139C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52EEE2-561D-442F-98E0-0DF752918F8A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LAP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검증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1.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시간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저장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유지</a:t>
            </a:r>
            <a:endParaRPr sz="2700" b="1" dirty="0">
              <a:solidFill>
                <a:srgbClr val="10274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02AB08-97A9-420C-8232-066FC0FEE0A7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E25284-738A-42D1-9C25-EE0AFD836943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LAP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01E678-2A4E-4873-9398-841F3B6F4CCD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4F4CBA-B80F-45EB-BFC9-72036EA5C8A9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결과: 내부 카운터는 증가하고, 표시값은 21로 유지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0FACB-28F8-4A5B-8C5B-70F4B34DEC8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시나리오: 측정 중 D 버튼 입력 후 시간 저장과 표시 유지 확인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8EB692-90C0-4B1F-BBD7-9603ADE64785}"/>
              </a:ext>
            </a:extLst>
          </p:cNvPr>
          <p:cNvSpPr>
            <a:spLocks noGrp="1"/>
          </p:cNvSpPr>
          <p:nvPr/>
        </p:nvSpPr>
        <p:spPr>
          <a:xfrm>
            <a:off x="4000500" y="30480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파형 이미지 붙여넣기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9078BD-623F-49CA-9203-63CDC3E18045}"/>
              </a:ext>
            </a:extLst>
          </p:cNvPr>
          <p:cNvSpPr>
            <a:spLocks noGrp="1"/>
          </p:cNvSpPr>
          <p:nvPr/>
        </p:nvSpPr>
        <p:spPr>
          <a:xfrm>
            <a:off x="3048000" y="3524250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이 안내 상자를 삭제한 뒤 원본 캡처를 넣어 주세요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619125" y="48958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버튼 입력 후 LAP 상태 0에서 1로 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현재 카운터 값 21 저장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내부 값은 22~26 증가, 출력·표시값은 21 유지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95FDA39-8164-0110-4EBB-CAE39367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7191"/>
            <a:ext cx="12192000" cy="276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889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A46F77-C5DB-45A6-8F89-8C5A21ACBAE0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1012F3-911A-4248-9C9E-43F0BBF03A97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LAP 검증 2. 해제 및 현재 값 표시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31E96D-9441-4F5C-9924-AC5588B14A49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4CDB16-0E22-44D5-BC20-F1977E4D7F65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LAP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61CFB1-1B03-444D-8BEA-27FAEE648AAA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D4CAED-8C03-45EB-84DB-A4F19DEB7407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결과: 저장값 11 대신 현재 카운터 값 17을 표시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770832-EFEE-4D3A-B553-23D085E0B425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시나리오: LAP 상태에서 D 버튼 재입력 후 현재 값 복귀 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38E49A-DDAB-48DB-9353-10055FBE2FE3}"/>
              </a:ext>
            </a:extLst>
          </p:cNvPr>
          <p:cNvSpPr>
            <a:spLocks noGrp="1"/>
          </p:cNvSpPr>
          <p:nvPr/>
        </p:nvSpPr>
        <p:spPr>
          <a:xfrm>
            <a:off x="571500" y="2238375"/>
            <a:ext cx="11049000" cy="2381250"/>
          </a:xfrm>
          <a:prstGeom prst="rect">
            <a:avLst/>
          </a:prstGeom>
          <a:solidFill>
            <a:srgbClr val="F4F7FA"/>
          </a:solidFill>
          <a:ln w="9525">
            <a:solidFill>
              <a:srgbClr val="CCD6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C2C80B5-7E4D-46F5-A9A4-AA8C1095800C}"/>
              </a:ext>
            </a:extLst>
          </p:cNvPr>
          <p:cNvSpPr>
            <a:spLocks noGrp="1"/>
          </p:cNvSpPr>
          <p:nvPr/>
        </p:nvSpPr>
        <p:spPr>
          <a:xfrm>
            <a:off x="4000500" y="30480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파형 이미지 붙여넣기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4D2166-6143-4A6F-8FC1-0EE7C96ED0D6}"/>
              </a:ext>
            </a:extLst>
          </p:cNvPr>
          <p:cNvSpPr>
            <a:spLocks noGrp="1"/>
          </p:cNvSpPr>
          <p:nvPr/>
        </p:nvSpPr>
        <p:spPr>
          <a:xfrm>
            <a:off x="3048000" y="3524250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이 안내 상자를 삭제한 뒤 원본 캡처를 넣어 주세요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05E62E-A54E-4AE0-BA6A-20DB4C2F4C14}"/>
              </a:ext>
            </a:extLst>
          </p:cNvPr>
          <p:cNvSpPr>
            <a:spLocks noGrp="1"/>
          </p:cNvSpPr>
          <p:nvPr/>
        </p:nvSpPr>
        <p:spPr>
          <a:xfrm>
            <a:off x="619125" y="48958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34033F-88BC-4728-9207-630528713E2F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버튼 입력 후 LAP 상태 1에서 0으로 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C34282-A755-4809-BC36-2D8AD1216C02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7F5408-0AE5-4DD8-A57B-8B51F964CA4A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저장값 11은 해제 후에도 유지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3E6573-7ABA-4474-9FEB-7DD5B40E8683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DCC15B-93F8-4C23-B9DF-B8288C3F800A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출력·표시값이 현재 카운터 값 17로 변경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74660EB-E0A9-9A40-2789-D39DE0A93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1860794"/>
            <a:ext cx="12192000" cy="29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83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B46D-F593-D89A-F214-0F5060832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42FB15-4657-336F-7183-BBBD2F71AE87}"/>
              </a:ext>
            </a:extLst>
          </p:cNvPr>
          <p:cNvSpPr txBox="1"/>
          <p:nvPr/>
        </p:nvSpPr>
        <p:spPr>
          <a:xfrm>
            <a:off x="4870704" y="2731008"/>
            <a:ext cx="2871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3.</a:t>
            </a:r>
            <a:r>
              <a:rPr lang="ko-KR" altLang="en-US"/>
              <a:t> </a:t>
            </a:r>
            <a:r>
              <a:rPr lang="en-US" altLang="ko-KR"/>
              <a:t>timer</a:t>
            </a:r>
            <a:r>
              <a:rPr lang="ko-KR" altLang="en-US"/>
              <a:t> 시뮬레이션 </a:t>
            </a:r>
          </a:p>
        </p:txBody>
      </p:sp>
    </p:spTree>
    <p:extLst>
      <p:ext uri="{BB962C8B-B14F-4D97-AF65-F5344CB8AC3E}">
        <p14:creationId xmlns:p14="http://schemas.microsoft.com/office/powerpoint/2010/main" val="578834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1. 동작 사양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 · RUN · ALARM 3상태 FSM — 버튼 4개로 더하고, 시작하고, 끈다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75360" y="3108960"/>
            <a:ext cx="2133600" cy="1158240"/>
          </a:xfrm>
          <a:prstGeom prst="ellipse">
            <a:avLst/>
          </a:prstGeom>
          <a:solidFill>
            <a:srgbClr val="E6ECF5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</a:t>
            </a:r>
            <a:endParaRPr lang="en-US" sz="2133" dirty="0"/>
          </a:p>
          <a:p>
            <a:pPr algn="ct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· 화면 MM.SS</a:t>
            </a:r>
            <a:endParaRPr lang="en-US" sz="2133" dirty="0"/>
          </a:p>
        </p:txBody>
      </p:sp>
      <p:sp>
        <p:nvSpPr>
          <p:cNvPr id="7" name="Text 4"/>
          <p:cNvSpPr/>
          <p:nvPr/>
        </p:nvSpPr>
        <p:spPr>
          <a:xfrm>
            <a:off x="4998720" y="1524000"/>
            <a:ext cx="2133600" cy="1158240"/>
          </a:xfrm>
          <a:prstGeom prst="ellipse">
            <a:avLst/>
          </a:prstGeom>
          <a:solidFill>
            <a:srgbClr val="E3F1E4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2133" dirty="0"/>
          </a:p>
          <a:p>
            <a:pPr algn="ct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ms 마다 −1</a:t>
            </a:r>
            <a:endParaRPr lang="en-US" sz="2133" dirty="0"/>
          </a:p>
        </p:txBody>
      </p:sp>
      <p:sp>
        <p:nvSpPr>
          <p:cNvPr id="8" name="Text 5"/>
          <p:cNvSpPr/>
          <p:nvPr/>
        </p:nvSpPr>
        <p:spPr>
          <a:xfrm>
            <a:off x="9022080" y="3108960"/>
            <a:ext cx="2133600" cy="1158240"/>
          </a:xfrm>
          <a:prstGeom prst="ellipse">
            <a:avLst/>
          </a:prstGeom>
          <a:solidFill>
            <a:srgbClr val="FFF4D6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ALARM</a:t>
            </a:r>
            <a:endParaRPr lang="en-US" sz="2133" dirty="0"/>
          </a:p>
          <a:p>
            <a:pPr algn="ct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16개 점멸</a:t>
            </a:r>
            <a:endParaRPr lang="en-US" sz="2133" dirty="0"/>
          </a:p>
        </p:txBody>
      </p:sp>
      <p:sp>
        <p:nvSpPr>
          <p:cNvPr id="9" name="Shape 6"/>
          <p:cNvSpPr/>
          <p:nvPr/>
        </p:nvSpPr>
        <p:spPr>
          <a:xfrm flipV="1">
            <a:off x="2776228" y="2351665"/>
            <a:ext cx="2325736" cy="916199"/>
          </a:xfrm>
          <a:prstGeom prst="line">
            <a:avLst/>
          </a:prstGeom>
          <a:noFill/>
          <a:ln w="2222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865120" y="2377440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(값 ≠ 0)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flipH="1">
            <a:off x="3005716" y="2523338"/>
            <a:ext cx="2325736" cy="916199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4084320" y="3194304"/>
            <a:ext cx="2316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취소 (0 으로)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928935" y="2443254"/>
            <a:ext cx="2296532" cy="904695"/>
          </a:xfrm>
          <a:prstGeom prst="line">
            <a:avLst/>
          </a:prstGeom>
          <a:noFill/>
          <a:ln w="2222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229600" y="2414016"/>
            <a:ext cx="1219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도달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flipH="1">
            <a:off x="3009787" y="3931920"/>
            <a:ext cx="6111468" cy="1219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4206240" y="4023360"/>
            <a:ext cx="3901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버튼</a:t>
            </a: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알람 끄기 (값 그대로)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975360" y="4815840"/>
          <a:ext cx="6583680" cy="73152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SET 에서 버튼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+10초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+1분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+10분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975360" y="5705856"/>
            <a:ext cx="10485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59:59</a:t>
            </a: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더해서 60분 이상이면 59:59 로 멈춤 (화면이 분.초 4자리)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975360" y="6071616"/>
            <a:ext cx="10728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중 U · R · D 는 무시</a:t>
            </a:r>
            <a:r>
              <a:rPr lang="en-US" sz="1533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timer_sw4 = 1 이면 다른 화면보다 우선  ·  다른 화면에서도 타이머는 계속 감</a:t>
            </a:r>
            <a:endParaRPr lang="en-US" sz="153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2. 구조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컨트롤 유닛(FSM, 언제) + 데이터패스(값) — 0 도달은 데이터패스가 알려 줌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1889760"/>
            <a:ext cx="12192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 R L U D</a:t>
            </a:r>
            <a:endParaRPr lang="en-US" sz="1467" dirty="0"/>
          </a:p>
        </p:txBody>
      </p:sp>
      <p:sp>
        <p:nvSpPr>
          <p:cNvPr id="7" name="Text 4"/>
          <p:cNvSpPr/>
          <p:nvPr/>
        </p:nvSpPr>
        <p:spPr>
          <a:xfrm>
            <a:off x="1889760" y="1889760"/>
            <a:ext cx="1280160" cy="91440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U_BD ×4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디바운서</a:t>
            </a:r>
            <a:endParaRPr lang="en-US" sz="1467" dirty="0"/>
          </a:p>
        </p:txBody>
      </p:sp>
      <p:sp>
        <p:nvSpPr>
          <p:cNvPr id="8" name="Text 5"/>
          <p:cNvSpPr/>
          <p:nvPr/>
        </p:nvSpPr>
        <p:spPr>
          <a:xfrm>
            <a:off x="3474720" y="1889760"/>
            <a:ext cx="12192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게이팅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timer_sw4</a:t>
            </a:r>
            <a:endParaRPr lang="en-US" sz="1467" dirty="0"/>
          </a:p>
        </p:txBody>
      </p:sp>
      <p:sp>
        <p:nvSpPr>
          <p:cNvPr id="9" name="Text 6"/>
          <p:cNvSpPr/>
          <p:nvPr/>
        </p:nvSpPr>
        <p:spPr>
          <a:xfrm>
            <a:off x="5059680" y="1889760"/>
            <a:ext cx="2682240" cy="91440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U_TIMER_CONTROL_UNIT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  SET · RUN · ALARM</a:t>
            </a:r>
            <a:endParaRPr lang="en-US" sz="1467" dirty="0"/>
          </a:p>
        </p:txBody>
      </p:sp>
      <p:sp>
        <p:nvSpPr>
          <p:cNvPr id="10" name="Text 7"/>
          <p:cNvSpPr/>
          <p:nvPr/>
        </p:nvSpPr>
        <p:spPr>
          <a:xfrm>
            <a:off x="5059680" y="3718560"/>
            <a:ext cx="2682240" cy="914400"/>
          </a:xfrm>
          <a:prstGeom prst="rect">
            <a:avLst/>
          </a:prstGeom>
          <a:solidFill>
            <a:srgbClr val="E3F1E4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U_TIMER_DATAPATH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 · 초 · 1/100초 레지스터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8534400" y="3718560"/>
            <a:ext cx="134112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MUX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분.초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10302240" y="3718560"/>
            <a:ext cx="1341120" cy="91440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FND</a:t>
            </a:r>
            <a:endParaRPr lang="en-US" sz="1467" dirty="0"/>
          </a:p>
        </p:txBody>
      </p:sp>
      <p:sp>
        <p:nvSpPr>
          <p:cNvPr id="13" name="Text 10"/>
          <p:cNvSpPr/>
          <p:nvPr/>
        </p:nvSpPr>
        <p:spPr>
          <a:xfrm>
            <a:off x="10302240" y="1889760"/>
            <a:ext cx="1341120" cy="914400"/>
          </a:xfrm>
          <a:prstGeom prst="rect">
            <a:avLst/>
          </a:prstGeom>
          <a:solidFill>
            <a:srgbClr val="FFF4D6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×16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 점멸</a:t>
            </a:r>
            <a:endParaRPr lang="en-US" sz="1467" dirty="0"/>
          </a:p>
        </p:txBody>
      </p:sp>
      <p:sp>
        <p:nvSpPr>
          <p:cNvPr id="14" name="Text 11"/>
          <p:cNvSpPr/>
          <p:nvPr/>
        </p:nvSpPr>
        <p:spPr>
          <a:xfrm>
            <a:off x="1889760" y="3718560"/>
            <a:ext cx="2560320" cy="914400"/>
          </a:xfrm>
          <a:prstGeom prst="rect">
            <a:avLst/>
          </a:prstGeom>
          <a:solidFill>
            <a:srgbClr val="FFF4D6"/>
          </a:solidFill>
          <a:ln w="15875">
            <a:solidFill>
              <a:srgbClr val="B7791F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U_TICK_GEN_TM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ms · RUN 순간부터</a:t>
            </a:r>
            <a:endParaRPr lang="en-US" sz="1467" dirty="0"/>
          </a:p>
        </p:txBody>
      </p:sp>
      <p:sp>
        <p:nvSpPr>
          <p:cNvPr id="15" name="Shape 12"/>
          <p:cNvSpPr/>
          <p:nvPr/>
        </p:nvSpPr>
        <p:spPr>
          <a:xfrm>
            <a:off x="1584960" y="2346960"/>
            <a:ext cx="304800" cy="1219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3169920" y="2346960"/>
            <a:ext cx="304800" cy="1219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693920" y="2346960"/>
            <a:ext cx="365760" cy="1219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7741920" y="2346960"/>
            <a:ext cx="2560320" cy="1219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046720" y="1987296"/>
            <a:ext cx="195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o_tm_alarm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2804160"/>
            <a:ext cx="1219" cy="91440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3535680" y="3048000"/>
            <a:ext cx="2377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· clear · add · amount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 flipV="1">
            <a:off x="6766560" y="2804160"/>
            <a:ext cx="1219" cy="9144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888480" y="3108960"/>
            <a:ext cx="1463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o_tm_zero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450080" y="4169664"/>
            <a:ext cx="609600" cy="1219"/>
          </a:xfrm>
          <a:prstGeom prst="line">
            <a:avLst/>
          </a:prstGeom>
          <a:noFill/>
          <a:ln w="15875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7741920" y="4169664"/>
            <a:ext cx="792480" cy="1219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9875520" y="4169664"/>
            <a:ext cx="426720" cy="1219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487680" y="5242560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사슬</a:t>
            </a:r>
            <a:r>
              <a:rPr lang="en-US" sz="1533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시계 · 스톱워치도 버튼 → 디바운서 → 게이팅 → FSM → 데이터패스 → 화면. 4 kHz 디바운스 박자와 FND 는 셋이 공유</a:t>
            </a:r>
            <a:endParaRPr lang="en-US" sz="153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3. 검증 방법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3개 · 검사 73개를 $display 로 자동 판정 — 사람이 파형을 읽기 전에 PASS/FAIL 이 먼저 나옴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87680" y="1219200"/>
          <a:ext cx="11216640" cy="1755648"/>
        </p:xfrm>
        <a:graphic>
          <a:graphicData uri="http://schemas.openxmlformats.org/drawingml/2006/table">
            <a:tbl>
              <a:tblPr/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확인하는 것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TM1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더하기 3종 · 초→분 올림 · 59:59 상한 · 0 에서 시작 안 함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TM2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10초 카운트다운 · 알람 LED 점멸 · 끄기 · 분 빌림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TM3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중 버튼 무시 · 취소 · 시계 화면에서도 알람 · 화면 우선순위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87680" y="3230880"/>
            <a:ext cx="11216640" cy="1889760"/>
          </a:xfrm>
          <a:prstGeom prst="rect">
            <a:avLst/>
          </a:prstGeom>
          <a:solidFill>
            <a:srgbClr val="1E1E1E"/>
          </a:solidFill>
          <a:ln w="635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609600" y="3328416"/>
            <a:ext cx="10972800" cy="1694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Vivado xsim 콘솔 — 팀 TB (SystemVerilog) 마지막 줄 (뒷부분 항목 생략)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455.019 ms] [SUMMARY] TM1 checks=21 fail=0 =&gt; PASS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[11597.002 ms] [SUMMARY] TM2 checks=41 fail=0 =&gt; PASS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547.009 ms] [SUMMARY] TM3 checks=11 fail=0 =&gt; PASS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같은 시나리오를 수업 Verilog 문법(err 카운트)으로 옮긴 TB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TM1 checks = 21, TOTAL MISMATCH = 0   (TM2 41 · TM3 11 도 0)</a:t>
            </a:r>
            <a:endParaRPr lang="en-US" sz="1467" dirty="0"/>
          </a:p>
        </p:txBody>
      </p:sp>
      <p:sp>
        <p:nvSpPr>
          <p:cNvPr id="9" name="Text 5"/>
          <p:cNvSpPr txBox="1"/>
          <p:nvPr/>
        </p:nvSpPr>
        <p:spPr>
          <a:xfrm>
            <a:off x="487680" y="530352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예  </a:t>
            </a:r>
            <a:r>
              <a:rPr lang="en-US" sz="1533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(값 !== 기대값) err = err + 1;  $display("FAIL …");</a:t>
            </a:r>
            <a:r>
              <a:rPr lang="en-US" sz="15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끝에 TOTAL MISMATCH 출력</a:t>
            </a:r>
            <a:endParaRPr lang="en-US" sz="1533" dirty="0"/>
          </a:p>
        </p:txBody>
      </p:sp>
      <p:sp>
        <p:nvSpPr>
          <p:cNvPr id="10" name="Text 6"/>
          <p:cNvSpPr txBox="1"/>
          <p:nvPr/>
        </p:nvSpPr>
        <p:spPr>
          <a:xfrm>
            <a:off x="487680" y="5791200"/>
            <a:ext cx="11216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캡처는 10/17 소스, 결과 숫자는 10/18 최종 소스(④ 반영) 기준 — 둘 다 같은 TB 전부 PASS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1. 더하기 · 상한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U 6번째 — 00:50 + 10초 = 01:00 (60초 아님)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0"/>
            <a:ext cx="11216640" cy="165197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0"/>
            <a:ext cx="11216640" cy="165197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4198628" y="1650150"/>
            <a:ext cx="4812261" cy="40700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4003556" y="1455077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702279" y="2464163"/>
            <a:ext cx="6045255" cy="40700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2507207" y="2269091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771474" y="2081098"/>
            <a:ext cx="2932847" cy="790073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8576401" y="1886025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7680" y="2932131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4 · 5 · 6번째 add 펄스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②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30 → 40 → 50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③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6번째: 분 1 · 초 0</a:t>
            </a:r>
            <a:endParaRPr lang="en-US" sz="1733" dirty="0"/>
          </a:p>
        </p:txBody>
      </p:sp>
      <p:pic>
        <p:nvPicPr>
          <p:cNvPr id="15" name="Image 1" descr="C:\Users\LG\Developer\Lec_verilog\Mini_Project_watch\timer_present\_gen\strips\P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3474720"/>
            <a:ext cx="10376357" cy="17068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7680" y="3474720"/>
            <a:ext cx="10376357" cy="17068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5068013" y="3916790"/>
            <a:ext cx="1215692" cy="41751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4872940" y="3721717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074950" y="4334301"/>
            <a:ext cx="392951" cy="8473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5879877" y="4139228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2722588" y="3916789"/>
            <a:ext cx="1019216" cy="126481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2527516" y="3721717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487680" y="52425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6번째 add 펄스 (ns 확대)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⑤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클럭 00:50 → 01:00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⑥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값: 분 1 · 초 0</a:t>
            </a:r>
            <a:endParaRPr lang="en-US" sz="1733" dirty="0"/>
          </a:p>
        </p:txBody>
      </p:sp>
      <p:sp>
        <p:nvSpPr>
          <p:cNvPr id="24" name="Text 19"/>
          <p:cNvSpPr/>
          <p:nvPr/>
        </p:nvSpPr>
        <p:spPr>
          <a:xfrm>
            <a:off x="2438400" y="5754624"/>
            <a:ext cx="7315200" cy="609600"/>
          </a:xfrm>
          <a:prstGeom prst="rect">
            <a:avLst/>
          </a:prstGeom>
          <a:solidFill>
            <a:srgbClr val="F3F4F6"/>
          </a:solidFill>
          <a:ln w="12700">
            <a:solidFill>
              <a:srgbClr val="C9CED6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00:50 + 0:10</a:t>
            </a:r>
            <a:r>
              <a:rPr lang="en-US" sz="2267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=  초 60  →  분 올림  →  </a:t>
            </a:r>
            <a:r>
              <a:rPr lang="en-US" sz="2267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01:00</a:t>
            </a:r>
            <a:endParaRPr lang="en-US" sz="2267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1. 더하기 · 상한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59:50 + 10초 → 59:59 에서 멈춤 (화면이 분.초 4자리라 60:00 불가)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0"/>
            <a:ext cx="10667187" cy="2072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0"/>
            <a:ext cx="10667187" cy="2072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4605326" y="1827176"/>
            <a:ext cx="607975" cy="146466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4410253" y="1632103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437934" y="1827176"/>
            <a:ext cx="469799" cy="146466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7242861" y="1632103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18272" y="2324608"/>
            <a:ext cx="3136595" cy="9672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823200" y="2129536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7680" y="3364992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U: 59:40 → 59:50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②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U: 59:50 → 59:59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③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59:59 유지 (60:00 아님)</a:t>
            </a:r>
            <a:endParaRPr lang="en-US" sz="1733" dirty="0"/>
          </a:p>
        </p:txBody>
      </p:sp>
      <p:sp>
        <p:nvSpPr>
          <p:cNvPr id="15" name="Text 11"/>
          <p:cNvSpPr/>
          <p:nvPr/>
        </p:nvSpPr>
        <p:spPr>
          <a:xfrm>
            <a:off x="1950720" y="4206240"/>
            <a:ext cx="8290560" cy="755904"/>
          </a:xfrm>
          <a:prstGeom prst="rect">
            <a:avLst/>
          </a:prstGeom>
          <a:solidFill>
            <a:srgbClr val="F3F4F6"/>
          </a:solidFill>
          <a:ln w="12700">
            <a:solidFill>
              <a:srgbClr val="C9CED6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26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59:50 + 0:10 = 60:00</a:t>
            </a:r>
            <a:r>
              <a:rPr lang="en-US" sz="2667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상한 적용   →   </a:t>
            </a:r>
            <a:r>
              <a:rPr lang="en-US" sz="2667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59:59</a:t>
            </a:r>
            <a:endParaRPr lang="en-US" sz="2667" dirty="0"/>
          </a:p>
        </p:txBody>
      </p:sp>
      <p:sp>
        <p:nvSpPr>
          <p:cNvPr id="16" name="Text 12"/>
          <p:cNvSpPr txBox="1"/>
          <p:nvPr/>
        </p:nvSpPr>
        <p:spPr>
          <a:xfrm>
            <a:off x="487680" y="524256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timer_datapath: 더한 값이 60분 이상이면 59:59 로 제한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2. 카운트다운 · 알람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00:10 설정 → 시작부터 알람까지 10.000000020 s (= 10 s + 2클럭)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1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0"/>
            <a:ext cx="11216640" cy="388729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0"/>
            <a:ext cx="11216640" cy="388729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056377" y="1458946"/>
            <a:ext cx="2089207" cy="3082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678424" y="144237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560157" y="2349427"/>
            <a:ext cx="4144163" cy="157546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7365085" y="2154355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594407" y="4575630"/>
            <a:ext cx="2191955" cy="291119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216455" y="4550501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7680" y="5179645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시작 커서 0.012 s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②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→ ALARM, alarm 1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③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 10.000000020 s</a:t>
            </a:r>
            <a:endParaRPr lang="en-US" sz="1733" dirty="0"/>
          </a:p>
        </p:txBody>
      </p:sp>
      <p:sp>
        <p:nvSpPr>
          <p:cNvPr id="15" name="Text 11"/>
          <p:cNvSpPr txBox="1"/>
          <p:nvPr/>
        </p:nvSpPr>
        <p:spPr>
          <a:xfrm>
            <a:off x="487680" y="5618557"/>
            <a:ext cx="11216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≋ = 1 s ~ 10 s 생략 (초 9 → 1 이 1초마다 줄어듦) · After = ④ 소스, 클로드코드 배치 실행 wdb 를 열어 캡처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2. 카운트다운 · 알람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알람 중 LED 16개가 0.5 s 켜짐 · 0.5 s 꺼짐 반복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1"/>
            <a:ext cx="11216640" cy="150176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1"/>
            <a:ext cx="11216640" cy="150176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2124088" y="2151331"/>
            <a:ext cx="7943825" cy="28999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1746135" y="2125641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995413" y="2420614"/>
            <a:ext cx="1708907" cy="300353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9617461" y="2400101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7680" y="2781927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= ffff, 0.5 s 동안 켜짐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②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1/100초 00 → led 0000 (꺼짐)</a:t>
            </a:r>
            <a:endParaRPr lang="en-US" sz="1733" dirty="0"/>
          </a:p>
        </p:txBody>
      </p:sp>
      <p:pic>
        <p:nvPicPr>
          <p:cNvPr id="13" name="Image 1" descr="C:\Users\LG\Developer\Lec_verilog\Mini_Project_watch\timer_present\_gen\strips\P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107" y="3352800"/>
            <a:ext cx="9853787" cy="17678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69107" y="3352800"/>
            <a:ext cx="9853787" cy="17678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80863" y="4244407"/>
            <a:ext cx="1168312" cy="906979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5585791" y="4049335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7680" y="518160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확대: 시계 1/100초 49 → 50 인 클럭에 0000 → ffff</a:t>
            </a:r>
            <a:endParaRPr lang="en-US" sz="173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2. 카운트다운 · 알람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빌림 정상 — 01:00.00 → 00:59.99, 10:00.00 → 09:59.99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0"/>
            <a:ext cx="11216640" cy="194367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0"/>
            <a:ext cx="11216640" cy="194367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119744" y="2002071"/>
            <a:ext cx="364440" cy="116080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924672" y="180699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383872" y="1516151"/>
            <a:ext cx="3320449" cy="164672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8188799" y="132107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7680" y="3211645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01:00.00 넣음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②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tick → 00:59.99</a:t>
            </a:r>
            <a:endParaRPr lang="en-US" sz="1733" dirty="0"/>
          </a:p>
        </p:txBody>
      </p:sp>
      <p:pic>
        <p:nvPicPr>
          <p:cNvPr id="13" name="Image 1" descr="C:\Users\LG\Developer\Lec_verilog\Mini_Project_watch\timer_present\_gen\strips\P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3657600"/>
            <a:ext cx="11216640" cy="194367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7680" y="3657600"/>
            <a:ext cx="11216640" cy="194367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3119744" y="4440471"/>
            <a:ext cx="364440" cy="116080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2924672" y="424539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383872" y="3954551"/>
            <a:ext cx="3320449" cy="164672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8188799" y="375947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7680" y="5650045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10:00.00 넣음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④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tick → 09:59.99</a:t>
            </a:r>
            <a:endParaRPr lang="en-US" sz="173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3. 취소 · 백그라운드 · 우선순위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시계 화면으로 바꿔도 타이머는 계속 줄고, 0 이 되면 알람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T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80161"/>
            <a:ext cx="5425440" cy="19567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80161"/>
            <a:ext cx="5425440" cy="195671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767403" y="1569221"/>
            <a:ext cx="444708" cy="35576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3389451" y="1576416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822992" y="2592049"/>
            <a:ext cx="2090128" cy="31129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445040" y="257700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C:\Users\LG\Developer\Lec_verilog\Mini_Project_watch\timer_present\_gen\strips\T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80" y="1280160"/>
            <a:ext cx="5425440" cy="206237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78880" y="1280160"/>
            <a:ext cx="5425440" cy="206237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9349000" y="1959806"/>
            <a:ext cx="2355320" cy="70308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9153928" y="1764733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349000" y="2990990"/>
            <a:ext cx="2355320" cy="3515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8971048" y="2996072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7680" y="3383180"/>
            <a:ext cx="542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timer_sw4 1 → 0 (시계 화면)</a:t>
            </a:r>
            <a:endParaRPr lang="en-US" sz="1733" dirty="0"/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계속 줄어듦 99 → 30 → 29 …</a:t>
            </a:r>
            <a:endParaRPr lang="en-US" sz="1733" dirty="0"/>
          </a:p>
        </p:txBody>
      </p:sp>
      <p:sp>
        <p:nvSpPr>
          <p:cNvPr id="19" name="Text 14"/>
          <p:cNvSpPr txBox="1"/>
          <p:nvPr/>
        </p:nvSpPr>
        <p:spPr>
          <a:xfrm>
            <a:off x="6278880" y="3488835"/>
            <a:ext cx="542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→ ALARM, alarm 1</a:t>
            </a:r>
            <a:endParaRPr lang="en-US" sz="1733" dirty="0"/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점멸 (이 순간은 꺼진 쪽 0000)</a:t>
            </a:r>
            <a:endParaRPr lang="en-US" sz="1733" dirty="0"/>
          </a:p>
        </p:txBody>
      </p:sp>
      <p:sp>
        <p:nvSpPr>
          <p:cNvPr id="20" name="Text 15"/>
          <p:cNvSpPr/>
          <p:nvPr/>
        </p:nvSpPr>
        <p:spPr>
          <a:xfrm>
            <a:off x="487680" y="5425440"/>
            <a:ext cx="3169920" cy="60960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~150 ms</a:t>
            </a: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sw4 → 0 (시계 화면)</a:t>
            </a:r>
            <a:endParaRPr lang="en-US" sz="1733" dirty="0"/>
          </a:p>
        </p:txBody>
      </p:sp>
      <p:sp>
        <p:nvSpPr>
          <p:cNvPr id="21" name="Shape 16"/>
          <p:cNvSpPr/>
          <p:nvPr/>
        </p:nvSpPr>
        <p:spPr>
          <a:xfrm>
            <a:off x="3718560" y="5730240"/>
            <a:ext cx="4754880" cy="1219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3718560" y="5364480"/>
            <a:ext cx="4754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67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310 ms 동안 화면은 시계, 타이머는 계속 감소</a:t>
            </a:r>
            <a:endParaRPr lang="en-US" sz="1667" dirty="0"/>
          </a:p>
        </p:txBody>
      </p:sp>
      <p:sp>
        <p:nvSpPr>
          <p:cNvPr id="23" name="Text 18"/>
          <p:cNvSpPr/>
          <p:nvPr/>
        </p:nvSpPr>
        <p:spPr>
          <a:xfrm>
            <a:off x="8534400" y="5425440"/>
            <a:ext cx="3169920" cy="609600"/>
          </a:xfrm>
          <a:prstGeom prst="rect">
            <a:avLst/>
          </a:prstGeom>
          <a:solidFill>
            <a:srgbClr val="FFF4D6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~460 ms</a:t>
            </a: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0 → ALARM</a:t>
            </a:r>
            <a:endParaRPr lang="en-US" sz="173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3. 취소 · 백그라운드 · 우선순위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sw4 · sw0 둘 다 1 이면 타이머 화면, 알람 중 R 은 알람만 끄고 값은 그대로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0"/>
            <a:ext cx="11216640" cy="370668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0"/>
            <a:ext cx="11216640" cy="370668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916664" y="2088521"/>
            <a:ext cx="458808" cy="118324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3721592" y="1893448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423767" y="1581416"/>
            <a:ext cx="5240067" cy="45880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4228695" y="1386344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14112" y="3295909"/>
            <a:ext cx="5590209" cy="772729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5919039" y="3100836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834280" y="4116932"/>
            <a:ext cx="6870041" cy="41051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4639207" y="3921860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14112" y="4551592"/>
            <a:ext cx="5590209" cy="3742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5736159" y="456804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87680" y="4986843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sw4 1 (sw0 도 1) → 타이머 화면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②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누름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③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ALARM → SET, alarm 0</a:t>
            </a:r>
            <a:endParaRPr lang="en-US" sz="1733" dirty="0"/>
          </a:p>
        </p:txBody>
      </p:sp>
      <p:sp>
        <p:nvSpPr>
          <p:cNvPr id="19" name="Text 15"/>
          <p:cNvSpPr txBox="1"/>
          <p:nvPr/>
        </p:nvSpPr>
        <p:spPr>
          <a:xfrm>
            <a:off x="487680" y="5376987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그대로 (1분 안 더함)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⑤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점멸 끝 (0020)</a:t>
            </a:r>
            <a:endParaRPr lang="en-US" sz="173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신뢰도 — TB 가 틀린 설계를 정말 잡는가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복사본에 bug 를 일부러 넣고 같은 TB 로 돌림 (변이 테스트)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87680" y="1280160"/>
          <a:ext cx="11216640" cy="1853184"/>
        </p:xfrm>
        <a:graphic>
          <a:graphicData uri="http://schemas.openxmlformats.org/drawingml/2006/table">
            <a:tbl>
              <a:tblPr/>
              <a:tblGrid>
                <a:gridCol w="682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2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일부러 넣은 bug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timer_datapath: 59:59 상한 조건을 끔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TM1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FAIL 7개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timer_control_unit: RUN 에서 U 를 받아 +10초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TM3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FAIL 1개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원래 설계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TM1 · TM3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MISMATCH 0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87680" y="3474720"/>
            <a:ext cx="11216640" cy="1706880"/>
          </a:xfrm>
          <a:prstGeom prst="rect">
            <a:avLst/>
          </a:prstGeom>
          <a:solidFill>
            <a:srgbClr val="1E1E1E"/>
          </a:solidFill>
          <a:ln w="635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609600" y="3572256"/>
            <a:ext cx="1097280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bug 넣은 설계로 돌린 콘솔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[310015010 ns] FAIL P5 TB1 59:50 + U exp 59:59.00 got 60:0.0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TM1 checks = 21, TOTAL MISMATCH = 7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[50003010 ns] FAIL P1 TC2 U/R/D during RUN exp (5989,5999) got 6996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TM3 checks = 11, TOTAL MISMATCH = 1</a:t>
            </a:r>
            <a:endParaRPr lang="en-US" sz="1467" dirty="0"/>
          </a:p>
        </p:txBody>
      </p:sp>
      <p:sp>
        <p:nvSpPr>
          <p:cNvPr id="9" name="Text 5"/>
          <p:cNvSpPr txBox="1"/>
          <p:nvPr/>
        </p:nvSpPr>
        <p:spPr>
          <a:xfrm>
            <a:off x="487680" y="542544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MISMATCH 0 은 "검사가 엉성해서 0" 이 아니라 설계가 사양대로라는 뜻</a:t>
            </a:r>
            <a:endParaRPr lang="en-US" sz="173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트러블슈팅 — 10초 타이머가 9.998초에 울림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현상 · ② 원인: 100 Hz tick 하나를 시계 · 스톱워치 · 타이머가 같이 씀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1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1"/>
            <a:ext cx="6644640" cy="258676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1"/>
            <a:ext cx="6644640" cy="2586769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5374897" y="3351805"/>
            <a:ext cx="1431609" cy="197463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4996944" y="3279847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87680" y="3879121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현상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RUN 시작 → ALARM 간격 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9.998000010 s</a:t>
            </a:r>
            <a:endParaRPr lang="en-US" sz="1733" dirty="0"/>
          </a:p>
        </p:txBody>
      </p:sp>
      <p:sp>
        <p:nvSpPr>
          <p:cNvPr id="11" name="Text 7"/>
          <p:cNvSpPr txBox="1"/>
          <p:nvPr/>
        </p:nvSpPr>
        <p:spPr>
          <a:xfrm>
            <a:off x="487680" y="4269265"/>
            <a:ext cx="6705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10/17 캡처 · 가운데 ≋ = 1~9 s 생략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76160" y="121920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원인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376160" y="1621536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tick (리셋부터 항상 10 ms 박자)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76160" y="2438400"/>
            <a:ext cx="4267200" cy="121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620000" y="2133600"/>
            <a:ext cx="1219" cy="304800"/>
          </a:xfrm>
          <a:prstGeom prst="line">
            <a:avLst/>
          </a:prstGeom>
          <a:noFill/>
          <a:ln w="28575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839200" y="2133600"/>
            <a:ext cx="1219" cy="304800"/>
          </a:xfrm>
          <a:prstGeom prst="line">
            <a:avLst/>
          </a:prstGeom>
          <a:noFill/>
          <a:ln w="28575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0058400" y="2133600"/>
            <a:ext cx="1219" cy="304800"/>
          </a:xfrm>
          <a:prstGeom prst="line">
            <a:avLst/>
          </a:prstGeom>
          <a:noFill/>
          <a:ln w="28575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11277600" y="2133600"/>
            <a:ext cx="1219" cy="304800"/>
          </a:xfrm>
          <a:prstGeom prst="line">
            <a:avLst/>
          </a:prstGeom>
          <a:noFill/>
          <a:ln w="28575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7863840" y="2109216"/>
            <a:ext cx="7315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ms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839200" y="2438400"/>
            <a:ext cx="1219" cy="512064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10058400" y="2438400"/>
            <a:ext cx="1219" cy="512064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8278368" y="2804160"/>
            <a:ext cx="60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9022080" y="2889504"/>
            <a:ext cx="121920" cy="121920"/>
          </a:xfrm>
          <a:prstGeom prst="ellipse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9144000" y="2950464"/>
            <a:ext cx="914400" cy="1219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10143744" y="2804160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ms</a:t>
            </a: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 감소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839200" y="2438400"/>
            <a:ext cx="1219" cy="999744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10058400" y="2438400"/>
            <a:ext cx="1219" cy="999744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8644128" y="3291840"/>
            <a:ext cx="60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9387840" y="3377184"/>
            <a:ext cx="121920" cy="121920"/>
          </a:xfrm>
          <a:prstGeom prst="ellipse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9509760" y="3438144"/>
            <a:ext cx="548640" cy="1219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10143744" y="3291840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ms</a:t>
            </a: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 감소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8839200" y="2438400"/>
            <a:ext cx="1219" cy="1487424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10058400" y="2438400"/>
            <a:ext cx="1219" cy="1487424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 txBox="1"/>
          <p:nvPr/>
        </p:nvSpPr>
        <p:spPr>
          <a:xfrm>
            <a:off x="9009888" y="3779520"/>
            <a:ext cx="60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9753600" y="3864864"/>
            <a:ext cx="121920" cy="121920"/>
          </a:xfrm>
          <a:prstGeom prst="ellipse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9875520" y="3925824"/>
            <a:ext cx="182880" cy="1219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 txBox="1"/>
          <p:nvPr/>
        </p:nvSpPr>
        <p:spPr>
          <a:xfrm>
            <a:off x="10143744" y="3779520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ms</a:t>
            </a: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 감소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7376160" y="4206240"/>
            <a:ext cx="43281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시계: 시작이 없어 상관없음</a:t>
            </a:r>
            <a:endParaRPr lang="en-US" sz="1533" dirty="0"/>
          </a:p>
          <a:p>
            <a:r>
              <a:rPr lang="en-US" sz="15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스톱워치 · 타이머: 누른 순간이 0 이어야 함</a:t>
            </a:r>
            <a:endParaRPr lang="en-US" sz="1533" dirty="0"/>
          </a:p>
        </p:txBody>
      </p:sp>
      <p:sp>
        <p:nvSpPr>
          <p:cNvPr id="39" name="Text 35"/>
          <p:cNvSpPr txBox="1"/>
          <p:nvPr/>
        </p:nvSpPr>
        <p:spPr>
          <a:xfrm>
            <a:off x="487680" y="5791200"/>
            <a:ext cx="1121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</a:t>
            </a:r>
            <a:r>
              <a:rPr lang="en-US" sz="1467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tb_tm_2 P1 9,998 ms · 시작 시각을 3 ms 씩 바꿔 돌린 TB 에서 첫 감소 8 / 5 / 2 ms</a:t>
            </a:r>
            <a:endParaRPr lang="en-US" sz="1467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96841F-F75A-ED25-9C84-448653C0DED9}"/>
              </a:ext>
            </a:extLst>
          </p:cNvPr>
          <p:cNvSpPr txBox="1"/>
          <p:nvPr/>
        </p:nvSpPr>
        <p:spPr>
          <a:xfrm>
            <a:off x="5069840" y="2529840"/>
            <a:ext cx="4531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/>
          </a:p>
          <a:p>
            <a:r>
              <a:rPr lang="ko-KR" altLang="en-US"/>
              <a:t>트러블 슈팅 </a:t>
            </a:r>
          </a:p>
        </p:txBody>
      </p:sp>
    </p:spTree>
    <p:extLst>
      <p:ext uri="{BB962C8B-B14F-4D97-AF65-F5344CB8AC3E}">
        <p14:creationId xmlns:p14="http://schemas.microsoft.com/office/powerpoint/2010/main" val="2621896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B3EFB-91D7-6589-A40D-48CED289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26F34A-7A73-DEA9-D792-73D3ACA6162C}"/>
              </a:ext>
            </a:extLst>
          </p:cNvPr>
          <p:cNvSpPr txBox="1"/>
          <p:nvPr/>
        </p:nvSpPr>
        <p:spPr>
          <a:xfrm>
            <a:off x="873760" y="1452880"/>
            <a:ext cx="82397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/>
          </a:p>
          <a:p>
            <a:r>
              <a:rPr lang="ko-KR" altLang="en-US"/>
              <a:t>트러블 슈팅 </a:t>
            </a:r>
            <a:r>
              <a:rPr lang="en-US" altLang="ko-KR"/>
              <a:t>1 .</a:t>
            </a:r>
            <a:r>
              <a:rPr lang="ko-KR" altLang="en-US"/>
              <a:t> 기능 검증 과정 </a:t>
            </a:r>
            <a:r>
              <a:rPr lang="en-US" altLang="ko-KR"/>
              <a:t>– </a:t>
            </a:r>
          </a:p>
          <a:p>
            <a:r>
              <a:rPr lang="ko-KR" altLang="en-US"/>
              <a:t>버튼 우선 순위시 예상 동작과는 다른 반응 </a:t>
            </a:r>
            <a:r>
              <a:rPr lang="en-US" altLang="ko-KR"/>
              <a:t>-&gt; </a:t>
            </a:r>
            <a:r>
              <a:rPr lang="ko-KR" altLang="en-US"/>
              <a:t>목표로 했던 기능은 버튼이 두개 이상 눌렸을 때는 반응을 하지 않고 오류 처리가 목표 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시뮬레이션에서 기능이 동작하고 있음을 확인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이부분은 아직 자료가 완성되지 않아</a:t>
            </a:r>
            <a:r>
              <a:rPr lang="en-US" altLang="ko-KR"/>
              <a:t>. </a:t>
            </a:r>
            <a:r>
              <a:rPr lang="ko-KR" altLang="en-US"/>
              <a:t>공백 처리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1286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트러블슈팅 2— </a:t>
            </a:r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10초 타이머가 9.998초에 울림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해결: 4가지 구조를 같은 보드 · 같은 TB 로 비교 → ④ 선택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87680" y="1280160"/>
          <a:ext cx="11216640" cy="2438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구조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LUT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FF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WNS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→ 첫 tick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수업 방식: 디바운서마다 분주 + 데이터패스마다 tick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403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292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+3.47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매번 10 ms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팀 판: 4 kHz 공유 + 100 Hz 1개 셋이 공유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327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186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+3.22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10 ms 일찍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참고: ② + 4 kHz 를 enable 로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317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172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+2.94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와 같음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kHz 공유 + 100 Hz 기능마다 따로 (RUN 순간부터)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356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228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+3.63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매번 정확히 10 ms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87680" y="3962400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④</a:t>
            </a: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100 Hz 는 "언제 시작했나" 가 기능이라 나누고, 4 kHz 는 디바운서가 "8번 연속 1" 만 봐서 시작 시점이 없으니 공유 유지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87680" y="463296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대가</a:t>
            </a: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② 보다 FF +42 (tick 생성기 2개 × 21)  ·  ① 보다 LUT −47 · FF −64 (분주 공유 이득은 그대로)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87680" y="5547360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Vivado 2022.2 · xc7a35t · 구현(place &amp; route) 후 · 같은 xdc. WNS 는 모두 양수(100 MHz 만족)라 우열로 보지 않음. ①③ 은 비교용으로 만든 판(팀 코드 아님), 측정은 클로드코드 배치 실행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트러블슈팅 2 — </a:t>
            </a:r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10초 타이머가 9.998초에 울림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결과: 2 ms 이른 알람 → 10 s + 20 ns (2클럭 고정 지연), 고친 뒤 잔여 2건도 잡음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1bef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0"/>
            <a:ext cx="5425440" cy="1884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0"/>
            <a:ext cx="5425440" cy="18843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598773" y="2559752"/>
            <a:ext cx="1897007" cy="29087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3220820" y="2534501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87680" y="3164520"/>
            <a:ext cx="5364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</a:t>
            </a:r>
            <a:r>
              <a:rPr lang="en-US" sz="20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간격 </a:t>
            </a:r>
            <a:r>
              <a:rPr lang="en-US" sz="2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9.998000010 s</a:t>
            </a:r>
            <a:endParaRPr lang="en-US" sz="2000" dirty="0"/>
          </a:p>
        </p:txBody>
      </p:sp>
      <p:pic>
        <p:nvPicPr>
          <p:cNvPr id="11" name="Image 1" descr="C:\Users\LG\Developer\Lec_verilog\Mini_Project_watch\timer_present\_gen\strips\P1afte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80" y="1219200"/>
            <a:ext cx="5425440" cy="181289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278880" y="1219200"/>
            <a:ext cx="5425440" cy="181289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8528454" y="2463081"/>
            <a:ext cx="1720261" cy="31758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8150501" y="2451187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278880" y="3093051"/>
            <a:ext cx="5364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</a:t>
            </a:r>
            <a:r>
              <a:rPr lang="en-US" sz="20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간격 </a:t>
            </a:r>
            <a:r>
              <a:rPr lang="en-US" sz="2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10.000000020 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487680" y="3591240"/>
            <a:ext cx="5425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시점에 따라 </a:t>
            </a:r>
            <a:r>
              <a:rPr lang="en-US" sz="16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10 ms 일찍</a:t>
            </a: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(이 캡처는 2 ms)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3519771"/>
            <a:ext cx="5425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10 s + </a:t>
            </a: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ns</a:t>
            </a: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2클럭 고정 (매번 같음)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87680" y="4328160"/>
            <a:ext cx="11216640" cy="1645920"/>
          </a:xfrm>
          <a:prstGeom prst="rect">
            <a:avLst/>
          </a:prstGeom>
          <a:solidFill>
            <a:srgbClr val="1E1E1E"/>
          </a:solidFill>
          <a:ln w="635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609600" y="4425696"/>
            <a:ext cx="10972800" cy="1450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잔여 2건 — 같은 TB 를 고치기 전 / 고친 뒤 소스로 (콘솔 요약)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[before] 알람 뒤 재시작 → 첫 tick = 9999980 ns   FAIL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[before] tick 클럭에 STOP → msec = 4 (10 ms 잃음)  FAIL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[after ] 알람 뒤 재시작 → 첫 tick = 10000000 ns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[after ] tick 클럭에 STOP → msec = 5   TOTAL MISMATCH = 0</a:t>
            </a:r>
            <a:endParaRPr lang="en-US" sz="1467" dirty="0"/>
          </a:p>
        </p:txBody>
      </p:sp>
      <p:sp>
        <p:nvSpPr>
          <p:cNvPr id="20" name="Text 15"/>
          <p:cNvSpPr txBox="1"/>
          <p:nvPr/>
        </p:nvSpPr>
        <p:spPr>
          <a:xfrm>
            <a:off x="487680" y="6096000"/>
            <a:ext cx="104851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것: 타이머 tick clear = 취소 | 알람  ·  스톱워치 데이터패스의 중복 AND 삭제 (tick 생성기가 이미 run 을 봄)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70688"/>
            <a:ext cx="1121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트러블슈팅 3 </a:t>
            </a:r>
            <a:r>
              <a:rPr lang="en-US" sz="25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한 번 눌렀는데 두 번 인식 (디바운서)</a:t>
            </a:r>
            <a:endParaRPr lang="en-US" sz="2533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58368"/>
            <a:ext cx="1121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현상: 보드에서 R 한 번에 STOP → RUN → STOP · ② 원인: 샘플 창 8 µs ≪ 접점 튐 (ms 단위)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87680" y="6461760"/>
            <a:ext cx="9144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Trouble Shooting ① 디바운서  |  발표 정안성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1219200"/>
            <a:ext cx="1706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 (보드 버튼)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9600" y="1950720"/>
            <a:ext cx="548640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6"/>
          <p:cNvSpPr/>
          <p:nvPr/>
        </p:nvSpPr>
        <p:spPr>
          <a:xfrm>
            <a:off x="1158240" y="1524000"/>
            <a:ext cx="121920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7"/>
          <p:cNvSpPr/>
          <p:nvPr/>
        </p:nvSpPr>
        <p:spPr>
          <a:xfrm>
            <a:off x="1158240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8"/>
          <p:cNvSpPr/>
          <p:nvPr/>
        </p:nvSpPr>
        <p:spPr>
          <a:xfrm>
            <a:off x="1280160" y="1950720"/>
            <a:ext cx="97536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Shape 9"/>
          <p:cNvSpPr/>
          <p:nvPr/>
        </p:nvSpPr>
        <p:spPr>
          <a:xfrm>
            <a:off x="1280160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Shape 10"/>
          <p:cNvSpPr/>
          <p:nvPr/>
        </p:nvSpPr>
        <p:spPr>
          <a:xfrm>
            <a:off x="1377696" y="1524000"/>
            <a:ext cx="207264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Shape 11"/>
          <p:cNvSpPr/>
          <p:nvPr/>
        </p:nvSpPr>
        <p:spPr>
          <a:xfrm>
            <a:off x="1377696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2"/>
          <p:cNvSpPr/>
          <p:nvPr/>
        </p:nvSpPr>
        <p:spPr>
          <a:xfrm>
            <a:off x="1584960" y="1950720"/>
            <a:ext cx="73152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Shape 13"/>
          <p:cNvSpPr/>
          <p:nvPr/>
        </p:nvSpPr>
        <p:spPr>
          <a:xfrm>
            <a:off x="1584960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Shape 14"/>
          <p:cNvSpPr/>
          <p:nvPr/>
        </p:nvSpPr>
        <p:spPr>
          <a:xfrm>
            <a:off x="1658112" y="1524000"/>
            <a:ext cx="195072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Shape 15"/>
          <p:cNvSpPr/>
          <p:nvPr/>
        </p:nvSpPr>
        <p:spPr>
          <a:xfrm>
            <a:off x="1658112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6"/>
          <p:cNvSpPr/>
          <p:nvPr/>
        </p:nvSpPr>
        <p:spPr>
          <a:xfrm>
            <a:off x="1853184" y="1950720"/>
            <a:ext cx="73152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Shape 17"/>
          <p:cNvSpPr/>
          <p:nvPr/>
        </p:nvSpPr>
        <p:spPr>
          <a:xfrm>
            <a:off x="1853184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Shape 18"/>
          <p:cNvSpPr/>
          <p:nvPr/>
        </p:nvSpPr>
        <p:spPr>
          <a:xfrm>
            <a:off x="1926336" y="1524000"/>
            <a:ext cx="4047744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Shape 19"/>
          <p:cNvSpPr/>
          <p:nvPr/>
        </p:nvSpPr>
        <p:spPr>
          <a:xfrm>
            <a:off x="1926336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Text 20"/>
          <p:cNvSpPr txBox="1"/>
          <p:nvPr/>
        </p:nvSpPr>
        <p:spPr>
          <a:xfrm>
            <a:off x="1158240" y="1987296"/>
            <a:ext cx="853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접점 튐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09600" y="2340864"/>
            <a:ext cx="268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 판 o_btn (창 8 µs)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09600" y="2950464"/>
            <a:ext cx="5364480" cy="1219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Shape 23"/>
          <p:cNvSpPr/>
          <p:nvPr/>
        </p:nvSpPr>
        <p:spPr>
          <a:xfrm>
            <a:off x="1170432" y="2645664"/>
            <a:ext cx="1219" cy="30480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Shape 24"/>
          <p:cNvSpPr/>
          <p:nvPr/>
        </p:nvSpPr>
        <p:spPr>
          <a:xfrm>
            <a:off x="1389888" y="2645664"/>
            <a:ext cx="1219" cy="30480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Shape 25"/>
          <p:cNvSpPr/>
          <p:nvPr/>
        </p:nvSpPr>
        <p:spPr>
          <a:xfrm>
            <a:off x="1670304" y="2645664"/>
            <a:ext cx="1219" cy="30480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Shape 26"/>
          <p:cNvSpPr/>
          <p:nvPr/>
        </p:nvSpPr>
        <p:spPr>
          <a:xfrm>
            <a:off x="1938528" y="2645664"/>
            <a:ext cx="1219" cy="30480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Text 27"/>
          <p:cNvSpPr txBox="1"/>
          <p:nvPr/>
        </p:nvSpPr>
        <p:spPr>
          <a:xfrm>
            <a:off x="2133600" y="2682240"/>
            <a:ext cx="29260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튐 조각마다 펄스 → 여러 번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09600" y="3108960"/>
            <a:ext cx="365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kHz 판 o_btn (창 8 × 250 µs = 2 ms)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09600" y="3718560"/>
            <a:ext cx="5364480" cy="1219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Shape 30"/>
          <p:cNvSpPr/>
          <p:nvPr/>
        </p:nvSpPr>
        <p:spPr>
          <a:xfrm>
            <a:off x="12192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Shape 31"/>
          <p:cNvSpPr/>
          <p:nvPr/>
        </p:nvSpPr>
        <p:spPr>
          <a:xfrm>
            <a:off x="15240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Shape 32"/>
          <p:cNvSpPr/>
          <p:nvPr/>
        </p:nvSpPr>
        <p:spPr>
          <a:xfrm>
            <a:off x="18288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Shape 33"/>
          <p:cNvSpPr/>
          <p:nvPr/>
        </p:nvSpPr>
        <p:spPr>
          <a:xfrm>
            <a:off x="21336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Shape 34"/>
          <p:cNvSpPr/>
          <p:nvPr/>
        </p:nvSpPr>
        <p:spPr>
          <a:xfrm>
            <a:off x="24384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8" name="Shape 35"/>
          <p:cNvSpPr/>
          <p:nvPr/>
        </p:nvSpPr>
        <p:spPr>
          <a:xfrm>
            <a:off x="27432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Shape 36"/>
          <p:cNvSpPr/>
          <p:nvPr/>
        </p:nvSpPr>
        <p:spPr>
          <a:xfrm>
            <a:off x="30480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0" name="Shape 37"/>
          <p:cNvSpPr/>
          <p:nvPr/>
        </p:nvSpPr>
        <p:spPr>
          <a:xfrm>
            <a:off x="33528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Shape 38"/>
          <p:cNvSpPr/>
          <p:nvPr/>
        </p:nvSpPr>
        <p:spPr>
          <a:xfrm>
            <a:off x="36576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2" name="Shape 39"/>
          <p:cNvSpPr/>
          <p:nvPr/>
        </p:nvSpPr>
        <p:spPr>
          <a:xfrm>
            <a:off x="39624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Shape 40"/>
          <p:cNvSpPr/>
          <p:nvPr/>
        </p:nvSpPr>
        <p:spPr>
          <a:xfrm>
            <a:off x="42672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4" name="Shape 41"/>
          <p:cNvSpPr/>
          <p:nvPr/>
        </p:nvSpPr>
        <p:spPr>
          <a:xfrm>
            <a:off x="45720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Shape 42"/>
          <p:cNvSpPr/>
          <p:nvPr/>
        </p:nvSpPr>
        <p:spPr>
          <a:xfrm>
            <a:off x="48768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6" name="Shape 43"/>
          <p:cNvSpPr/>
          <p:nvPr/>
        </p:nvSpPr>
        <p:spPr>
          <a:xfrm>
            <a:off x="51816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Shape 44"/>
          <p:cNvSpPr/>
          <p:nvPr/>
        </p:nvSpPr>
        <p:spPr>
          <a:xfrm>
            <a:off x="4364736" y="3413760"/>
            <a:ext cx="1219" cy="304800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8" name="Shape 45"/>
          <p:cNvSpPr/>
          <p:nvPr/>
        </p:nvSpPr>
        <p:spPr>
          <a:xfrm>
            <a:off x="1926336" y="3901440"/>
            <a:ext cx="2438400" cy="1219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Text 46"/>
          <p:cNvSpPr txBox="1"/>
          <p:nvPr/>
        </p:nvSpPr>
        <p:spPr>
          <a:xfrm>
            <a:off x="1950720" y="3938016"/>
            <a:ext cx="3901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튐 끝 → 8샘플 연속 1 (2 ms) → 펄스 1개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609600" y="4230624"/>
            <a:ext cx="365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그림은 개념도 (가로 1 칸 ≈ 1 ms)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6339840" y="1219200"/>
            <a:ext cx="5364480" cy="3230880"/>
          </a:xfrm>
          <a:prstGeom prst="rect">
            <a:avLst/>
          </a:prstGeom>
          <a:solidFill>
            <a:srgbClr val="F8FAFC"/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2" name="Text 49"/>
          <p:cNvSpPr txBox="1"/>
          <p:nvPr/>
        </p:nvSpPr>
        <p:spPr>
          <a:xfrm>
            <a:off x="6486144" y="1304544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67"/>
              </a:spcAft>
            </a:pPr>
            <a:r>
              <a:rPr lang="en-US" sz="1667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해결 — 4 kHz 하나로 두 가지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디바운서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CLK_FRQ 4000 → 250 µs 마다 샘플, 8번 연속 1 = 2 ms 눌려야 인정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FND 스캔 (같은 4 kHz)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8칸 × 250 µs = 한 바퀴 2 ms (500 Hz)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Basys-3 설명서 권장 한 바퀴 1 ~ 16 ms 안 → 깜빡임 없음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4칸 = 1 ms, 빈칸 · 점 4칸 = 1 ms (자리당 250 µs)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분주기 1개를 디바운서 4개 + FND 가 공유</a:t>
            </a:r>
            <a:endParaRPr lang="en-US" sz="1467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87680" y="4632960"/>
          <a:ext cx="11216640" cy="1463040"/>
        </p:xfrm>
        <a:graphic>
          <a:graphicData uri="http://schemas.openxmlformats.org/drawingml/2006/table">
            <a:tbl>
              <a:tblPr/>
              <a:tblGrid>
                <a:gridCol w="536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결과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Before  1 MHz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After  4 kHz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시뮬: 같은 튀는 입력 20번 → o_btn 개수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158개 (20번 모두 틀림)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20개 (모두 1번)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보드: 타이머 U 20번 → 표시 (기대 03.20)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77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필요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77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필요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8 µs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1.75 ~ 2 ms (못 느낌)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" name="Text 50"/>
          <p:cNvSpPr txBox="1"/>
          <p:nvPr/>
        </p:nvSpPr>
        <p:spPr>
          <a:xfrm>
            <a:off x="487680" y="6156960"/>
            <a:ext cx="926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튐 모델: 누를 때 · 뗄 때 20 ~ 400 µs 조각 4 ~ 11개 (실제보다 심함) · 클로드코드 Icarus 실행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70688"/>
            <a:ext cx="1121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· 고찰</a:t>
            </a:r>
            <a:endParaRPr lang="en-US" sz="2533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58368"/>
            <a:ext cx="1121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목표 기능 전부 Top TB PASS · 보드 확인  /  고찰: 남은 경고 · 입력 처리의 한계와 다음 목표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87680" y="6461760"/>
            <a:ext cx="9144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결론, 고찰  |  발표 정보윤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487680" y="1219200"/>
          <a:ext cx="6827520" cy="2188464"/>
        </p:xfrm>
        <a:graphic>
          <a:graphicData uri="http://schemas.openxmlformats.org/drawingml/2006/table">
            <a:tbl>
              <a:tblPr/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5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Top TB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스톱워치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· 정지 · 지우기 · 업다운 · 랩 · 자정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 PASS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12:00 시작 · 설정 · 점멸 · 12/24 · 동시 입력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264 PASS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타이머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더하기 · 59:59 상한 · 10 s · 알람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 PASS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디바운서 · FND 스캔 · 게이팅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 PASS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87680" y="3596640"/>
            <a:ext cx="6827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 </a:t>
            </a:r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LUT 337 (1.6%) · FF 228 (0.5%) · WNS +3.785 ns @100 MHz · 래치 0</a:t>
            </a:r>
            <a:endParaRPr lang="en-US" sz="1467" dirty="0"/>
          </a:p>
          <a:p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1/100초 = 10.000 ms · 10초 타이머 = 10 s + 20 ns</a:t>
            </a:r>
            <a:endParaRPr lang="en-US" sz="1467" dirty="0"/>
          </a:p>
        </p:txBody>
      </p:sp>
      <p:sp>
        <p:nvSpPr>
          <p:cNvPr id="9" name="Text 5"/>
          <p:cNvSpPr txBox="1"/>
          <p:nvPr/>
        </p:nvSpPr>
        <p:spPr>
          <a:xfrm>
            <a:off x="487680" y="4450080"/>
            <a:ext cx="68275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 </a:t>
            </a:r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FSM(언제) + 데이터패스(얼마나) 분리로 세 기능을 같은 구조로 만들고, 버튼 → FND 전체 경로를 100 MHz 그대로 시뮬레이션해 목표 기능이 모두 사양대로 동작함을 확인</a:t>
            </a:r>
            <a:endParaRPr lang="en-US" sz="1467" dirty="0"/>
          </a:p>
        </p:txBody>
      </p:sp>
      <p:sp>
        <p:nvSpPr>
          <p:cNvPr id="10" name="Shape 6"/>
          <p:cNvSpPr/>
          <p:nvPr/>
        </p:nvSpPr>
        <p:spPr>
          <a:xfrm>
            <a:off x="7559040" y="1219200"/>
            <a:ext cx="4145280" cy="5059680"/>
          </a:xfrm>
          <a:prstGeom prst="rect">
            <a:avLst/>
          </a:prstGeom>
          <a:solidFill>
            <a:srgbClr val="F8FAFC"/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7"/>
          <p:cNvSpPr txBox="1"/>
          <p:nvPr/>
        </p:nvSpPr>
        <p:spPr>
          <a:xfrm>
            <a:off x="7705344" y="1316736"/>
            <a:ext cx="3877056" cy="487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67"/>
              </a:spcAft>
            </a:pPr>
            <a:r>
              <a:rPr lang="en-US" sz="1667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고찰 (아쉬운 점 → 다음 목표)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경고 35개 남음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kHz 펄스를 클럭으로 씀 (TIMING-17) → enable 방식이면 0 개 (비교용 판 확인) → 다음 프로젝트 적용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디바운서 한계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8번 연속 1 만 봄 → 누른 채 잠깐 끊기면 두 번 인식 가능 → 뗄 때도 8번 연속 0 보기 검토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버튼 동시 입력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클럭이면 우선순위로 처리 (부록 B) → 사양에 먼저 적었어야 함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긴 경계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23:59:59 등은 초기값으로 확인 → 실제 24시간 흐름은 보드로만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70688"/>
            <a:ext cx="1121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A — 검증 전체: TB 11개 · 검사 436개 PASS</a:t>
            </a:r>
            <a:endParaRPr lang="en-US" sz="2533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58368"/>
            <a:ext cx="1121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 을 넣은 TB · 100 MHz 그대로 · 콘솔 [SUMMARY] 자동 판정 · 최신 소스로 다시 실행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87680" y="6461760"/>
            <a:ext cx="9144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(질문 대비)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487680" y="1219200"/>
          <a:ext cx="11216640" cy="451713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폴더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확인하는 것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 시간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top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tb_top_1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디바운서: 누름 시간 · 바운스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2,205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top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tb_top_2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FND 스캔 · 자리별 출력 · 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2,180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스톱워치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tb_sw_1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· 정지 · 지우기 · 동작 중 무시 · 동시 R+L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2,290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스톱워치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tb_sw_2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올림 · 자정 순환 · 다운 빌림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스톱워치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tb_sw_3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랩 고정 · 해제 · 지우기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1,230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타이머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tb_tm_1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더하기 · 올림 · 59:59 상한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455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타이머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tb_tm_2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10 초 · 알람 · 빌림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11,597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타이머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tb_tm_3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취소 · 백그라운드 · 화면 우선순위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547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tb_wt_1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 UI · 커서 · 경계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870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tb_wt_2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1초 정확도 · 자정 올림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2,245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tb_wt_3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12/24 표시 · 점멸 · LED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6,050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tb_wt_4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 중 R · L · U · D 동시 누름 16가지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87680" y="591312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1a65fa8 재실행 5개(tm_1 · sw_2 · tm_3 · wt_1 · wt_4) + 8e939ae 7개 (차이는 시계 U+D 처리뿐) · xsim 배치 (클로드코드)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8B099-2A93-C426-7165-18D1FC3E6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02A9A-9D32-3380-FC77-5EB05594A8A8}"/>
              </a:ext>
            </a:extLst>
          </p:cNvPr>
          <p:cNvSpPr txBox="1"/>
          <p:nvPr/>
        </p:nvSpPr>
        <p:spPr>
          <a:xfrm>
            <a:off x="3789680" y="2763520"/>
            <a:ext cx="500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시연 영상 </a:t>
            </a:r>
            <a:r>
              <a:rPr lang="en-US" altLang="ko-KR"/>
              <a:t>- &gt; </a:t>
            </a:r>
            <a:r>
              <a:rPr lang="ko-KR" altLang="en-US"/>
              <a:t>이건 후첨함</a:t>
            </a:r>
            <a:r>
              <a:rPr lang="en-US" altLang="ko-KR"/>
              <a:t> – </a:t>
            </a:r>
            <a:r>
              <a:rPr lang="ko-KR" altLang="en-US"/>
              <a:t>공백처리 </a:t>
            </a:r>
          </a:p>
        </p:txBody>
      </p:sp>
    </p:spTree>
    <p:extLst>
      <p:ext uri="{BB962C8B-B14F-4D97-AF65-F5344CB8AC3E}">
        <p14:creationId xmlns:p14="http://schemas.microsoft.com/office/powerpoint/2010/main" val="373213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5316</Words>
  <Application>Microsoft Office PowerPoint</Application>
  <PresentationFormat>와이드스크린</PresentationFormat>
  <Paragraphs>664</Paragraphs>
  <Slides>38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맑은 고딕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2</cp:revision>
  <dcterms:created xsi:type="dcterms:W3CDTF">2026-10-18T06:57:01Z</dcterms:created>
  <dcterms:modified xsi:type="dcterms:W3CDTF">2026-10-18T08:26:05Z</dcterms:modified>
</cp:coreProperties>
</file>