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f5520178-2ac5-8e70-4c0c-0e7cdca5c24f}">
          <p14:sldIdLst>
            <p14:sldId id="256"/>
            <p14:sldId id="257"/>
          </p14:sldIdLst>
        </p14:section>
        <p14:section name="01 Top 블럭" id="{f28b3e7b-44e2-d096-ca51-d8551b1ecf78}">
          <p14:sldIdLst>
            <p14:sldId id="258"/>
            <p14:sldId id="259"/>
          </p14:sldIdLst>
        </p14:section>
        <p14:section name="02 포트 통일" id="{d4a4099e-1f95-a6d2-0967-fd03d3adc06e}">
          <p14:sldIdLst>
            <p14:sldId id="260"/>
            <p14:sldId id="261"/>
          </p14:sldIdLst>
        </p14:section>
        <p14:section name="03 보드 설명서" id="{25f92898-fa22-741c-4949-1eed2553e361}">
          <p14:sldIdLst>
            <p14:sldId id="262"/>
            <p14:sldId id="263"/>
            <p14:sldId id="264"/>
            <p14:sldId id="265"/>
          </p14:sldIdLst>
        </p14:section>
        <p14:section name="04 ASM 차트" id="{b96e0bed-a63c-8818-ec72-2fb5d764f286}">
          <p14:sldIdLst>
            <p14:sldId id="266"/>
            <p14:sldId id="267"/>
            <p14:sldId id="268"/>
          </p14:sldIdLst>
        </p14:section>
        <p14:section name="05 FND 상세" id="{e1a64bf0-2631-8d83-9b50-d9360eb6dc4b}">
          <p14:sldIdLst>
            <p14:sldId id="269"/>
            <p14:sldId id="270"/>
          </p14:sldIdLst>
        </p14:section>
        <p14:section name="마무리" id="{0e7c51e9-f51a-7373-5c99-c523ed098c7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9494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rgbClr val="C9D3DA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E08A0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228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41148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E9AA3"/>
                </a:solidFill>
              </a:rPr>
              <a:t>stopwatch_watch · Basys3 설계 점검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1B2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E08A00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Stopwatch · Watch · Timer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FPGA 설계 점검 자료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3DA"/>
                </a:solidFill>
              </a:rPr>
              <a:t>stopwatch_watch Top 블럭도 · 포트 통일 · Basys3 보드 설명서 · ASM 차트 · FND 컨트롤러 상세</a:t>
            </a:r>
            <a:endParaRPr lang="en-US" sz="1600" dirty="0"/>
          </a:p>
        </p:txBody>
      </p:sp>
      <p:sp>
        <p:nvSpPr>
          <p:cNvPr id="4" name="txt_1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AA3"/>
                </a:solidFill>
              </a:rPr>
              <a:t>2026.10.16  ·  BEST_Stop_watch_project / ahnsung / source_file</a:t>
            </a:r>
            <a:endParaRPr lang="en-US" sz="1100" dirty="0"/>
          </a:p>
        </p:txBody>
      </p:sp>
      <p:sp>
        <p:nvSpPr>
          <p:cNvPr id="5" name="card_2"/>
          <p:cNvSpPr/>
          <p:nvPr/>
        </p:nvSpPr>
        <p:spPr>
          <a:xfrm>
            <a:off x="8092440" y="21031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0E1114"/>
          </a:solidFill>
          <a:ln w="12700">
            <a:solidFill>
              <a:srgbClr val="3A4249"/>
            </a:solidFill>
            <a:prstDash val="solid"/>
          </a:ln>
        </p:spPr>
      </p:sp>
      <p:sp>
        <p:nvSpPr>
          <p:cNvPr id="6" name="txt_3"/>
          <p:cNvSpPr txBox="1"/>
          <p:nvPr/>
        </p:nvSpPr>
        <p:spPr>
          <a:xfrm>
            <a:off x="8275320" y="224028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5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6600" dirty="0"/>
          </a:p>
        </p:txBody>
      </p:sp>
      <p:sp>
        <p:nvSpPr>
          <p:cNvPr id="7" name="txt_4"/>
          <p:cNvSpPr txBox="1"/>
          <p:nvPr/>
        </p:nvSpPr>
        <p:spPr>
          <a:xfrm>
            <a:off x="9098280" y="224028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5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6600" dirty="0"/>
          </a:p>
        </p:txBody>
      </p:sp>
      <p:sp>
        <p:nvSpPr>
          <p:cNvPr id="8" name="txt_5"/>
          <p:cNvSpPr txBox="1"/>
          <p:nvPr/>
        </p:nvSpPr>
        <p:spPr>
          <a:xfrm>
            <a:off x="9921240" y="224028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5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6600" dirty="0"/>
          </a:p>
        </p:txBody>
      </p:sp>
      <p:sp>
        <p:nvSpPr>
          <p:cNvPr id="9" name="txt_6"/>
          <p:cNvSpPr txBox="1"/>
          <p:nvPr/>
        </p:nvSpPr>
        <p:spPr>
          <a:xfrm>
            <a:off x="10744200" y="2240280"/>
            <a:ext cx="731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5A2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6600" dirty="0"/>
          </a:p>
        </p:txBody>
      </p:sp>
      <p:sp>
        <p:nvSpPr>
          <p:cNvPr id="10" name="dp"/>
          <p:cNvSpPr/>
          <p:nvPr/>
        </p:nvSpPr>
        <p:spPr>
          <a:xfrm>
            <a:off x="9902952" y="3200400"/>
            <a:ext cx="118872" cy="118872"/>
          </a:xfrm>
          <a:prstGeom prst="ellipse">
            <a:avLst/>
          </a:prstGeom>
          <a:solidFill>
            <a:srgbClr val="FF5A36"/>
          </a:solidFill>
          <a:ln/>
        </p:spPr>
      </p:sp>
      <p:sp>
        <p:nvSpPr>
          <p:cNvPr id="11" name="txt_7"/>
          <p:cNvSpPr txBox="1"/>
          <p:nvPr/>
        </p:nvSpPr>
        <p:spPr>
          <a:xfrm>
            <a:off x="8275320" y="37673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AN3</a:t>
            </a:r>
            <a:endParaRPr lang="en-US" sz="900" dirty="0"/>
          </a:p>
        </p:txBody>
      </p:sp>
      <p:sp>
        <p:nvSpPr>
          <p:cNvPr id="12" name="txt_8"/>
          <p:cNvSpPr txBox="1"/>
          <p:nvPr/>
        </p:nvSpPr>
        <p:spPr>
          <a:xfrm>
            <a:off x="9098280" y="37673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AN2</a:t>
            </a:r>
            <a:endParaRPr lang="en-US" sz="900" dirty="0"/>
          </a:p>
        </p:txBody>
      </p:sp>
      <p:sp>
        <p:nvSpPr>
          <p:cNvPr id="13" name="txt_9"/>
          <p:cNvSpPr txBox="1"/>
          <p:nvPr/>
        </p:nvSpPr>
        <p:spPr>
          <a:xfrm>
            <a:off x="9921240" y="37673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AN1</a:t>
            </a:r>
            <a:endParaRPr lang="en-US" sz="900" dirty="0"/>
          </a:p>
        </p:txBody>
      </p:sp>
      <p:sp>
        <p:nvSpPr>
          <p:cNvPr id="14" name="txt_10"/>
          <p:cNvSpPr txBox="1"/>
          <p:nvPr/>
        </p:nvSpPr>
        <p:spPr>
          <a:xfrm>
            <a:off x="10744200" y="37673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E9A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AN0</a:t>
            </a:r>
            <a:endParaRPr lang="en-US" sz="900" dirty="0"/>
          </a:p>
        </p:txBody>
      </p:sp>
      <p:sp>
        <p:nvSpPr>
          <p:cNvPr id="15" name="txt_11"/>
          <p:cNvSpPr txBox="1"/>
          <p:nvPr/>
        </p:nvSpPr>
        <p:spPr>
          <a:xfrm>
            <a:off x="809244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Basys3 · XC7A35T · 100 MHz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개요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세 기능은 항상 함께 돈다 — 스위치는 화면과 버튼만 고른다</a:t>
            </a:r>
            <a:endParaRPr lang="en-US" sz="2800" dirty="0"/>
          </a:p>
        </p:txBody>
      </p:sp>
      <p:sp>
        <p:nvSpPr>
          <p:cNvPr id="4" name="card_12"/>
          <p:cNvSpPr/>
          <p:nvPr/>
        </p:nvSpPr>
        <p:spPr>
          <a:xfrm>
            <a:off x="411480" y="13258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/>
        </p:spPr>
      </p:sp>
      <p:sp>
        <p:nvSpPr>
          <p:cNvPr id="5" name="txt_13"/>
          <p:cNvSpPr txBox="1"/>
          <p:nvPr/>
        </p:nvSpPr>
        <p:spPr>
          <a:xfrm>
            <a:off x="685800" y="14173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8A00"/>
                </a:solidFill>
              </a:rPr>
              <a:t>13</a:t>
            </a:r>
            <a:endParaRPr lang="en-US" sz="6000" dirty="0"/>
          </a:p>
        </p:txBody>
      </p:sp>
      <p:sp>
        <p:nvSpPr>
          <p:cNvPr id="6" name="txt_14"/>
          <p:cNvSpPr txBox="1"/>
          <p:nvPr/>
        </p:nvSpPr>
        <p:spPr>
          <a:xfrm>
            <a:off x="210312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8"/>
                </a:solidFill>
              </a:rPr>
              <a:t>Top 인스턴스</a:t>
            </a:r>
            <a:endParaRPr lang="en-US" sz="1600" dirty="0"/>
          </a:p>
        </p:txBody>
      </p:sp>
      <p:sp>
        <p:nvSpPr>
          <p:cNvPr id="7" name="txt_15"/>
          <p:cNvSpPr txBox="1"/>
          <p:nvPr/>
        </p:nvSpPr>
        <p:spPr>
          <a:xfrm>
            <a:off x="685800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</a:rPr>
              <a:t>CLK_GEN 1 · 디바운서 4 · CU 3 · DP 3 · hour_12_24 · FND_CON</a:t>
            </a:r>
            <a:endParaRPr lang="en-US" sz="1100" dirty="0"/>
          </a:p>
        </p:txBody>
      </p:sp>
      <p:sp>
        <p:nvSpPr>
          <p:cNvPr id="8" name="card_16"/>
          <p:cNvSpPr/>
          <p:nvPr/>
        </p:nvSpPr>
        <p:spPr>
          <a:xfrm>
            <a:off x="4233672" y="13258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/>
        </p:spPr>
      </p:sp>
      <p:sp>
        <p:nvSpPr>
          <p:cNvPr id="9" name="txt_17"/>
          <p:cNvSpPr txBox="1"/>
          <p:nvPr/>
        </p:nvSpPr>
        <p:spPr>
          <a:xfrm>
            <a:off x="4507992" y="14173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7C73"/>
                </a:solidFill>
              </a:rPr>
              <a:t>0</a:t>
            </a:r>
            <a:endParaRPr lang="en-US" sz="6000" dirty="0"/>
          </a:p>
        </p:txBody>
      </p:sp>
      <p:sp>
        <p:nvSpPr>
          <p:cNvPr id="10" name="txt_18"/>
          <p:cNvSpPr txBox="1"/>
          <p:nvPr/>
        </p:nvSpPr>
        <p:spPr>
          <a:xfrm>
            <a:off x="5925312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8"/>
                </a:solidFill>
              </a:rPr>
              <a:t>포트 불일치</a:t>
            </a:r>
            <a:endParaRPr lang="en-US" sz="1600" dirty="0"/>
          </a:p>
        </p:txBody>
      </p:sp>
      <p:sp>
        <p:nvSpPr>
          <p:cNvPr id="11" name="txt_19"/>
          <p:cNvSpPr txBox="1"/>
          <p:nvPr/>
        </p:nvSpPr>
        <p:spPr>
          <a:xfrm>
            <a:off x="4507992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</a:rPr>
              <a:t>Top 연결 이름을 모듈 정의와 대조 — 이름·폭 모두 일치</a:t>
            </a:r>
            <a:endParaRPr lang="en-US" sz="1100" dirty="0"/>
          </a:p>
        </p:txBody>
      </p:sp>
      <p:sp>
        <p:nvSpPr>
          <p:cNvPr id="12" name="card_20"/>
          <p:cNvSpPr/>
          <p:nvPr/>
        </p:nvSpPr>
        <p:spPr>
          <a:xfrm>
            <a:off x="8055864" y="132588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3F5F7"/>
          </a:solidFill>
          <a:ln/>
        </p:spPr>
      </p:sp>
      <p:sp>
        <p:nvSpPr>
          <p:cNvPr id="13" name="txt_21"/>
          <p:cNvSpPr txBox="1"/>
          <p:nvPr/>
        </p:nvSpPr>
        <p:spPr>
          <a:xfrm>
            <a:off x="8330184" y="14173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8A00"/>
                </a:solidFill>
              </a:rPr>
              <a:t>3</a:t>
            </a:r>
            <a:endParaRPr lang="en-US" sz="6000" dirty="0"/>
          </a:p>
        </p:txBody>
      </p:sp>
      <p:sp>
        <p:nvSpPr>
          <p:cNvPr id="14" name="txt_22"/>
          <p:cNvSpPr txBox="1"/>
          <p:nvPr/>
        </p:nvSpPr>
        <p:spPr>
          <a:xfrm>
            <a:off x="9747504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8"/>
                </a:solidFill>
              </a:rPr>
              <a:t>동시 동작 기능</a:t>
            </a:r>
            <a:endParaRPr lang="en-US" sz="1600" dirty="0"/>
          </a:p>
        </p:txBody>
      </p:sp>
      <p:sp>
        <p:nvSpPr>
          <p:cNvPr id="15" name="txt_23"/>
          <p:cNvSpPr txBox="1"/>
          <p:nvPr/>
        </p:nvSpPr>
        <p:spPr>
          <a:xfrm>
            <a:off x="8330184" y="24688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</a:rPr>
              <a:t>스톱워치 · 시계 · 타이머 (sw_timer &gt; sw_mode 우선)</a:t>
            </a:r>
            <a:endParaRPr lang="en-US" sz="1100" dirty="0"/>
          </a:p>
        </p:txBody>
      </p:sp>
      <p:sp>
        <p:nvSpPr>
          <p:cNvPr id="16" name="txt_24"/>
          <p:cNvSpPr txBox="1"/>
          <p:nvPr/>
        </p:nvSpPr>
        <p:spPr>
          <a:xfrm>
            <a:off x="411480" y="3474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228"/>
                </a:solidFill>
              </a:rPr>
              <a:t>이 자료의 구성</a:t>
            </a:r>
            <a:endParaRPr lang="en-US" sz="1600" dirty="0"/>
          </a:p>
        </p:txBody>
      </p:sp>
      <p:sp>
        <p:nvSpPr>
          <p:cNvPr id="17" name="card_25"/>
          <p:cNvSpPr/>
          <p:nvPr/>
        </p:nvSpPr>
        <p:spPr>
          <a:xfrm>
            <a:off x="411480" y="393192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CE1"/>
            </a:solidFill>
            <a:prstDash val="solid"/>
          </a:ln>
        </p:spPr>
      </p:sp>
      <p:sp>
        <p:nvSpPr>
          <p:cNvPr id="18" name="txt_26"/>
          <p:cNvSpPr txBox="1"/>
          <p:nvPr/>
        </p:nvSpPr>
        <p:spPr>
          <a:xfrm>
            <a:off x="59436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19" name="txt_27"/>
          <p:cNvSpPr txBox="1"/>
          <p:nvPr/>
        </p:nvSpPr>
        <p:spPr>
          <a:xfrm>
            <a:off x="594360" y="4663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8"/>
                </a:solidFill>
              </a:rPr>
              <a:t>Top 블럭 다이어그램</a:t>
            </a:r>
            <a:endParaRPr lang="en-US" sz="1400" dirty="0"/>
          </a:p>
        </p:txBody>
      </p:sp>
      <p:sp>
        <p:nvSpPr>
          <p:cNvPr id="20" name="txt_28"/>
          <p:cNvSpPr txBox="1"/>
          <p:nvPr/>
        </p:nvSpPr>
        <p:spPr>
          <a:xfrm>
            <a:off x="594360" y="5303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</a:rPr>
              <a:t>인스턴스 간 연결과 신호 흐름</a:t>
            </a:r>
            <a:endParaRPr lang="en-US" sz="1100" dirty="0"/>
          </a:p>
        </p:txBody>
      </p:sp>
      <p:sp>
        <p:nvSpPr>
          <p:cNvPr id="21" name="card_29"/>
          <p:cNvSpPr/>
          <p:nvPr/>
        </p:nvSpPr>
        <p:spPr>
          <a:xfrm>
            <a:off x="2697480" y="393192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CE1"/>
            </a:solidFill>
            <a:prstDash val="solid"/>
          </a:ln>
        </p:spPr>
      </p:sp>
      <p:sp>
        <p:nvSpPr>
          <p:cNvPr id="22" name="txt_30"/>
          <p:cNvSpPr txBox="1"/>
          <p:nvPr/>
        </p:nvSpPr>
        <p:spPr>
          <a:xfrm>
            <a:off x="288036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23" name="txt_31"/>
          <p:cNvSpPr txBox="1"/>
          <p:nvPr/>
        </p:nvSpPr>
        <p:spPr>
          <a:xfrm>
            <a:off x="2880360" y="4663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8"/>
                </a:solidFill>
              </a:rPr>
              <a:t>포트 이름 통일</a:t>
            </a:r>
            <a:endParaRPr lang="en-US" sz="1400" dirty="0"/>
          </a:p>
        </p:txBody>
      </p:sp>
      <p:sp>
        <p:nvSpPr>
          <p:cNvPr id="24" name="txt_32"/>
          <p:cNvSpPr txBox="1"/>
          <p:nvPr/>
        </p:nvSpPr>
        <p:spPr>
          <a:xfrm>
            <a:off x="2880360" y="5303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</a:rPr>
              <a:t>접두어 규칙 + 모듈별 매핑</a:t>
            </a:r>
            <a:endParaRPr lang="en-US" sz="1100" dirty="0"/>
          </a:p>
        </p:txBody>
      </p:sp>
      <p:sp>
        <p:nvSpPr>
          <p:cNvPr id="25" name="card_33"/>
          <p:cNvSpPr/>
          <p:nvPr/>
        </p:nvSpPr>
        <p:spPr>
          <a:xfrm>
            <a:off x="4983480" y="393192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CE1"/>
            </a:solidFill>
            <a:prstDash val="solid"/>
          </a:ln>
        </p:spPr>
      </p:sp>
      <p:sp>
        <p:nvSpPr>
          <p:cNvPr id="26" name="txt_34"/>
          <p:cNvSpPr txBox="1"/>
          <p:nvPr/>
        </p:nvSpPr>
        <p:spPr>
          <a:xfrm>
            <a:off x="516636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27" name="txt_35"/>
          <p:cNvSpPr txBox="1"/>
          <p:nvPr/>
        </p:nvSpPr>
        <p:spPr>
          <a:xfrm>
            <a:off x="5166360" y="4663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8"/>
                </a:solidFill>
              </a:rPr>
              <a:t>Basys3 설명서</a:t>
            </a:r>
            <a:endParaRPr lang="en-US" sz="1400" dirty="0"/>
          </a:p>
        </p:txBody>
      </p:sp>
      <p:sp>
        <p:nvSpPr>
          <p:cNvPr id="28" name="txt_36"/>
          <p:cNvSpPr txBox="1"/>
          <p:nvPr/>
        </p:nvSpPr>
        <p:spPr>
          <a:xfrm>
            <a:off x="5166360" y="5303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</a:rPr>
              <a:t>공통 I/O · 스톱워치 · 시계 · 타이머</a:t>
            </a:r>
            <a:endParaRPr lang="en-US" sz="1100" dirty="0"/>
          </a:p>
        </p:txBody>
      </p:sp>
      <p:sp>
        <p:nvSpPr>
          <p:cNvPr id="29" name="card_37"/>
          <p:cNvSpPr/>
          <p:nvPr/>
        </p:nvSpPr>
        <p:spPr>
          <a:xfrm>
            <a:off x="7269480" y="393192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CE1"/>
            </a:solidFill>
            <a:prstDash val="solid"/>
          </a:ln>
        </p:spPr>
      </p:sp>
      <p:sp>
        <p:nvSpPr>
          <p:cNvPr id="30" name="txt_38"/>
          <p:cNvSpPr txBox="1"/>
          <p:nvPr/>
        </p:nvSpPr>
        <p:spPr>
          <a:xfrm>
            <a:off x="745236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31" name="txt_39"/>
          <p:cNvSpPr txBox="1"/>
          <p:nvPr/>
        </p:nvSpPr>
        <p:spPr>
          <a:xfrm>
            <a:off x="7452360" y="4663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8"/>
                </a:solidFill>
              </a:rPr>
              <a:t>ASM 차트</a:t>
            </a:r>
            <a:endParaRPr lang="en-US" sz="1400" dirty="0"/>
          </a:p>
        </p:txBody>
      </p:sp>
      <p:sp>
        <p:nvSpPr>
          <p:cNvPr id="32" name="txt_40"/>
          <p:cNvSpPr txBox="1"/>
          <p:nvPr/>
        </p:nvSpPr>
        <p:spPr>
          <a:xfrm>
            <a:off x="7452360" y="5303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</a:rPr>
              <a:t>컨트롤 유닛 3종 상태 흐름</a:t>
            </a:r>
            <a:endParaRPr lang="en-US" sz="1100" dirty="0"/>
          </a:p>
        </p:txBody>
      </p:sp>
      <p:sp>
        <p:nvSpPr>
          <p:cNvPr id="33" name="card_41"/>
          <p:cNvSpPr/>
          <p:nvPr/>
        </p:nvSpPr>
        <p:spPr>
          <a:xfrm>
            <a:off x="9555480" y="3931920"/>
            <a:ext cx="2103120" cy="22402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CE1"/>
            </a:solidFill>
            <a:prstDash val="solid"/>
          </a:ln>
        </p:spPr>
      </p:sp>
      <p:sp>
        <p:nvSpPr>
          <p:cNvPr id="34" name="txt_42"/>
          <p:cNvSpPr txBox="1"/>
          <p:nvPr/>
        </p:nvSpPr>
        <p:spPr>
          <a:xfrm>
            <a:off x="973836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35" name="txt_43"/>
          <p:cNvSpPr txBox="1"/>
          <p:nvPr/>
        </p:nvSpPr>
        <p:spPr>
          <a:xfrm>
            <a:off x="9738360" y="4663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228"/>
                </a:solidFill>
              </a:rPr>
              <a:t>FND 컨트롤러 상세</a:t>
            </a:r>
            <a:endParaRPr lang="en-US" sz="1400" dirty="0"/>
          </a:p>
        </p:txBody>
      </p:sp>
      <p:sp>
        <p:nvSpPr>
          <p:cNvPr id="36" name="txt_44"/>
          <p:cNvSpPr txBox="1"/>
          <p:nvPr/>
        </p:nvSpPr>
        <p:spPr>
          <a:xfrm>
            <a:off x="9738360" y="530352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85"/>
                </a:solidFill>
              </a:rPr>
              <a:t>SW2_FND_CONTROLLER 내부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01  TOP 블럭 다이어그램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stopwatch_watch — 입력에서 FND·LED까지 한 장으로</a:t>
            </a:r>
            <a:endParaRPr lang="en-US" sz="2800" dirty="0"/>
          </a:p>
        </p:txBody>
      </p:sp>
      <p:sp>
        <p:nvSpPr>
          <p:cNvPr id="4" name="txt_4"/>
          <p:cNvSpPr txBox="1"/>
          <p:nvPr/>
        </p:nvSpPr>
        <p:spPr>
          <a:xfrm>
            <a:off x="274320" y="1042416"/>
            <a:ext cx="11521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41D9"/>
                </a:solidFill>
              </a:rPr>
              <a:t>100 Hz tick 기능별 3 개 분리</a:t>
            </a:r>
            <a:r>
              <a:rPr lang="en-US" sz="1000" dirty="0">
                <a:solidFill>
                  <a:srgbClr val="2E3B44"/>
                </a:solidFill>
              </a:rPr>
              <a:t> — 시계 = 항상 흐름 · 스톱워치 / 타이머 = 시작 순간부터 셈 (첫 1/100 초 최대 10 ms 오차 제거)  ·  4 kHz 는 디바운서 · FND 스캔 공용</a:t>
            </a:r>
            <a:endParaRPr lang="en-US" sz="1100" dirty="0"/>
          </a:p>
        </p:txBody>
      </p:sp>
      <p:sp>
        <p:nvSpPr>
          <p:cNvPr id="5" name="tag_5"/>
          <p:cNvSpPr txBox="1"/>
          <p:nvPr/>
        </p:nvSpPr>
        <p:spPr>
          <a:xfrm>
            <a:off x="274320" y="1435608"/>
            <a:ext cx="685800" cy="219456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  W5</a:t>
            </a:r>
            <a:endParaRPr lang="en-US" sz="800" dirty="0"/>
          </a:p>
        </p:txBody>
      </p:sp>
      <p:sp>
        <p:nvSpPr>
          <p:cNvPr id="6" name="wire_6"/>
          <p:cNvSpPr/>
          <p:nvPr/>
        </p:nvSpPr>
        <p:spPr>
          <a:xfrm>
            <a:off x="960120" y="1545336"/>
            <a:ext cx="91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" name="blk_7"/>
          <p:cNvSpPr txBox="1"/>
          <p:nvPr/>
        </p:nvSpPr>
        <p:spPr>
          <a:xfrm>
            <a:off x="1051560" y="1353312"/>
            <a:ext cx="1280160" cy="384048"/>
          </a:xfrm>
          <a:prstGeom prst="roundRect">
            <a:avLst>
              <a:gd name="adj" fmla="val 6000"/>
            </a:avLst>
          </a:prstGeom>
          <a:solidFill>
            <a:srgbClr val="EFEAFB"/>
          </a:solidFill>
          <a:ln w="15875">
            <a:solidFill>
              <a:srgbClr val="6741D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228"/>
                </a:solidFill>
              </a:rPr>
              <a:t>clock_tick_generator</a:t>
            </a:r>
            <a:endParaRPr lang="en-US" sz="8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U_CLK_GEN_4KHZ</a:t>
            </a:r>
            <a:endParaRPr lang="en-US" sz="600" dirty="0"/>
          </a:p>
        </p:txBody>
      </p:sp>
      <p:sp>
        <p:nvSpPr>
          <p:cNvPr id="8" name="wire_8"/>
          <p:cNvSpPr/>
          <p:nvPr/>
        </p:nvSpPr>
        <p:spPr>
          <a:xfrm>
            <a:off x="1577340" y="1737360"/>
            <a:ext cx="0" cy="137160"/>
          </a:xfrm>
          <a:prstGeom prst="line">
            <a:avLst/>
          </a:prstGeom>
          <a:noFill/>
          <a:ln w="15875">
            <a:solidFill>
              <a:srgbClr val="6741D9"/>
            </a:solidFill>
            <a:prstDash val="dash"/>
            <a:tailEnd type="triangle"/>
          </a:ln>
        </p:spPr>
      </p:sp>
      <p:sp>
        <p:nvSpPr>
          <p:cNvPr id="9" name="wire_9"/>
          <p:cNvSpPr/>
          <p:nvPr/>
        </p:nvSpPr>
        <p:spPr>
          <a:xfrm>
            <a:off x="2331720" y="1545336"/>
            <a:ext cx="7543800" cy="0"/>
          </a:xfrm>
          <a:prstGeom prst="line">
            <a:avLst/>
          </a:prstGeom>
          <a:noFill/>
          <a:ln w="15875">
            <a:solidFill>
              <a:srgbClr val="6741D9"/>
            </a:solidFill>
            <a:prstDash val="dash"/>
          </a:ln>
        </p:spPr>
      </p:sp>
      <p:sp>
        <p:nvSpPr>
          <p:cNvPr id="10" name="wire_10"/>
          <p:cNvSpPr/>
          <p:nvPr/>
        </p:nvSpPr>
        <p:spPr>
          <a:xfrm>
            <a:off x="9875520" y="1545336"/>
            <a:ext cx="0" cy="329184"/>
          </a:xfrm>
          <a:prstGeom prst="line">
            <a:avLst/>
          </a:prstGeom>
          <a:noFill/>
          <a:ln w="15875">
            <a:solidFill>
              <a:srgbClr val="6741D9"/>
            </a:solidFill>
            <a:prstDash val="dash"/>
            <a:tailEnd type="triangle"/>
          </a:ln>
        </p:spPr>
      </p:sp>
      <p:sp>
        <p:nvSpPr>
          <p:cNvPr id="11" name="txt_11"/>
          <p:cNvSpPr txBox="1"/>
          <p:nvPr/>
        </p:nvSpPr>
        <p:spPr>
          <a:xfrm>
            <a:off x="2926080" y="1371600"/>
            <a:ext cx="3291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74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w_clk_4khz — 4 kHz (250 µs 마다 10 ns 펄스)</a:t>
            </a:r>
            <a:endParaRPr lang="en-US" sz="700" dirty="0"/>
          </a:p>
        </p:txBody>
      </p:sp>
      <p:sp>
        <p:nvSpPr>
          <p:cNvPr id="12" name="blk_12"/>
          <p:cNvSpPr txBox="1"/>
          <p:nvPr/>
        </p:nvSpPr>
        <p:spPr>
          <a:xfrm>
            <a:off x="1051560" y="1874520"/>
            <a:ext cx="1051560" cy="18288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228"/>
                </a:solidFill>
              </a:rPr>
              <a:t>btn_debounce ×4</a:t>
            </a:r>
            <a:endParaRPr lang="en-US" sz="85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U_BD_R/L/U/D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4 kHz 로 8 번 샘플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(약 2 ms)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→ 1 클럭 펄스</a:t>
            </a:r>
            <a:endParaRPr lang="en-US" sz="700" dirty="0"/>
          </a:p>
        </p:txBody>
      </p:sp>
      <p:sp>
        <p:nvSpPr>
          <p:cNvPr id="13" name="tag_13"/>
          <p:cNvSpPr txBox="1"/>
          <p:nvPr/>
        </p:nvSpPr>
        <p:spPr>
          <a:xfrm>
            <a:off x="274320" y="1993392"/>
            <a:ext cx="685800" cy="219456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btnR  T17</a:t>
            </a:r>
            <a:endParaRPr lang="en-US" sz="800" dirty="0"/>
          </a:p>
        </p:txBody>
      </p:sp>
      <p:sp>
        <p:nvSpPr>
          <p:cNvPr id="14" name="wire_14"/>
          <p:cNvSpPr/>
          <p:nvPr/>
        </p:nvSpPr>
        <p:spPr>
          <a:xfrm>
            <a:off x="960120" y="2103120"/>
            <a:ext cx="91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5" name="wire_15"/>
          <p:cNvSpPr/>
          <p:nvPr/>
        </p:nvSpPr>
        <p:spPr>
          <a:xfrm>
            <a:off x="2103120" y="2103120"/>
            <a:ext cx="29260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6" name="txt_16"/>
          <p:cNvSpPr txBox="1"/>
          <p:nvPr/>
        </p:nvSpPr>
        <p:spPr>
          <a:xfrm>
            <a:off x="2130552" y="195681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</a:t>
            </a:r>
            <a:endParaRPr lang="en-US" sz="600" dirty="0"/>
          </a:p>
        </p:txBody>
      </p:sp>
      <p:sp>
        <p:nvSpPr>
          <p:cNvPr id="17" name="tag_17"/>
          <p:cNvSpPr txBox="1"/>
          <p:nvPr/>
        </p:nvSpPr>
        <p:spPr>
          <a:xfrm>
            <a:off x="274320" y="2404872"/>
            <a:ext cx="685800" cy="219456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btnL  W19</a:t>
            </a:r>
            <a:endParaRPr lang="en-US" sz="800" dirty="0"/>
          </a:p>
        </p:txBody>
      </p:sp>
      <p:sp>
        <p:nvSpPr>
          <p:cNvPr id="18" name="wire_18"/>
          <p:cNvSpPr/>
          <p:nvPr/>
        </p:nvSpPr>
        <p:spPr>
          <a:xfrm>
            <a:off x="960120" y="2514600"/>
            <a:ext cx="91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9" name="wire_19"/>
          <p:cNvSpPr/>
          <p:nvPr/>
        </p:nvSpPr>
        <p:spPr>
          <a:xfrm>
            <a:off x="2103120" y="2514600"/>
            <a:ext cx="29260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0" name="txt_20"/>
          <p:cNvSpPr txBox="1"/>
          <p:nvPr/>
        </p:nvSpPr>
        <p:spPr>
          <a:xfrm>
            <a:off x="2130552" y="236829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</a:t>
            </a:r>
            <a:endParaRPr lang="en-US" sz="600" dirty="0"/>
          </a:p>
        </p:txBody>
      </p:sp>
      <p:sp>
        <p:nvSpPr>
          <p:cNvPr id="21" name="tag_21"/>
          <p:cNvSpPr txBox="1"/>
          <p:nvPr/>
        </p:nvSpPr>
        <p:spPr>
          <a:xfrm>
            <a:off x="274320" y="2816352"/>
            <a:ext cx="685800" cy="219456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btnU  T18</a:t>
            </a:r>
            <a:endParaRPr lang="en-US" sz="800" dirty="0"/>
          </a:p>
        </p:txBody>
      </p:sp>
      <p:sp>
        <p:nvSpPr>
          <p:cNvPr id="22" name="wire_22"/>
          <p:cNvSpPr/>
          <p:nvPr/>
        </p:nvSpPr>
        <p:spPr>
          <a:xfrm>
            <a:off x="960120" y="2926080"/>
            <a:ext cx="91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3" name="wire_23"/>
          <p:cNvSpPr/>
          <p:nvPr/>
        </p:nvSpPr>
        <p:spPr>
          <a:xfrm>
            <a:off x="2103120" y="2926080"/>
            <a:ext cx="29260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4" name="txt_24"/>
          <p:cNvSpPr txBox="1"/>
          <p:nvPr/>
        </p:nvSpPr>
        <p:spPr>
          <a:xfrm>
            <a:off x="2130552" y="277977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</a:t>
            </a:r>
            <a:endParaRPr lang="en-US" sz="600" dirty="0"/>
          </a:p>
        </p:txBody>
      </p:sp>
      <p:sp>
        <p:nvSpPr>
          <p:cNvPr id="25" name="tag_25"/>
          <p:cNvSpPr txBox="1"/>
          <p:nvPr/>
        </p:nvSpPr>
        <p:spPr>
          <a:xfrm>
            <a:off x="274320" y="3227832"/>
            <a:ext cx="685800" cy="219456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btnD  U17</a:t>
            </a:r>
            <a:endParaRPr lang="en-US" sz="800" dirty="0"/>
          </a:p>
        </p:txBody>
      </p:sp>
      <p:sp>
        <p:nvSpPr>
          <p:cNvPr id="26" name="wire_26"/>
          <p:cNvSpPr/>
          <p:nvPr/>
        </p:nvSpPr>
        <p:spPr>
          <a:xfrm>
            <a:off x="960120" y="3337560"/>
            <a:ext cx="91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7" name="wire_27"/>
          <p:cNvSpPr/>
          <p:nvPr/>
        </p:nvSpPr>
        <p:spPr>
          <a:xfrm>
            <a:off x="2103120" y="3337560"/>
            <a:ext cx="29260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8" name="txt_28"/>
          <p:cNvSpPr txBox="1"/>
          <p:nvPr/>
        </p:nvSpPr>
        <p:spPr>
          <a:xfrm>
            <a:off x="2130552" y="31912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btn_D</a:t>
            </a:r>
            <a:endParaRPr lang="en-US" sz="600" dirty="0"/>
          </a:p>
        </p:txBody>
      </p:sp>
      <p:sp>
        <p:nvSpPr>
          <p:cNvPr id="29" name="tag_29"/>
          <p:cNvSpPr txBox="1"/>
          <p:nvPr/>
        </p:nvSpPr>
        <p:spPr>
          <a:xfrm>
            <a:off x="274320" y="4050792"/>
            <a:ext cx="841248" cy="219456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SW0 mode</a:t>
            </a:r>
            <a:endParaRPr lang="en-US" sz="800" dirty="0"/>
          </a:p>
        </p:txBody>
      </p:sp>
      <p:sp>
        <p:nvSpPr>
          <p:cNvPr id="30" name="wire_30"/>
          <p:cNvSpPr/>
          <p:nvPr/>
        </p:nvSpPr>
        <p:spPr>
          <a:xfrm>
            <a:off x="1115568" y="4160520"/>
            <a:ext cx="1280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1" name="tag_31"/>
          <p:cNvSpPr txBox="1"/>
          <p:nvPr/>
        </p:nvSpPr>
        <p:spPr>
          <a:xfrm>
            <a:off x="274320" y="4416552"/>
            <a:ext cx="841248" cy="219456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 timer</a:t>
            </a:r>
            <a:endParaRPr lang="en-US" sz="800" dirty="0"/>
          </a:p>
        </p:txBody>
      </p:sp>
      <p:sp>
        <p:nvSpPr>
          <p:cNvPr id="32" name="wire_32"/>
          <p:cNvSpPr/>
          <p:nvPr/>
        </p:nvSpPr>
        <p:spPr>
          <a:xfrm>
            <a:off x="1115568" y="4526280"/>
            <a:ext cx="1280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3" name="tag_33"/>
          <p:cNvSpPr txBox="1"/>
          <p:nvPr/>
        </p:nvSpPr>
        <p:spPr>
          <a:xfrm>
            <a:off x="274320" y="5148072"/>
            <a:ext cx="685800" cy="219456"/>
          </a:xfrm>
          <a:prstGeom prst="homePlate">
            <a:avLst/>
          </a:prstGeom>
          <a:solidFill>
            <a:srgbClr val="C8323C"/>
          </a:solidFill>
          <a:ln w="9525">
            <a:solidFill>
              <a:srgbClr val="C8323C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  U18</a:t>
            </a:r>
            <a:endParaRPr lang="en-US" sz="800" dirty="0"/>
          </a:p>
        </p:txBody>
      </p:sp>
      <p:sp>
        <p:nvSpPr>
          <p:cNvPr id="34" name="txt_34"/>
          <p:cNvSpPr txBox="1"/>
          <p:nvPr/>
        </p:nvSpPr>
        <p:spPr>
          <a:xfrm>
            <a:off x="1051560" y="510235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5"/>
                </a:solidFill>
              </a:rPr>
              <a:t>btnC → 모든 순차 모듈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6B7A85"/>
                </a:solidFill>
              </a:rPr>
              <a:t>비동기 리셋</a:t>
            </a:r>
            <a:endParaRPr lang="en-US" sz="750" dirty="0"/>
          </a:p>
        </p:txBody>
      </p:sp>
      <p:sp>
        <p:nvSpPr>
          <p:cNvPr id="35" name="blk_35"/>
          <p:cNvSpPr txBox="1"/>
          <p:nvPr/>
        </p:nvSpPr>
        <p:spPr>
          <a:xfrm>
            <a:off x="2395728" y="1874520"/>
            <a:ext cx="640080" cy="379476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25400" tIns="38100" rIns="254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모드 선택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&amp; 버튼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게이팅</a:t>
            </a:r>
            <a:endParaRPr lang="en-US" sz="10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assign</a:t>
            </a:r>
            <a:endParaRPr lang="en-US" sz="65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sel_tm = SW4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sel_sw =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~SW4 &amp; SW0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sel_wt =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~SW4 &amp; ~SW0</a:t>
            </a:r>
            <a:endParaRPr lang="en-US" sz="700" dirty="0"/>
          </a:p>
        </p:txBody>
      </p:sp>
      <p:sp>
        <p:nvSpPr>
          <p:cNvPr id="36" name="blk_36"/>
          <p:cNvSpPr txBox="1"/>
          <p:nvPr/>
        </p:nvSpPr>
        <p:spPr>
          <a:xfrm>
            <a:off x="3273552" y="1874520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FFF2DC"/>
          </a:solidFill>
          <a:ln w="15875">
            <a:solidFill>
              <a:srgbClr val="E08A0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control_unit</a:t>
            </a:r>
            <a:endParaRPr lang="en-US" sz="9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U_STOPWATCH_CONTROL_UNIT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STOP · RUN</a:t>
            </a:r>
            <a:endParaRPr lang="en-US" sz="700" dirty="0"/>
          </a:p>
        </p:txBody>
      </p:sp>
      <p:sp>
        <p:nvSpPr>
          <p:cNvPr id="37" name="blk_37"/>
          <p:cNvSpPr txBox="1"/>
          <p:nvPr/>
        </p:nvSpPr>
        <p:spPr>
          <a:xfrm>
            <a:off x="4937760" y="1874520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EFEAFB"/>
          </a:solidFill>
          <a:ln w="15875">
            <a:solidFill>
              <a:srgbClr val="6741D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228"/>
                </a:solidFill>
              </a:rPr>
              <a:t>tick_gen_100hz_run</a:t>
            </a:r>
            <a:endParaRPr lang="en-US" sz="85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U_TICK_GEN_SW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RUN 동안만 셈</a:t>
            </a:r>
            <a:endParaRPr lang="en-US" sz="700" dirty="0"/>
          </a:p>
        </p:txBody>
      </p:sp>
      <p:sp>
        <p:nvSpPr>
          <p:cNvPr id="38" name="blk_38"/>
          <p:cNvSpPr txBox="1"/>
          <p:nvPr/>
        </p:nvSpPr>
        <p:spPr>
          <a:xfrm>
            <a:off x="6492240" y="1874520"/>
            <a:ext cx="1280160" cy="86868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stopwatch_datapath</a:t>
            </a:r>
            <a:endParaRPr lang="en-US" sz="9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U_STOPWATCH_DATAPATH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경과 시간 업/다운</a:t>
            </a:r>
            <a:endParaRPr lang="en-US" sz="700" dirty="0"/>
          </a:p>
        </p:txBody>
      </p:sp>
      <p:sp>
        <p:nvSpPr>
          <p:cNvPr id="39" name="wire_39"/>
          <p:cNvSpPr/>
          <p:nvPr/>
        </p:nvSpPr>
        <p:spPr>
          <a:xfrm>
            <a:off x="3035808" y="2240280"/>
            <a:ext cx="237744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0" name="txt_40"/>
          <p:cNvSpPr txBox="1"/>
          <p:nvPr/>
        </p:nvSpPr>
        <p:spPr>
          <a:xfrm>
            <a:off x="3063240" y="20756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×3</a:t>
            </a:r>
            <a:endParaRPr lang="en-US" sz="750" dirty="0"/>
          </a:p>
        </p:txBody>
      </p:sp>
      <p:sp>
        <p:nvSpPr>
          <p:cNvPr id="41" name="wire_41"/>
          <p:cNvSpPr/>
          <p:nvPr/>
        </p:nvSpPr>
        <p:spPr>
          <a:xfrm>
            <a:off x="4553712" y="2103120"/>
            <a:ext cx="38404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2" name="txt_42"/>
          <p:cNvSpPr txBox="1"/>
          <p:nvPr/>
        </p:nvSpPr>
        <p:spPr>
          <a:xfrm>
            <a:off x="4581144" y="177393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run_stop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600" dirty="0"/>
          </a:p>
        </p:txBody>
      </p:sp>
      <p:sp>
        <p:nvSpPr>
          <p:cNvPr id="43" name="wire_43"/>
          <p:cNvSpPr/>
          <p:nvPr/>
        </p:nvSpPr>
        <p:spPr>
          <a:xfrm>
            <a:off x="6126480" y="2103120"/>
            <a:ext cx="365760" cy="0"/>
          </a:xfrm>
          <a:prstGeom prst="line">
            <a:avLst/>
          </a:prstGeom>
          <a:noFill/>
          <a:ln w="22225">
            <a:solidFill>
              <a:srgbClr val="6741D9"/>
            </a:solidFill>
            <a:prstDash val="solid"/>
            <a:tailEnd type="triangle"/>
          </a:ln>
        </p:spPr>
      </p:sp>
      <p:sp>
        <p:nvSpPr>
          <p:cNvPr id="44" name="txt_44"/>
          <p:cNvSpPr txBox="1"/>
          <p:nvPr/>
        </p:nvSpPr>
        <p:spPr>
          <a:xfrm>
            <a:off x="6153912" y="193852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74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sw_tick</a:t>
            </a:r>
            <a:endParaRPr lang="en-US" sz="600" dirty="0"/>
          </a:p>
        </p:txBody>
      </p:sp>
      <p:sp>
        <p:nvSpPr>
          <p:cNvPr id="45" name="wire_45"/>
          <p:cNvSpPr/>
          <p:nvPr/>
        </p:nvSpPr>
        <p:spPr>
          <a:xfrm>
            <a:off x="4553712" y="2468880"/>
            <a:ext cx="1938528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6" name="txt_46"/>
          <p:cNvSpPr txBox="1"/>
          <p:nvPr/>
        </p:nvSpPr>
        <p:spPr>
          <a:xfrm>
            <a:off x="4983480" y="2487168"/>
            <a:ext cx="960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 · down</a:t>
            </a:r>
            <a:endParaRPr lang="en-US" sz="650" dirty="0"/>
          </a:p>
        </p:txBody>
      </p:sp>
      <p:sp>
        <p:nvSpPr>
          <p:cNvPr id="47" name="wire_47"/>
          <p:cNvSpPr/>
          <p:nvPr/>
        </p:nvSpPr>
        <p:spPr>
          <a:xfrm>
            <a:off x="3035808" y="2679192"/>
            <a:ext cx="3456432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8" name="txt_48"/>
          <p:cNvSpPr txBox="1"/>
          <p:nvPr/>
        </p:nvSpPr>
        <p:spPr>
          <a:xfrm>
            <a:off x="3300984" y="269748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btn_D (랩)</a:t>
            </a:r>
            <a:endParaRPr lang="en-US" sz="650" dirty="0"/>
          </a:p>
        </p:txBody>
      </p:sp>
      <p:sp>
        <p:nvSpPr>
          <p:cNvPr id="49" name="blk_49"/>
          <p:cNvSpPr txBox="1"/>
          <p:nvPr/>
        </p:nvSpPr>
        <p:spPr>
          <a:xfrm>
            <a:off x="3273552" y="3017520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FFF2DC"/>
          </a:solidFill>
          <a:ln w="15875">
            <a:solidFill>
              <a:srgbClr val="E08A0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watch_control_unit</a:t>
            </a:r>
            <a:endParaRPr lang="en-US" sz="9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U_WATCH_CONTROL_UNIT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NORMAL · 커서 3 자리</a:t>
            </a:r>
            <a:endParaRPr lang="en-US" sz="700" dirty="0"/>
          </a:p>
        </p:txBody>
      </p:sp>
      <p:sp>
        <p:nvSpPr>
          <p:cNvPr id="50" name="blk_50"/>
          <p:cNvSpPr txBox="1"/>
          <p:nvPr/>
        </p:nvSpPr>
        <p:spPr>
          <a:xfrm>
            <a:off x="4937760" y="3017520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EFEAFB"/>
          </a:solidFill>
          <a:ln w="15875">
            <a:solidFill>
              <a:srgbClr val="6741D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228"/>
                </a:solidFill>
              </a:rPr>
              <a:t>tick_gen_100hz</a:t>
            </a:r>
            <a:endParaRPr lang="en-US" sz="85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U_TICK_GEN_100HZ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항상 흐름</a:t>
            </a:r>
            <a:endParaRPr lang="en-US" sz="700" dirty="0"/>
          </a:p>
        </p:txBody>
      </p:sp>
      <p:sp>
        <p:nvSpPr>
          <p:cNvPr id="51" name="blk_51"/>
          <p:cNvSpPr txBox="1"/>
          <p:nvPr/>
        </p:nvSpPr>
        <p:spPr>
          <a:xfrm>
            <a:off x="6492240" y="3017520"/>
            <a:ext cx="1280160" cy="82296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watch_datapath</a:t>
            </a:r>
            <a:endParaRPr lang="en-US" sz="9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U_WATCH_DATAPATH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현재 시각 (설정 ± 1)</a:t>
            </a:r>
            <a:endParaRPr lang="en-US" sz="700" dirty="0"/>
          </a:p>
        </p:txBody>
      </p:sp>
      <p:sp>
        <p:nvSpPr>
          <p:cNvPr id="52" name="wire_52"/>
          <p:cNvSpPr/>
          <p:nvPr/>
        </p:nvSpPr>
        <p:spPr>
          <a:xfrm>
            <a:off x="3035808" y="3383280"/>
            <a:ext cx="237744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3" name="txt_53"/>
          <p:cNvSpPr txBox="1"/>
          <p:nvPr/>
        </p:nvSpPr>
        <p:spPr>
          <a:xfrm>
            <a:off x="3063240" y="32186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×4</a:t>
            </a:r>
            <a:endParaRPr lang="en-US" sz="750" dirty="0"/>
          </a:p>
        </p:txBody>
      </p:sp>
      <p:sp>
        <p:nvSpPr>
          <p:cNvPr id="54" name="wire_54"/>
          <p:cNvSpPr/>
          <p:nvPr/>
        </p:nvSpPr>
        <p:spPr>
          <a:xfrm>
            <a:off x="6126480" y="3246120"/>
            <a:ext cx="365760" cy="0"/>
          </a:xfrm>
          <a:prstGeom prst="line">
            <a:avLst/>
          </a:prstGeom>
          <a:noFill/>
          <a:ln w="22225">
            <a:solidFill>
              <a:srgbClr val="6741D9"/>
            </a:solidFill>
            <a:prstDash val="solid"/>
            <a:tailEnd type="triangle"/>
          </a:ln>
        </p:spPr>
      </p:sp>
      <p:sp>
        <p:nvSpPr>
          <p:cNvPr id="55" name="txt_55"/>
          <p:cNvSpPr txBox="1"/>
          <p:nvPr/>
        </p:nvSpPr>
        <p:spPr>
          <a:xfrm>
            <a:off x="6153912" y="308152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74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wt_tick</a:t>
            </a:r>
            <a:endParaRPr lang="en-US" sz="600" dirty="0"/>
          </a:p>
        </p:txBody>
      </p:sp>
      <p:sp>
        <p:nvSpPr>
          <p:cNvPr id="56" name="wire_56"/>
          <p:cNvSpPr/>
          <p:nvPr/>
        </p:nvSpPr>
        <p:spPr>
          <a:xfrm>
            <a:off x="4553712" y="3611880"/>
            <a:ext cx="1938528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7" name="txt_57"/>
          <p:cNvSpPr txBox="1"/>
          <p:nvPr/>
        </p:nvSpPr>
        <p:spPr>
          <a:xfrm>
            <a:off x="4983480" y="363016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cursor[1:0] · up · down</a:t>
            </a:r>
            <a:endParaRPr lang="en-US" sz="650" dirty="0"/>
          </a:p>
        </p:txBody>
      </p:sp>
      <p:sp>
        <p:nvSpPr>
          <p:cNvPr id="58" name="wire_58"/>
          <p:cNvSpPr/>
          <p:nvPr/>
        </p:nvSpPr>
        <p:spPr>
          <a:xfrm flipV="1">
            <a:off x="3913632" y="3749040"/>
            <a:ext cx="0" cy="20116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9" name="txt_59"/>
          <p:cNvSpPr txBox="1"/>
          <p:nvPr/>
        </p:nvSpPr>
        <p:spPr>
          <a:xfrm>
            <a:off x="3474720" y="3959352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 set</a:t>
            </a:r>
            <a:endParaRPr lang="en-US" sz="750" dirty="0"/>
          </a:p>
        </p:txBody>
      </p:sp>
      <p:sp>
        <p:nvSpPr>
          <p:cNvPr id="60" name="blk_60"/>
          <p:cNvSpPr txBox="1"/>
          <p:nvPr/>
        </p:nvSpPr>
        <p:spPr>
          <a:xfrm>
            <a:off x="6492240" y="4069080"/>
            <a:ext cx="1280160" cy="41148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hour_12_24</a:t>
            </a:r>
            <a:endParaRPr lang="en-US" sz="9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U_HOUR_12_24</a:t>
            </a:r>
            <a:endParaRPr lang="en-US" sz="600" dirty="0"/>
          </a:p>
        </p:txBody>
      </p:sp>
      <p:sp>
        <p:nvSpPr>
          <p:cNvPr id="61" name="wire_61"/>
          <p:cNvSpPr/>
          <p:nvPr/>
        </p:nvSpPr>
        <p:spPr>
          <a:xfrm>
            <a:off x="7132320" y="3840480"/>
            <a:ext cx="0" cy="22860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2" name="txt_62"/>
          <p:cNvSpPr txBox="1"/>
          <p:nvPr/>
        </p:nvSpPr>
        <p:spPr>
          <a:xfrm>
            <a:off x="7178040" y="3877056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</a:t>
            </a:r>
            <a:endParaRPr lang="en-US" sz="650" dirty="0"/>
          </a:p>
        </p:txBody>
      </p:sp>
      <p:sp>
        <p:nvSpPr>
          <p:cNvPr id="63" name="wire_63"/>
          <p:cNvSpPr/>
          <p:nvPr/>
        </p:nvSpPr>
        <p:spPr>
          <a:xfrm>
            <a:off x="6163056" y="4279392"/>
            <a:ext cx="329184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4" name="txt_64"/>
          <p:cNvSpPr txBox="1"/>
          <p:nvPr/>
        </p:nvSpPr>
        <p:spPr>
          <a:xfrm>
            <a:off x="5486400" y="4206240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SW3 hour24</a:t>
            </a:r>
            <a:endParaRPr lang="en-US" sz="700" dirty="0"/>
          </a:p>
        </p:txBody>
      </p:sp>
      <p:sp>
        <p:nvSpPr>
          <p:cNvPr id="65" name="txt_65"/>
          <p:cNvSpPr txBox="1"/>
          <p:nvPr/>
        </p:nvSpPr>
        <p:spPr>
          <a:xfrm>
            <a:off x="6492240" y="4498848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 → led[15]</a:t>
            </a:r>
            <a:endParaRPr lang="en-US" sz="650" dirty="0"/>
          </a:p>
        </p:txBody>
      </p:sp>
      <p:sp>
        <p:nvSpPr>
          <p:cNvPr id="66" name="blk_66"/>
          <p:cNvSpPr txBox="1"/>
          <p:nvPr/>
        </p:nvSpPr>
        <p:spPr>
          <a:xfrm>
            <a:off x="3273552" y="475488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FFF2DC"/>
          </a:solidFill>
          <a:ln w="15875">
            <a:solidFill>
              <a:srgbClr val="E08A00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timer_control_unit</a:t>
            </a:r>
            <a:endParaRPr lang="en-US" sz="9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U_TIMER_CONTROL_UNIT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SET · RUN · ALARM</a:t>
            </a:r>
            <a:endParaRPr lang="en-US" sz="700" dirty="0"/>
          </a:p>
        </p:txBody>
      </p:sp>
      <p:sp>
        <p:nvSpPr>
          <p:cNvPr id="67" name="blk_67"/>
          <p:cNvSpPr txBox="1"/>
          <p:nvPr/>
        </p:nvSpPr>
        <p:spPr>
          <a:xfrm>
            <a:off x="4937760" y="4754880"/>
            <a:ext cx="1188720" cy="457200"/>
          </a:xfrm>
          <a:prstGeom prst="roundRect">
            <a:avLst>
              <a:gd name="adj" fmla="val 6000"/>
            </a:avLst>
          </a:prstGeom>
          <a:solidFill>
            <a:srgbClr val="EFEAFB"/>
          </a:solidFill>
          <a:ln w="15875">
            <a:solidFill>
              <a:srgbClr val="6741D9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228"/>
                </a:solidFill>
              </a:rPr>
              <a:t>tick_gen_100hz_run</a:t>
            </a:r>
            <a:endParaRPr lang="en-US" sz="85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U_TICK_GEN_TM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clear = 취소 | 알람</a:t>
            </a:r>
            <a:endParaRPr lang="en-US" sz="700" dirty="0"/>
          </a:p>
        </p:txBody>
      </p:sp>
      <p:sp>
        <p:nvSpPr>
          <p:cNvPr id="68" name="blk_68"/>
          <p:cNvSpPr txBox="1"/>
          <p:nvPr/>
        </p:nvSpPr>
        <p:spPr>
          <a:xfrm>
            <a:off x="6492240" y="475488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timer_datapath</a:t>
            </a:r>
            <a:endParaRPr lang="en-US" sz="9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U_TIMER_DATAPATH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남은 시간 다운카운트</a:t>
            </a:r>
            <a:endParaRPr lang="en-US" sz="700" dirty="0"/>
          </a:p>
        </p:txBody>
      </p:sp>
      <p:sp>
        <p:nvSpPr>
          <p:cNvPr id="69" name="wire_69"/>
          <p:cNvSpPr/>
          <p:nvPr/>
        </p:nvSpPr>
        <p:spPr>
          <a:xfrm>
            <a:off x="3035808" y="5212080"/>
            <a:ext cx="237744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0" name="txt_70"/>
          <p:cNvSpPr txBox="1"/>
          <p:nvPr/>
        </p:nvSpPr>
        <p:spPr>
          <a:xfrm>
            <a:off x="3063240" y="50474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×4</a:t>
            </a:r>
            <a:endParaRPr lang="en-US" sz="750" dirty="0"/>
          </a:p>
        </p:txBody>
      </p:sp>
      <p:sp>
        <p:nvSpPr>
          <p:cNvPr id="71" name="wire_71"/>
          <p:cNvSpPr/>
          <p:nvPr/>
        </p:nvSpPr>
        <p:spPr>
          <a:xfrm>
            <a:off x="4553712" y="4956048"/>
            <a:ext cx="38404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2" name="txt_72"/>
          <p:cNvSpPr txBox="1"/>
          <p:nvPr/>
        </p:nvSpPr>
        <p:spPr>
          <a:xfrm>
            <a:off x="4581144" y="462686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600" dirty="0"/>
          </a:p>
        </p:txBody>
      </p:sp>
      <p:sp>
        <p:nvSpPr>
          <p:cNvPr id="73" name="wire_73"/>
          <p:cNvSpPr/>
          <p:nvPr/>
        </p:nvSpPr>
        <p:spPr>
          <a:xfrm>
            <a:off x="6126480" y="4956048"/>
            <a:ext cx="365760" cy="0"/>
          </a:xfrm>
          <a:prstGeom prst="line">
            <a:avLst/>
          </a:prstGeom>
          <a:noFill/>
          <a:ln w="22225">
            <a:solidFill>
              <a:srgbClr val="6741D9"/>
            </a:solidFill>
            <a:prstDash val="solid"/>
            <a:tailEnd type="triangle"/>
          </a:ln>
        </p:spPr>
      </p:sp>
      <p:sp>
        <p:nvSpPr>
          <p:cNvPr id="74" name="txt_74"/>
          <p:cNvSpPr txBox="1"/>
          <p:nvPr/>
        </p:nvSpPr>
        <p:spPr>
          <a:xfrm>
            <a:off x="6153912" y="479145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74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tm_tick</a:t>
            </a:r>
            <a:endParaRPr lang="en-US" sz="600" dirty="0"/>
          </a:p>
        </p:txBody>
      </p:sp>
      <p:sp>
        <p:nvSpPr>
          <p:cNvPr id="75" name="wire_75"/>
          <p:cNvSpPr/>
          <p:nvPr/>
        </p:nvSpPr>
        <p:spPr>
          <a:xfrm>
            <a:off x="4553712" y="5349240"/>
            <a:ext cx="1938528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6" name="txt_76"/>
          <p:cNvSpPr txBox="1"/>
          <p:nvPr/>
        </p:nvSpPr>
        <p:spPr>
          <a:xfrm>
            <a:off x="4983480" y="5367528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· clear · add · amount</a:t>
            </a:r>
            <a:endParaRPr lang="en-US" sz="650" dirty="0"/>
          </a:p>
        </p:txBody>
      </p:sp>
      <p:sp>
        <p:nvSpPr>
          <p:cNvPr id="77" name="wire_77"/>
          <p:cNvSpPr/>
          <p:nvPr/>
        </p:nvSpPr>
        <p:spPr>
          <a:xfrm flipH="1">
            <a:off x="4553712" y="5559552"/>
            <a:ext cx="193852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8" name="txt_78"/>
          <p:cNvSpPr txBox="1"/>
          <p:nvPr/>
        </p:nvSpPr>
        <p:spPr>
          <a:xfrm>
            <a:off x="4983480" y="5577840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</a:t>
            </a:r>
            <a:endParaRPr lang="en-US" sz="650" dirty="0"/>
          </a:p>
        </p:txBody>
      </p:sp>
      <p:sp>
        <p:nvSpPr>
          <p:cNvPr id="79" name="blk_79"/>
          <p:cNvSpPr txBox="1"/>
          <p:nvPr/>
        </p:nvSpPr>
        <p:spPr>
          <a:xfrm>
            <a:off x="8046720" y="1874520"/>
            <a:ext cx="411480" cy="379476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0" tIns="38100" rIns="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화면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MUX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</a:rPr>
              <a:t>3:1 ×4</a:t>
            </a:r>
            <a:endParaRPr lang="en-US" sz="7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</a:t>
            </a:r>
            <a:endParaRPr lang="en-US" sz="650" dirty="0"/>
          </a:p>
        </p:txBody>
      </p:sp>
      <p:sp>
        <p:nvSpPr>
          <p:cNvPr id="80" name="wire_80"/>
          <p:cNvSpPr/>
          <p:nvPr/>
        </p:nvSpPr>
        <p:spPr>
          <a:xfrm>
            <a:off x="7772400" y="2240280"/>
            <a:ext cx="274320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1" name="txt_81"/>
          <p:cNvSpPr txBox="1"/>
          <p:nvPr/>
        </p:nvSpPr>
        <p:spPr>
          <a:xfrm>
            <a:off x="7790688" y="209397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</a:t>
            </a:r>
            <a:endParaRPr lang="en-US" sz="600" dirty="0"/>
          </a:p>
        </p:txBody>
      </p:sp>
      <p:sp>
        <p:nvSpPr>
          <p:cNvPr id="82" name="wire_82"/>
          <p:cNvSpPr/>
          <p:nvPr/>
        </p:nvSpPr>
        <p:spPr>
          <a:xfrm>
            <a:off x="7772400" y="3246120"/>
            <a:ext cx="274320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3" name="txt_83"/>
          <p:cNvSpPr txBox="1"/>
          <p:nvPr/>
        </p:nvSpPr>
        <p:spPr>
          <a:xfrm>
            <a:off x="7790688" y="30998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</a:t>
            </a:r>
            <a:endParaRPr lang="en-US" sz="600" dirty="0"/>
          </a:p>
        </p:txBody>
      </p:sp>
      <p:sp>
        <p:nvSpPr>
          <p:cNvPr id="84" name="wire_84"/>
          <p:cNvSpPr/>
          <p:nvPr/>
        </p:nvSpPr>
        <p:spPr>
          <a:xfrm>
            <a:off x="7772400" y="4279392"/>
            <a:ext cx="2743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5" name="txt_85"/>
          <p:cNvSpPr txBox="1"/>
          <p:nvPr/>
        </p:nvSpPr>
        <p:spPr>
          <a:xfrm>
            <a:off x="7790688" y="413308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hour_d</a:t>
            </a:r>
            <a:endParaRPr lang="en-US" sz="600" dirty="0"/>
          </a:p>
        </p:txBody>
      </p:sp>
      <p:sp>
        <p:nvSpPr>
          <p:cNvPr id="86" name="wire_86"/>
          <p:cNvSpPr/>
          <p:nvPr/>
        </p:nvSpPr>
        <p:spPr>
          <a:xfrm>
            <a:off x="7772400" y="5074920"/>
            <a:ext cx="274320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7" name="txt_87"/>
          <p:cNvSpPr txBox="1"/>
          <p:nvPr/>
        </p:nvSpPr>
        <p:spPr>
          <a:xfrm>
            <a:off x="7790688" y="4928616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</a:t>
            </a:r>
            <a:endParaRPr lang="en-US" sz="600" dirty="0"/>
          </a:p>
        </p:txBody>
      </p:sp>
      <p:sp>
        <p:nvSpPr>
          <p:cNvPr id="88" name="wire_88"/>
          <p:cNvSpPr/>
          <p:nvPr/>
        </p:nvSpPr>
        <p:spPr>
          <a:xfrm flipV="1">
            <a:off x="8252460" y="5669280"/>
            <a:ext cx="0" cy="18288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9" name="txt_89"/>
          <p:cNvSpPr txBox="1"/>
          <p:nvPr/>
        </p:nvSpPr>
        <p:spPr>
          <a:xfrm>
            <a:off x="7699248" y="5861304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sel: SW4 &gt; SW0</a:t>
            </a:r>
            <a:endParaRPr lang="en-US" sz="750" dirty="0"/>
          </a:p>
        </p:txBody>
      </p:sp>
      <p:sp>
        <p:nvSpPr>
          <p:cNvPr id="90" name="blk_90"/>
          <p:cNvSpPr txBox="1"/>
          <p:nvPr/>
        </p:nvSpPr>
        <p:spPr>
          <a:xfrm>
            <a:off x="9189720" y="1874520"/>
            <a:ext cx="1371600" cy="1874520"/>
          </a:xfrm>
          <a:prstGeom prst="roundRect">
            <a:avLst>
              <a:gd name="adj" fmla="val 6000"/>
            </a:avLst>
          </a:prstGeom>
          <a:solidFill>
            <a:srgbClr val="FCE6E7"/>
          </a:solidFill>
          <a:ln w="15875">
            <a:solidFill>
              <a:srgbClr val="C8323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228"/>
                </a:solidFill>
              </a:rPr>
              <a:t>SW2_FND_CONTROLLER</a:t>
            </a:r>
            <a:endParaRPr lang="en-US" sz="85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U_FND_CONTROLLER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자리 분리 → 설정 자리 점멸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→ 8 슬롯 스캔 (4 kHz)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→ 세그먼트</a:t>
            </a:r>
            <a:endParaRPr lang="en-US" sz="700" dirty="0"/>
          </a:p>
        </p:txBody>
      </p:sp>
      <p:sp>
        <p:nvSpPr>
          <p:cNvPr id="91" name="wire_91"/>
          <p:cNvSpPr/>
          <p:nvPr/>
        </p:nvSpPr>
        <p:spPr>
          <a:xfrm>
            <a:off x="8458200" y="2148840"/>
            <a:ext cx="731520" cy="0"/>
          </a:xfrm>
          <a:prstGeom prst="line">
            <a:avLst/>
          </a:prstGeom>
          <a:noFill/>
          <a:ln w="25400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92" name="txt_92"/>
          <p:cNvSpPr txBox="1"/>
          <p:nvPr/>
        </p:nvSpPr>
        <p:spPr>
          <a:xfrm>
            <a:off x="8503920" y="1984248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w_disp_*</a:t>
            </a:r>
            <a:endParaRPr lang="en-US" sz="650" dirty="0"/>
          </a:p>
        </p:txBody>
      </p:sp>
      <p:sp>
        <p:nvSpPr>
          <p:cNvPr id="93" name="tag_93"/>
          <p:cNvSpPr txBox="1"/>
          <p:nvPr/>
        </p:nvSpPr>
        <p:spPr>
          <a:xfrm>
            <a:off x="8503920" y="2414016"/>
            <a:ext cx="676656" cy="201168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wt_cursor</a:t>
            </a:r>
            <a:endParaRPr lang="en-US" sz="800" dirty="0"/>
          </a:p>
        </p:txBody>
      </p:sp>
      <p:sp>
        <p:nvSpPr>
          <p:cNvPr id="94" name="tag_94"/>
          <p:cNvSpPr txBox="1"/>
          <p:nvPr/>
        </p:nvSpPr>
        <p:spPr>
          <a:xfrm>
            <a:off x="8503920" y="2706624"/>
            <a:ext cx="676656" cy="201168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sel_wt</a:t>
            </a:r>
            <a:endParaRPr lang="en-US" sz="800" dirty="0"/>
          </a:p>
        </p:txBody>
      </p:sp>
      <p:sp>
        <p:nvSpPr>
          <p:cNvPr id="95" name="tag_95"/>
          <p:cNvSpPr txBox="1"/>
          <p:nvPr/>
        </p:nvSpPr>
        <p:spPr>
          <a:xfrm>
            <a:off x="8503920" y="2999232"/>
            <a:ext cx="676656" cy="201168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SW1|SW4</a:t>
            </a:r>
            <a:endParaRPr lang="en-US" sz="800" dirty="0"/>
          </a:p>
        </p:txBody>
      </p:sp>
      <p:sp>
        <p:nvSpPr>
          <p:cNvPr id="96" name="tag_96"/>
          <p:cNvSpPr txBox="1"/>
          <p:nvPr/>
        </p:nvSpPr>
        <p:spPr>
          <a:xfrm>
            <a:off x="8503920" y="3291840"/>
            <a:ext cx="676656" cy="201168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 set</a:t>
            </a:r>
            <a:endParaRPr lang="en-US" sz="800" dirty="0"/>
          </a:p>
        </p:txBody>
      </p:sp>
      <p:sp>
        <p:nvSpPr>
          <p:cNvPr id="97" name="blk_97"/>
          <p:cNvSpPr txBox="1"/>
          <p:nvPr/>
        </p:nvSpPr>
        <p:spPr>
          <a:xfrm>
            <a:off x="9189720" y="4069080"/>
            <a:ext cx="1371600" cy="1600200"/>
          </a:xfrm>
          <a:prstGeom prst="roundRect">
            <a:avLst>
              <a:gd name="adj" fmla="val 6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228"/>
                </a:solidFill>
              </a:rPr>
              <a:t>LED 로직</a:t>
            </a:r>
            <a:endParaRPr lang="en-US" sz="9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assign</a:t>
            </a:r>
            <a:endParaRPr lang="en-US" sz="6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sel_sw/wt/tm · SW1 · SW4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tm_run · sw_lap · pm(SW3)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알람: 16 개 0.5 s 점멸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2E3B44"/>
                </a:solidFill>
              </a:rPr>
              <a:t>(wt_msec ≥ 50)</a:t>
            </a:r>
            <a:endParaRPr lang="en-US" sz="700" dirty="0"/>
          </a:p>
        </p:txBody>
      </p:sp>
      <p:sp>
        <p:nvSpPr>
          <p:cNvPr id="98" name="wire_98"/>
          <p:cNvSpPr/>
          <p:nvPr/>
        </p:nvSpPr>
        <p:spPr>
          <a:xfrm>
            <a:off x="10561320" y="2514600"/>
            <a:ext cx="118872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99" name="tag_99"/>
          <p:cNvSpPr txBox="1"/>
          <p:nvPr/>
        </p:nvSpPr>
        <p:spPr>
          <a:xfrm>
            <a:off x="10680192" y="2404872"/>
            <a:ext cx="1051560" cy="219456"/>
          </a:xfrm>
          <a:prstGeom prst="homePlate">
            <a:avLst/>
          </a:prstGeom>
          <a:solidFill>
            <a:srgbClr val="C8323C"/>
          </a:solidFill>
          <a:ln w="9525">
            <a:solidFill>
              <a:srgbClr val="C8323C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fnd_com[3:0]</a:t>
            </a:r>
            <a:endParaRPr lang="en-US" sz="800" dirty="0"/>
          </a:p>
        </p:txBody>
      </p:sp>
      <p:sp>
        <p:nvSpPr>
          <p:cNvPr id="100" name="wire_100"/>
          <p:cNvSpPr/>
          <p:nvPr/>
        </p:nvSpPr>
        <p:spPr>
          <a:xfrm>
            <a:off x="10561320" y="3246120"/>
            <a:ext cx="118872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01" name="tag_101"/>
          <p:cNvSpPr txBox="1"/>
          <p:nvPr/>
        </p:nvSpPr>
        <p:spPr>
          <a:xfrm>
            <a:off x="10680192" y="3136392"/>
            <a:ext cx="1051560" cy="219456"/>
          </a:xfrm>
          <a:prstGeom prst="homePlate">
            <a:avLst/>
          </a:prstGeom>
          <a:solidFill>
            <a:srgbClr val="C8323C"/>
          </a:solidFill>
          <a:ln w="9525">
            <a:solidFill>
              <a:srgbClr val="C8323C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fnd_font[7:0]</a:t>
            </a:r>
            <a:endParaRPr lang="en-US" sz="800" dirty="0"/>
          </a:p>
        </p:txBody>
      </p:sp>
      <p:sp>
        <p:nvSpPr>
          <p:cNvPr id="102" name="wire_102"/>
          <p:cNvSpPr/>
          <p:nvPr/>
        </p:nvSpPr>
        <p:spPr>
          <a:xfrm>
            <a:off x="10561320" y="4846320"/>
            <a:ext cx="118872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03" name="tag_103"/>
          <p:cNvSpPr txBox="1"/>
          <p:nvPr/>
        </p:nvSpPr>
        <p:spPr>
          <a:xfrm>
            <a:off x="10680192" y="4736592"/>
            <a:ext cx="1051560" cy="219456"/>
          </a:xfrm>
          <a:prstGeom prst="homePlate">
            <a:avLst/>
          </a:prstGeom>
          <a:solidFill>
            <a:srgbClr val="C8323C"/>
          </a:solidFill>
          <a:ln w="9525">
            <a:solidFill>
              <a:srgbClr val="C8323C"/>
            </a:solidFill>
          </a:ln>
        </p:spPr>
        <p:txBody>
          <a:bodyPr wrap="square" lIns="45720" tIns="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led[15:0]</a:t>
            </a:r>
            <a:endParaRPr lang="en-US" sz="800" dirty="0"/>
          </a:p>
        </p:txBody>
      </p:sp>
      <p:sp>
        <p:nvSpPr>
          <p:cNvPr id="104" name="txt_104"/>
          <p:cNvSpPr txBox="1"/>
          <p:nvPr/>
        </p:nvSpPr>
        <p:spPr>
          <a:xfrm>
            <a:off x="274320" y="6272784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▶ 태그 = 보드 핀 또는 같은 이름의 net · 굵은 선 = 다비트 버스</a:t>
            </a:r>
            <a:endParaRPr lang="en-US" sz="800" dirty="0"/>
          </a:p>
        </p:txBody>
      </p:sp>
      <p:sp>
        <p:nvSpPr>
          <p:cNvPr id="105" name="lg_105"/>
          <p:cNvSpPr/>
          <p:nvPr/>
        </p:nvSpPr>
        <p:spPr>
          <a:xfrm>
            <a:off x="3977640" y="6309360"/>
            <a:ext cx="201168" cy="137160"/>
          </a:xfrm>
          <a:prstGeom prst="roundRect">
            <a:avLst/>
          </a:prstGeom>
          <a:solidFill>
            <a:srgbClr val="FFF2DC"/>
          </a:solidFill>
          <a:ln w="12700">
            <a:solidFill>
              <a:srgbClr val="E08A00"/>
            </a:solidFill>
          </a:ln>
        </p:spPr>
      </p:sp>
      <p:sp>
        <p:nvSpPr>
          <p:cNvPr id="106" name="txt_106"/>
          <p:cNvSpPr txBox="1"/>
          <p:nvPr/>
        </p:nvSpPr>
        <p:spPr>
          <a:xfrm>
            <a:off x="4224528" y="6272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컨트롤</a:t>
            </a:r>
            <a:endParaRPr lang="en-US" sz="800" dirty="0"/>
          </a:p>
        </p:txBody>
      </p:sp>
      <p:sp>
        <p:nvSpPr>
          <p:cNvPr id="107" name="lg_107"/>
          <p:cNvSpPr/>
          <p:nvPr/>
        </p:nvSpPr>
        <p:spPr>
          <a:xfrm>
            <a:off x="4983480" y="6309360"/>
            <a:ext cx="201168" cy="137160"/>
          </a:xfrm>
          <a:prstGeom prst="roundRect">
            <a:avLst/>
          </a:prstGeom>
          <a:solidFill>
            <a:srgbClr val="E3F3F1"/>
          </a:solidFill>
          <a:ln w="12700">
            <a:solidFill>
              <a:srgbClr val="0F7C73"/>
            </a:solidFill>
          </a:ln>
        </p:spPr>
      </p:sp>
      <p:sp>
        <p:nvSpPr>
          <p:cNvPr id="108" name="txt_108"/>
          <p:cNvSpPr txBox="1"/>
          <p:nvPr/>
        </p:nvSpPr>
        <p:spPr>
          <a:xfrm>
            <a:off x="5230368" y="6272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데이터패스</a:t>
            </a:r>
            <a:endParaRPr lang="en-US" sz="800" dirty="0"/>
          </a:p>
        </p:txBody>
      </p:sp>
      <p:sp>
        <p:nvSpPr>
          <p:cNvPr id="109" name="lg_109"/>
          <p:cNvSpPr/>
          <p:nvPr/>
        </p:nvSpPr>
        <p:spPr>
          <a:xfrm>
            <a:off x="5989320" y="6309360"/>
            <a:ext cx="201168" cy="137160"/>
          </a:xfrm>
          <a:prstGeom prst="roundRect">
            <a:avLst/>
          </a:prstGeom>
          <a:solidFill>
            <a:srgbClr val="EFEAFB"/>
          </a:solidFill>
          <a:ln w="12700">
            <a:solidFill>
              <a:srgbClr val="6741D9"/>
            </a:solidFill>
          </a:ln>
        </p:spPr>
      </p:sp>
      <p:sp>
        <p:nvSpPr>
          <p:cNvPr id="110" name="txt_110"/>
          <p:cNvSpPr txBox="1"/>
          <p:nvPr/>
        </p:nvSpPr>
        <p:spPr>
          <a:xfrm>
            <a:off x="6236208" y="627278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타이밍 (tick)</a:t>
            </a:r>
            <a:endParaRPr lang="en-US" sz="800" dirty="0"/>
          </a:p>
        </p:txBody>
      </p:sp>
      <p:sp>
        <p:nvSpPr>
          <p:cNvPr id="111" name="lg_111"/>
          <p:cNvSpPr/>
          <p:nvPr/>
        </p:nvSpPr>
        <p:spPr>
          <a:xfrm>
            <a:off x="7178040" y="6309360"/>
            <a:ext cx="201168" cy="137160"/>
          </a:xfrm>
          <a:prstGeom prst="roundRect">
            <a:avLst/>
          </a:prstGeom>
          <a:solidFill>
            <a:srgbClr val="FCE6E7"/>
          </a:solidFill>
          <a:ln w="12700">
            <a:solidFill>
              <a:srgbClr val="C8323C"/>
            </a:solidFill>
          </a:ln>
        </p:spPr>
      </p:sp>
      <p:sp>
        <p:nvSpPr>
          <p:cNvPr id="112" name="txt_112"/>
          <p:cNvSpPr txBox="1"/>
          <p:nvPr/>
        </p:nvSpPr>
        <p:spPr>
          <a:xfrm>
            <a:off x="7424928" y="6272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표시</a:t>
            </a:r>
            <a:endParaRPr lang="en-US" sz="800" dirty="0"/>
          </a:p>
        </p:txBody>
      </p:sp>
      <p:sp>
        <p:nvSpPr>
          <p:cNvPr id="113" name="lg_113"/>
          <p:cNvSpPr/>
          <p:nvPr/>
        </p:nvSpPr>
        <p:spPr>
          <a:xfrm>
            <a:off x="8183880" y="6309360"/>
            <a:ext cx="201168" cy="13716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5B6B76"/>
            </a:solidFill>
          </a:ln>
        </p:spPr>
      </p:sp>
      <p:sp>
        <p:nvSpPr>
          <p:cNvPr id="114" name="txt_114"/>
          <p:cNvSpPr txBox="1"/>
          <p:nvPr/>
        </p:nvSpPr>
        <p:spPr>
          <a:xfrm>
            <a:off x="8430768" y="62727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공통/글루</a:t>
            </a:r>
            <a:endParaRPr lang="en-US" sz="800" dirty="0"/>
          </a:p>
        </p:txBody>
      </p:sp>
      <p:sp>
        <p:nvSpPr>
          <p:cNvPr id="115" name="wire_115"/>
          <p:cNvSpPr/>
          <p:nvPr/>
        </p:nvSpPr>
        <p:spPr>
          <a:xfrm>
            <a:off x="9235440" y="6373368"/>
            <a:ext cx="320040" cy="0"/>
          </a:xfrm>
          <a:prstGeom prst="line">
            <a:avLst/>
          </a:prstGeom>
          <a:noFill/>
          <a:ln w="22225">
            <a:solidFill>
              <a:srgbClr val="6741D9"/>
            </a:solidFill>
            <a:prstDash val="solid"/>
            <a:tailEnd type="triangle"/>
          </a:ln>
        </p:spPr>
      </p:sp>
      <p:sp>
        <p:nvSpPr>
          <p:cNvPr id="116" name="txt_116"/>
          <p:cNvSpPr txBox="1"/>
          <p:nvPr/>
        </p:nvSpPr>
        <p:spPr>
          <a:xfrm>
            <a:off x="9601200" y="6272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100 Hz tick</a:t>
            </a:r>
            <a:endParaRPr lang="en-US" sz="800" dirty="0"/>
          </a:p>
        </p:txBody>
      </p:sp>
      <p:sp>
        <p:nvSpPr>
          <p:cNvPr id="117" name="wire_117"/>
          <p:cNvSpPr/>
          <p:nvPr/>
        </p:nvSpPr>
        <p:spPr>
          <a:xfrm>
            <a:off x="10561320" y="6373368"/>
            <a:ext cx="320040" cy="0"/>
          </a:xfrm>
          <a:prstGeom prst="line">
            <a:avLst/>
          </a:prstGeom>
          <a:noFill/>
          <a:ln w="15875">
            <a:solidFill>
              <a:srgbClr val="6741D9"/>
            </a:solidFill>
            <a:prstDash val="dash"/>
            <a:tailEnd type="triangle"/>
          </a:ln>
        </p:spPr>
      </p:sp>
      <p:sp>
        <p:nvSpPr>
          <p:cNvPr id="118" name="txt_118"/>
          <p:cNvSpPr txBox="1"/>
          <p:nvPr/>
        </p:nvSpPr>
        <p:spPr>
          <a:xfrm>
            <a:off x="10927080" y="627278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4 kHz</a:t>
            </a:r>
            <a:endParaRPr lang="en-US" sz="800" dirty="0"/>
          </a:p>
        </p:txBody>
      </p:sp>
      <p:sp>
        <p:nvSpPr>
          <p:cNvPr id="11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01  TOP 블럭 다이어그램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모듈 간 연결표 — 경로 점검용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2880360"/>
                <a:gridCol w="731520"/>
                <a:gridCol w="2880360"/>
                <a:gridCol w="3730752"/>
                <a:gridCol w="1143000"/>
              </a:tblGrid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Net (통일 이름)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폭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출발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도착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w_tick_1khz (w_clk_2Khz)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U_CLK_GEN.o_clk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U_BD_R/L/U/D.clk_remake · FND_CON.i_clk_remake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이름만 변경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w_btnR / L / U / 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1×4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U_BD_x.o_btn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버튼 게이팅 · FND_CON.i_btn_R/L (R·L)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FND 쪽 미사용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w_sel_sw / wt / tm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1×3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assign (sw_timer, sw_mode)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버튼 게이팅 · LED 로직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셋 중 하나만 1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w_sw_btn_run_stop / clear / mode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1×3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게이팅 (R·L·U &amp; sel_sw)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U_STOPWATCH_CONTROL_UNIT.btn_*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w_wt_btn_right / left / up / down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1×4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게이팅 (&amp; sel_wt)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U_WATCH_CONTROL_UNIT.btn_*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w_tm_btn_right / left / up / down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1×4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게이팅 (&amp; sel_tm)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U_TIMER_CONTROL_UNIT.btn_*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w_run_stop · w_clear · w_mode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1×3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U_STOPWATCH_CONTROL_UNIT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U_STOPWATCH_DATAPATH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w_sw_msec / sec / min / hour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7/6/6/5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U_STOPWATCH_DATAPATH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화면 MUX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w_cursor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U_WATCH_CONTROL_UNIT.cursor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U_WATCH_DATAPATH.cursor · FND_CON.i_cursor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깜빡임 자리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w_up · w_down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1×2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U_WATCH_CONTROL_UNIT.o_up/o_down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U_WATCH_DATAPATH.i_up/i_down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1클럭 펄스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w_set_mode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U_WATCH_CONTROL_UNIT.set_mode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미연결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w_wt_msec / sec / min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7/6/6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U_WATCH_DATAPATH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화면 MUX · w_blink (msec)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w_wt_hour → w_wt_hour_disp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U_WATCH_DATAPATH.hour → U_HOUR_12_24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화면 MUX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12/24 변환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w_pm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U_HOUR_12_24.pm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led[4]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w_tm_run / clear / add · w_tm_amount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1×3 / 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U_TIMER_CONTROL_UNIT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U_TIMER_DATAPATH (run → led[6])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w_tm_zero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U_TIMER_DATAPATH.zero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U_TIMER_CONTROL_UNIT.i_zero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피드백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w_tm_alarm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U_TIMER_CONTROL_UNIT.alarm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 로직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w_tm_msec / sec / min / hour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7/6/6/5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U_TIMER_DATAPATH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화면 MUX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w_msec / sec / min / hour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7/6/6/5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화면 MUX (SW4 &gt; SW0)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FND_CON.i_msec … i_hour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w_blink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w_wt_msec ≥ 50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led[15:0]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0.5초 박자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1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fnd_com · fnd_font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/ 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FND_CON.o_fnd_com / o_fnd_data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Basys3 FND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</a:rPr>
                        <a:t>핀은 03장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02  포트 이름 통일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통일 규칙과 컨트롤·데이터패스 포트 매핑</a:t>
            </a:r>
            <a:endParaRPr lang="en-US" sz="2800" dirty="0"/>
          </a:p>
        </p:txBody>
      </p:sp>
      <p:sp>
        <p:nvSpPr>
          <p:cNvPr id="4" name="card_140"/>
          <p:cNvSpPr/>
          <p:nvPr/>
        </p:nvSpPr>
        <p:spPr>
          <a:xfrm>
            <a:off x="411480" y="12344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2DC"/>
          </a:solidFill>
          <a:ln/>
        </p:spPr>
      </p:sp>
      <p:sp>
        <p:nvSpPr>
          <p:cNvPr id="5" name="txt_141"/>
          <p:cNvSpPr txBox="1"/>
          <p:nvPr/>
        </p:nvSpPr>
        <p:spPr>
          <a:xfrm>
            <a:off x="548640" y="1298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 / o_</a:t>
            </a:r>
            <a:endParaRPr lang="en-US" sz="1300" dirty="0"/>
          </a:p>
        </p:txBody>
      </p:sp>
      <p:sp>
        <p:nvSpPr>
          <p:cNvPr id="6" name="txt_142"/>
          <p:cNvSpPr txBox="1"/>
          <p:nvPr/>
        </p:nvSpPr>
        <p:spPr>
          <a:xfrm>
            <a:off x="54864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B44"/>
                </a:solidFill>
              </a:rPr>
              <a:t>입력·출력 접두어 고정</a:t>
            </a:r>
            <a:endParaRPr lang="en-US" sz="1000" dirty="0"/>
          </a:p>
        </p:txBody>
      </p:sp>
      <p:sp>
        <p:nvSpPr>
          <p:cNvPr id="7" name="card_143"/>
          <p:cNvSpPr/>
          <p:nvPr/>
        </p:nvSpPr>
        <p:spPr>
          <a:xfrm>
            <a:off x="2697480" y="12344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2DC"/>
          </a:solidFill>
          <a:ln/>
        </p:spPr>
      </p:sp>
      <p:sp>
        <p:nvSpPr>
          <p:cNvPr id="8" name="txt_144"/>
          <p:cNvSpPr txBox="1"/>
          <p:nvPr/>
        </p:nvSpPr>
        <p:spPr>
          <a:xfrm>
            <a:off x="2834640" y="1298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i_clk · i_rst</a:t>
            </a:r>
            <a:endParaRPr lang="en-US" sz="1300" dirty="0"/>
          </a:p>
        </p:txBody>
      </p:sp>
      <p:sp>
        <p:nvSpPr>
          <p:cNvPr id="9" name="txt_145"/>
          <p:cNvSpPr txBox="1"/>
          <p:nvPr/>
        </p:nvSpPr>
        <p:spPr>
          <a:xfrm>
            <a:off x="283464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B44"/>
                </a:solidFill>
              </a:rPr>
              <a:t>reset · rst · i_reset 혼용 정리</a:t>
            </a:r>
            <a:endParaRPr lang="en-US" sz="1000" dirty="0"/>
          </a:p>
        </p:txBody>
      </p:sp>
      <p:sp>
        <p:nvSpPr>
          <p:cNvPr id="10" name="card_146"/>
          <p:cNvSpPr/>
          <p:nvPr/>
        </p:nvSpPr>
        <p:spPr>
          <a:xfrm>
            <a:off x="4983480" y="12344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2DC"/>
          </a:solidFill>
          <a:ln/>
        </p:spPr>
      </p:sp>
      <p:sp>
        <p:nvSpPr>
          <p:cNvPr id="11" name="txt_147"/>
          <p:cNvSpPr txBox="1"/>
          <p:nvPr/>
        </p:nvSpPr>
        <p:spPr>
          <a:xfrm>
            <a:off x="5120640" y="1298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i_tick / o_tick</a:t>
            </a:r>
            <a:endParaRPr lang="en-US" sz="1300" dirty="0"/>
          </a:p>
        </p:txBody>
      </p:sp>
      <p:sp>
        <p:nvSpPr>
          <p:cNvPr id="12" name="txt_148"/>
          <p:cNvSpPr txBox="1"/>
          <p:nvPr/>
        </p:nvSpPr>
        <p:spPr>
          <a:xfrm>
            <a:off x="512064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B44"/>
                </a:solidFill>
              </a:rPr>
              <a:t>clk_remake · i_clk_remake · o_clk</a:t>
            </a:r>
            <a:endParaRPr lang="en-US" sz="1000" dirty="0"/>
          </a:p>
        </p:txBody>
      </p:sp>
      <p:sp>
        <p:nvSpPr>
          <p:cNvPr id="13" name="card_149"/>
          <p:cNvSpPr/>
          <p:nvPr/>
        </p:nvSpPr>
        <p:spPr>
          <a:xfrm>
            <a:off x="7269480" y="12344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2DC"/>
          </a:solidFill>
          <a:ln/>
        </p:spPr>
      </p:sp>
      <p:sp>
        <p:nvSpPr>
          <p:cNvPr id="14" name="txt_150"/>
          <p:cNvSpPr txBox="1"/>
          <p:nvPr/>
        </p:nvSpPr>
        <p:spPr>
          <a:xfrm>
            <a:off x="7406640" y="1298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 이름</a:t>
            </a:r>
            <a:endParaRPr lang="en-US" sz="1300" dirty="0"/>
          </a:p>
        </p:txBody>
      </p:sp>
      <p:sp>
        <p:nvSpPr>
          <p:cNvPr id="15" name="txt_151"/>
          <p:cNvSpPr txBox="1"/>
          <p:nvPr/>
        </p:nvSpPr>
        <p:spPr>
          <a:xfrm>
            <a:off x="740664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B44"/>
                </a:solidFill>
              </a:rPr>
              <a:t>i_sw_0 → i_sw_mode 처럼 의미로</a:t>
            </a:r>
            <a:endParaRPr lang="en-US" sz="1000" dirty="0"/>
          </a:p>
        </p:txBody>
      </p:sp>
      <p:sp>
        <p:nvSpPr>
          <p:cNvPr id="16" name="card_152"/>
          <p:cNvSpPr/>
          <p:nvPr/>
        </p:nvSpPr>
        <p:spPr>
          <a:xfrm>
            <a:off x="9555480" y="1234440"/>
            <a:ext cx="2148840" cy="777240"/>
          </a:xfrm>
          <a:prstGeom prst="roundRect">
            <a:avLst>
              <a:gd name="adj" fmla="val 9412"/>
            </a:avLst>
          </a:prstGeom>
          <a:solidFill>
            <a:srgbClr val="FFF2DC"/>
          </a:solidFill>
          <a:ln/>
        </p:spPr>
      </p:sp>
      <p:sp>
        <p:nvSpPr>
          <p:cNvPr id="17" name="txt_153"/>
          <p:cNvSpPr txBox="1"/>
          <p:nvPr/>
        </p:nvSpPr>
        <p:spPr>
          <a:xfrm>
            <a:off x="9692640" y="129844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o_fnd_font</a:t>
            </a:r>
            <a:endParaRPr lang="en-US" sz="1300" dirty="0"/>
          </a:p>
        </p:txBody>
      </p:sp>
      <p:sp>
        <p:nvSpPr>
          <p:cNvPr id="18" name="txt_154"/>
          <p:cNvSpPr txBox="1"/>
          <p:nvPr/>
        </p:nvSpPr>
        <p:spPr>
          <a:xfrm>
            <a:off x="9692640" y="1627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B44"/>
                </a:solidFill>
              </a:rPr>
              <a:t>top·XDC의 fnd_font 기준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194560"/>
          <a:ext cx="113659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794760"/>
                <a:gridCol w="3794760"/>
                <a:gridCol w="1444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모듈 (인스턴스)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현재 포트  (입력 → 출력)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통일안  (입력 → 출력)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control_unit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U_STOPWATCH_CONTROL_UNIT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clk, reset, btn_run_stop, btn_clear, btn_mode → run_stop, clear, mode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i_clk, i_rst, i_btn_run_stop, i_btn_clear, i_btn_mode → o_run_stop, o_clear, o_mode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3B44"/>
                          </a:solidFill>
                        </a:rPr>
                        <a:t>reset → i_rst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stopwatch_datapath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U_STOPWATCH_DATAPATH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clk, rst, run_stop, clear, mode → msec, sec, min, hour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i_clk, i_rst, i_run_stop, i_clear, i_mode → o_msec, o_sec, o_min, o_hour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watch_control_unit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U_WATCH_CONTROL_UNIT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clk, rst, btn_left/right/up/down, sw_set → set_mode, cursor, o_up, o_down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i_clk, i_rst, i_btn_left/right/up/down, i_sw_set → o_set_mode, o_cursor, o_up, o_down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3B44"/>
                          </a:solidFill>
                        </a:rPr>
                        <a:t>set_mode 미연결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watch_datapath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U_WATCH_DATAPATH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clk, rst, cursor, i_up, i_down → msec, sec, min, hour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i_clk, i_rst, i_cursor, i_up, i_down → o_msec, o_sec, o_min, o_hour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hour_12_24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U_HOUR_12_24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sw_12h, i_hour → o_hour, pm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i_sw_12h, i_hour → o_hour, o_pm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3B44"/>
                          </a:solidFill>
                        </a:rPr>
                        <a:t>조합회로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timer_control_unit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U_TIMER_CONTROL_UNIT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clk, rst, btn_left/right/up/down, sw_alt, i_zero → run, alarm, o_clear, o_add, amount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i_clk, i_rst, i_btn_*, i_sw_alt, i_zero → o_run, o_alarm, o_clear, o_add, o_amount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timer_datapath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U_TIMER_DATAPATH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clk, rst, run, clear, add, amount → msec, sec, min, hour, zero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i_clk, i_rst, i_run, i_clear, i_add, i_amount → o_msec … o_hour, o_zero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02  포트 이름 통일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공통·표시 모듈 매핑과 정리 메모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6599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3794760"/>
                <a:gridCol w="3794760"/>
                <a:gridCol w="1444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모듈 (인스턴스)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현재 포트  (입력 → 출력)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통일안  (입력 → 출력)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clock_tick_generator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U_CLK_GEN_2KHz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i_clk, i_reset → o_clk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i_clk, i_rst → o_tick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3B44"/>
                          </a:solidFill>
                        </a:rPr>
                        <a:t>top net: w_tick_1khz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btn_debounce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U_BD_R / L / U / D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clk_remake, clk, reset, i_btn → o_btn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i_tick, i_clk, i_rst, i_btn → o_btn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SW2_FND_CONTROLLER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FND_CON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i_clk_remake, i_clk, i_reset, i_cursor, i_msec…i_hour, i_sw_display_mode, i_sw_0, i_sw_2, i_btn_R, i_btn_L → o_fnd_com, o_fnd_data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i_tick, i_clk, i_rst, i_cursor, i_msec…i_hour, i_sw_display_mode, i_sw_mode, i_sw_set, i_btn_R, i_btn_L → o_fnd_com, o_fnd_font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3B44"/>
                          </a:solidFill>
                        </a:rPr>
                        <a:t>i_clk·i_btn_R/L 내부 미사용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SW2_ANODE_CHOICE</a:t>
                      </a:r>
                      <a:endParaRPr lang="en-US" sz="1000" dirty="0"/>
                    </a:p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U_ANODE_CHOICE_TO_MUX1/2</a:t>
                      </a:r>
                      <a:endParaRPr lang="en-US" sz="10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i_sw_0, i_sw_1, i_sw_2, i_cursor, i_dot, i_ds1~4 → o_ds1~4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i_sw_mode, i_sw_display_mode, i_sw_set, i_cursor, i_dot, i_ds1~4 → o_ds1~4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E3B44"/>
                          </a:solidFill>
                        </a:rPr>
                        <a:t>FND_CON 내부</a:t>
                      </a:r>
                      <a:endParaRPr lang="en-US" sz="900" dirty="0"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ard_155"/>
          <p:cNvSpPr/>
          <p:nvPr/>
        </p:nvSpPr>
        <p:spPr>
          <a:xfrm>
            <a:off x="41148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</p:sp>
      <p:sp>
        <p:nvSpPr>
          <p:cNvPr id="6" name="mk_156"/>
          <p:cNvSpPr/>
          <p:nvPr/>
        </p:nvSpPr>
        <p:spPr>
          <a:xfrm>
            <a:off x="640080" y="4279392"/>
            <a:ext cx="201168" cy="201168"/>
          </a:xfrm>
          <a:prstGeom prst="ellipse">
            <a:avLst/>
          </a:prstGeom>
          <a:solidFill>
            <a:srgbClr val="0F7C73"/>
          </a:solidFill>
          <a:ln/>
        </p:spPr>
      </p:sp>
      <p:sp>
        <p:nvSpPr>
          <p:cNvPr id="7" name="txt_157"/>
          <p:cNvSpPr txBox="1"/>
          <p:nvPr/>
        </p:nvSpPr>
        <p:spPr>
          <a:xfrm>
            <a:off x="960120" y="4224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8"/>
                </a:solidFill>
              </a:rPr>
              <a:t>대조 결과</a:t>
            </a:r>
            <a:endParaRPr lang="en-US" sz="1400" dirty="0"/>
          </a:p>
        </p:txBody>
      </p:sp>
      <p:sp>
        <p:nvSpPr>
          <p:cNvPr id="8" name="txt_158"/>
          <p:cNvSpPr txBox="1"/>
          <p:nvPr/>
        </p:nvSpPr>
        <p:spPr>
          <a:xfrm>
            <a:off x="640080" y="4663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B44"/>
                </a:solidFill>
              </a:rPr>
              <a:t>13개 인스턴스의 연결 포트 이름을 모듈 정의와 스크립트로 대조 — 없는 포트 연결·미연결 입력 0건. 비트 폭도 파라미터 기준 일치.</a:t>
            </a:r>
            <a:endParaRPr lang="en-US" sz="1200" dirty="0"/>
          </a:p>
        </p:txBody>
      </p:sp>
      <p:sp>
        <p:nvSpPr>
          <p:cNvPr id="9" name="card_159"/>
          <p:cNvSpPr/>
          <p:nvPr/>
        </p:nvSpPr>
        <p:spPr>
          <a:xfrm>
            <a:off x="4233672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</p:sp>
      <p:sp>
        <p:nvSpPr>
          <p:cNvPr id="10" name="mk_160"/>
          <p:cNvSpPr/>
          <p:nvPr/>
        </p:nvSpPr>
        <p:spPr>
          <a:xfrm>
            <a:off x="4462272" y="4279392"/>
            <a:ext cx="201168" cy="201168"/>
          </a:xfrm>
          <a:prstGeom prst="ellipse">
            <a:avLst/>
          </a:prstGeom>
          <a:solidFill>
            <a:srgbClr val="E08A00"/>
          </a:solidFill>
          <a:ln/>
        </p:spPr>
      </p:sp>
      <p:sp>
        <p:nvSpPr>
          <p:cNvPr id="11" name="txt_161"/>
          <p:cNvSpPr txBox="1"/>
          <p:nvPr/>
        </p:nvSpPr>
        <p:spPr>
          <a:xfrm>
            <a:off x="4782312" y="4224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8"/>
                </a:solidFill>
              </a:rPr>
              <a:t>tick 이름</a:t>
            </a:r>
            <a:endParaRPr lang="en-US" sz="1400" dirty="0"/>
          </a:p>
        </p:txBody>
      </p:sp>
      <p:sp>
        <p:nvSpPr>
          <p:cNvPr id="12" name="txt_162"/>
          <p:cNvSpPr txBox="1"/>
          <p:nvPr/>
        </p:nvSpPr>
        <p:spPr>
          <a:xfrm>
            <a:off x="4462272" y="4663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B44"/>
                </a:solidFill>
              </a:rPr>
              <a:t>U_CLK_GEN_2KHz는 CLK_FRQ 기본값 1000을 그대로 써서 1 kHz 펄스를 낸다. 동작은 그대로 두고 net 이름만 w_tick_1khz로 맞추면 헷갈림이 줄어든다.</a:t>
            </a:r>
            <a:endParaRPr lang="en-US" sz="1200" dirty="0"/>
          </a:p>
        </p:txBody>
      </p:sp>
      <p:sp>
        <p:nvSpPr>
          <p:cNvPr id="13" name="card_163"/>
          <p:cNvSpPr/>
          <p:nvPr/>
        </p:nvSpPr>
        <p:spPr>
          <a:xfrm>
            <a:off x="8055864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3F5F7"/>
          </a:solidFill>
          <a:ln/>
        </p:spPr>
      </p:sp>
      <p:sp>
        <p:nvSpPr>
          <p:cNvPr id="14" name="mk_164"/>
          <p:cNvSpPr/>
          <p:nvPr/>
        </p:nvSpPr>
        <p:spPr>
          <a:xfrm>
            <a:off x="8284464" y="4279392"/>
            <a:ext cx="201168" cy="201168"/>
          </a:xfrm>
          <a:prstGeom prst="ellipse">
            <a:avLst/>
          </a:prstGeom>
          <a:solidFill>
            <a:srgbClr val="5B6B76"/>
          </a:solidFill>
          <a:ln/>
        </p:spPr>
      </p:sp>
      <p:sp>
        <p:nvSpPr>
          <p:cNvPr id="15" name="txt_165"/>
          <p:cNvSpPr txBox="1"/>
          <p:nvPr/>
        </p:nvSpPr>
        <p:spPr>
          <a:xfrm>
            <a:off x="8604504" y="42245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228"/>
                </a:solidFill>
              </a:rPr>
              <a:t>연결만 된 포트</a:t>
            </a:r>
            <a:endParaRPr lang="en-US" sz="1400" dirty="0"/>
          </a:p>
        </p:txBody>
      </p:sp>
      <p:sp>
        <p:nvSpPr>
          <p:cNvPr id="16" name="txt_166"/>
          <p:cNvSpPr txBox="1"/>
          <p:nvPr/>
        </p:nvSpPr>
        <p:spPr>
          <a:xfrm>
            <a:off x="8284464" y="46634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E3B44"/>
                </a:solidFill>
              </a:rPr>
              <a:t>FND_CON의 i_clk, i_btn_R, i_btn_L은 연결돼 있지만 내부에서 쓰지 않는다. U_WATCH_CONTROL_UNIT.set_mode(w_set_mode)도 받는 곳이 없다. 정리 후보.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03  BASYS3 보드 설명서 · 공통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보드 I/O 맵 — 어떤 스위치가 무엇을 바꾸나</a:t>
            </a:r>
            <a:endParaRPr lang="en-US" sz="2800" dirty="0"/>
          </a:p>
        </p:txBody>
      </p:sp>
      <p:sp>
        <p:nvSpPr>
          <p:cNvPr id="4" name="board"/>
          <p:cNvSpPr/>
          <p:nvPr/>
        </p:nvSpPr>
        <p:spPr>
          <a:xfrm>
            <a:off x="411480" y="1207008"/>
            <a:ext cx="6629400" cy="4846320"/>
          </a:xfrm>
          <a:prstGeom prst="roundRect">
            <a:avLst>
              <a:gd name="adj" fmla="val 2264"/>
            </a:avLst>
          </a:prstGeom>
          <a:solidFill>
            <a:srgbClr val="22303A"/>
          </a:solidFill>
          <a:ln w="19050">
            <a:solidFill>
              <a:srgbClr val="0F171C"/>
            </a:solidFill>
            <a:prstDash val="solid"/>
          </a:ln>
        </p:spPr>
      </p:sp>
      <p:sp>
        <p:nvSpPr>
          <p:cNvPr id="5" name="hole_167"/>
          <p:cNvSpPr/>
          <p:nvPr/>
        </p:nvSpPr>
        <p:spPr>
          <a:xfrm>
            <a:off x="521208" y="1316736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6" name="hole_168"/>
          <p:cNvSpPr/>
          <p:nvPr/>
        </p:nvSpPr>
        <p:spPr>
          <a:xfrm>
            <a:off x="6766560" y="1316736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7" name="hole_169"/>
          <p:cNvSpPr/>
          <p:nvPr/>
        </p:nvSpPr>
        <p:spPr>
          <a:xfrm>
            <a:off x="521208" y="5779008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8" name="hole_170"/>
          <p:cNvSpPr/>
          <p:nvPr/>
        </p:nvSpPr>
        <p:spPr>
          <a:xfrm>
            <a:off x="6766560" y="5779008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9" name="rect_171"/>
          <p:cNvSpPr/>
          <p:nvPr/>
        </p:nvSpPr>
        <p:spPr>
          <a:xfrm>
            <a:off x="914400" y="1115568"/>
            <a:ext cx="548640" cy="292608"/>
          </a:xfrm>
          <a:prstGeom prst="rect">
            <a:avLst/>
          </a:prstGeom>
          <a:solidFill>
            <a:srgbClr val="A3ACB2"/>
          </a:solidFill>
          <a:ln w="9525">
            <a:solidFill>
              <a:srgbClr val="6C767D"/>
            </a:solidFill>
            <a:prstDash val="solid"/>
          </a:ln>
        </p:spPr>
      </p:sp>
      <p:sp>
        <p:nvSpPr>
          <p:cNvPr id="10" name="txt_172"/>
          <p:cNvSpPr txBox="1"/>
          <p:nvPr/>
        </p:nvSpPr>
        <p:spPr>
          <a:xfrm>
            <a:off x="777240" y="14447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USB·PROG</a:t>
            </a:r>
            <a:endParaRPr lang="en-US" sz="700" dirty="0"/>
          </a:p>
        </p:txBody>
      </p:sp>
      <p:sp>
        <p:nvSpPr>
          <p:cNvPr id="11" name="rect_173"/>
          <p:cNvSpPr/>
          <p:nvPr/>
        </p:nvSpPr>
        <p:spPr>
          <a:xfrm>
            <a:off x="1737360" y="1298448"/>
            <a:ext cx="292608" cy="164592"/>
          </a:xfrm>
          <a:prstGeom prst="rect">
            <a:avLst/>
          </a:prstGeom>
          <a:solidFill>
            <a:srgbClr val="A3ACB2"/>
          </a:solidFill>
          <a:ln w="9525">
            <a:solidFill>
              <a:srgbClr val="6C767D"/>
            </a:solidFill>
            <a:prstDash val="solid"/>
          </a:ln>
        </p:spPr>
      </p:sp>
      <p:sp>
        <p:nvSpPr>
          <p:cNvPr id="12" name="txt_174"/>
          <p:cNvSpPr txBox="1"/>
          <p:nvPr/>
        </p:nvSpPr>
        <p:spPr>
          <a:xfrm>
            <a:off x="1655064" y="14813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PWR</a:t>
            </a:r>
            <a:endParaRPr lang="en-US" sz="700" dirty="0"/>
          </a:p>
        </p:txBody>
      </p:sp>
      <p:sp>
        <p:nvSpPr>
          <p:cNvPr id="13" name="txt_175"/>
          <p:cNvSpPr txBox="1"/>
          <p:nvPr/>
        </p:nvSpPr>
        <p:spPr>
          <a:xfrm>
            <a:off x="4937760" y="1408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0"/>
                </a:solidFill>
              </a:rPr>
              <a:t>BASYS 3</a:t>
            </a:r>
            <a:endParaRPr lang="en-US" sz="1800" dirty="0"/>
          </a:p>
        </p:txBody>
      </p:sp>
      <p:sp>
        <p:nvSpPr>
          <p:cNvPr id="14" name="shp_176"/>
          <p:cNvSpPr txBox="1"/>
          <p:nvPr/>
        </p:nvSpPr>
        <p:spPr>
          <a:xfrm>
            <a:off x="2971800" y="1591056"/>
            <a:ext cx="1280160" cy="1280160"/>
          </a:xfrm>
          <a:prstGeom prst="rect">
            <a:avLst/>
          </a:prstGeom>
          <a:solidFill>
            <a:srgbClr val="14181B"/>
          </a:solidFill>
          <a:ln w="12700">
            <a:solidFill>
              <a:srgbClr val="46505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6BC"/>
                </a:solidFill>
              </a:rPr>
              <a:t>ARTIX-7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EB6BC"/>
                </a:solidFill>
              </a:rPr>
              <a:t>XC7A35T</a:t>
            </a:r>
            <a:endParaRPr lang="en-US" sz="900" dirty="0"/>
          </a:p>
        </p:txBody>
      </p:sp>
      <p:sp>
        <p:nvSpPr>
          <p:cNvPr id="15" name="rect_177"/>
          <p:cNvSpPr/>
          <p:nvPr/>
        </p:nvSpPr>
        <p:spPr>
          <a:xfrm>
            <a:off x="4526280" y="2075688"/>
            <a:ext cx="365760" cy="219456"/>
          </a:xfrm>
          <a:prstGeom prst="rect">
            <a:avLst/>
          </a:prstGeom>
          <a:solidFill>
            <a:srgbClr val="C8CDD1"/>
          </a:solidFill>
          <a:ln w="9525">
            <a:solidFill>
              <a:srgbClr val="7D868C"/>
            </a:solidFill>
            <a:prstDash val="solid"/>
          </a:ln>
        </p:spPr>
      </p:sp>
      <p:sp>
        <p:nvSpPr>
          <p:cNvPr id="16" name="txt_178"/>
          <p:cNvSpPr txBox="1"/>
          <p:nvPr/>
        </p:nvSpPr>
        <p:spPr>
          <a:xfrm>
            <a:off x="4343400" y="23225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100 MHz clk · W5</a:t>
            </a:r>
            <a:endParaRPr lang="en-US" sz="700" dirty="0"/>
          </a:p>
        </p:txBody>
      </p:sp>
      <p:sp>
        <p:nvSpPr>
          <p:cNvPr id="17" name="rect_179"/>
          <p:cNvSpPr/>
          <p:nvPr/>
        </p:nvSpPr>
        <p:spPr>
          <a:xfrm>
            <a:off x="6748272" y="170992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8" name="rect_180"/>
          <p:cNvSpPr/>
          <p:nvPr/>
        </p:nvSpPr>
        <p:spPr>
          <a:xfrm>
            <a:off x="6748272" y="267004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9" name="rect_181"/>
          <p:cNvSpPr/>
          <p:nvPr/>
        </p:nvSpPr>
        <p:spPr>
          <a:xfrm>
            <a:off x="521208" y="212140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20" name="txt_182"/>
          <p:cNvSpPr txBox="1"/>
          <p:nvPr/>
        </p:nvSpPr>
        <p:spPr>
          <a:xfrm>
            <a:off x="6355080" y="35387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8F99"/>
                </a:solidFill>
              </a:rPr>
              <a:t>Pmod</a:t>
            </a:r>
            <a:endParaRPr lang="en-US" sz="650" dirty="0"/>
          </a:p>
        </p:txBody>
      </p:sp>
      <p:sp>
        <p:nvSpPr>
          <p:cNvPr id="21" name="fnd"/>
          <p:cNvSpPr/>
          <p:nvPr/>
        </p:nvSpPr>
        <p:spPr>
          <a:xfrm>
            <a:off x="1600200" y="3172968"/>
            <a:ext cx="2697480" cy="1051560"/>
          </a:xfrm>
          <a:prstGeom prst="rect">
            <a:avLst/>
          </a:prstGeom>
          <a:solidFill>
            <a:srgbClr val="0B0B0B"/>
          </a:solidFill>
          <a:ln w="12700">
            <a:solidFill>
              <a:srgbClr val="46505A"/>
            </a:solidFill>
            <a:prstDash val="solid"/>
          </a:ln>
        </p:spPr>
      </p:sp>
      <p:sp>
        <p:nvSpPr>
          <p:cNvPr id="22" name="txt_183"/>
          <p:cNvSpPr txBox="1"/>
          <p:nvPr/>
        </p:nvSpPr>
        <p:spPr>
          <a:xfrm>
            <a:off x="1755648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400" dirty="0"/>
          </a:p>
        </p:txBody>
      </p:sp>
      <p:sp>
        <p:nvSpPr>
          <p:cNvPr id="23" name="dp_184"/>
          <p:cNvSpPr/>
          <p:nvPr/>
        </p:nvSpPr>
        <p:spPr>
          <a:xfrm>
            <a:off x="2276856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24" name="txt_185"/>
          <p:cNvSpPr txBox="1"/>
          <p:nvPr/>
        </p:nvSpPr>
        <p:spPr>
          <a:xfrm>
            <a:off x="1755648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AN3</a:t>
            </a:r>
            <a:endParaRPr lang="en-US" sz="700" dirty="0"/>
          </a:p>
        </p:txBody>
      </p:sp>
      <p:sp>
        <p:nvSpPr>
          <p:cNvPr id="25" name="txt_186"/>
          <p:cNvSpPr txBox="1"/>
          <p:nvPr/>
        </p:nvSpPr>
        <p:spPr>
          <a:xfrm>
            <a:off x="2377440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400" dirty="0"/>
          </a:p>
        </p:txBody>
      </p:sp>
      <p:sp>
        <p:nvSpPr>
          <p:cNvPr id="26" name="dp_187"/>
          <p:cNvSpPr/>
          <p:nvPr/>
        </p:nvSpPr>
        <p:spPr>
          <a:xfrm>
            <a:off x="2898648" y="3959352"/>
            <a:ext cx="82296" cy="82296"/>
          </a:xfrm>
          <a:prstGeom prst="ellipse">
            <a:avLst/>
          </a:prstGeom>
          <a:solidFill>
            <a:srgbClr val="FF4A2E"/>
          </a:solidFill>
          <a:ln/>
        </p:spPr>
      </p:sp>
      <p:sp>
        <p:nvSpPr>
          <p:cNvPr id="27" name="txt_188"/>
          <p:cNvSpPr txBox="1"/>
          <p:nvPr/>
        </p:nvSpPr>
        <p:spPr>
          <a:xfrm>
            <a:off x="2377440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AN2</a:t>
            </a:r>
            <a:endParaRPr lang="en-US" sz="700" dirty="0"/>
          </a:p>
        </p:txBody>
      </p:sp>
      <p:sp>
        <p:nvSpPr>
          <p:cNvPr id="28" name="txt_189"/>
          <p:cNvSpPr txBox="1"/>
          <p:nvPr/>
        </p:nvSpPr>
        <p:spPr>
          <a:xfrm>
            <a:off x="2999232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400" dirty="0"/>
          </a:p>
        </p:txBody>
      </p:sp>
      <p:sp>
        <p:nvSpPr>
          <p:cNvPr id="29" name="dp_190"/>
          <p:cNvSpPr/>
          <p:nvPr/>
        </p:nvSpPr>
        <p:spPr>
          <a:xfrm>
            <a:off x="3520440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30" name="txt_191"/>
          <p:cNvSpPr txBox="1"/>
          <p:nvPr/>
        </p:nvSpPr>
        <p:spPr>
          <a:xfrm>
            <a:off x="2999232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AN1</a:t>
            </a:r>
            <a:endParaRPr lang="en-US" sz="700" dirty="0"/>
          </a:p>
        </p:txBody>
      </p:sp>
      <p:sp>
        <p:nvSpPr>
          <p:cNvPr id="31" name="txt_192"/>
          <p:cNvSpPr txBox="1"/>
          <p:nvPr/>
        </p:nvSpPr>
        <p:spPr>
          <a:xfrm>
            <a:off x="3621024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400" dirty="0"/>
          </a:p>
        </p:txBody>
      </p:sp>
      <p:sp>
        <p:nvSpPr>
          <p:cNvPr id="32" name="dp_193"/>
          <p:cNvSpPr/>
          <p:nvPr/>
        </p:nvSpPr>
        <p:spPr>
          <a:xfrm>
            <a:off x="4142232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33" name="txt_194"/>
          <p:cNvSpPr txBox="1"/>
          <p:nvPr/>
        </p:nvSpPr>
        <p:spPr>
          <a:xfrm>
            <a:off x="3621024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AN0</a:t>
            </a:r>
            <a:endParaRPr lang="en-US" sz="700" dirty="0"/>
          </a:p>
        </p:txBody>
      </p:sp>
      <p:sp>
        <p:nvSpPr>
          <p:cNvPr id="34" name="txt_195"/>
          <p:cNvSpPr txBox="1"/>
          <p:nvPr/>
        </p:nvSpPr>
        <p:spPr>
          <a:xfrm>
            <a:off x="1508760" y="441655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266"/>
                </a:solidFill>
              </a:rPr>
              <a:t>fnd_com AN3~0 · fnd_font a~g, dp</a:t>
            </a:r>
            <a:endParaRPr lang="en-US" sz="900" dirty="0"/>
          </a:p>
        </p:txBody>
      </p:sp>
      <p:sp>
        <p:nvSpPr>
          <p:cNvPr id="35" name="btn_196"/>
          <p:cNvSpPr/>
          <p:nvPr/>
        </p:nvSpPr>
        <p:spPr>
          <a:xfrm>
            <a:off x="5340096" y="28620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36" name="shp_197"/>
          <p:cNvSpPr txBox="1"/>
          <p:nvPr/>
        </p:nvSpPr>
        <p:spPr>
          <a:xfrm>
            <a:off x="5404104" y="292608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37" name="txt_198"/>
          <p:cNvSpPr txBox="1"/>
          <p:nvPr/>
        </p:nvSpPr>
        <p:spPr>
          <a:xfrm>
            <a:off x="498348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BTNU · T18</a:t>
            </a:r>
            <a:endParaRPr lang="en-US" sz="750" dirty="0"/>
          </a:p>
        </p:txBody>
      </p:sp>
      <p:sp>
        <p:nvSpPr>
          <p:cNvPr id="38" name="btn_199"/>
          <p:cNvSpPr/>
          <p:nvPr/>
        </p:nvSpPr>
        <p:spPr>
          <a:xfrm>
            <a:off x="479145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39" name="shp_200"/>
          <p:cNvSpPr txBox="1"/>
          <p:nvPr/>
        </p:nvSpPr>
        <p:spPr>
          <a:xfrm>
            <a:off x="485546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</a:t>
            </a:r>
            <a:endParaRPr lang="en-US" sz="900" dirty="0"/>
          </a:p>
        </p:txBody>
      </p:sp>
      <p:sp>
        <p:nvSpPr>
          <p:cNvPr id="40" name="txt_201"/>
          <p:cNvSpPr txBox="1"/>
          <p:nvPr/>
        </p:nvSpPr>
        <p:spPr>
          <a:xfrm>
            <a:off x="4023360" y="34655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BTNL</a:t>
            </a:r>
            <a:endParaRPr lang="en-US" sz="750" dirty="0"/>
          </a:p>
          <a:p>
            <a:pPr algn="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W19</a:t>
            </a:r>
            <a:endParaRPr lang="en-US" sz="750" dirty="0"/>
          </a:p>
        </p:txBody>
      </p:sp>
      <p:sp>
        <p:nvSpPr>
          <p:cNvPr id="41" name="btn_202"/>
          <p:cNvSpPr/>
          <p:nvPr/>
        </p:nvSpPr>
        <p:spPr>
          <a:xfrm>
            <a:off x="534009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9525">
            <a:solidFill>
              <a:srgbClr val="8A949A"/>
            </a:solidFill>
            <a:prstDash val="solid"/>
          </a:ln>
        </p:spPr>
      </p:sp>
      <p:sp>
        <p:nvSpPr>
          <p:cNvPr id="42" name="shp_203"/>
          <p:cNvSpPr txBox="1"/>
          <p:nvPr/>
        </p:nvSpPr>
        <p:spPr>
          <a:xfrm>
            <a:off x="5404104" y="3474720"/>
            <a:ext cx="256032" cy="256032"/>
          </a:xfrm>
          <a:prstGeom prst="ellipse">
            <a:avLst/>
          </a:prstGeom>
          <a:solidFill>
            <a:srgbClr val="C8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43" name="btn_204"/>
          <p:cNvSpPr/>
          <p:nvPr/>
        </p:nvSpPr>
        <p:spPr>
          <a:xfrm>
            <a:off x="588873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4" name="shp_205"/>
          <p:cNvSpPr txBox="1"/>
          <p:nvPr/>
        </p:nvSpPr>
        <p:spPr>
          <a:xfrm>
            <a:off x="595274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45" name="txt_206"/>
          <p:cNvSpPr txBox="1"/>
          <p:nvPr/>
        </p:nvSpPr>
        <p:spPr>
          <a:xfrm>
            <a:off x="6382512" y="346557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BTNR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T17</a:t>
            </a:r>
            <a:endParaRPr lang="en-US" sz="750" dirty="0"/>
          </a:p>
        </p:txBody>
      </p:sp>
      <p:sp>
        <p:nvSpPr>
          <p:cNvPr id="46" name="btn_207"/>
          <p:cNvSpPr/>
          <p:nvPr/>
        </p:nvSpPr>
        <p:spPr>
          <a:xfrm>
            <a:off x="5340096" y="3959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7" name="shp_208"/>
          <p:cNvSpPr txBox="1"/>
          <p:nvPr/>
        </p:nvSpPr>
        <p:spPr>
          <a:xfrm>
            <a:off x="5404104" y="402336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</a:t>
            </a:r>
            <a:endParaRPr lang="en-US" sz="900" dirty="0"/>
          </a:p>
        </p:txBody>
      </p:sp>
      <p:sp>
        <p:nvSpPr>
          <p:cNvPr id="48" name="txt_209"/>
          <p:cNvSpPr txBox="1"/>
          <p:nvPr/>
        </p:nvSpPr>
        <p:spPr>
          <a:xfrm>
            <a:off x="4983480" y="4498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BTND · U17</a:t>
            </a:r>
            <a:endParaRPr lang="en-US" sz="750" dirty="0"/>
          </a:p>
        </p:txBody>
      </p:sp>
      <p:sp>
        <p:nvSpPr>
          <p:cNvPr id="49" name="txt_210"/>
          <p:cNvSpPr txBox="1"/>
          <p:nvPr/>
        </p:nvSpPr>
        <p:spPr>
          <a:xfrm>
            <a:off x="4892040" y="47000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2A0A6"/>
                </a:solidFill>
              </a:rPr>
              <a:t>BTNC = rst · U18</a:t>
            </a:r>
            <a:endParaRPr lang="en-US" sz="750" dirty="0"/>
          </a:p>
        </p:txBody>
      </p:sp>
      <p:sp>
        <p:nvSpPr>
          <p:cNvPr id="50" name="led_211"/>
          <p:cNvSpPr/>
          <p:nvPr/>
        </p:nvSpPr>
        <p:spPr>
          <a:xfrm>
            <a:off x="647395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51" name="txt_212"/>
          <p:cNvSpPr txBox="1"/>
          <p:nvPr/>
        </p:nvSpPr>
        <p:spPr>
          <a:xfrm>
            <a:off x="63825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LD0</a:t>
            </a:r>
            <a:endParaRPr lang="en-US" sz="650" dirty="0"/>
          </a:p>
        </p:txBody>
      </p:sp>
      <p:sp>
        <p:nvSpPr>
          <p:cNvPr id="52" name="led_213"/>
          <p:cNvSpPr/>
          <p:nvPr/>
        </p:nvSpPr>
        <p:spPr>
          <a:xfrm>
            <a:off x="610819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53" name="txt_214"/>
          <p:cNvSpPr txBox="1"/>
          <p:nvPr/>
        </p:nvSpPr>
        <p:spPr>
          <a:xfrm>
            <a:off x="60167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</a:t>
            </a:r>
            <a:endParaRPr lang="en-US" sz="650" dirty="0"/>
          </a:p>
        </p:txBody>
      </p:sp>
      <p:sp>
        <p:nvSpPr>
          <p:cNvPr id="54" name="led_215"/>
          <p:cNvSpPr/>
          <p:nvPr/>
        </p:nvSpPr>
        <p:spPr>
          <a:xfrm>
            <a:off x="574243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55" name="txt_216"/>
          <p:cNvSpPr txBox="1"/>
          <p:nvPr/>
        </p:nvSpPr>
        <p:spPr>
          <a:xfrm>
            <a:off x="56509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LD2</a:t>
            </a:r>
            <a:endParaRPr lang="en-US" sz="650" dirty="0"/>
          </a:p>
        </p:txBody>
      </p:sp>
      <p:sp>
        <p:nvSpPr>
          <p:cNvPr id="56" name="led_217"/>
          <p:cNvSpPr/>
          <p:nvPr/>
        </p:nvSpPr>
        <p:spPr>
          <a:xfrm>
            <a:off x="537667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57" name="txt_218"/>
          <p:cNvSpPr txBox="1"/>
          <p:nvPr/>
        </p:nvSpPr>
        <p:spPr>
          <a:xfrm>
            <a:off x="52852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LD3</a:t>
            </a:r>
            <a:endParaRPr lang="en-US" sz="650" dirty="0"/>
          </a:p>
        </p:txBody>
      </p:sp>
      <p:sp>
        <p:nvSpPr>
          <p:cNvPr id="58" name="led_219"/>
          <p:cNvSpPr/>
          <p:nvPr/>
        </p:nvSpPr>
        <p:spPr>
          <a:xfrm>
            <a:off x="501091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59" name="txt_220"/>
          <p:cNvSpPr txBox="1"/>
          <p:nvPr/>
        </p:nvSpPr>
        <p:spPr>
          <a:xfrm>
            <a:off x="49194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LD4</a:t>
            </a:r>
            <a:endParaRPr lang="en-US" sz="650" dirty="0"/>
          </a:p>
        </p:txBody>
      </p:sp>
      <p:sp>
        <p:nvSpPr>
          <p:cNvPr id="60" name="led_221"/>
          <p:cNvSpPr/>
          <p:nvPr/>
        </p:nvSpPr>
        <p:spPr>
          <a:xfrm>
            <a:off x="464515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61" name="txt_222"/>
          <p:cNvSpPr txBox="1"/>
          <p:nvPr/>
        </p:nvSpPr>
        <p:spPr>
          <a:xfrm>
            <a:off x="45537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LD5</a:t>
            </a:r>
            <a:endParaRPr lang="en-US" sz="650" dirty="0"/>
          </a:p>
        </p:txBody>
      </p:sp>
      <p:sp>
        <p:nvSpPr>
          <p:cNvPr id="62" name="led_223"/>
          <p:cNvSpPr/>
          <p:nvPr/>
        </p:nvSpPr>
        <p:spPr>
          <a:xfrm>
            <a:off x="427939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63" name="txt_224"/>
          <p:cNvSpPr txBox="1"/>
          <p:nvPr/>
        </p:nvSpPr>
        <p:spPr>
          <a:xfrm>
            <a:off x="41879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LD6</a:t>
            </a:r>
            <a:endParaRPr lang="en-US" sz="650" dirty="0"/>
          </a:p>
        </p:txBody>
      </p:sp>
      <p:sp>
        <p:nvSpPr>
          <p:cNvPr id="64" name="led_225"/>
          <p:cNvSpPr/>
          <p:nvPr/>
        </p:nvSpPr>
        <p:spPr>
          <a:xfrm>
            <a:off x="391363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65" name="txt_226"/>
          <p:cNvSpPr txBox="1"/>
          <p:nvPr/>
        </p:nvSpPr>
        <p:spPr>
          <a:xfrm>
            <a:off x="38221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LD7</a:t>
            </a:r>
            <a:endParaRPr lang="en-US" sz="650" dirty="0"/>
          </a:p>
        </p:txBody>
      </p:sp>
      <p:sp>
        <p:nvSpPr>
          <p:cNvPr id="66" name="led_227"/>
          <p:cNvSpPr/>
          <p:nvPr/>
        </p:nvSpPr>
        <p:spPr>
          <a:xfrm>
            <a:off x="354787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67" name="txt_228"/>
          <p:cNvSpPr txBox="1"/>
          <p:nvPr/>
        </p:nvSpPr>
        <p:spPr>
          <a:xfrm>
            <a:off x="34564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LD8</a:t>
            </a:r>
            <a:endParaRPr lang="en-US" sz="650" dirty="0"/>
          </a:p>
        </p:txBody>
      </p:sp>
      <p:sp>
        <p:nvSpPr>
          <p:cNvPr id="68" name="led_229"/>
          <p:cNvSpPr/>
          <p:nvPr/>
        </p:nvSpPr>
        <p:spPr>
          <a:xfrm>
            <a:off x="318211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69" name="txt_230"/>
          <p:cNvSpPr txBox="1"/>
          <p:nvPr/>
        </p:nvSpPr>
        <p:spPr>
          <a:xfrm>
            <a:off x="30906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LD9</a:t>
            </a:r>
            <a:endParaRPr lang="en-US" sz="650" dirty="0"/>
          </a:p>
        </p:txBody>
      </p:sp>
      <p:sp>
        <p:nvSpPr>
          <p:cNvPr id="70" name="led_231"/>
          <p:cNvSpPr/>
          <p:nvPr/>
        </p:nvSpPr>
        <p:spPr>
          <a:xfrm>
            <a:off x="281635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71" name="txt_232"/>
          <p:cNvSpPr txBox="1"/>
          <p:nvPr/>
        </p:nvSpPr>
        <p:spPr>
          <a:xfrm>
            <a:off x="27249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LD10</a:t>
            </a:r>
            <a:endParaRPr lang="en-US" sz="650" dirty="0"/>
          </a:p>
        </p:txBody>
      </p:sp>
      <p:sp>
        <p:nvSpPr>
          <p:cNvPr id="72" name="led_233"/>
          <p:cNvSpPr/>
          <p:nvPr/>
        </p:nvSpPr>
        <p:spPr>
          <a:xfrm>
            <a:off x="245059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73" name="txt_234"/>
          <p:cNvSpPr txBox="1"/>
          <p:nvPr/>
        </p:nvSpPr>
        <p:spPr>
          <a:xfrm>
            <a:off x="23591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LD11</a:t>
            </a:r>
            <a:endParaRPr lang="en-US" sz="650" dirty="0"/>
          </a:p>
        </p:txBody>
      </p:sp>
      <p:sp>
        <p:nvSpPr>
          <p:cNvPr id="74" name="led_235"/>
          <p:cNvSpPr/>
          <p:nvPr/>
        </p:nvSpPr>
        <p:spPr>
          <a:xfrm>
            <a:off x="208483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75" name="txt_236"/>
          <p:cNvSpPr txBox="1"/>
          <p:nvPr/>
        </p:nvSpPr>
        <p:spPr>
          <a:xfrm>
            <a:off x="19933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LD12</a:t>
            </a:r>
            <a:endParaRPr lang="en-US" sz="650" dirty="0"/>
          </a:p>
        </p:txBody>
      </p:sp>
      <p:sp>
        <p:nvSpPr>
          <p:cNvPr id="76" name="led_237"/>
          <p:cNvSpPr/>
          <p:nvPr/>
        </p:nvSpPr>
        <p:spPr>
          <a:xfrm>
            <a:off x="171907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77" name="txt_238"/>
          <p:cNvSpPr txBox="1"/>
          <p:nvPr/>
        </p:nvSpPr>
        <p:spPr>
          <a:xfrm>
            <a:off x="16276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LD13</a:t>
            </a:r>
            <a:endParaRPr lang="en-US" sz="650" dirty="0"/>
          </a:p>
        </p:txBody>
      </p:sp>
      <p:sp>
        <p:nvSpPr>
          <p:cNvPr id="78" name="led_239"/>
          <p:cNvSpPr/>
          <p:nvPr/>
        </p:nvSpPr>
        <p:spPr>
          <a:xfrm>
            <a:off x="135331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79" name="txt_240"/>
          <p:cNvSpPr txBox="1"/>
          <p:nvPr/>
        </p:nvSpPr>
        <p:spPr>
          <a:xfrm>
            <a:off x="12618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LD14</a:t>
            </a:r>
            <a:endParaRPr lang="en-US" sz="650" dirty="0"/>
          </a:p>
        </p:txBody>
      </p:sp>
      <p:sp>
        <p:nvSpPr>
          <p:cNvPr id="80" name="led_241"/>
          <p:cNvSpPr/>
          <p:nvPr/>
        </p:nvSpPr>
        <p:spPr>
          <a:xfrm>
            <a:off x="987552" y="4882896"/>
            <a:ext cx="182880" cy="100584"/>
          </a:xfrm>
          <a:prstGeom prst="rect">
            <a:avLst/>
          </a:prstGeom>
          <a:solidFill>
            <a:srgbClr val="FFB020"/>
          </a:solidFill>
          <a:ln w="6350">
            <a:solidFill>
              <a:srgbClr val="FFB020"/>
            </a:solidFill>
            <a:prstDash val="solid"/>
          </a:ln>
        </p:spPr>
      </p:sp>
      <p:sp>
        <p:nvSpPr>
          <p:cNvPr id="81" name="txt_242"/>
          <p:cNvSpPr txBox="1"/>
          <p:nvPr/>
        </p:nvSpPr>
        <p:spPr>
          <a:xfrm>
            <a:off x="8961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LD15</a:t>
            </a:r>
            <a:endParaRPr lang="en-US" sz="650" dirty="0"/>
          </a:p>
        </p:txBody>
      </p:sp>
      <p:sp>
        <p:nvSpPr>
          <p:cNvPr id="82" name="sw_243"/>
          <p:cNvSpPr/>
          <p:nvPr/>
        </p:nvSpPr>
        <p:spPr>
          <a:xfrm>
            <a:off x="64739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83" name="knob_244"/>
          <p:cNvSpPr/>
          <p:nvPr/>
        </p:nvSpPr>
        <p:spPr>
          <a:xfrm>
            <a:off x="649224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84" name="txt_245"/>
          <p:cNvSpPr txBox="1"/>
          <p:nvPr/>
        </p:nvSpPr>
        <p:spPr>
          <a:xfrm>
            <a:off x="63825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SW0</a:t>
            </a:r>
            <a:endParaRPr lang="en-US" sz="650" dirty="0"/>
          </a:p>
        </p:txBody>
      </p:sp>
      <p:sp>
        <p:nvSpPr>
          <p:cNvPr id="85" name="txt_246"/>
          <p:cNvSpPr txBox="1"/>
          <p:nvPr/>
        </p:nvSpPr>
        <p:spPr>
          <a:xfrm>
            <a:off x="638251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86" name="sw_247"/>
          <p:cNvSpPr/>
          <p:nvPr/>
        </p:nvSpPr>
        <p:spPr>
          <a:xfrm>
            <a:off x="61081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87" name="knob_248"/>
          <p:cNvSpPr/>
          <p:nvPr/>
        </p:nvSpPr>
        <p:spPr>
          <a:xfrm>
            <a:off x="612648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88" name="txt_249"/>
          <p:cNvSpPr txBox="1"/>
          <p:nvPr/>
        </p:nvSpPr>
        <p:spPr>
          <a:xfrm>
            <a:off x="60167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</a:t>
            </a:r>
            <a:endParaRPr lang="en-US" sz="650" dirty="0"/>
          </a:p>
        </p:txBody>
      </p:sp>
      <p:sp>
        <p:nvSpPr>
          <p:cNvPr id="89" name="txt_250"/>
          <p:cNvSpPr txBox="1"/>
          <p:nvPr/>
        </p:nvSpPr>
        <p:spPr>
          <a:xfrm>
            <a:off x="601675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90" name="sw_251"/>
          <p:cNvSpPr/>
          <p:nvPr/>
        </p:nvSpPr>
        <p:spPr>
          <a:xfrm>
            <a:off x="57424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91" name="knob_252"/>
          <p:cNvSpPr/>
          <p:nvPr/>
        </p:nvSpPr>
        <p:spPr>
          <a:xfrm>
            <a:off x="576072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92" name="txt_253"/>
          <p:cNvSpPr txBox="1"/>
          <p:nvPr/>
        </p:nvSpPr>
        <p:spPr>
          <a:xfrm>
            <a:off x="56509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</a:t>
            </a:r>
            <a:endParaRPr lang="en-US" sz="650" dirty="0"/>
          </a:p>
        </p:txBody>
      </p:sp>
      <p:sp>
        <p:nvSpPr>
          <p:cNvPr id="93" name="txt_254"/>
          <p:cNvSpPr txBox="1"/>
          <p:nvPr/>
        </p:nvSpPr>
        <p:spPr>
          <a:xfrm>
            <a:off x="565099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94" name="sw_255"/>
          <p:cNvSpPr/>
          <p:nvPr/>
        </p:nvSpPr>
        <p:spPr>
          <a:xfrm>
            <a:off x="53766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95" name="knob_256"/>
          <p:cNvSpPr/>
          <p:nvPr/>
        </p:nvSpPr>
        <p:spPr>
          <a:xfrm>
            <a:off x="539496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96" name="txt_257"/>
          <p:cNvSpPr txBox="1"/>
          <p:nvPr/>
        </p:nvSpPr>
        <p:spPr>
          <a:xfrm>
            <a:off x="52852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SW3</a:t>
            </a:r>
            <a:endParaRPr lang="en-US" sz="650" dirty="0"/>
          </a:p>
        </p:txBody>
      </p:sp>
      <p:sp>
        <p:nvSpPr>
          <p:cNvPr id="97" name="txt_258"/>
          <p:cNvSpPr txBox="1"/>
          <p:nvPr/>
        </p:nvSpPr>
        <p:spPr>
          <a:xfrm>
            <a:off x="528523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98" name="sw_259"/>
          <p:cNvSpPr/>
          <p:nvPr/>
        </p:nvSpPr>
        <p:spPr>
          <a:xfrm>
            <a:off x="50109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99" name="knob_260"/>
          <p:cNvSpPr/>
          <p:nvPr/>
        </p:nvSpPr>
        <p:spPr>
          <a:xfrm>
            <a:off x="502920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100" name="txt_261"/>
          <p:cNvSpPr txBox="1"/>
          <p:nvPr/>
        </p:nvSpPr>
        <p:spPr>
          <a:xfrm>
            <a:off x="49194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</a:t>
            </a:r>
            <a:endParaRPr lang="en-US" sz="650" dirty="0"/>
          </a:p>
        </p:txBody>
      </p:sp>
      <p:sp>
        <p:nvSpPr>
          <p:cNvPr id="101" name="txt_262"/>
          <p:cNvSpPr txBox="1"/>
          <p:nvPr/>
        </p:nvSpPr>
        <p:spPr>
          <a:xfrm>
            <a:off x="491947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102" name="sw_263"/>
          <p:cNvSpPr/>
          <p:nvPr/>
        </p:nvSpPr>
        <p:spPr>
          <a:xfrm>
            <a:off x="46451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03" name="knob_264"/>
          <p:cNvSpPr/>
          <p:nvPr/>
        </p:nvSpPr>
        <p:spPr>
          <a:xfrm>
            <a:off x="466344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104" name="txt_265"/>
          <p:cNvSpPr txBox="1"/>
          <p:nvPr/>
        </p:nvSpPr>
        <p:spPr>
          <a:xfrm>
            <a:off x="45537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SW5</a:t>
            </a:r>
            <a:endParaRPr lang="en-US" sz="650" dirty="0"/>
          </a:p>
        </p:txBody>
      </p:sp>
      <p:sp>
        <p:nvSpPr>
          <p:cNvPr id="105" name="txt_266"/>
          <p:cNvSpPr txBox="1"/>
          <p:nvPr/>
        </p:nvSpPr>
        <p:spPr>
          <a:xfrm>
            <a:off x="455371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106" name="sw_267"/>
          <p:cNvSpPr/>
          <p:nvPr/>
        </p:nvSpPr>
        <p:spPr>
          <a:xfrm>
            <a:off x="42793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07" name="knob_268"/>
          <p:cNvSpPr/>
          <p:nvPr/>
        </p:nvSpPr>
        <p:spPr>
          <a:xfrm>
            <a:off x="429768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08" name="txt_269"/>
          <p:cNvSpPr txBox="1"/>
          <p:nvPr/>
        </p:nvSpPr>
        <p:spPr>
          <a:xfrm>
            <a:off x="41879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SW6</a:t>
            </a:r>
            <a:endParaRPr lang="en-US" sz="650" dirty="0"/>
          </a:p>
        </p:txBody>
      </p:sp>
      <p:sp>
        <p:nvSpPr>
          <p:cNvPr id="109" name="sw_270"/>
          <p:cNvSpPr/>
          <p:nvPr/>
        </p:nvSpPr>
        <p:spPr>
          <a:xfrm>
            <a:off x="39136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0" name="knob_271"/>
          <p:cNvSpPr/>
          <p:nvPr/>
        </p:nvSpPr>
        <p:spPr>
          <a:xfrm>
            <a:off x="39319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1" name="txt_272"/>
          <p:cNvSpPr txBox="1"/>
          <p:nvPr/>
        </p:nvSpPr>
        <p:spPr>
          <a:xfrm>
            <a:off x="38221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SW7</a:t>
            </a:r>
            <a:endParaRPr lang="en-US" sz="650" dirty="0"/>
          </a:p>
        </p:txBody>
      </p:sp>
      <p:sp>
        <p:nvSpPr>
          <p:cNvPr id="112" name="sw_273"/>
          <p:cNvSpPr/>
          <p:nvPr/>
        </p:nvSpPr>
        <p:spPr>
          <a:xfrm>
            <a:off x="35478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3" name="knob_274"/>
          <p:cNvSpPr/>
          <p:nvPr/>
        </p:nvSpPr>
        <p:spPr>
          <a:xfrm>
            <a:off x="35661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4" name="txt_275"/>
          <p:cNvSpPr txBox="1"/>
          <p:nvPr/>
        </p:nvSpPr>
        <p:spPr>
          <a:xfrm>
            <a:off x="34564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SW8</a:t>
            </a:r>
            <a:endParaRPr lang="en-US" sz="650" dirty="0"/>
          </a:p>
        </p:txBody>
      </p:sp>
      <p:sp>
        <p:nvSpPr>
          <p:cNvPr id="115" name="sw_276"/>
          <p:cNvSpPr/>
          <p:nvPr/>
        </p:nvSpPr>
        <p:spPr>
          <a:xfrm>
            <a:off x="31821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6" name="knob_277"/>
          <p:cNvSpPr/>
          <p:nvPr/>
        </p:nvSpPr>
        <p:spPr>
          <a:xfrm>
            <a:off x="320040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7" name="txt_278"/>
          <p:cNvSpPr txBox="1"/>
          <p:nvPr/>
        </p:nvSpPr>
        <p:spPr>
          <a:xfrm>
            <a:off x="30906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SW9</a:t>
            </a:r>
            <a:endParaRPr lang="en-US" sz="650" dirty="0"/>
          </a:p>
        </p:txBody>
      </p:sp>
      <p:sp>
        <p:nvSpPr>
          <p:cNvPr id="118" name="sw_279"/>
          <p:cNvSpPr/>
          <p:nvPr/>
        </p:nvSpPr>
        <p:spPr>
          <a:xfrm>
            <a:off x="28163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9" name="knob_280"/>
          <p:cNvSpPr/>
          <p:nvPr/>
        </p:nvSpPr>
        <p:spPr>
          <a:xfrm>
            <a:off x="28346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0" name="txt_281"/>
          <p:cNvSpPr txBox="1"/>
          <p:nvPr/>
        </p:nvSpPr>
        <p:spPr>
          <a:xfrm>
            <a:off x="27249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SW10</a:t>
            </a:r>
            <a:endParaRPr lang="en-US" sz="650" dirty="0"/>
          </a:p>
        </p:txBody>
      </p:sp>
      <p:sp>
        <p:nvSpPr>
          <p:cNvPr id="121" name="sw_282"/>
          <p:cNvSpPr/>
          <p:nvPr/>
        </p:nvSpPr>
        <p:spPr>
          <a:xfrm>
            <a:off x="24505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2" name="knob_283"/>
          <p:cNvSpPr/>
          <p:nvPr/>
        </p:nvSpPr>
        <p:spPr>
          <a:xfrm>
            <a:off x="246888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3" name="txt_284"/>
          <p:cNvSpPr txBox="1"/>
          <p:nvPr/>
        </p:nvSpPr>
        <p:spPr>
          <a:xfrm>
            <a:off x="23591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SW11</a:t>
            </a:r>
            <a:endParaRPr lang="en-US" sz="650" dirty="0"/>
          </a:p>
        </p:txBody>
      </p:sp>
      <p:sp>
        <p:nvSpPr>
          <p:cNvPr id="124" name="sw_285"/>
          <p:cNvSpPr/>
          <p:nvPr/>
        </p:nvSpPr>
        <p:spPr>
          <a:xfrm>
            <a:off x="20848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5" name="knob_286"/>
          <p:cNvSpPr/>
          <p:nvPr/>
        </p:nvSpPr>
        <p:spPr>
          <a:xfrm>
            <a:off x="21031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6" name="txt_287"/>
          <p:cNvSpPr txBox="1"/>
          <p:nvPr/>
        </p:nvSpPr>
        <p:spPr>
          <a:xfrm>
            <a:off x="19933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SW12</a:t>
            </a:r>
            <a:endParaRPr lang="en-US" sz="650" dirty="0"/>
          </a:p>
        </p:txBody>
      </p:sp>
      <p:sp>
        <p:nvSpPr>
          <p:cNvPr id="127" name="sw_288"/>
          <p:cNvSpPr/>
          <p:nvPr/>
        </p:nvSpPr>
        <p:spPr>
          <a:xfrm>
            <a:off x="17190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8" name="knob_289"/>
          <p:cNvSpPr/>
          <p:nvPr/>
        </p:nvSpPr>
        <p:spPr>
          <a:xfrm>
            <a:off x="17373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9" name="txt_290"/>
          <p:cNvSpPr txBox="1"/>
          <p:nvPr/>
        </p:nvSpPr>
        <p:spPr>
          <a:xfrm>
            <a:off x="16276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SW13</a:t>
            </a:r>
            <a:endParaRPr lang="en-US" sz="650" dirty="0"/>
          </a:p>
        </p:txBody>
      </p:sp>
      <p:sp>
        <p:nvSpPr>
          <p:cNvPr id="130" name="sw_291"/>
          <p:cNvSpPr/>
          <p:nvPr/>
        </p:nvSpPr>
        <p:spPr>
          <a:xfrm>
            <a:off x="13533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1" name="knob_292"/>
          <p:cNvSpPr/>
          <p:nvPr/>
        </p:nvSpPr>
        <p:spPr>
          <a:xfrm>
            <a:off x="137160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2" name="txt_293"/>
          <p:cNvSpPr txBox="1"/>
          <p:nvPr/>
        </p:nvSpPr>
        <p:spPr>
          <a:xfrm>
            <a:off x="12618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SW14</a:t>
            </a:r>
            <a:endParaRPr lang="en-US" sz="650" dirty="0"/>
          </a:p>
        </p:txBody>
      </p:sp>
      <p:sp>
        <p:nvSpPr>
          <p:cNvPr id="133" name="sw_294"/>
          <p:cNvSpPr/>
          <p:nvPr/>
        </p:nvSpPr>
        <p:spPr>
          <a:xfrm>
            <a:off x="9875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4" name="knob_295"/>
          <p:cNvSpPr/>
          <p:nvPr/>
        </p:nvSpPr>
        <p:spPr>
          <a:xfrm>
            <a:off x="10058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5" name="txt_296"/>
          <p:cNvSpPr txBox="1"/>
          <p:nvPr/>
        </p:nvSpPr>
        <p:spPr>
          <a:xfrm>
            <a:off x="8961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SW15</a:t>
            </a:r>
            <a:endParaRPr lang="en-US" sz="650" dirty="0"/>
          </a:p>
        </p:txBody>
      </p:sp>
      <p:sp>
        <p:nvSpPr>
          <p:cNvPr id="136" name="txt_297"/>
          <p:cNvSpPr txBox="1"/>
          <p:nvPr/>
        </p:nvSpPr>
        <p:spPr>
          <a:xfrm>
            <a:off x="6382512" y="6099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V17</a:t>
            </a:r>
            <a:endParaRPr lang="en-US" sz="700" dirty="0"/>
          </a:p>
        </p:txBody>
      </p:sp>
      <p:sp>
        <p:nvSpPr>
          <p:cNvPr id="137" name="txt_298"/>
          <p:cNvSpPr txBox="1"/>
          <p:nvPr/>
        </p:nvSpPr>
        <p:spPr>
          <a:xfrm>
            <a:off x="6016752" y="6099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V16</a:t>
            </a:r>
            <a:endParaRPr lang="en-US" sz="700" dirty="0"/>
          </a:p>
        </p:txBody>
      </p:sp>
      <p:sp>
        <p:nvSpPr>
          <p:cNvPr id="138" name="txt_299"/>
          <p:cNvSpPr txBox="1"/>
          <p:nvPr/>
        </p:nvSpPr>
        <p:spPr>
          <a:xfrm>
            <a:off x="5650992" y="6099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W16</a:t>
            </a:r>
            <a:endParaRPr lang="en-US" sz="700" dirty="0"/>
          </a:p>
        </p:txBody>
      </p:sp>
      <p:sp>
        <p:nvSpPr>
          <p:cNvPr id="139" name="txt_300"/>
          <p:cNvSpPr txBox="1"/>
          <p:nvPr/>
        </p:nvSpPr>
        <p:spPr>
          <a:xfrm>
            <a:off x="5285232" y="6099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W17</a:t>
            </a:r>
            <a:endParaRPr lang="en-US" sz="700" dirty="0"/>
          </a:p>
        </p:txBody>
      </p:sp>
      <p:sp>
        <p:nvSpPr>
          <p:cNvPr id="140" name="txt_301"/>
          <p:cNvSpPr txBox="1"/>
          <p:nvPr/>
        </p:nvSpPr>
        <p:spPr>
          <a:xfrm>
            <a:off x="4919472" y="6099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W15</a:t>
            </a:r>
            <a:endParaRPr lang="en-US" sz="700" dirty="0"/>
          </a:p>
        </p:txBody>
      </p:sp>
      <p:sp>
        <p:nvSpPr>
          <p:cNvPr id="141" name="txt_302"/>
          <p:cNvSpPr txBox="1"/>
          <p:nvPr/>
        </p:nvSpPr>
        <p:spPr>
          <a:xfrm>
            <a:off x="4553712" y="609904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V15</a:t>
            </a:r>
            <a:endParaRPr lang="en-US" sz="700" dirty="0"/>
          </a:p>
        </p:txBody>
      </p:sp>
      <p:sp>
        <p:nvSpPr>
          <p:cNvPr id="142" name="txt_303"/>
          <p:cNvSpPr txBox="1"/>
          <p:nvPr/>
        </p:nvSpPr>
        <p:spPr>
          <a:xfrm>
            <a:off x="4050792" y="608990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5"/>
                </a:solidFill>
              </a:rPr>
              <a:t>SW 핀</a:t>
            </a:r>
            <a:endParaRPr lang="en-US" sz="750" dirty="0"/>
          </a:p>
        </p:txBody>
      </p:sp>
      <p:sp>
        <p:nvSpPr>
          <p:cNvPr id="143" name="txt_304"/>
          <p:cNvSpPr txBox="1"/>
          <p:nvPr/>
        </p:nvSpPr>
        <p:spPr>
          <a:xfrm>
            <a:off x="7360920" y="11887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8"/>
                </a:solidFill>
              </a:rPr>
              <a:t>모드 선택 (sw_timer가 우선)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508760"/>
          <a:ext cx="441655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2130552"/>
                <a:gridCol w="1188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SW4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SW0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모드 (화면·버튼)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표시 LED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타이머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스톱워치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B2228"/>
                          </a:solidFill>
                        </a:rPr>
                        <a:t>시계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670048"/>
          <a:ext cx="4416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1821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스위치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기능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SW1 · V16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화면 0: 초.1/100초  ·  1: 시.분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SW2 · W16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시계 시간 설정 (1 = 설정)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SW3 · W17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시계 표시 0: 24h  ·  1: 12h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SW5 · V15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타이머 더하기 단위 전환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4096512"/>
          <a:ext cx="4416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182112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LED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켜지는 조건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LD0 / LD1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시계 화면 / 스톱워치 화면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LD2 / LD3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시.분 표시 / 초.1/100초 표시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LD4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오후 (시계 화면 + 12h)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LD5 / LD6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타이머 화면 / 타이머 진행 중</a:t>
                      </a:r>
                      <a:endParaRPr lang="en-US" sz="100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LD7~15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알람 때만 — 알람 중엔 LD0~15 전부 0.5초 점멸</a:t>
                      </a:r>
                      <a:endParaRPr lang="en-US" sz="950" dirty="0"/>
                    </a:p>
                  </a:txBody>
                  <a:tcPr marL="64008" marR="64008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7" name="txt_305"/>
          <p:cNvSpPr txBox="1"/>
          <p:nvPr/>
        </p:nvSpPr>
        <p:spPr>
          <a:xfrm>
            <a:off x="7360920" y="5779008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 핀  com: U2 U4 V4 W4  ·  font[0..7]: W7 W6 U8 V8 U5 V5 U7 V7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03  BASYS3 보드 설명서 · ①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스톱워치 사용 설명서</a:t>
            </a:r>
            <a:endParaRPr lang="en-US" sz="2800" dirty="0"/>
          </a:p>
        </p:txBody>
      </p:sp>
      <p:sp>
        <p:nvSpPr>
          <p:cNvPr id="4" name="board"/>
          <p:cNvSpPr/>
          <p:nvPr/>
        </p:nvSpPr>
        <p:spPr>
          <a:xfrm>
            <a:off x="411480" y="1207008"/>
            <a:ext cx="6629400" cy="4846320"/>
          </a:xfrm>
          <a:prstGeom prst="roundRect">
            <a:avLst>
              <a:gd name="adj" fmla="val 2264"/>
            </a:avLst>
          </a:prstGeom>
          <a:solidFill>
            <a:srgbClr val="22303A"/>
          </a:solidFill>
          <a:ln w="19050">
            <a:solidFill>
              <a:srgbClr val="0F171C"/>
            </a:solidFill>
            <a:prstDash val="solid"/>
          </a:ln>
        </p:spPr>
      </p:sp>
      <p:sp>
        <p:nvSpPr>
          <p:cNvPr id="5" name="hole_306"/>
          <p:cNvSpPr/>
          <p:nvPr/>
        </p:nvSpPr>
        <p:spPr>
          <a:xfrm>
            <a:off x="521208" y="1316736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6" name="hole_307"/>
          <p:cNvSpPr/>
          <p:nvPr/>
        </p:nvSpPr>
        <p:spPr>
          <a:xfrm>
            <a:off x="6766560" y="1316736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7" name="hole_308"/>
          <p:cNvSpPr/>
          <p:nvPr/>
        </p:nvSpPr>
        <p:spPr>
          <a:xfrm>
            <a:off x="521208" y="5779008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8" name="hole_309"/>
          <p:cNvSpPr/>
          <p:nvPr/>
        </p:nvSpPr>
        <p:spPr>
          <a:xfrm>
            <a:off x="6766560" y="5779008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9" name="rect_310"/>
          <p:cNvSpPr/>
          <p:nvPr/>
        </p:nvSpPr>
        <p:spPr>
          <a:xfrm>
            <a:off x="914400" y="1115568"/>
            <a:ext cx="548640" cy="292608"/>
          </a:xfrm>
          <a:prstGeom prst="rect">
            <a:avLst/>
          </a:prstGeom>
          <a:solidFill>
            <a:srgbClr val="A3ACB2"/>
          </a:solidFill>
          <a:ln w="9525">
            <a:solidFill>
              <a:srgbClr val="6C767D"/>
            </a:solidFill>
            <a:prstDash val="solid"/>
          </a:ln>
        </p:spPr>
      </p:sp>
      <p:sp>
        <p:nvSpPr>
          <p:cNvPr id="10" name="txt_311"/>
          <p:cNvSpPr txBox="1"/>
          <p:nvPr/>
        </p:nvSpPr>
        <p:spPr>
          <a:xfrm>
            <a:off x="777240" y="14447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USB·PROG</a:t>
            </a:r>
            <a:endParaRPr lang="en-US" sz="700" dirty="0"/>
          </a:p>
        </p:txBody>
      </p:sp>
      <p:sp>
        <p:nvSpPr>
          <p:cNvPr id="11" name="rect_312"/>
          <p:cNvSpPr/>
          <p:nvPr/>
        </p:nvSpPr>
        <p:spPr>
          <a:xfrm>
            <a:off x="1737360" y="1298448"/>
            <a:ext cx="292608" cy="164592"/>
          </a:xfrm>
          <a:prstGeom prst="rect">
            <a:avLst/>
          </a:prstGeom>
          <a:solidFill>
            <a:srgbClr val="A3ACB2"/>
          </a:solidFill>
          <a:ln w="9525">
            <a:solidFill>
              <a:srgbClr val="6C767D"/>
            </a:solidFill>
            <a:prstDash val="solid"/>
          </a:ln>
        </p:spPr>
      </p:sp>
      <p:sp>
        <p:nvSpPr>
          <p:cNvPr id="12" name="txt_313"/>
          <p:cNvSpPr txBox="1"/>
          <p:nvPr/>
        </p:nvSpPr>
        <p:spPr>
          <a:xfrm>
            <a:off x="1655064" y="14813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PWR</a:t>
            </a:r>
            <a:endParaRPr lang="en-US" sz="700" dirty="0"/>
          </a:p>
        </p:txBody>
      </p:sp>
      <p:sp>
        <p:nvSpPr>
          <p:cNvPr id="13" name="txt_314"/>
          <p:cNvSpPr txBox="1"/>
          <p:nvPr/>
        </p:nvSpPr>
        <p:spPr>
          <a:xfrm>
            <a:off x="4937760" y="1408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0"/>
                </a:solidFill>
              </a:rPr>
              <a:t>BASYS 3</a:t>
            </a:r>
            <a:endParaRPr lang="en-US" sz="1800" dirty="0"/>
          </a:p>
        </p:txBody>
      </p:sp>
      <p:sp>
        <p:nvSpPr>
          <p:cNvPr id="14" name="shp_315"/>
          <p:cNvSpPr txBox="1"/>
          <p:nvPr/>
        </p:nvSpPr>
        <p:spPr>
          <a:xfrm>
            <a:off x="2971800" y="1591056"/>
            <a:ext cx="1280160" cy="1280160"/>
          </a:xfrm>
          <a:prstGeom prst="rect">
            <a:avLst/>
          </a:prstGeom>
          <a:solidFill>
            <a:srgbClr val="14181B"/>
          </a:solidFill>
          <a:ln w="12700">
            <a:solidFill>
              <a:srgbClr val="46505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6BC"/>
                </a:solidFill>
              </a:rPr>
              <a:t>ARTIX-7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EB6BC"/>
                </a:solidFill>
              </a:rPr>
              <a:t>XC7A35T</a:t>
            </a:r>
            <a:endParaRPr lang="en-US" sz="900" dirty="0"/>
          </a:p>
        </p:txBody>
      </p:sp>
      <p:sp>
        <p:nvSpPr>
          <p:cNvPr id="15" name="rect_316"/>
          <p:cNvSpPr/>
          <p:nvPr/>
        </p:nvSpPr>
        <p:spPr>
          <a:xfrm>
            <a:off x="4526280" y="2075688"/>
            <a:ext cx="365760" cy="219456"/>
          </a:xfrm>
          <a:prstGeom prst="rect">
            <a:avLst/>
          </a:prstGeom>
          <a:solidFill>
            <a:srgbClr val="C8CDD1"/>
          </a:solidFill>
          <a:ln w="9525">
            <a:solidFill>
              <a:srgbClr val="7D868C"/>
            </a:solidFill>
            <a:prstDash val="solid"/>
          </a:ln>
        </p:spPr>
      </p:sp>
      <p:sp>
        <p:nvSpPr>
          <p:cNvPr id="16" name="txt_317"/>
          <p:cNvSpPr txBox="1"/>
          <p:nvPr/>
        </p:nvSpPr>
        <p:spPr>
          <a:xfrm>
            <a:off x="4343400" y="23225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100 MHz</a:t>
            </a:r>
            <a:endParaRPr lang="en-US" sz="700" dirty="0"/>
          </a:p>
        </p:txBody>
      </p:sp>
      <p:sp>
        <p:nvSpPr>
          <p:cNvPr id="17" name="rect_318"/>
          <p:cNvSpPr/>
          <p:nvPr/>
        </p:nvSpPr>
        <p:spPr>
          <a:xfrm>
            <a:off x="6748272" y="170992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8" name="rect_319"/>
          <p:cNvSpPr/>
          <p:nvPr/>
        </p:nvSpPr>
        <p:spPr>
          <a:xfrm>
            <a:off x="6748272" y="267004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9" name="rect_320"/>
          <p:cNvSpPr/>
          <p:nvPr/>
        </p:nvSpPr>
        <p:spPr>
          <a:xfrm>
            <a:off x="521208" y="212140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20" name="txt_321"/>
          <p:cNvSpPr txBox="1"/>
          <p:nvPr/>
        </p:nvSpPr>
        <p:spPr>
          <a:xfrm>
            <a:off x="6355080" y="35387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8F99"/>
                </a:solidFill>
              </a:rPr>
              <a:t>Pmod</a:t>
            </a:r>
            <a:endParaRPr lang="en-US" sz="650" dirty="0"/>
          </a:p>
        </p:txBody>
      </p:sp>
      <p:sp>
        <p:nvSpPr>
          <p:cNvPr id="21" name="fnd"/>
          <p:cNvSpPr/>
          <p:nvPr/>
        </p:nvSpPr>
        <p:spPr>
          <a:xfrm>
            <a:off x="1600200" y="3172968"/>
            <a:ext cx="2697480" cy="1051560"/>
          </a:xfrm>
          <a:prstGeom prst="rect">
            <a:avLst/>
          </a:prstGeom>
          <a:solidFill>
            <a:srgbClr val="0B0B0B"/>
          </a:solidFill>
          <a:ln w="12700">
            <a:solidFill>
              <a:srgbClr val="46505A"/>
            </a:solidFill>
            <a:prstDash val="solid"/>
          </a:ln>
        </p:spPr>
      </p:sp>
      <p:sp>
        <p:nvSpPr>
          <p:cNvPr id="22" name="txt_322"/>
          <p:cNvSpPr txBox="1"/>
          <p:nvPr/>
        </p:nvSpPr>
        <p:spPr>
          <a:xfrm>
            <a:off x="1755648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dp_323"/>
          <p:cNvSpPr/>
          <p:nvPr/>
        </p:nvSpPr>
        <p:spPr>
          <a:xfrm>
            <a:off x="2276856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24" name="txt_324"/>
          <p:cNvSpPr txBox="1"/>
          <p:nvPr/>
        </p:nvSpPr>
        <p:spPr>
          <a:xfrm>
            <a:off x="1755648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AN3</a:t>
            </a:r>
            <a:endParaRPr lang="en-US" sz="700" dirty="0"/>
          </a:p>
        </p:txBody>
      </p:sp>
      <p:sp>
        <p:nvSpPr>
          <p:cNvPr id="25" name="txt_325"/>
          <p:cNvSpPr txBox="1"/>
          <p:nvPr/>
        </p:nvSpPr>
        <p:spPr>
          <a:xfrm>
            <a:off x="2377440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4400" dirty="0"/>
          </a:p>
        </p:txBody>
      </p:sp>
      <p:sp>
        <p:nvSpPr>
          <p:cNvPr id="26" name="dp_326"/>
          <p:cNvSpPr/>
          <p:nvPr/>
        </p:nvSpPr>
        <p:spPr>
          <a:xfrm>
            <a:off x="2898648" y="3959352"/>
            <a:ext cx="82296" cy="82296"/>
          </a:xfrm>
          <a:prstGeom prst="ellipse">
            <a:avLst/>
          </a:prstGeom>
          <a:solidFill>
            <a:srgbClr val="FF4A2E"/>
          </a:solidFill>
          <a:ln/>
        </p:spPr>
      </p:sp>
      <p:sp>
        <p:nvSpPr>
          <p:cNvPr id="27" name="txt_327"/>
          <p:cNvSpPr txBox="1"/>
          <p:nvPr/>
        </p:nvSpPr>
        <p:spPr>
          <a:xfrm>
            <a:off x="2377440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AN2</a:t>
            </a:r>
            <a:endParaRPr lang="en-US" sz="700" dirty="0"/>
          </a:p>
        </p:txBody>
      </p:sp>
      <p:sp>
        <p:nvSpPr>
          <p:cNvPr id="28" name="txt_328"/>
          <p:cNvSpPr txBox="1"/>
          <p:nvPr/>
        </p:nvSpPr>
        <p:spPr>
          <a:xfrm>
            <a:off x="2999232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400" dirty="0"/>
          </a:p>
        </p:txBody>
      </p:sp>
      <p:sp>
        <p:nvSpPr>
          <p:cNvPr id="29" name="dp_329"/>
          <p:cNvSpPr/>
          <p:nvPr/>
        </p:nvSpPr>
        <p:spPr>
          <a:xfrm>
            <a:off x="3520440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30" name="txt_330"/>
          <p:cNvSpPr txBox="1"/>
          <p:nvPr/>
        </p:nvSpPr>
        <p:spPr>
          <a:xfrm>
            <a:off x="2999232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AN1</a:t>
            </a:r>
            <a:endParaRPr lang="en-US" sz="700" dirty="0"/>
          </a:p>
        </p:txBody>
      </p:sp>
      <p:sp>
        <p:nvSpPr>
          <p:cNvPr id="31" name="txt_331"/>
          <p:cNvSpPr txBox="1"/>
          <p:nvPr/>
        </p:nvSpPr>
        <p:spPr>
          <a:xfrm>
            <a:off x="3621024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4400" dirty="0"/>
          </a:p>
        </p:txBody>
      </p:sp>
      <p:sp>
        <p:nvSpPr>
          <p:cNvPr id="32" name="dp_332"/>
          <p:cNvSpPr/>
          <p:nvPr/>
        </p:nvSpPr>
        <p:spPr>
          <a:xfrm>
            <a:off x="4142232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33" name="txt_333"/>
          <p:cNvSpPr txBox="1"/>
          <p:nvPr/>
        </p:nvSpPr>
        <p:spPr>
          <a:xfrm>
            <a:off x="3621024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AN0</a:t>
            </a:r>
            <a:endParaRPr lang="en-US" sz="700" dirty="0"/>
          </a:p>
        </p:txBody>
      </p:sp>
      <p:sp>
        <p:nvSpPr>
          <p:cNvPr id="34" name="txt_334"/>
          <p:cNvSpPr txBox="1"/>
          <p:nvPr/>
        </p:nvSpPr>
        <p:spPr>
          <a:xfrm>
            <a:off x="1508760" y="441655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266"/>
                </a:solidFill>
              </a:rPr>
              <a:t>SW1=0 → 초 . 1/100초  (05.27)</a:t>
            </a:r>
            <a:endParaRPr lang="en-US" sz="900" dirty="0"/>
          </a:p>
        </p:txBody>
      </p:sp>
      <p:sp>
        <p:nvSpPr>
          <p:cNvPr id="35" name="btn_335"/>
          <p:cNvSpPr/>
          <p:nvPr/>
        </p:nvSpPr>
        <p:spPr>
          <a:xfrm>
            <a:off x="5340096" y="28620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36" name="shp_336"/>
          <p:cNvSpPr txBox="1"/>
          <p:nvPr/>
        </p:nvSpPr>
        <p:spPr>
          <a:xfrm>
            <a:off x="5404104" y="292608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37" name="txt_337"/>
          <p:cNvSpPr txBox="1"/>
          <p:nvPr/>
        </p:nvSpPr>
        <p:spPr>
          <a:xfrm>
            <a:off x="498348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BTNU</a:t>
            </a:r>
            <a:endParaRPr lang="en-US" sz="750" dirty="0"/>
          </a:p>
        </p:txBody>
      </p:sp>
      <p:sp>
        <p:nvSpPr>
          <p:cNvPr id="38" name="shp_338"/>
          <p:cNvSpPr txBox="1"/>
          <p:nvPr/>
        </p:nvSpPr>
        <p:spPr>
          <a:xfrm>
            <a:off x="5751576" y="28712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btn_339"/>
          <p:cNvSpPr/>
          <p:nvPr/>
        </p:nvSpPr>
        <p:spPr>
          <a:xfrm>
            <a:off x="479145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0" name="shp_340"/>
          <p:cNvSpPr txBox="1"/>
          <p:nvPr/>
        </p:nvSpPr>
        <p:spPr>
          <a:xfrm>
            <a:off x="485546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</a:t>
            </a:r>
            <a:endParaRPr lang="en-US" sz="900" dirty="0"/>
          </a:p>
        </p:txBody>
      </p:sp>
      <p:sp>
        <p:nvSpPr>
          <p:cNvPr id="41" name="txt_341"/>
          <p:cNvSpPr txBox="1"/>
          <p:nvPr/>
        </p:nvSpPr>
        <p:spPr>
          <a:xfrm>
            <a:off x="4023360" y="34655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BTNL</a:t>
            </a:r>
            <a:endParaRPr lang="en-US" sz="750" dirty="0"/>
          </a:p>
        </p:txBody>
      </p:sp>
      <p:sp>
        <p:nvSpPr>
          <p:cNvPr id="42" name="shp_342"/>
          <p:cNvSpPr txBox="1"/>
          <p:nvPr/>
        </p:nvSpPr>
        <p:spPr>
          <a:xfrm>
            <a:off x="4855464" y="30998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3" name="btn_343"/>
          <p:cNvSpPr/>
          <p:nvPr/>
        </p:nvSpPr>
        <p:spPr>
          <a:xfrm>
            <a:off x="534009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4" name="shp_344"/>
          <p:cNvSpPr txBox="1"/>
          <p:nvPr/>
        </p:nvSpPr>
        <p:spPr>
          <a:xfrm>
            <a:off x="540410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45" name="shp_345"/>
          <p:cNvSpPr txBox="1"/>
          <p:nvPr/>
        </p:nvSpPr>
        <p:spPr>
          <a:xfrm>
            <a:off x="5029200" y="3803904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46" name="btn_346"/>
          <p:cNvSpPr/>
          <p:nvPr/>
        </p:nvSpPr>
        <p:spPr>
          <a:xfrm>
            <a:off x="588873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7" name="shp_347"/>
          <p:cNvSpPr txBox="1"/>
          <p:nvPr/>
        </p:nvSpPr>
        <p:spPr>
          <a:xfrm>
            <a:off x="595274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48" name="txt_348"/>
          <p:cNvSpPr txBox="1"/>
          <p:nvPr/>
        </p:nvSpPr>
        <p:spPr>
          <a:xfrm>
            <a:off x="6382512" y="34655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BTNR</a:t>
            </a:r>
            <a:endParaRPr lang="en-US" sz="750" dirty="0"/>
          </a:p>
        </p:txBody>
      </p:sp>
      <p:sp>
        <p:nvSpPr>
          <p:cNvPr id="49" name="shp_349"/>
          <p:cNvSpPr txBox="1"/>
          <p:nvPr/>
        </p:nvSpPr>
        <p:spPr>
          <a:xfrm>
            <a:off x="5952744" y="30998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50" name="btn_350"/>
          <p:cNvSpPr/>
          <p:nvPr/>
        </p:nvSpPr>
        <p:spPr>
          <a:xfrm>
            <a:off x="5340096" y="3959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9525">
            <a:solidFill>
              <a:srgbClr val="8A949A"/>
            </a:solidFill>
            <a:prstDash val="solid"/>
          </a:ln>
        </p:spPr>
      </p:sp>
      <p:sp>
        <p:nvSpPr>
          <p:cNvPr id="51" name="shp_351"/>
          <p:cNvSpPr txBox="1"/>
          <p:nvPr/>
        </p:nvSpPr>
        <p:spPr>
          <a:xfrm>
            <a:off x="5404104" y="4023360"/>
            <a:ext cx="256032" cy="256032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</a:t>
            </a:r>
            <a:endParaRPr lang="en-US" sz="900" dirty="0"/>
          </a:p>
        </p:txBody>
      </p:sp>
      <p:sp>
        <p:nvSpPr>
          <p:cNvPr id="52" name="txt_352"/>
          <p:cNvSpPr txBox="1"/>
          <p:nvPr/>
        </p:nvSpPr>
        <p:spPr>
          <a:xfrm>
            <a:off x="4983480" y="4498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FB0BB"/>
                </a:solidFill>
              </a:rPr>
              <a:t>BTND</a:t>
            </a:r>
            <a:endParaRPr lang="en-US" sz="750" dirty="0"/>
          </a:p>
        </p:txBody>
      </p:sp>
      <p:sp>
        <p:nvSpPr>
          <p:cNvPr id="53" name="txt_353"/>
          <p:cNvSpPr txBox="1"/>
          <p:nvPr/>
        </p:nvSpPr>
        <p:spPr>
          <a:xfrm>
            <a:off x="4892040" y="47000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266"/>
                </a:solidFill>
              </a:rPr>
              <a:t>BTNC = rst</a:t>
            </a:r>
            <a:endParaRPr lang="en-US" sz="750" dirty="0"/>
          </a:p>
        </p:txBody>
      </p:sp>
      <p:sp>
        <p:nvSpPr>
          <p:cNvPr id="54" name="led_354"/>
          <p:cNvSpPr/>
          <p:nvPr/>
        </p:nvSpPr>
        <p:spPr>
          <a:xfrm>
            <a:off x="64739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55" name="txt_355"/>
          <p:cNvSpPr txBox="1"/>
          <p:nvPr/>
        </p:nvSpPr>
        <p:spPr>
          <a:xfrm>
            <a:off x="63825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LD0</a:t>
            </a:r>
            <a:endParaRPr lang="en-US" sz="650" dirty="0"/>
          </a:p>
        </p:txBody>
      </p:sp>
      <p:sp>
        <p:nvSpPr>
          <p:cNvPr id="56" name="led_356"/>
          <p:cNvSpPr/>
          <p:nvPr/>
        </p:nvSpPr>
        <p:spPr>
          <a:xfrm>
            <a:off x="610819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57" name="txt_357"/>
          <p:cNvSpPr txBox="1"/>
          <p:nvPr/>
        </p:nvSpPr>
        <p:spPr>
          <a:xfrm>
            <a:off x="60167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</a:t>
            </a:r>
            <a:endParaRPr lang="en-US" sz="650" dirty="0"/>
          </a:p>
        </p:txBody>
      </p:sp>
      <p:sp>
        <p:nvSpPr>
          <p:cNvPr id="58" name="led_358"/>
          <p:cNvSpPr/>
          <p:nvPr/>
        </p:nvSpPr>
        <p:spPr>
          <a:xfrm>
            <a:off x="574243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59" name="txt_359"/>
          <p:cNvSpPr txBox="1"/>
          <p:nvPr/>
        </p:nvSpPr>
        <p:spPr>
          <a:xfrm>
            <a:off x="56509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LD2</a:t>
            </a:r>
            <a:endParaRPr lang="en-US" sz="650" dirty="0"/>
          </a:p>
        </p:txBody>
      </p:sp>
      <p:sp>
        <p:nvSpPr>
          <p:cNvPr id="60" name="led_360"/>
          <p:cNvSpPr/>
          <p:nvPr/>
        </p:nvSpPr>
        <p:spPr>
          <a:xfrm>
            <a:off x="537667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61" name="txt_361"/>
          <p:cNvSpPr txBox="1"/>
          <p:nvPr/>
        </p:nvSpPr>
        <p:spPr>
          <a:xfrm>
            <a:off x="52852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LD3</a:t>
            </a:r>
            <a:endParaRPr lang="en-US" sz="650" dirty="0"/>
          </a:p>
        </p:txBody>
      </p:sp>
      <p:sp>
        <p:nvSpPr>
          <p:cNvPr id="62" name="led_362"/>
          <p:cNvSpPr/>
          <p:nvPr/>
        </p:nvSpPr>
        <p:spPr>
          <a:xfrm>
            <a:off x="50109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3" name="txt_363"/>
          <p:cNvSpPr txBox="1"/>
          <p:nvPr/>
        </p:nvSpPr>
        <p:spPr>
          <a:xfrm>
            <a:off x="49194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LD4</a:t>
            </a:r>
            <a:endParaRPr lang="en-US" sz="650" dirty="0"/>
          </a:p>
        </p:txBody>
      </p:sp>
      <p:sp>
        <p:nvSpPr>
          <p:cNvPr id="64" name="led_364"/>
          <p:cNvSpPr/>
          <p:nvPr/>
        </p:nvSpPr>
        <p:spPr>
          <a:xfrm>
            <a:off x="46451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5" name="txt_365"/>
          <p:cNvSpPr txBox="1"/>
          <p:nvPr/>
        </p:nvSpPr>
        <p:spPr>
          <a:xfrm>
            <a:off x="45537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LD5</a:t>
            </a:r>
            <a:endParaRPr lang="en-US" sz="650" dirty="0"/>
          </a:p>
        </p:txBody>
      </p:sp>
      <p:sp>
        <p:nvSpPr>
          <p:cNvPr id="66" name="led_366"/>
          <p:cNvSpPr/>
          <p:nvPr/>
        </p:nvSpPr>
        <p:spPr>
          <a:xfrm>
            <a:off x="427939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7" name="txt_367"/>
          <p:cNvSpPr txBox="1"/>
          <p:nvPr/>
        </p:nvSpPr>
        <p:spPr>
          <a:xfrm>
            <a:off x="41879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LD6</a:t>
            </a:r>
            <a:endParaRPr lang="en-US" sz="650" dirty="0"/>
          </a:p>
        </p:txBody>
      </p:sp>
      <p:sp>
        <p:nvSpPr>
          <p:cNvPr id="68" name="led_368"/>
          <p:cNvSpPr/>
          <p:nvPr/>
        </p:nvSpPr>
        <p:spPr>
          <a:xfrm>
            <a:off x="391363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9" name="txt_369"/>
          <p:cNvSpPr txBox="1"/>
          <p:nvPr/>
        </p:nvSpPr>
        <p:spPr>
          <a:xfrm>
            <a:off x="38221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LD7</a:t>
            </a:r>
            <a:endParaRPr lang="en-US" sz="650" dirty="0"/>
          </a:p>
        </p:txBody>
      </p:sp>
      <p:sp>
        <p:nvSpPr>
          <p:cNvPr id="70" name="led_370"/>
          <p:cNvSpPr/>
          <p:nvPr/>
        </p:nvSpPr>
        <p:spPr>
          <a:xfrm>
            <a:off x="354787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1" name="txt_371"/>
          <p:cNvSpPr txBox="1"/>
          <p:nvPr/>
        </p:nvSpPr>
        <p:spPr>
          <a:xfrm>
            <a:off x="34564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LD8</a:t>
            </a:r>
            <a:endParaRPr lang="en-US" sz="650" dirty="0"/>
          </a:p>
        </p:txBody>
      </p:sp>
      <p:sp>
        <p:nvSpPr>
          <p:cNvPr id="72" name="led_372"/>
          <p:cNvSpPr/>
          <p:nvPr/>
        </p:nvSpPr>
        <p:spPr>
          <a:xfrm>
            <a:off x="31821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3" name="txt_373"/>
          <p:cNvSpPr txBox="1"/>
          <p:nvPr/>
        </p:nvSpPr>
        <p:spPr>
          <a:xfrm>
            <a:off x="30906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LD9</a:t>
            </a:r>
            <a:endParaRPr lang="en-US" sz="650" dirty="0"/>
          </a:p>
        </p:txBody>
      </p:sp>
      <p:sp>
        <p:nvSpPr>
          <p:cNvPr id="74" name="led_374"/>
          <p:cNvSpPr/>
          <p:nvPr/>
        </p:nvSpPr>
        <p:spPr>
          <a:xfrm>
            <a:off x="28163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5" name="txt_375"/>
          <p:cNvSpPr txBox="1"/>
          <p:nvPr/>
        </p:nvSpPr>
        <p:spPr>
          <a:xfrm>
            <a:off x="27249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LD10</a:t>
            </a:r>
            <a:endParaRPr lang="en-US" sz="650" dirty="0"/>
          </a:p>
        </p:txBody>
      </p:sp>
      <p:sp>
        <p:nvSpPr>
          <p:cNvPr id="76" name="led_376"/>
          <p:cNvSpPr/>
          <p:nvPr/>
        </p:nvSpPr>
        <p:spPr>
          <a:xfrm>
            <a:off x="245059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7" name="txt_377"/>
          <p:cNvSpPr txBox="1"/>
          <p:nvPr/>
        </p:nvSpPr>
        <p:spPr>
          <a:xfrm>
            <a:off x="23591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LD11</a:t>
            </a:r>
            <a:endParaRPr lang="en-US" sz="650" dirty="0"/>
          </a:p>
        </p:txBody>
      </p:sp>
      <p:sp>
        <p:nvSpPr>
          <p:cNvPr id="78" name="led_378"/>
          <p:cNvSpPr/>
          <p:nvPr/>
        </p:nvSpPr>
        <p:spPr>
          <a:xfrm>
            <a:off x="208483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9" name="txt_379"/>
          <p:cNvSpPr txBox="1"/>
          <p:nvPr/>
        </p:nvSpPr>
        <p:spPr>
          <a:xfrm>
            <a:off x="19933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LD12</a:t>
            </a:r>
            <a:endParaRPr lang="en-US" sz="650" dirty="0"/>
          </a:p>
        </p:txBody>
      </p:sp>
      <p:sp>
        <p:nvSpPr>
          <p:cNvPr id="80" name="led_380"/>
          <p:cNvSpPr/>
          <p:nvPr/>
        </p:nvSpPr>
        <p:spPr>
          <a:xfrm>
            <a:off x="171907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1" name="txt_381"/>
          <p:cNvSpPr txBox="1"/>
          <p:nvPr/>
        </p:nvSpPr>
        <p:spPr>
          <a:xfrm>
            <a:off x="16276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LD13</a:t>
            </a:r>
            <a:endParaRPr lang="en-US" sz="650" dirty="0"/>
          </a:p>
        </p:txBody>
      </p:sp>
      <p:sp>
        <p:nvSpPr>
          <p:cNvPr id="82" name="led_382"/>
          <p:cNvSpPr/>
          <p:nvPr/>
        </p:nvSpPr>
        <p:spPr>
          <a:xfrm>
            <a:off x="13533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3" name="txt_383"/>
          <p:cNvSpPr txBox="1"/>
          <p:nvPr/>
        </p:nvSpPr>
        <p:spPr>
          <a:xfrm>
            <a:off x="12618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LD14</a:t>
            </a:r>
            <a:endParaRPr lang="en-US" sz="650" dirty="0"/>
          </a:p>
        </p:txBody>
      </p:sp>
      <p:sp>
        <p:nvSpPr>
          <p:cNvPr id="84" name="led_384"/>
          <p:cNvSpPr/>
          <p:nvPr/>
        </p:nvSpPr>
        <p:spPr>
          <a:xfrm>
            <a:off x="9875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5" name="txt_385"/>
          <p:cNvSpPr txBox="1"/>
          <p:nvPr/>
        </p:nvSpPr>
        <p:spPr>
          <a:xfrm>
            <a:off x="8961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LD15</a:t>
            </a:r>
            <a:endParaRPr lang="en-US" sz="650" dirty="0"/>
          </a:p>
        </p:txBody>
      </p:sp>
      <p:sp>
        <p:nvSpPr>
          <p:cNvPr id="86" name="sw_386"/>
          <p:cNvSpPr/>
          <p:nvPr/>
        </p:nvSpPr>
        <p:spPr>
          <a:xfrm>
            <a:off x="64739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87" name="knob_387"/>
          <p:cNvSpPr/>
          <p:nvPr/>
        </p:nvSpPr>
        <p:spPr>
          <a:xfrm>
            <a:off x="6492240" y="5239512"/>
            <a:ext cx="14630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8" name="txt_388"/>
          <p:cNvSpPr txBox="1"/>
          <p:nvPr/>
        </p:nvSpPr>
        <p:spPr>
          <a:xfrm>
            <a:off x="63825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SW0</a:t>
            </a:r>
            <a:endParaRPr lang="en-US" sz="650" dirty="0"/>
          </a:p>
        </p:txBody>
      </p:sp>
      <p:sp>
        <p:nvSpPr>
          <p:cNvPr id="89" name="txt_389"/>
          <p:cNvSpPr txBox="1"/>
          <p:nvPr/>
        </p:nvSpPr>
        <p:spPr>
          <a:xfrm>
            <a:off x="638251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90" name="sw_390"/>
          <p:cNvSpPr/>
          <p:nvPr/>
        </p:nvSpPr>
        <p:spPr>
          <a:xfrm>
            <a:off x="6108192" y="5212080"/>
            <a:ext cx="182880" cy="457200"/>
          </a:xfrm>
          <a:prstGeom prst="rect">
            <a:avLst/>
          </a:prstGeom>
          <a:solidFill>
            <a:srgbClr val="0E1114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91" name="knob_391"/>
          <p:cNvSpPr/>
          <p:nvPr/>
        </p:nvSpPr>
        <p:spPr>
          <a:xfrm>
            <a:off x="612648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92" name="txt_392"/>
          <p:cNvSpPr txBox="1"/>
          <p:nvPr/>
        </p:nvSpPr>
        <p:spPr>
          <a:xfrm>
            <a:off x="60167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</a:t>
            </a:r>
            <a:endParaRPr lang="en-US" sz="650" dirty="0"/>
          </a:p>
        </p:txBody>
      </p:sp>
      <p:sp>
        <p:nvSpPr>
          <p:cNvPr id="93" name="txt_393"/>
          <p:cNvSpPr txBox="1"/>
          <p:nvPr/>
        </p:nvSpPr>
        <p:spPr>
          <a:xfrm>
            <a:off x="601675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94" name="shp_394"/>
          <p:cNvSpPr txBox="1"/>
          <p:nvPr/>
        </p:nvSpPr>
        <p:spPr>
          <a:xfrm>
            <a:off x="6076188" y="6108192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95" name="sw_395"/>
          <p:cNvSpPr/>
          <p:nvPr/>
        </p:nvSpPr>
        <p:spPr>
          <a:xfrm>
            <a:off x="57424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96" name="knob_396"/>
          <p:cNvSpPr/>
          <p:nvPr/>
        </p:nvSpPr>
        <p:spPr>
          <a:xfrm>
            <a:off x="57607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97" name="txt_397"/>
          <p:cNvSpPr txBox="1"/>
          <p:nvPr/>
        </p:nvSpPr>
        <p:spPr>
          <a:xfrm>
            <a:off x="56509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</a:t>
            </a:r>
            <a:endParaRPr lang="en-US" sz="650" dirty="0"/>
          </a:p>
        </p:txBody>
      </p:sp>
      <p:sp>
        <p:nvSpPr>
          <p:cNvPr id="98" name="sw_398"/>
          <p:cNvSpPr/>
          <p:nvPr/>
        </p:nvSpPr>
        <p:spPr>
          <a:xfrm>
            <a:off x="53766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99" name="knob_399"/>
          <p:cNvSpPr/>
          <p:nvPr/>
        </p:nvSpPr>
        <p:spPr>
          <a:xfrm>
            <a:off x="53949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00" name="txt_400"/>
          <p:cNvSpPr txBox="1"/>
          <p:nvPr/>
        </p:nvSpPr>
        <p:spPr>
          <a:xfrm>
            <a:off x="52852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SW3</a:t>
            </a:r>
            <a:endParaRPr lang="en-US" sz="650" dirty="0"/>
          </a:p>
        </p:txBody>
      </p:sp>
      <p:sp>
        <p:nvSpPr>
          <p:cNvPr id="101" name="sw_401"/>
          <p:cNvSpPr/>
          <p:nvPr/>
        </p:nvSpPr>
        <p:spPr>
          <a:xfrm>
            <a:off x="50109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02" name="knob_402"/>
          <p:cNvSpPr/>
          <p:nvPr/>
        </p:nvSpPr>
        <p:spPr>
          <a:xfrm>
            <a:off x="5029200" y="5458968"/>
            <a:ext cx="146304" cy="182880"/>
          </a:xfrm>
          <a:prstGeom prst="rect">
            <a:avLst/>
          </a:prstGeom>
          <a:solidFill>
            <a:srgbClr val="D6DBDF"/>
          </a:solidFill>
          <a:ln/>
        </p:spPr>
      </p:sp>
      <p:sp>
        <p:nvSpPr>
          <p:cNvPr id="103" name="txt_403"/>
          <p:cNvSpPr txBox="1"/>
          <p:nvPr/>
        </p:nvSpPr>
        <p:spPr>
          <a:xfrm>
            <a:off x="49194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</a:t>
            </a:r>
            <a:endParaRPr lang="en-US" sz="650" dirty="0"/>
          </a:p>
        </p:txBody>
      </p:sp>
      <p:sp>
        <p:nvSpPr>
          <p:cNvPr id="104" name="txt_404"/>
          <p:cNvSpPr txBox="1"/>
          <p:nvPr/>
        </p:nvSpPr>
        <p:spPr>
          <a:xfrm>
            <a:off x="491947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00" dirty="0"/>
          </a:p>
        </p:txBody>
      </p:sp>
      <p:sp>
        <p:nvSpPr>
          <p:cNvPr id="105" name="sw_405"/>
          <p:cNvSpPr/>
          <p:nvPr/>
        </p:nvSpPr>
        <p:spPr>
          <a:xfrm>
            <a:off x="46451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06" name="knob_406"/>
          <p:cNvSpPr/>
          <p:nvPr/>
        </p:nvSpPr>
        <p:spPr>
          <a:xfrm>
            <a:off x="46634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07" name="txt_407"/>
          <p:cNvSpPr txBox="1"/>
          <p:nvPr/>
        </p:nvSpPr>
        <p:spPr>
          <a:xfrm>
            <a:off x="45537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SW5</a:t>
            </a:r>
            <a:endParaRPr lang="en-US" sz="650" dirty="0"/>
          </a:p>
        </p:txBody>
      </p:sp>
      <p:sp>
        <p:nvSpPr>
          <p:cNvPr id="108" name="sw_408"/>
          <p:cNvSpPr/>
          <p:nvPr/>
        </p:nvSpPr>
        <p:spPr>
          <a:xfrm>
            <a:off x="42793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09" name="knob_409"/>
          <p:cNvSpPr/>
          <p:nvPr/>
        </p:nvSpPr>
        <p:spPr>
          <a:xfrm>
            <a:off x="429768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0" name="txt_410"/>
          <p:cNvSpPr txBox="1"/>
          <p:nvPr/>
        </p:nvSpPr>
        <p:spPr>
          <a:xfrm>
            <a:off x="41879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SW6</a:t>
            </a:r>
            <a:endParaRPr lang="en-US" sz="650" dirty="0"/>
          </a:p>
        </p:txBody>
      </p:sp>
      <p:sp>
        <p:nvSpPr>
          <p:cNvPr id="111" name="sw_411"/>
          <p:cNvSpPr/>
          <p:nvPr/>
        </p:nvSpPr>
        <p:spPr>
          <a:xfrm>
            <a:off x="39136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2" name="knob_412"/>
          <p:cNvSpPr/>
          <p:nvPr/>
        </p:nvSpPr>
        <p:spPr>
          <a:xfrm>
            <a:off x="39319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3" name="txt_413"/>
          <p:cNvSpPr txBox="1"/>
          <p:nvPr/>
        </p:nvSpPr>
        <p:spPr>
          <a:xfrm>
            <a:off x="38221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SW7</a:t>
            </a:r>
            <a:endParaRPr lang="en-US" sz="650" dirty="0"/>
          </a:p>
        </p:txBody>
      </p:sp>
      <p:sp>
        <p:nvSpPr>
          <p:cNvPr id="114" name="sw_414"/>
          <p:cNvSpPr/>
          <p:nvPr/>
        </p:nvSpPr>
        <p:spPr>
          <a:xfrm>
            <a:off x="35478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5" name="knob_415"/>
          <p:cNvSpPr/>
          <p:nvPr/>
        </p:nvSpPr>
        <p:spPr>
          <a:xfrm>
            <a:off x="35661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6" name="txt_416"/>
          <p:cNvSpPr txBox="1"/>
          <p:nvPr/>
        </p:nvSpPr>
        <p:spPr>
          <a:xfrm>
            <a:off x="34564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SW8</a:t>
            </a:r>
            <a:endParaRPr lang="en-US" sz="650" dirty="0"/>
          </a:p>
        </p:txBody>
      </p:sp>
      <p:sp>
        <p:nvSpPr>
          <p:cNvPr id="117" name="sw_417"/>
          <p:cNvSpPr/>
          <p:nvPr/>
        </p:nvSpPr>
        <p:spPr>
          <a:xfrm>
            <a:off x="31821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8" name="knob_418"/>
          <p:cNvSpPr/>
          <p:nvPr/>
        </p:nvSpPr>
        <p:spPr>
          <a:xfrm>
            <a:off x="320040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9" name="txt_419"/>
          <p:cNvSpPr txBox="1"/>
          <p:nvPr/>
        </p:nvSpPr>
        <p:spPr>
          <a:xfrm>
            <a:off x="30906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SW9</a:t>
            </a:r>
            <a:endParaRPr lang="en-US" sz="650" dirty="0"/>
          </a:p>
        </p:txBody>
      </p:sp>
      <p:sp>
        <p:nvSpPr>
          <p:cNvPr id="120" name="sw_420"/>
          <p:cNvSpPr/>
          <p:nvPr/>
        </p:nvSpPr>
        <p:spPr>
          <a:xfrm>
            <a:off x="28163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1" name="knob_421"/>
          <p:cNvSpPr/>
          <p:nvPr/>
        </p:nvSpPr>
        <p:spPr>
          <a:xfrm>
            <a:off x="28346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2" name="txt_422"/>
          <p:cNvSpPr txBox="1"/>
          <p:nvPr/>
        </p:nvSpPr>
        <p:spPr>
          <a:xfrm>
            <a:off x="27249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SW10</a:t>
            </a:r>
            <a:endParaRPr lang="en-US" sz="650" dirty="0"/>
          </a:p>
        </p:txBody>
      </p:sp>
      <p:sp>
        <p:nvSpPr>
          <p:cNvPr id="123" name="sw_423"/>
          <p:cNvSpPr/>
          <p:nvPr/>
        </p:nvSpPr>
        <p:spPr>
          <a:xfrm>
            <a:off x="24505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4" name="knob_424"/>
          <p:cNvSpPr/>
          <p:nvPr/>
        </p:nvSpPr>
        <p:spPr>
          <a:xfrm>
            <a:off x="246888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5" name="txt_425"/>
          <p:cNvSpPr txBox="1"/>
          <p:nvPr/>
        </p:nvSpPr>
        <p:spPr>
          <a:xfrm>
            <a:off x="23591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SW11</a:t>
            </a:r>
            <a:endParaRPr lang="en-US" sz="650" dirty="0"/>
          </a:p>
        </p:txBody>
      </p:sp>
      <p:sp>
        <p:nvSpPr>
          <p:cNvPr id="126" name="sw_426"/>
          <p:cNvSpPr/>
          <p:nvPr/>
        </p:nvSpPr>
        <p:spPr>
          <a:xfrm>
            <a:off x="20848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7" name="knob_427"/>
          <p:cNvSpPr/>
          <p:nvPr/>
        </p:nvSpPr>
        <p:spPr>
          <a:xfrm>
            <a:off x="21031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8" name="txt_428"/>
          <p:cNvSpPr txBox="1"/>
          <p:nvPr/>
        </p:nvSpPr>
        <p:spPr>
          <a:xfrm>
            <a:off x="19933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SW12</a:t>
            </a:r>
            <a:endParaRPr lang="en-US" sz="650" dirty="0"/>
          </a:p>
        </p:txBody>
      </p:sp>
      <p:sp>
        <p:nvSpPr>
          <p:cNvPr id="129" name="sw_429"/>
          <p:cNvSpPr/>
          <p:nvPr/>
        </p:nvSpPr>
        <p:spPr>
          <a:xfrm>
            <a:off x="17190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0" name="knob_430"/>
          <p:cNvSpPr/>
          <p:nvPr/>
        </p:nvSpPr>
        <p:spPr>
          <a:xfrm>
            <a:off x="17373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1" name="txt_431"/>
          <p:cNvSpPr txBox="1"/>
          <p:nvPr/>
        </p:nvSpPr>
        <p:spPr>
          <a:xfrm>
            <a:off x="16276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SW13</a:t>
            </a:r>
            <a:endParaRPr lang="en-US" sz="650" dirty="0"/>
          </a:p>
        </p:txBody>
      </p:sp>
      <p:sp>
        <p:nvSpPr>
          <p:cNvPr id="132" name="sw_432"/>
          <p:cNvSpPr/>
          <p:nvPr/>
        </p:nvSpPr>
        <p:spPr>
          <a:xfrm>
            <a:off x="13533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3" name="knob_433"/>
          <p:cNvSpPr/>
          <p:nvPr/>
        </p:nvSpPr>
        <p:spPr>
          <a:xfrm>
            <a:off x="137160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4" name="txt_434"/>
          <p:cNvSpPr txBox="1"/>
          <p:nvPr/>
        </p:nvSpPr>
        <p:spPr>
          <a:xfrm>
            <a:off x="12618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SW14</a:t>
            </a:r>
            <a:endParaRPr lang="en-US" sz="650" dirty="0"/>
          </a:p>
        </p:txBody>
      </p:sp>
      <p:sp>
        <p:nvSpPr>
          <p:cNvPr id="135" name="sw_435"/>
          <p:cNvSpPr/>
          <p:nvPr/>
        </p:nvSpPr>
        <p:spPr>
          <a:xfrm>
            <a:off x="9875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6" name="knob_436"/>
          <p:cNvSpPr/>
          <p:nvPr/>
        </p:nvSpPr>
        <p:spPr>
          <a:xfrm>
            <a:off x="10058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7" name="txt_437"/>
          <p:cNvSpPr txBox="1"/>
          <p:nvPr/>
        </p:nvSpPr>
        <p:spPr>
          <a:xfrm>
            <a:off x="8961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SW15</a:t>
            </a:r>
            <a:endParaRPr lang="en-US" sz="650" dirty="0"/>
          </a:p>
        </p:txBody>
      </p:sp>
      <p:sp>
        <p:nvSpPr>
          <p:cNvPr id="138" name="txt_438"/>
          <p:cNvSpPr txBox="1"/>
          <p:nvPr/>
        </p:nvSpPr>
        <p:spPr>
          <a:xfrm>
            <a:off x="7360920" y="1207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5"/>
                </a:solidFill>
              </a:rPr>
              <a:t>모드 진입</a:t>
            </a:r>
            <a:endParaRPr lang="en-US" sz="1200" dirty="0"/>
          </a:p>
        </p:txBody>
      </p:sp>
      <p:sp>
        <p:nvSpPr>
          <p:cNvPr id="139" name="shp_439"/>
          <p:cNvSpPr txBox="1"/>
          <p:nvPr/>
        </p:nvSpPr>
        <p:spPr>
          <a:xfrm>
            <a:off x="8366760" y="1207008"/>
            <a:ext cx="745236" cy="292608"/>
          </a:xfrm>
          <a:prstGeom prst="roundRect">
            <a:avLst>
              <a:gd name="adj" fmla="val 25000"/>
            </a:avLst>
          </a:prstGeom>
          <a:solidFill>
            <a:srgbClr val="2E3B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 = 0</a:t>
            </a:r>
            <a:endParaRPr lang="en-US" sz="1100" dirty="0"/>
          </a:p>
        </p:txBody>
      </p:sp>
      <p:sp>
        <p:nvSpPr>
          <p:cNvPr id="140" name="shp_440"/>
          <p:cNvSpPr txBox="1"/>
          <p:nvPr/>
        </p:nvSpPr>
        <p:spPr>
          <a:xfrm>
            <a:off x="9203436" y="1207008"/>
            <a:ext cx="745236" cy="292608"/>
          </a:xfrm>
          <a:prstGeom prst="roundRect">
            <a:avLst>
              <a:gd name="adj" fmla="val 25000"/>
            </a:avLst>
          </a:prstGeom>
          <a:solidFill>
            <a:srgbClr val="2E3B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SW0 = 1</a:t>
            </a:r>
            <a:endParaRPr lang="en-US" sz="1100" dirty="0"/>
          </a:p>
        </p:txBody>
      </p:sp>
      <p:sp>
        <p:nvSpPr>
          <p:cNvPr id="141" name="shp_441"/>
          <p:cNvSpPr txBox="1"/>
          <p:nvPr/>
        </p:nvSpPr>
        <p:spPr>
          <a:xfrm>
            <a:off x="10040112" y="120700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4F8EC"/>
          </a:solidFill>
          <a:ln w="9525">
            <a:solidFill>
              <a:srgbClr val="2EA86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63C"/>
                </a:solidFill>
              </a:rPr>
              <a:t>LD1 점등</a:t>
            </a:r>
            <a:endParaRPr lang="en-US" sz="1050" dirty="0"/>
          </a:p>
        </p:txBody>
      </p:sp>
      <p:sp>
        <p:nvSpPr>
          <p:cNvPr id="142" name="shp_442"/>
          <p:cNvSpPr txBox="1"/>
          <p:nvPr/>
        </p:nvSpPr>
        <p:spPr>
          <a:xfrm>
            <a:off x="7360920" y="178308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3" name="txt_443"/>
          <p:cNvSpPr txBox="1"/>
          <p:nvPr/>
        </p:nvSpPr>
        <p:spPr>
          <a:xfrm>
            <a:off x="7726680" y="1737360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BTNR</a:t>
            </a:r>
            <a:endParaRPr lang="en-US" sz="1200" dirty="0"/>
          </a:p>
        </p:txBody>
      </p:sp>
      <p:sp>
        <p:nvSpPr>
          <p:cNvPr id="144" name="txt_444"/>
          <p:cNvSpPr txBox="1"/>
          <p:nvPr/>
        </p:nvSpPr>
        <p:spPr>
          <a:xfrm>
            <a:off x="8686800" y="1737360"/>
            <a:ext cx="3090672" cy="493776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시작 / 정지 — 누를 때마다 토글</a:t>
            </a:r>
            <a:endParaRPr lang="en-US" sz="1150" dirty="0"/>
          </a:p>
        </p:txBody>
      </p:sp>
      <p:sp>
        <p:nvSpPr>
          <p:cNvPr id="145" name="sep_445"/>
          <p:cNvSpPr/>
          <p:nvPr/>
        </p:nvSpPr>
        <p:spPr>
          <a:xfrm>
            <a:off x="7360920" y="2267712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46" name="shp_446"/>
          <p:cNvSpPr txBox="1"/>
          <p:nvPr/>
        </p:nvSpPr>
        <p:spPr>
          <a:xfrm>
            <a:off x="7360920" y="2350008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7" name="txt_447"/>
          <p:cNvSpPr txBox="1"/>
          <p:nvPr/>
        </p:nvSpPr>
        <p:spPr>
          <a:xfrm>
            <a:off x="7726680" y="2304288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BTNL</a:t>
            </a:r>
            <a:endParaRPr lang="en-US" sz="1200" dirty="0"/>
          </a:p>
        </p:txBody>
      </p:sp>
      <p:sp>
        <p:nvSpPr>
          <p:cNvPr id="148" name="txt_448"/>
          <p:cNvSpPr txBox="1"/>
          <p:nvPr/>
        </p:nvSpPr>
        <p:spPr>
          <a:xfrm>
            <a:off x="8686800" y="2304288"/>
            <a:ext cx="3090672" cy="493776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초기화 → 00:00:00.00 (정지 중에만)</a:t>
            </a:r>
            <a:endParaRPr lang="en-US" sz="1150" dirty="0"/>
          </a:p>
        </p:txBody>
      </p:sp>
      <p:sp>
        <p:nvSpPr>
          <p:cNvPr id="149" name="sep_449"/>
          <p:cNvSpPr/>
          <p:nvPr/>
        </p:nvSpPr>
        <p:spPr>
          <a:xfrm>
            <a:off x="7360920" y="2834640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50" name="shp_450"/>
          <p:cNvSpPr txBox="1"/>
          <p:nvPr/>
        </p:nvSpPr>
        <p:spPr>
          <a:xfrm>
            <a:off x="7360920" y="2916936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1" name="txt_451"/>
          <p:cNvSpPr txBox="1"/>
          <p:nvPr/>
        </p:nvSpPr>
        <p:spPr>
          <a:xfrm>
            <a:off x="7726680" y="2871216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BTNU</a:t>
            </a:r>
            <a:endParaRPr lang="en-US" sz="1200" dirty="0"/>
          </a:p>
        </p:txBody>
      </p:sp>
      <p:sp>
        <p:nvSpPr>
          <p:cNvPr id="152" name="txt_452"/>
          <p:cNvSpPr txBox="1"/>
          <p:nvPr/>
        </p:nvSpPr>
        <p:spPr>
          <a:xfrm>
            <a:off x="8686800" y="2871216"/>
            <a:ext cx="3090672" cy="493776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Up ↔ Down 카운트 방향 전환 (정지 중에만, 값은 유지)</a:t>
            </a:r>
            <a:endParaRPr lang="en-US" sz="1150" dirty="0"/>
          </a:p>
        </p:txBody>
      </p:sp>
      <p:sp>
        <p:nvSpPr>
          <p:cNvPr id="153" name="sep_453"/>
          <p:cNvSpPr/>
          <p:nvPr/>
        </p:nvSpPr>
        <p:spPr>
          <a:xfrm>
            <a:off x="7360920" y="3401568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54" name="shp_454"/>
          <p:cNvSpPr txBox="1"/>
          <p:nvPr/>
        </p:nvSpPr>
        <p:spPr>
          <a:xfrm>
            <a:off x="7360920" y="3483864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5" name="txt_455"/>
          <p:cNvSpPr txBox="1"/>
          <p:nvPr/>
        </p:nvSpPr>
        <p:spPr>
          <a:xfrm>
            <a:off x="7726680" y="3438144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</a:t>
            </a:r>
            <a:endParaRPr lang="en-US" sz="1200" dirty="0"/>
          </a:p>
        </p:txBody>
      </p:sp>
      <p:sp>
        <p:nvSpPr>
          <p:cNvPr id="156" name="txt_456"/>
          <p:cNvSpPr txBox="1"/>
          <p:nvPr/>
        </p:nvSpPr>
        <p:spPr>
          <a:xfrm>
            <a:off x="8686800" y="3438144"/>
            <a:ext cx="3090672" cy="493776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화면 0: 초.1/100초 · 1: 시.분 (LD3 / LD2)</a:t>
            </a:r>
            <a:endParaRPr lang="en-US" sz="1150" dirty="0"/>
          </a:p>
        </p:txBody>
      </p:sp>
      <p:sp>
        <p:nvSpPr>
          <p:cNvPr id="157" name="sep_457"/>
          <p:cNvSpPr/>
          <p:nvPr/>
        </p:nvSpPr>
        <p:spPr>
          <a:xfrm>
            <a:off x="7360920" y="3968496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58" name="shp_458"/>
          <p:cNvSpPr txBox="1"/>
          <p:nvPr/>
        </p:nvSpPr>
        <p:spPr>
          <a:xfrm>
            <a:off x="7360920" y="4050792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59" name="txt_459"/>
          <p:cNvSpPr txBox="1"/>
          <p:nvPr/>
        </p:nvSpPr>
        <p:spPr>
          <a:xfrm>
            <a:off x="7726680" y="4005072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BTNC</a:t>
            </a:r>
            <a:endParaRPr lang="en-US" sz="1200" dirty="0"/>
          </a:p>
        </p:txBody>
      </p:sp>
      <p:sp>
        <p:nvSpPr>
          <p:cNvPr id="160" name="txt_460"/>
          <p:cNvSpPr txBox="1"/>
          <p:nvPr/>
        </p:nvSpPr>
        <p:spPr>
          <a:xfrm>
            <a:off x="8686800" y="4005072"/>
            <a:ext cx="3090672" cy="493776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전체 리셋 — 세 기능 모두 초기화</a:t>
            </a:r>
            <a:endParaRPr lang="en-US" sz="1150" dirty="0"/>
          </a:p>
        </p:txBody>
      </p:sp>
      <p:sp>
        <p:nvSpPr>
          <p:cNvPr id="161" name="card_461"/>
          <p:cNvSpPr/>
          <p:nvPr/>
        </p:nvSpPr>
        <p:spPr>
          <a:xfrm>
            <a:off x="7360920" y="4645152"/>
            <a:ext cx="4416552" cy="1618488"/>
          </a:xfrm>
          <a:prstGeom prst="roundRect">
            <a:avLst>
              <a:gd name="adj" fmla="val 4520"/>
            </a:avLst>
          </a:prstGeom>
          <a:solidFill>
            <a:srgbClr val="F3F5F7"/>
          </a:solidFill>
          <a:ln/>
        </p:spPr>
      </p:sp>
      <p:sp>
        <p:nvSpPr>
          <p:cNvPr id="162" name="txt_462"/>
          <p:cNvSpPr txBox="1"/>
          <p:nvPr/>
        </p:nvSpPr>
        <p:spPr>
          <a:xfrm>
            <a:off x="7543800" y="47365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00"/>
                </a:solidFill>
              </a:rPr>
              <a:t>알아두기</a:t>
            </a:r>
            <a:endParaRPr lang="en-US" sz="1150" dirty="0"/>
          </a:p>
        </p:txBody>
      </p:sp>
      <p:sp>
        <p:nvSpPr>
          <p:cNvPr id="163" name="tips_463"/>
          <p:cNvSpPr txBox="1"/>
          <p:nvPr/>
        </p:nvSpPr>
        <p:spPr>
          <a:xfrm>
            <a:off x="7543800" y="5029200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달리는 중에는 BTNL·BTNU 입력을 무시한다 (먼저 BTNR로 정지).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Down으로 0에서 출발하면 23:59:59.99부터 줄어든다.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BTND는 쓰지 않는다 (랩타임 확장 자리).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화면을 시계·타이머로 바꿔도 스톱워치는 계속 흐른다.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03  BASYS3 보드 설명서 · ②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시계 사용 설명서 — 시간 설정 포함</a:t>
            </a:r>
            <a:endParaRPr lang="en-US" sz="2800" dirty="0"/>
          </a:p>
        </p:txBody>
      </p:sp>
      <p:sp>
        <p:nvSpPr>
          <p:cNvPr id="4" name="board"/>
          <p:cNvSpPr/>
          <p:nvPr/>
        </p:nvSpPr>
        <p:spPr>
          <a:xfrm>
            <a:off x="411480" y="1207008"/>
            <a:ext cx="6629400" cy="4846320"/>
          </a:xfrm>
          <a:prstGeom prst="roundRect">
            <a:avLst>
              <a:gd name="adj" fmla="val 2264"/>
            </a:avLst>
          </a:prstGeom>
          <a:solidFill>
            <a:srgbClr val="22303A"/>
          </a:solidFill>
          <a:ln w="19050">
            <a:solidFill>
              <a:srgbClr val="0F171C"/>
            </a:solidFill>
            <a:prstDash val="solid"/>
          </a:ln>
        </p:spPr>
      </p:sp>
      <p:sp>
        <p:nvSpPr>
          <p:cNvPr id="5" name="hole_464"/>
          <p:cNvSpPr/>
          <p:nvPr/>
        </p:nvSpPr>
        <p:spPr>
          <a:xfrm>
            <a:off x="521208" y="1316736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6" name="hole_465"/>
          <p:cNvSpPr/>
          <p:nvPr/>
        </p:nvSpPr>
        <p:spPr>
          <a:xfrm>
            <a:off x="6766560" y="1316736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7" name="hole_466"/>
          <p:cNvSpPr/>
          <p:nvPr/>
        </p:nvSpPr>
        <p:spPr>
          <a:xfrm>
            <a:off x="521208" y="5779008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8" name="hole_467"/>
          <p:cNvSpPr/>
          <p:nvPr/>
        </p:nvSpPr>
        <p:spPr>
          <a:xfrm>
            <a:off x="6766560" y="5779008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9" name="rect_468"/>
          <p:cNvSpPr/>
          <p:nvPr/>
        </p:nvSpPr>
        <p:spPr>
          <a:xfrm>
            <a:off x="914400" y="1115568"/>
            <a:ext cx="548640" cy="292608"/>
          </a:xfrm>
          <a:prstGeom prst="rect">
            <a:avLst/>
          </a:prstGeom>
          <a:solidFill>
            <a:srgbClr val="A3ACB2"/>
          </a:solidFill>
          <a:ln w="9525">
            <a:solidFill>
              <a:srgbClr val="6C767D"/>
            </a:solidFill>
            <a:prstDash val="solid"/>
          </a:ln>
        </p:spPr>
      </p:sp>
      <p:sp>
        <p:nvSpPr>
          <p:cNvPr id="10" name="txt_469"/>
          <p:cNvSpPr txBox="1"/>
          <p:nvPr/>
        </p:nvSpPr>
        <p:spPr>
          <a:xfrm>
            <a:off x="777240" y="14447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USB·PROG</a:t>
            </a:r>
            <a:endParaRPr lang="en-US" sz="700" dirty="0"/>
          </a:p>
        </p:txBody>
      </p:sp>
      <p:sp>
        <p:nvSpPr>
          <p:cNvPr id="11" name="rect_470"/>
          <p:cNvSpPr/>
          <p:nvPr/>
        </p:nvSpPr>
        <p:spPr>
          <a:xfrm>
            <a:off x="1737360" y="1298448"/>
            <a:ext cx="292608" cy="164592"/>
          </a:xfrm>
          <a:prstGeom prst="rect">
            <a:avLst/>
          </a:prstGeom>
          <a:solidFill>
            <a:srgbClr val="A3ACB2"/>
          </a:solidFill>
          <a:ln w="9525">
            <a:solidFill>
              <a:srgbClr val="6C767D"/>
            </a:solidFill>
            <a:prstDash val="solid"/>
          </a:ln>
        </p:spPr>
      </p:sp>
      <p:sp>
        <p:nvSpPr>
          <p:cNvPr id="12" name="txt_471"/>
          <p:cNvSpPr txBox="1"/>
          <p:nvPr/>
        </p:nvSpPr>
        <p:spPr>
          <a:xfrm>
            <a:off x="1655064" y="14813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PWR</a:t>
            </a:r>
            <a:endParaRPr lang="en-US" sz="700" dirty="0"/>
          </a:p>
        </p:txBody>
      </p:sp>
      <p:sp>
        <p:nvSpPr>
          <p:cNvPr id="13" name="txt_472"/>
          <p:cNvSpPr txBox="1"/>
          <p:nvPr/>
        </p:nvSpPr>
        <p:spPr>
          <a:xfrm>
            <a:off x="4937760" y="1408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0"/>
                </a:solidFill>
              </a:rPr>
              <a:t>BASYS 3</a:t>
            </a:r>
            <a:endParaRPr lang="en-US" sz="1800" dirty="0"/>
          </a:p>
        </p:txBody>
      </p:sp>
      <p:sp>
        <p:nvSpPr>
          <p:cNvPr id="14" name="shp_473"/>
          <p:cNvSpPr txBox="1"/>
          <p:nvPr/>
        </p:nvSpPr>
        <p:spPr>
          <a:xfrm>
            <a:off x="2971800" y="1591056"/>
            <a:ext cx="1280160" cy="1280160"/>
          </a:xfrm>
          <a:prstGeom prst="rect">
            <a:avLst/>
          </a:prstGeom>
          <a:solidFill>
            <a:srgbClr val="14181B"/>
          </a:solidFill>
          <a:ln w="12700">
            <a:solidFill>
              <a:srgbClr val="46505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6BC"/>
                </a:solidFill>
              </a:rPr>
              <a:t>ARTIX-7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EB6BC"/>
                </a:solidFill>
              </a:rPr>
              <a:t>XC7A35T</a:t>
            </a:r>
            <a:endParaRPr lang="en-US" sz="900" dirty="0"/>
          </a:p>
        </p:txBody>
      </p:sp>
      <p:sp>
        <p:nvSpPr>
          <p:cNvPr id="15" name="rect_474"/>
          <p:cNvSpPr/>
          <p:nvPr/>
        </p:nvSpPr>
        <p:spPr>
          <a:xfrm>
            <a:off x="4526280" y="2075688"/>
            <a:ext cx="365760" cy="219456"/>
          </a:xfrm>
          <a:prstGeom prst="rect">
            <a:avLst/>
          </a:prstGeom>
          <a:solidFill>
            <a:srgbClr val="C8CDD1"/>
          </a:solidFill>
          <a:ln w="9525">
            <a:solidFill>
              <a:srgbClr val="7D868C"/>
            </a:solidFill>
            <a:prstDash val="solid"/>
          </a:ln>
        </p:spPr>
      </p:sp>
      <p:sp>
        <p:nvSpPr>
          <p:cNvPr id="16" name="txt_475"/>
          <p:cNvSpPr txBox="1"/>
          <p:nvPr/>
        </p:nvSpPr>
        <p:spPr>
          <a:xfrm>
            <a:off x="4343400" y="23225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100 MHz</a:t>
            </a:r>
            <a:endParaRPr lang="en-US" sz="700" dirty="0"/>
          </a:p>
        </p:txBody>
      </p:sp>
      <p:sp>
        <p:nvSpPr>
          <p:cNvPr id="17" name="rect_476"/>
          <p:cNvSpPr/>
          <p:nvPr/>
        </p:nvSpPr>
        <p:spPr>
          <a:xfrm>
            <a:off x="6748272" y="170992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8" name="rect_477"/>
          <p:cNvSpPr/>
          <p:nvPr/>
        </p:nvSpPr>
        <p:spPr>
          <a:xfrm>
            <a:off x="6748272" y="267004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9" name="rect_478"/>
          <p:cNvSpPr/>
          <p:nvPr/>
        </p:nvSpPr>
        <p:spPr>
          <a:xfrm>
            <a:off x="521208" y="212140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20" name="txt_479"/>
          <p:cNvSpPr txBox="1"/>
          <p:nvPr/>
        </p:nvSpPr>
        <p:spPr>
          <a:xfrm>
            <a:off x="6355080" y="35387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8F99"/>
                </a:solidFill>
              </a:rPr>
              <a:t>Pmod</a:t>
            </a:r>
            <a:endParaRPr lang="en-US" sz="650" dirty="0"/>
          </a:p>
        </p:txBody>
      </p:sp>
      <p:sp>
        <p:nvSpPr>
          <p:cNvPr id="21" name="fnd"/>
          <p:cNvSpPr/>
          <p:nvPr/>
        </p:nvSpPr>
        <p:spPr>
          <a:xfrm>
            <a:off x="1600200" y="3172968"/>
            <a:ext cx="2697480" cy="1051560"/>
          </a:xfrm>
          <a:prstGeom prst="rect">
            <a:avLst/>
          </a:prstGeom>
          <a:solidFill>
            <a:srgbClr val="0B0B0B"/>
          </a:solidFill>
          <a:ln w="12700">
            <a:solidFill>
              <a:srgbClr val="46505A"/>
            </a:solidFill>
            <a:prstDash val="solid"/>
          </a:ln>
        </p:spPr>
      </p:sp>
      <p:sp>
        <p:nvSpPr>
          <p:cNvPr id="22" name="txt_480"/>
          <p:cNvSpPr txBox="1"/>
          <p:nvPr/>
        </p:nvSpPr>
        <p:spPr>
          <a:xfrm>
            <a:off x="1755648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400" dirty="0"/>
          </a:p>
        </p:txBody>
      </p:sp>
      <p:sp>
        <p:nvSpPr>
          <p:cNvPr id="23" name="dp_481"/>
          <p:cNvSpPr/>
          <p:nvPr/>
        </p:nvSpPr>
        <p:spPr>
          <a:xfrm>
            <a:off x="2276856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24" name="txt_482"/>
          <p:cNvSpPr txBox="1"/>
          <p:nvPr/>
        </p:nvSpPr>
        <p:spPr>
          <a:xfrm>
            <a:off x="1755648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AN3</a:t>
            </a:r>
            <a:endParaRPr lang="en-US" sz="700" dirty="0"/>
          </a:p>
        </p:txBody>
      </p:sp>
      <p:sp>
        <p:nvSpPr>
          <p:cNvPr id="25" name="txt_483"/>
          <p:cNvSpPr txBox="1"/>
          <p:nvPr/>
        </p:nvSpPr>
        <p:spPr>
          <a:xfrm>
            <a:off x="2377440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4400" dirty="0"/>
          </a:p>
        </p:txBody>
      </p:sp>
      <p:sp>
        <p:nvSpPr>
          <p:cNvPr id="26" name="dp_484"/>
          <p:cNvSpPr/>
          <p:nvPr/>
        </p:nvSpPr>
        <p:spPr>
          <a:xfrm>
            <a:off x="2898648" y="3959352"/>
            <a:ext cx="82296" cy="82296"/>
          </a:xfrm>
          <a:prstGeom prst="ellipse">
            <a:avLst/>
          </a:prstGeom>
          <a:solidFill>
            <a:srgbClr val="FF4A2E"/>
          </a:solidFill>
          <a:ln/>
        </p:spPr>
      </p:sp>
      <p:sp>
        <p:nvSpPr>
          <p:cNvPr id="27" name="txt_485"/>
          <p:cNvSpPr txBox="1"/>
          <p:nvPr/>
        </p:nvSpPr>
        <p:spPr>
          <a:xfrm>
            <a:off x="2377440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AN2</a:t>
            </a:r>
            <a:endParaRPr lang="en-US" sz="700" dirty="0"/>
          </a:p>
        </p:txBody>
      </p:sp>
      <p:sp>
        <p:nvSpPr>
          <p:cNvPr id="28" name="txt_486"/>
          <p:cNvSpPr txBox="1"/>
          <p:nvPr/>
        </p:nvSpPr>
        <p:spPr>
          <a:xfrm>
            <a:off x="2999232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400" dirty="0"/>
          </a:p>
        </p:txBody>
      </p:sp>
      <p:sp>
        <p:nvSpPr>
          <p:cNvPr id="29" name="dp_487"/>
          <p:cNvSpPr/>
          <p:nvPr/>
        </p:nvSpPr>
        <p:spPr>
          <a:xfrm>
            <a:off x="3520440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30" name="txt_488"/>
          <p:cNvSpPr txBox="1"/>
          <p:nvPr/>
        </p:nvSpPr>
        <p:spPr>
          <a:xfrm>
            <a:off x="2999232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AN1</a:t>
            </a:r>
            <a:endParaRPr lang="en-US" sz="700" dirty="0"/>
          </a:p>
        </p:txBody>
      </p:sp>
      <p:sp>
        <p:nvSpPr>
          <p:cNvPr id="31" name="txt_489"/>
          <p:cNvSpPr txBox="1"/>
          <p:nvPr/>
        </p:nvSpPr>
        <p:spPr>
          <a:xfrm>
            <a:off x="3621024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400" dirty="0"/>
          </a:p>
        </p:txBody>
      </p:sp>
      <p:sp>
        <p:nvSpPr>
          <p:cNvPr id="32" name="dp_490"/>
          <p:cNvSpPr/>
          <p:nvPr/>
        </p:nvSpPr>
        <p:spPr>
          <a:xfrm>
            <a:off x="4142232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33" name="blink_491"/>
          <p:cNvSpPr/>
          <p:nvPr/>
        </p:nvSpPr>
        <p:spPr>
          <a:xfrm>
            <a:off x="3593592" y="3227832"/>
            <a:ext cx="585216" cy="932688"/>
          </a:xfrm>
          <a:prstGeom prst="rect">
            <a:avLst/>
          </a:prstGeom>
          <a:ln w="19050">
            <a:solidFill>
              <a:srgbClr val="E08A00"/>
            </a:solidFill>
            <a:prstDash val="dash"/>
          </a:ln>
        </p:spPr>
      </p:sp>
      <p:sp>
        <p:nvSpPr>
          <p:cNvPr id="34" name="txt_492"/>
          <p:cNvSpPr txBox="1"/>
          <p:nvPr/>
        </p:nvSpPr>
        <p:spPr>
          <a:xfrm>
            <a:off x="3621024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AN0</a:t>
            </a:r>
            <a:endParaRPr lang="en-US" sz="700" dirty="0"/>
          </a:p>
        </p:txBody>
      </p:sp>
      <p:sp>
        <p:nvSpPr>
          <p:cNvPr id="35" name="txt_493"/>
          <p:cNvSpPr txBox="1"/>
          <p:nvPr/>
        </p:nvSpPr>
        <p:spPr>
          <a:xfrm>
            <a:off x="1508760" y="441655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266"/>
                </a:solidFill>
              </a:rPr>
              <a:t>SW1=1 → 시 . 분   ┆ 점선 = 깜빡이는 설정 자리</a:t>
            </a:r>
            <a:endParaRPr lang="en-US" sz="900" dirty="0"/>
          </a:p>
        </p:txBody>
      </p:sp>
      <p:sp>
        <p:nvSpPr>
          <p:cNvPr id="36" name="btn_494"/>
          <p:cNvSpPr/>
          <p:nvPr/>
        </p:nvSpPr>
        <p:spPr>
          <a:xfrm>
            <a:off x="5340096" y="28620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37" name="shp_495"/>
          <p:cNvSpPr txBox="1"/>
          <p:nvPr/>
        </p:nvSpPr>
        <p:spPr>
          <a:xfrm>
            <a:off x="5404104" y="292608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38" name="txt_496"/>
          <p:cNvSpPr txBox="1"/>
          <p:nvPr/>
        </p:nvSpPr>
        <p:spPr>
          <a:xfrm>
            <a:off x="498348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BTNU</a:t>
            </a:r>
            <a:endParaRPr lang="en-US" sz="750" dirty="0"/>
          </a:p>
        </p:txBody>
      </p:sp>
      <p:sp>
        <p:nvSpPr>
          <p:cNvPr id="39" name="shp_497"/>
          <p:cNvSpPr txBox="1"/>
          <p:nvPr/>
        </p:nvSpPr>
        <p:spPr>
          <a:xfrm>
            <a:off x="5751576" y="28712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0" name="btn_498"/>
          <p:cNvSpPr/>
          <p:nvPr/>
        </p:nvSpPr>
        <p:spPr>
          <a:xfrm>
            <a:off x="479145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1" name="shp_499"/>
          <p:cNvSpPr txBox="1"/>
          <p:nvPr/>
        </p:nvSpPr>
        <p:spPr>
          <a:xfrm>
            <a:off x="485546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</a:t>
            </a:r>
            <a:endParaRPr lang="en-US" sz="900" dirty="0"/>
          </a:p>
        </p:txBody>
      </p:sp>
      <p:sp>
        <p:nvSpPr>
          <p:cNvPr id="42" name="txt_500"/>
          <p:cNvSpPr txBox="1"/>
          <p:nvPr/>
        </p:nvSpPr>
        <p:spPr>
          <a:xfrm>
            <a:off x="4023360" y="34655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BTNL</a:t>
            </a:r>
            <a:endParaRPr lang="en-US" sz="750" dirty="0"/>
          </a:p>
        </p:txBody>
      </p:sp>
      <p:sp>
        <p:nvSpPr>
          <p:cNvPr id="43" name="shp_501"/>
          <p:cNvSpPr txBox="1"/>
          <p:nvPr/>
        </p:nvSpPr>
        <p:spPr>
          <a:xfrm>
            <a:off x="4855464" y="30998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4" name="btn_502"/>
          <p:cNvSpPr/>
          <p:nvPr/>
        </p:nvSpPr>
        <p:spPr>
          <a:xfrm>
            <a:off x="534009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9525">
            <a:solidFill>
              <a:srgbClr val="8A949A"/>
            </a:solidFill>
            <a:prstDash val="solid"/>
          </a:ln>
        </p:spPr>
      </p:sp>
      <p:sp>
        <p:nvSpPr>
          <p:cNvPr id="45" name="shp_503"/>
          <p:cNvSpPr txBox="1"/>
          <p:nvPr/>
        </p:nvSpPr>
        <p:spPr>
          <a:xfrm>
            <a:off x="5404104" y="3474720"/>
            <a:ext cx="256032" cy="256032"/>
          </a:xfrm>
          <a:prstGeom prst="ellipse">
            <a:avLst/>
          </a:prstGeom>
          <a:solidFill>
            <a:srgbClr val="C8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46" name="btn_504"/>
          <p:cNvSpPr/>
          <p:nvPr/>
        </p:nvSpPr>
        <p:spPr>
          <a:xfrm>
            <a:off x="588873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7" name="shp_505"/>
          <p:cNvSpPr txBox="1"/>
          <p:nvPr/>
        </p:nvSpPr>
        <p:spPr>
          <a:xfrm>
            <a:off x="595274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48" name="txt_506"/>
          <p:cNvSpPr txBox="1"/>
          <p:nvPr/>
        </p:nvSpPr>
        <p:spPr>
          <a:xfrm>
            <a:off x="6382512" y="34655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BTNR</a:t>
            </a:r>
            <a:endParaRPr lang="en-US" sz="750" dirty="0"/>
          </a:p>
        </p:txBody>
      </p:sp>
      <p:sp>
        <p:nvSpPr>
          <p:cNvPr id="49" name="shp_507"/>
          <p:cNvSpPr txBox="1"/>
          <p:nvPr/>
        </p:nvSpPr>
        <p:spPr>
          <a:xfrm>
            <a:off x="5952744" y="30998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50" name="btn_508"/>
          <p:cNvSpPr/>
          <p:nvPr/>
        </p:nvSpPr>
        <p:spPr>
          <a:xfrm>
            <a:off x="5340096" y="3959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51" name="shp_509"/>
          <p:cNvSpPr txBox="1"/>
          <p:nvPr/>
        </p:nvSpPr>
        <p:spPr>
          <a:xfrm>
            <a:off x="5404104" y="402336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</a:t>
            </a:r>
            <a:endParaRPr lang="en-US" sz="900" dirty="0"/>
          </a:p>
        </p:txBody>
      </p:sp>
      <p:sp>
        <p:nvSpPr>
          <p:cNvPr id="52" name="txt_510"/>
          <p:cNvSpPr txBox="1"/>
          <p:nvPr/>
        </p:nvSpPr>
        <p:spPr>
          <a:xfrm>
            <a:off x="4983480" y="4498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BTND</a:t>
            </a:r>
            <a:endParaRPr lang="en-US" sz="750" dirty="0"/>
          </a:p>
        </p:txBody>
      </p:sp>
      <p:sp>
        <p:nvSpPr>
          <p:cNvPr id="53" name="shp_511"/>
          <p:cNvSpPr txBox="1"/>
          <p:nvPr/>
        </p:nvSpPr>
        <p:spPr>
          <a:xfrm>
            <a:off x="5751576" y="405993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4" name="txt_512"/>
          <p:cNvSpPr txBox="1"/>
          <p:nvPr/>
        </p:nvSpPr>
        <p:spPr>
          <a:xfrm>
            <a:off x="4892040" y="47000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2A0A6"/>
                </a:solidFill>
              </a:rPr>
              <a:t>BTNC = rst</a:t>
            </a:r>
            <a:endParaRPr lang="en-US" sz="750" dirty="0"/>
          </a:p>
        </p:txBody>
      </p:sp>
      <p:sp>
        <p:nvSpPr>
          <p:cNvPr id="55" name="led_513"/>
          <p:cNvSpPr/>
          <p:nvPr/>
        </p:nvSpPr>
        <p:spPr>
          <a:xfrm>
            <a:off x="647395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56" name="txt_514"/>
          <p:cNvSpPr txBox="1"/>
          <p:nvPr/>
        </p:nvSpPr>
        <p:spPr>
          <a:xfrm>
            <a:off x="63825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LD0</a:t>
            </a:r>
            <a:endParaRPr lang="en-US" sz="650" dirty="0"/>
          </a:p>
        </p:txBody>
      </p:sp>
      <p:sp>
        <p:nvSpPr>
          <p:cNvPr id="57" name="led_515"/>
          <p:cNvSpPr/>
          <p:nvPr/>
        </p:nvSpPr>
        <p:spPr>
          <a:xfrm>
            <a:off x="610819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58" name="txt_516"/>
          <p:cNvSpPr txBox="1"/>
          <p:nvPr/>
        </p:nvSpPr>
        <p:spPr>
          <a:xfrm>
            <a:off x="60167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</a:t>
            </a:r>
            <a:endParaRPr lang="en-US" sz="650" dirty="0"/>
          </a:p>
        </p:txBody>
      </p:sp>
      <p:sp>
        <p:nvSpPr>
          <p:cNvPr id="59" name="led_517"/>
          <p:cNvSpPr/>
          <p:nvPr/>
        </p:nvSpPr>
        <p:spPr>
          <a:xfrm>
            <a:off x="574243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60" name="txt_518"/>
          <p:cNvSpPr txBox="1"/>
          <p:nvPr/>
        </p:nvSpPr>
        <p:spPr>
          <a:xfrm>
            <a:off x="56509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LD2</a:t>
            </a:r>
            <a:endParaRPr lang="en-US" sz="650" dirty="0"/>
          </a:p>
        </p:txBody>
      </p:sp>
      <p:sp>
        <p:nvSpPr>
          <p:cNvPr id="61" name="led_519"/>
          <p:cNvSpPr/>
          <p:nvPr/>
        </p:nvSpPr>
        <p:spPr>
          <a:xfrm>
            <a:off x="537667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2" name="txt_520"/>
          <p:cNvSpPr txBox="1"/>
          <p:nvPr/>
        </p:nvSpPr>
        <p:spPr>
          <a:xfrm>
            <a:off x="52852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LD3</a:t>
            </a:r>
            <a:endParaRPr lang="en-US" sz="650" dirty="0"/>
          </a:p>
        </p:txBody>
      </p:sp>
      <p:sp>
        <p:nvSpPr>
          <p:cNvPr id="63" name="led_521"/>
          <p:cNvSpPr/>
          <p:nvPr/>
        </p:nvSpPr>
        <p:spPr>
          <a:xfrm>
            <a:off x="50109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4" name="txt_522"/>
          <p:cNvSpPr txBox="1"/>
          <p:nvPr/>
        </p:nvSpPr>
        <p:spPr>
          <a:xfrm>
            <a:off x="49194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LD4</a:t>
            </a:r>
            <a:endParaRPr lang="en-US" sz="650" dirty="0"/>
          </a:p>
        </p:txBody>
      </p:sp>
      <p:sp>
        <p:nvSpPr>
          <p:cNvPr id="65" name="led_523"/>
          <p:cNvSpPr/>
          <p:nvPr/>
        </p:nvSpPr>
        <p:spPr>
          <a:xfrm>
            <a:off x="46451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6" name="txt_524"/>
          <p:cNvSpPr txBox="1"/>
          <p:nvPr/>
        </p:nvSpPr>
        <p:spPr>
          <a:xfrm>
            <a:off x="45537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LD5</a:t>
            </a:r>
            <a:endParaRPr lang="en-US" sz="650" dirty="0"/>
          </a:p>
        </p:txBody>
      </p:sp>
      <p:sp>
        <p:nvSpPr>
          <p:cNvPr id="67" name="led_525"/>
          <p:cNvSpPr/>
          <p:nvPr/>
        </p:nvSpPr>
        <p:spPr>
          <a:xfrm>
            <a:off x="427939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8" name="txt_526"/>
          <p:cNvSpPr txBox="1"/>
          <p:nvPr/>
        </p:nvSpPr>
        <p:spPr>
          <a:xfrm>
            <a:off x="41879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LD6</a:t>
            </a:r>
            <a:endParaRPr lang="en-US" sz="650" dirty="0"/>
          </a:p>
        </p:txBody>
      </p:sp>
      <p:sp>
        <p:nvSpPr>
          <p:cNvPr id="69" name="led_527"/>
          <p:cNvSpPr/>
          <p:nvPr/>
        </p:nvSpPr>
        <p:spPr>
          <a:xfrm>
            <a:off x="391363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0" name="txt_528"/>
          <p:cNvSpPr txBox="1"/>
          <p:nvPr/>
        </p:nvSpPr>
        <p:spPr>
          <a:xfrm>
            <a:off x="38221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LD7</a:t>
            </a:r>
            <a:endParaRPr lang="en-US" sz="650" dirty="0"/>
          </a:p>
        </p:txBody>
      </p:sp>
      <p:sp>
        <p:nvSpPr>
          <p:cNvPr id="71" name="led_529"/>
          <p:cNvSpPr/>
          <p:nvPr/>
        </p:nvSpPr>
        <p:spPr>
          <a:xfrm>
            <a:off x="354787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2" name="txt_530"/>
          <p:cNvSpPr txBox="1"/>
          <p:nvPr/>
        </p:nvSpPr>
        <p:spPr>
          <a:xfrm>
            <a:off x="34564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LD8</a:t>
            </a:r>
            <a:endParaRPr lang="en-US" sz="650" dirty="0"/>
          </a:p>
        </p:txBody>
      </p:sp>
      <p:sp>
        <p:nvSpPr>
          <p:cNvPr id="73" name="led_531"/>
          <p:cNvSpPr/>
          <p:nvPr/>
        </p:nvSpPr>
        <p:spPr>
          <a:xfrm>
            <a:off x="31821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4" name="txt_532"/>
          <p:cNvSpPr txBox="1"/>
          <p:nvPr/>
        </p:nvSpPr>
        <p:spPr>
          <a:xfrm>
            <a:off x="30906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LD9</a:t>
            </a:r>
            <a:endParaRPr lang="en-US" sz="650" dirty="0"/>
          </a:p>
        </p:txBody>
      </p:sp>
      <p:sp>
        <p:nvSpPr>
          <p:cNvPr id="75" name="led_533"/>
          <p:cNvSpPr/>
          <p:nvPr/>
        </p:nvSpPr>
        <p:spPr>
          <a:xfrm>
            <a:off x="28163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6" name="txt_534"/>
          <p:cNvSpPr txBox="1"/>
          <p:nvPr/>
        </p:nvSpPr>
        <p:spPr>
          <a:xfrm>
            <a:off x="27249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LD10</a:t>
            </a:r>
            <a:endParaRPr lang="en-US" sz="650" dirty="0"/>
          </a:p>
        </p:txBody>
      </p:sp>
      <p:sp>
        <p:nvSpPr>
          <p:cNvPr id="77" name="led_535"/>
          <p:cNvSpPr/>
          <p:nvPr/>
        </p:nvSpPr>
        <p:spPr>
          <a:xfrm>
            <a:off x="245059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8" name="txt_536"/>
          <p:cNvSpPr txBox="1"/>
          <p:nvPr/>
        </p:nvSpPr>
        <p:spPr>
          <a:xfrm>
            <a:off x="23591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LD11</a:t>
            </a:r>
            <a:endParaRPr lang="en-US" sz="650" dirty="0"/>
          </a:p>
        </p:txBody>
      </p:sp>
      <p:sp>
        <p:nvSpPr>
          <p:cNvPr id="79" name="led_537"/>
          <p:cNvSpPr/>
          <p:nvPr/>
        </p:nvSpPr>
        <p:spPr>
          <a:xfrm>
            <a:off x="208483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0" name="txt_538"/>
          <p:cNvSpPr txBox="1"/>
          <p:nvPr/>
        </p:nvSpPr>
        <p:spPr>
          <a:xfrm>
            <a:off x="19933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LD12</a:t>
            </a:r>
            <a:endParaRPr lang="en-US" sz="650" dirty="0"/>
          </a:p>
        </p:txBody>
      </p:sp>
      <p:sp>
        <p:nvSpPr>
          <p:cNvPr id="81" name="led_539"/>
          <p:cNvSpPr/>
          <p:nvPr/>
        </p:nvSpPr>
        <p:spPr>
          <a:xfrm>
            <a:off x="171907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2" name="txt_540"/>
          <p:cNvSpPr txBox="1"/>
          <p:nvPr/>
        </p:nvSpPr>
        <p:spPr>
          <a:xfrm>
            <a:off x="16276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LD13</a:t>
            </a:r>
            <a:endParaRPr lang="en-US" sz="650" dirty="0"/>
          </a:p>
        </p:txBody>
      </p:sp>
      <p:sp>
        <p:nvSpPr>
          <p:cNvPr id="83" name="led_541"/>
          <p:cNvSpPr/>
          <p:nvPr/>
        </p:nvSpPr>
        <p:spPr>
          <a:xfrm>
            <a:off x="13533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4" name="txt_542"/>
          <p:cNvSpPr txBox="1"/>
          <p:nvPr/>
        </p:nvSpPr>
        <p:spPr>
          <a:xfrm>
            <a:off x="12618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LD14</a:t>
            </a:r>
            <a:endParaRPr lang="en-US" sz="650" dirty="0"/>
          </a:p>
        </p:txBody>
      </p:sp>
      <p:sp>
        <p:nvSpPr>
          <p:cNvPr id="85" name="led_543"/>
          <p:cNvSpPr/>
          <p:nvPr/>
        </p:nvSpPr>
        <p:spPr>
          <a:xfrm>
            <a:off x="9875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6" name="txt_544"/>
          <p:cNvSpPr txBox="1"/>
          <p:nvPr/>
        </p:nvSpPr>
        <p:spPr>
          <a:xfrm>
            <a:off x="8961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LD15</a:t>
            </a:r>
            <a:endParaRPr lang="en-US" sz="650" dirty="0"/>
          </a:p>
        </p:txBody>
      </p:sp>
      <p:sp>
        <p:nvSpPr>
          <p:cNvPr id="87" name="sw_545"/>
          <p:cNvSpPr/>
          <p:nvPr/>
        </p:nvSpPr>
        <p:spPr>
          <a:xfrm>
            <a:off x="64739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88" name="knob_546"/>
          <p:cNvSpPr/>
          <p:nvPr/>
        </p:nvSpPr>
        <p:spPr>
          <a:xfrm>
            <a:off x="6492240" y="5458968"/>
            <a:ext cx="146304" cy="182880"/>
          </a:xfrm>
          <a:prstGeom prst="rect">
            <a:avLst/>
          </a:prstGeom>
          <a:solidFill>
            <a:srgbClr val="D6DBDF"/>
          </a:solidFill>
          <a:ln/>
        </p:spPr>
      </p:sp>
      <p:sp>
        <p:nvSpPr>
          <p:cNvPr id="89" name="txt_547"/>
          <p:cNvSpPr txBox="1"/>
          <p:nvPr/>
        </p:nvSpPr>
        <p:spPr>
          <a:xfrm>
            <a:off x="63825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SW0</a:t>
            </a:r>
            <a:endParaRPr lang="en-US" sz="650" dirty="0"/>
          </a:p>
        </p:txBody>
      </p:sp>
      <p:sp>
        <p:nvSpPr>
          <p:cNvPr id="90" name="txt_548"/>
          <p:cNvSpPr txBox="1"/>
          <p:nvPr/>
        </p:nvSpPr>
        <p:spPr>
          <a:xfrm>
            <a:off x="638251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00" dirty="0"/>
          </a:p>
        </p:txBody>
      </p:sp>
      <p:sp>
        <p:nvSpPr>
          <p:cNvPr id="91" name="sw_549"/>
          <p:cNvSpPr/>
          <p:nvPr/>
        </p:nvSpPr>
        <p:spPr>
          <a:xfrm>
            <a:off x="6108192" y="5212080"/>
            <a:ext cx="182880" cy="457200"/>
          </a:xfrm>
          <a:prstGeom prst="rect">
            <a:avLst/>
          </a:prstGeom>
          <a:solidFill>
            <a:srgbClr val="0E1114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92" name="knob_550"/>
          <p:cNvSpPr/>
          <p:nvPr/>
        </p:nvSpPr>
        <p:spPr>
          <a:xfrm>
            <a:off x="6126480" y="5239512"/>
            <a:ext cx="14630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xt_551"/>
          <p:cNvSpPr txBox="1"/>
          <p:nvPr/>
        </p:nvSpPr>
        <p:spPr>
          <a:xfrm>
            <a:off x="60167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</a:t>
            </a:r>
            <a:endParaRPr lang="en-US" sz="650" dirty="0"/>
          </a:p>
        </p:txBody>
      </p:sp>
      <p:sp>
        <p:nvSpPr>
          <p:cNvPr id="94" name="txt_552"/>
          <p:cNvSpPr txBox="1"/>
          <p:nvPr/>
        </p:nvSpPr>
        <p:spPr>
          <a:xfrm>
            <a:off x="601675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95" name="shp_553"/>
          <p:cNvSpPr txBox="1"/>
          <p:nvPr/>
        </p:nvSpPr>
        <p:spPr>
          <a:xfrm>
            <a:off x="6076188" y="6108192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96" name="sw_554"/>
          <p:cNvSpPr/>
          <p:nvPr/>
        </p:nvSpPr>
        <p:spPr>
          <a:xfrm>
            <a:off x="5742432" y="5212080"/>
            <a:ext cx="182880" cy="457200"/>
          </a:xfrm>
          <a:prstGeom prst="rect">
            <a:avLst/>
          </a:prstGeom>
          <a:solidFill>
            <a:srgbClr val="0E1114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97" name="knob_555"/>
          <p:cNvSpPr/>
          <p:nvPr/>
        </p:nvSpPr>
        <p:spPr>
          <a:xfrm>
            <a:off x="5760720" y="5239512"/>
            <a:ext cx="14630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xt_556"/>
          <p:cNvSpPr txBox="1"/>
          <p:nvPr/>
        </p:nvSpPr>
        <p:spPr>
          <a:xfrm>
            <a:off x="56509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</a:t>
            </a:r>
            <a:endParaRPr lang="en-US" sz="650" dirty="0"/>
          </a:p>
        </p:txBody>
      </p:sp>
      <p:sp>
        <p:nvSpPr>
          <p:cNvPr id="99" name="txt_557"/>
          <p:cNvSpPr txBox="1"/>
          <p:nvPr/>
        </p:nvSpPr>
        <p:spPr>
          <a:xfrm>
            <a:off x="565099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100" name="shp_558"/>
          <p:cNvSpPr txBox="1"/>
          <p:nvPr/>
        </p:nvSpPr>
        <p:spPr>
          <a:xfrm>
            <a:off x="5710428" y="6108192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1" name="sw_559"/>
          <p:cNvSpPr/>
          <p:nvPr/>
        </p:nvSpPr>
        <p:spPr>
          <a:xfrm>
            <a:off x="5376672" y="5212080"/>
            <a:ext cx="182880" cy="457200"/>
          </a:xfrm>
          <a:prstGeom prst="rect">
            <a:avLst/>
          </a:prstGeom>
          <a:solidFill>
            <a:srgbClr val="0E1114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102" name="knob_560"/>
          <p:cNvSpPr/>
          <p:nvPr/>
        </p:nvSpPr>
        <p:spPr>
          <a:xfrm>
            <a:off x="539496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103" name="txt_561"/>
          <p:cNvSpPr txBox="1"/>
          <p:nvPr/>
        </p:nvSpPr>
        <p:spPr>
          <a:xfrm>
            <a:off x="52852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SW3</a:t>
            </a:r>
            <a:endParaRPr lang="en-US" sz="650" dirty="0"/>
          </a:p>
        </p:txBody>
      </p:sp>
      <p:sp>
        <p:nvSpPr>
          <p:cNvPr id="104" name="txt_562"/>
          <p:cNvSpPr txBox="1"/>
          <p:nvPr/>
        </p:nvSpPr>
        <p:spPr>
          <a:xfrm>
            <a:off x="528523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105" name="shp_563"/>
          <p:cNvSpPr txBox="1"/>
          <p:nvPr/>
        </p:nvSpPr>
        <p:spPr>
          <a:xfrm>
            <a:off x="5344668" y="6108192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06" name="sw_564"/>
          <p:cNvSpPr/>
          <p:nvPr/>
        </p:nvSpPr>
        <p:spPr>
          <a:xfrm>
            <a:off x="50109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07" name="knob_565"/>
          <p:cNvSpPr/>
          <p:nvPr/>
        </p:nvSpPr>
        <p:spPr>
          <a:xfrm>
            <a:off x="5029200" y="5458968"/>
            <a:ext cx="146304" cy="182880"/>
          </a:xfrm>
          <a:prstGeom prst="rect">
            <a:avLst/>
          </a:prstGeom>
          <a:solidFill>
            <a:srgbClr val="D6DBDF"/>
          </a:solidFill>
          <a:ln/>
        </p:spPr>
      </p:sp>
      <p:sp>
        <p:nvSpPr>
          <p:cNvPr id="108" name="txt_566"/>
          <p:cNvSpPr txBox="1"/>
          <p:nvPr/>
        </p:nvSpPr>
        <p:spPr>
          <a:xfrm>
            <a:off x="49194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</a:t>
            </a:r>
            <a:endParaRPr lang="en-US" sz="650" dirty="0"/>
          </a:p>
        </p:txBody>
      </p:sp>
      <p:sp>
        <p:nvSpPr>
          <p:cNvPr id="109" name="txt_567"/>
          <p:cNvSpPr txBox="1"/>
          <p:nvPr/>
        </p:nvSpPr>
        <p:spPr>
          <a:xfrm>
            <a:off x="491947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00" dirty="0"/>
          </a:p>
        </p:txBody>
      </p:sp>
      <p:sp>
        <p:nvSpPr>
          <p:cNvPr id="110" name="sw_568"/>
          <p:cNvSpPr/>
          <p:nvPr/>
        </p:nvSpPr>
        <p:spPr>
          <a:xfrm>
            <a:off x="46451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1" name="knob_569"/>
          <p:cNvSpPr/>
          <p:nvPr/>
        </p:nvSpPr>
        <p:spPr>
          <a:xfrm>
            <a:off x="46634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2" name="txt_570"/>
          <p:cNvSpPr txBox="1"/>
          <p:nvPr/>
        </p:nvSpPr>
        <p:spPr>
          <a:xfrm>
            <a:off x="45537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SW5</a:t>
            </a:r>
            <a:endParaRPr lang="en-US" sz="650" dirty="0"/>
          </a:p>
        </p:txBody>
      </p:sp>
      <p:sp>
        <p:nvSpPr>
          <p:cNvPr id="113" name="sw_571"/>
          <p:cNvSpPr/>
          <p:nvPr/>
        </p:nvSpPr>
        <p:spPr>
          <a:xfrm>
            <a:off x="42793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4" name="knob_572"/>
          <p:cNvSpPr/>
          <p:nvPr/>
        </p:nvSpPr>
        <p:spPr>
          <a:xfrm>
            <a:off x="429768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5" name="txt_573"/>
          <p:cNvSpPr txBox="1"/>
          <p:nvPr/>
        </p:nvSpPr>
        <p:spPr>
          <a:xfrm>
            <a:off x="41879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SW6</a:t>
            </a:r>
            <a:endParaRPr lang="en-US" sz="650" dirty="0"/>
          </a:p>
        </p:txBody>
      </p:sp>
      <p:sp>
        <p:nvSpPr>
          <p:cNvPr id="116" name="sw_574"/>
          <p:cNvSpPr/>
          <p:nvPr/>
        </p:nvSpPr>
        <p:spPr>
          <a:xfrm>
            <a:off x="39136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7" name="knob_575"/>
          <p:cNvSpPr/>
          <p:nvPr/>
        </p:nvSpPr>
        <p:spPr>
          <a:xfrm>
            <a:off x="39319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8" name="txt_576"/>
          <p:cNvSpPr txBox="1"/>
          <p:nvPr/>
        </p:nvSpPr>
        <p:spPr>
          <a:xfrm>
            <a:off x="38221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SW7</a:t>
            </a:r>
            <a:endParaRPr lang="en-US" sz="650" dirty="0"/>
          </a:p>
        </p:txBody>
      </p:sp>
      <p:sp>
        <p:nvSpPr>
          <p:cNvPr id="119" name="sw_577"/>
          <p:cNvSpPr/>
          <p:nvPr/>
        </p:nvSpPr>
        <p:spPr>
          <a:xfrm>
            <a:off x="35478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0" name="knob_578"/>
          <p:cNvSpPr/>
          <p:nvPr/>
        </p:nvSpPr>
        <p:spPr>
          <a:xfrm>
            <a:off x="35661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1" name="txt_579"/>
          <p:cNvSpPr txBox="1"/>
          <p:nvPr/>
        </p:nvSpPr>
        <p:spPr>
          <a:xfrm>
            <a:off x="34564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SW8</a:t>
            </a:r>
            <a:endParaRPr lang="en-US" sz="650" dirty="0"/>
          </a:p>
        </p:txBody>
      </p:sp>
      <p:sp>
        <p:nvSpPr>
          <p:cNvPr id="122" name="sw_580"/>
          <p:cNvSpPr/>
          <p:nvPr/>
        </p:nvSpPr>
        <p:spPr>
          <a:xfrm>
            <a:off x="31821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3" name="knob_581"/>
          <p:cNvSpPr/>
          <p:nvPr/>
        </p:nvSpPr>
        <p:spPr>
          <a:xfrm>
            <a:off x="320040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4" name="txt_582"/>
          <p:cNvSpPr txBox="1"/>
          <p:nvPr/>
        </p:nvSpPr>
        <p:spPr>
          <a:xfrm>
            <a:off x="30906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SW9</a:t>
            </a:r>
            <a:endParaRPr lang="en-US" sz="650" dirty="0"/>
          </a:p>
        </p:txBody>
      </p:sp>
      <p:sp>
        <p:nvSpPr>
          <p:cNvPr id="125" name="sw_583"/>
          <p:cNvSpPr/>
          <p:nvPr/>
        </p:nvSpPr>
        <p:spPr>
          <a:xfrm>
            <a:off x="28163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6" name="knob_584"/>
          <p:cNvSpPr/>
          <p:nvPr/>
        </p:nvSpPr>
        <p:spPr>
          <a:xfrm>
            <a:off x="28346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7" name="txt_585"/>
          <p:cNvSpPr txBox="1"/>
          <p:nvPr/>
        </p:nvSpPr>
        <p:spPr>
          <a:xfrm>
            <a:off x="27249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SW10</a:t>
            </a:r>
            <a:endParaRPr lang="en-US" sz="650" dirty="0"/>
          </a:p>
        </p:txBody>
      </p:sp>
      <p:sp>
        <p:nvSpPr>
          <p:cNvPr id="128" name="sw_586"/>
          <p:cNvSpPr/>
          <p:nvPr/>
        </p:nvSpPr>
        <p:spPr>
          <a:xfrm>
            <a:off x="24505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9" name="knob_587"/>
          <p:cNvSpPr/>
          <p:nvPr/>
        </p:nvSpPr>
        <p:spPr>
          <a:xfrm>
            <a:off x="246888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0" name="txt_588"/>
          <p:cNvSpPr txBox="1"/>
          <p:nvPr/>
        </p:nvSpPr>
        <p:spPr>
          <a:xfrm>
            <a:off x="23591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SW11</a:t>
            </a:r>
            <a:endParaRPr lang="en-US" sz="650" dirty="0"/>
          </a:p>
        </p:txBody>
      </p:sp>
      <p:sp>
        <p:nvSpPr>
          <p:cNvPr id="131" name="sw_589"/>
          <p:cNvSpPr/>
          <p:nvPr/>
        </p:nvSpPr>
        <p:spPr>
          <a:xfrm>
            <a:off x="20848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2" name="knob_590"/>
          <p:cNvSpPr/>
          <p:nvPr/>
        </p:nvSpPr>
        <p:spPr>
          <a:xfrm>
            <a:off x="21031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3" name="txt_591"/>
          <p:cNvSpPr txBox="1"/>
          <p:nvPr/>
        </p:nvSpPr>
        <p:spPr>
          <a:xfrm>
            <a:off x="19933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SW12</a:t>
            </a:r>
            <a:endParaRPr lang="en-US" sz="650" dirty="0"/>
          </a:p>
        </p:txBody>
      </p:sp>
      <p:sp>
        <p:nvSpPr>
          <p:cNvPr id="134" name="sw_592"/>
          <p:cNvSpPr/>
          <p:nvPr/>
        </p:nvSpPr>
        <p:spPr>
          <a:xfrm>
            <a:off x="17190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5" name="knob_593"/>
          <p:cNvSpPr/>
          <p:nvPr/>
        </p:nvSpPr>
        <p:spPr>
          <a:xfrm>
            <a:off x="17373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6" name="txt_594"/>
          <p:cNvSpPr txBox="1"/>
          <p:nvPr/>
        </p:nvSpPr>
        <p:spPr>
          <a:xfrm>
            <a:off x="16276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SW13</a:t>
            </a:r>
            <a:endParaRPr lang="en-US" sz="650" dirty="0"/>
          </a:p>
        </p:txBody>
      </p:sp>
      <p:sp>
        <p:nvSpPr>
          <p:cNvPr id="137" name="sw_595"/>
          <p:cNvSpPr/>
          <p:nvPr/>
        </p:nvSpPr>
        <p:spPr>
          <a:xfrm>
            <a:off x="13533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8" name="knob_596"/>
          <p:cNvSpPr/>
          <p:nvPr/>
        </p:nvSpPr>
        <p:spPr>
          <a:xfrm>
            <a:off x="137160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9" name="txt_597"/>
          <p:cNvSpPr txBox="1"/>
          <p:nvPr/>
        </p:nvSpPr>
        <p:spPr>
          <a:xfrm>
            <a:off x="12618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SW14</a:t>
            </a:r>
            <a:endParaRPr lang="en-US" sz="650" dirty="0"/>
          </a:p>
        </p:txBody>
      </p:sp>
      <p:sp>
        <p:nvSpPr>
          <p:cNvPr id="140" name="sw_598"/>
          <p:cNvSpPr/>
          <p:nvPr/>
        </p:nvSpPr>
        <p:spPr>
          <a:xfrm>
            <a:off x="9875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41" name="knob_599"/>
          <p:cNvSpPr/>
          <p:nvPr/>
        </p:nvSpPr>
        <p:spPr>
          <a:xfrm>
            <a:off x="10058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42" name="txt_600"/>
          <p:cNvSpPr txBox="1"/>
          <p:nvPr/>
        </p:nvSpPr>
        <p:spPr>
          <a:xfrm>
            <a:off x="8961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SW15</a:t>
            </a:r>
            <a:endParaRPr lang="en-US" sz="650" dirty="0"/>
          </a:p>
        </p:txBody>
      </p:sp>
      <p:sp>
        <p:nvSpPr>
          <p:cNvPr id="143" name="txt_601"/>
          <p:cNvSpPr txBox="1"/>
          <p:nvPr/>
        </p:nvSpPr>
        <p:spPr>
          <a:xfrm>
            <a:off x="7360920" y="1207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5"/>
                </a:solidFill>
              </a:rPr>
              <a:t>모드 진입</a:t>
            </a:r>
            <a:endParaRPr lang="en-US" sz="1200" dirty="0"/>
          </a:p>
        </p:txBody>
      </p:sp>
      <p:sp>
        <p:nvSpPr>
          <p:cNvPr id="144" name="shp_602"/>
          <p:cNvSpPr txBox="1"/>
          <p:nvPr/>
        </p:nvSpPr>
        <p:spPr>
          <a:xfrm>
            <a:off x="8366760" y="1207008"/>
            <a:ext cx="745236" cy="292608"/>
          </a:xfrm>
          <a:prstGeom prst="roundRect">
            <a:avLst>
              <a:gd name="adj" fmla="val 25000"/>
            </a:avLst>
          </a:prstGeom>
          <a:solidFill>
            <a:srgbClr val="2E3B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 = 0</a:t>
            </a:r>
            <a:endParaRPr lang="en-US" sz="1100" dirty="0"/>
          </a:p>
        </p:txBody>
      </p:sp>
      <p:sp>
        <p:nvSpPr>
          <p:cNvPr id="145" name="shp_603"/>
          <p:cNvSpPr txBox="1"/>
          <p:nvPr/>
        </p:nvSpPr>
        <p:spPr>
          <a:xfrm>
            <a:off x="9203436" y="1207008"/>
            <a:ext cx="745236" cy="292608"/>
          </a:xfrm>
          <a:prstGeom prst="roundRect">
            <a:avLst>
              <a:gd name="adj" fmla="val 25000"/>
            </a:avLst>
          </a:prstGeom>
          <a:solidFill>
            <a:srgbClr val="2E3B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SW0 = 0</a:t>
            </a:r>
            <a:endParaRPr lang="en-US" sz="1100" dirty="0"/>
          </a:p>
        </p:txBody>
      </p:sp>
      <p:sp>
        <p:nvSpPr>
          <p:cNvPr id="146" name="shp_604"/>
          <p:cNvSpPr txBox="1"/>
          <p:nvPr/>
        </p:nvSpPr>
        <p:spPr>
          <a:xfrm>
            <a:off x="10040112" y="1207008"/>
            <a:ext cx="1737360" cy="292608"/>
          </a:xfrm>
          <a:prstGeom prst="roundRect">
            <a:avLst>
              <a:gd name="adj" fmla="val 25000"/>
            </a:avLst>
          </a:prstGeom>
          <a:solidFill>
            <a:srgbClr val="E4F8EC"/>
          </a:solidFill>
          <a:ln w="9525">
            <a:solidFill>
              <a:srgbClr val="2EA86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63C"/>
                </a:solidFill>
              </a:rPr>
              <a:t>LD0 점등</a:t>
            </a:r>
            <a:endParaRPr lang="en-US" sz="1050" dirty="0"/>
          </a:p>
        </p:txBody>
      </p:sp>
      <p:sp>
        <p:nvSpPr>
          <p:cNvPr id="147" name="shp_605"/>
          <p:cNvSpPr txBox="1"/>
          <p:nvPr/>
        </p:nvSpPr>
        <p:spPr>
          <a:xfrm>
            <a:off x="7360920" y="178308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8" name="txt_606"/>
          <p:cNvSpPr txBox="1"/>
          <p:nvPr/>
        </p:nvSpPr>
        <p:spPr>
          <a:xfrm>
            <a:off x="7726680" y="1737360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</a:t>
            </a:r>
            <a:endParaRPr lang="en-US" sz="1200" dirty="0"/>
          </a:p>
        </p:txBody>
      </p:sp>
      <p:sp>
        <p:nvSpPr>
          <p:cNvPr id="149" name="txt_607"/>
          <p:cNvSpPr txBox="1"/>
          <p:nvPr/>
        </p:nvSpPr>
        <p:spPr>
          <a:xfrm>
            <a:off x="8686800" y="1737360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1: 설정 시작 (분 1의 자리부터) · 0: 설정 끝</a:t>
            </a:r>
            <a:endParaRPr lang="en-US" sz="1150" dirty="0"/>
          </a:p>
        </p:txBody>
      </p:sp>
      <p:sp>
        <p:nvSpPr>
          <p:cNvPr id="150" name="sep_608"/>
          <p:cNvSpPr/>
          <p:nvPr/>
        </p:nvSpPr>
        <p:spPr>
          <a:xfrm>
            <a:off x="7360920" y="2212848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51" name="shp_609"/>
          <p:cNvSpPr txBox="1"/>
          <p:nvPr/>
        </p:nvSpPr>
        <p:spPr>
          <a:xfrm>
            <a:off x="7360920" y="2295144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2" name="txt_610"/>
          <p:cNvSpPr txBox="1"/>
          <p:nvPr/>
        </p:nvSpPr>
        <p:spPr>
          <a:xfrm>
            <a:off x="7726680" y="2249424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BTNL/R</a:t>
            </a:r>
            <a:endParaRPr lang="en-US" sz="1200" dirty="0"/>
          </a:p>
        </p:txBody>
      </p:sp>
      <p:sp>
        <p:nvSpPr>
          <p:cNvPr id="153" name="txt_611"/>
          <p:cNvSpPr txBox="1"/>
          <p:nvPr/>
        </p:nvSpPr>
        <p:spPr>
          <a:xfrm>
            <a:off x="8686800" y="2249424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설정 자리 이동  시₁ ↔ 분₁₀ ↔ 분₁ (양끝 순환)</a:t>
            </a:r>
            <a:endParaRPr lang="en-US" sz="1150" dirty="0"/>
          </a:p>
        </p:txBody>
      </p:sp>
      <p:sp>
        <p:nvSpPr>
          <p:cNvPr id="154" name="sep_612"/>
          <p:cNvSpPr/>
          <p:nvPr/>
        </p:nvSpPr>
        <p:spPr>
          <a:xfrm>
            <a:off x="7360920" y="2724912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55" name="shp_613"/>
          <p:cNvSpPr txBox="1"/>
          <p:nvPr/>
        </p:nvSpPr>
        <p:spPr>
          <a:xfrm>
            <a:off x="7360920" y="2807208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6" name="txt_614"/>
          <p:cNvSpPr txBox="1"/>
          <p:nvPr/>
        </p:nvSpPr>
        <p:spPr>
          <a:xfrm>
            <a:off x="7726680" y="2761488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BTNU</a:t>
            </a:r>
            <a:endParaRPr lang="en-US" sz="1200" dirty="0"/>
          </a:p>
        </p:txBody>
      </p:sp>
      <p:sp>
        <p:nvSpPr>
          <p:cNvPr id="157" name="txt_615"/>
          <p:cNvSpPr txBox="1"/>
          <p:nvPr/>
        </p:nvSpPr>
        <p:spPr>
          <a:xfrm>
            <a:off x="8686800" y="2761488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+1 · 분₁₀ 자리에서는 +10분</a:t>
            </a:r>
            <a:endParaRPr lang="en-US" sz="1150" dirty="0"/>
          </a:p>
        </p:txBody>
      </p:sp>
      <p:sp>
        <p:nvSpPr>
          <p:cNvPr id="158" name="sep_616"/>
          <p:cNvSpPr/>
          <p:nvPr/>
        </p:nvSpPr>
        <p:spPr>
          <a:xfrm>
            <a:off x="7360920" y="3236976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59" name="shp_617"/>
          <p:cNvSpPr txBox="1"/>
          <p:nvPr/>
        </p:nvSpPr>
        <p:spPr>
          <a:xfrm>
            <a:off x="7360920" y="3319272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0" name="txt_618"/>
          <p:cNvSpPr txBox="1"/>
          <p:nvPr/>
        </p:nvSpPr>
        <p:spPr>
          <a:xfrm>
            <a:off x="7726680" y="3273552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BTND</a:t>
            </a:r>
            <a:endParaRPr lang="en-US" sz="1200" dirty="0"/>
          </a:p>
        </p:txBody>
      </p:sp>
      <p:sp>
        <p:nvSpPr>
          <p:cNvPr id="161" name="txt_619"/>
          <p:cNvSpPr txBox="1"/>
          <p:nvPr/>
        </p:nvSpPr>
        <p:spPr>
          <a:xfrm>
            <a:off x="8686800" y="3273552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−1 · 분₁₀ 자리에서는 −10분 (U·D 동시면 U)</a:t>
            </a:r>
            <a:endParaRPr lang="en-US" sz="1150" dirty="0"/>
          </a:p>
        </p:txBody>
      </p:sp>
      <p:sp>
        <p:nvSpPr>
          <p:cNvPr id="162" name="sep_620"/>
          <p:cNvSpPr/>
          <p:nvPr/>
        </p:nvSpPr>
        <p:spPr>
          <a:xfrm>
            <a:off x="7360920" y="3749040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63" name="shp_621"/>
          <p:cNvSpPr txBox="1"/>
          <p:nvPr/>
        </p:nvSpPr>
        <p:spPr>
          <a:xfrm>
            <a:off x="7360920" y="3831336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64" name="txt_622"/>
          <p:cNvSpPr txBox="1"/>
          <p:nvPr/>
        </p:nvSpPr>
        <p:spPr>
          <a:xfrm>
            <a:off x="7726680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SW3</a:t>
            </a:r>
            <a:endParaRPr lang="en-US" sz="1200" dirty="0"/>
          </a:p>
        </p:txBody>
      </p:sp>
      <p:sp>
        <p:nvSpPr>
          <p:cNvPr id="165" name="txt_623"/>
          <p:cNvSpPr txBox="1"/>
          <p:nvPr/>
        </p:nvSpPr>
        <p:spPr>
          <a:xfrm>
            <a:off x="8686800" y="3785616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0: 24시간 · 1: 12시간 (오후면 LD4)</a:t>
            </a:r>
            <a:endParaRPr lang="en-US" sz="1150" dirty="0"/>
          </a:p>
        </p:txBody>
      </p:sp>
      <p:sp>
        <p:nvSpPr>
          <p:cNvPr id="166" name="sep_624"/>
          <p:cNvSpPr/>
          <p:nvPr/>
        </p:nvSpPr>
        <p:spPr>
          <a:xfrm>
            <a:off x="7360920" y="4261104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67" name="shp_625"/>
          <p:cNvSpPr txBox="1"/>
          <p:nvPr/>
        </p:nvSpPr>
        <p:spPr>
          <a:xfrm>
            <a:off x="7360920" y="43434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68" name="txt_626"/>
          <p:cNvSpPr txBox="1"/>
          <p:nvPr/>
        </p:nvSpPr>
        <p:spPr>
          <a:xfrm>
            <a:off x="7726680" y="4297680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</a:t>
            </a:r>
            <a:endParaRPr lang="en-US" sz="1200" dirty="0"/>
          </a:p>
        </p:txBody>
      </p:sp>
      <p:sp>
        <p:nvSpPr>
          <p:cNvPr id="169" name="txt_627"/>
          <p:cNvSpPr txBox="1"/>
          <p:nvPr/>
        </p:nvSpPr>
        <p:spPr>
          <a:xfrm>
            <a:off x="8686800" y="4297680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1(시.분 화면)에서 설정 자리가 1초 주기로 깜빡임</a:t>
            </a:r>
            <a:endParaRPr lang="en-US" sz="1150" dirty="0"/>
          </a:p>
        </p:txBody>
      </p:sp>
      <p:sp>
        <p:nvSpPr>
          <p:cNvPr id="170" name="card_628"/>
          <p:cNvSpPr/>
          <p:nvPr/>
        </p:nvSpPr>
        <p:spPr>
          <a:xfrm>
            <a:off x="7360920" y="4892040"/>
            <a:ext cx="4416552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</p:sp>
      <p:sp>
        <p:nvSpPr>
          <p:cNvPr id="171" name="txt_629"/>
          <p:cNvSpPr txBox="1"/>
          <p:nvPr/>
        </p:nvSpPr>
        <p:spPr>
          <a:xfrm>
            <a:off x="7543800" y="4983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00"/>
                </a:solidFill>
              </a:rPr>
              <a:t>알아두기</a:t>
            </a:r>
            <a:endParaRPr lang="en-US" sz="1150" dirty="0"/>
          </a:p>
        </p:txBody>
      </p:sp>
      <p:sp>
        <p:nvSpPr>
          <p:cNvPr id="172" name="tips_630"/>
          <p:cNvSpPr txBox="1"/>
          <p:nvPr/>
        </p:nvSpPr>
        <p:spPr>
          <a:xfrm>
            <a:off x="7543800" y="52760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리셋 직후 12:00:00에서 출발. 설정 중에도 시계는 계속 흐른다.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자리 올림 없음 — 분이 59→00으로 넘어가도 시는 그대로.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시는 1의 자리 ±1로 0~23을 돈다 (십의 자리 직접 설정 없음).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03  BASYS3 보드 설명서 · ③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타이머 사용 설명서 — 빠른 알람</a:t>
            </a:r>
            <a:endParaRPr lang="en-US" sz="2800" dirty="0"/>
          </a:p>
        </p:txBody>
      </p:sp>
      <p:sp>
        <p:nvSpPr>
          <p:cNvPr id="4" name="board"/>
          <p:cNvSpPr/>
          <p:nvPr/>
        </p:nvSpPr>
        <p:spPr>
          <a:xfrm>
            <a:off x="411480" y="1207008"/>
            <a:ext cx="6629400" cy="4846320"/>
          </a:xfrm>
          <a:prstGeom prst="roundRect">
            <a:avLst>
              <a:gd name="adj" fmla="val 2264"/>
            </a:avLst>
          </a:prstGeom>
          <a:solidFill>
            <a:srgbClr val="22303A"/>
          </a:solidFill>
          <a:ln w="19050">
            <a:solidFill>
              <a:srgbClr val="0F171C"/>
            </a:solidFill>
            <a:prstDash val="solid"/>
          </a:ln>
        </p:spPr>
      </p:sp>
      <p:sp>
        <p:nvSpPr>
          <p:cNvPr id="5" name="hole_631"/>
          <p:cNvSpPr/>
          <p:nvPr/>
        </p:nvSpPr>
        <p:spPr>
          <a:xfrm>
            <a:off x="521208" y="1316736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6" name="hole_632"/>
          <p:cNvSpPr/>
          <p:nvPr/>
        </p:nvSpPr>
        <p:spPr>
          <a:xfrm>
            <a:off x="6766560" y="1316736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7" name="hole_633"/>
          <p:cNvSpPr/>
          <p:nvPr/>
        </p:nvSpPr>
        <p:spPr>
          <a:xfrm>
            <a:off x="521208" y="5779008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8" name="hole_634"/>
          <p:cNvSpPr/>
          <p:nvPr/>
        </p:nvSpPr>
        <p:spPr>
          <a:xfrm>
            <a:off x="6766560" y="5779008"/>
            <a:ext cx="164592" cy="164592"/>
          </a:xfrm>
          <a:prstGeom prst="ellipse">
            <a:avLst/>
          </a:prstGeom>
          <a:solidFill>
            <a:srgbClr val="9AA4AB"/>
          </a:solidFill>
          <a:ln w="9525">
            <a:solidFill>
              <a:srgbClr val="5F6A71"/>
            </a:solidFill>
            <a:prstDash val="solid"/>
          </a:ln>
        </p:spPr>
      </p:sp>
      <p:sp>
        <p:nvSpPr>
          <p:cNvPr id="9" name="rect_635"/>
          <p:cNvSpPr/>
          <p:nvPr/>
        </p:nvSpPr>
        <p:spPr>
          <a:xfrm>
            <a:off x="914400" y="1115568"/>
            <a:ext cx="548640" cy="292608"/>
          </a:xfrm>
          <a:prstGeom prst="rect">
            <a:avLst/>
          </a:prstGeom>
          <a:solidFill>
            <a:srgbClr val="A3ACB2"/>
          </a:solidFill>
          <a:ln w="9525">
            <a:solidFill>
              <a:srgbClr val="6C767D"/>
            </a:solidFill>
            <a:prstDash val="solid"/>
          </a:ln>
        </p:spPr>
      </p:sp>
      <p:sp>
        <p:nvSpPr>
          <p:cNvPr id="10" name="txt_636"/>
          <p:cNvSpPr txBox="1"/>
          <p:nvPr/>
        </p:nvSpPr>
        <p:spPr>
          <a:xfrm>
            <a:off x="777240" y="144475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USB·PROG</a:t>
            </a:r>
            <a:endParaRPr lang="en-US" sz="700" dirty="0"/>
          </a:p>
        </p:txBody>
      </p:sp>
      <p:sp>
        <p:nvSpPr>
          <p:cNvPr id="11" name="rect_637"/>
          <p:cNvSpPr/>
          <p:nvPr/>
        </p:nvSpPr>
        <p:spPr>
          <a:xfrm>
            <a:off x="1737360" y="1298448"/>
            <a:ext cx="292608" cy="164592"/>
          </a:xfrm>
          <a:prstGeom prst="rect">
            <a:avLst/>
          </a:prstGeom>
          <a:solidFill>
            <a:srgbClr val="A3ACB2"/>
          </a:solidFill>
          <a:ln w="9525">
            <a:solidFill>
              <a:srgbClr val="6C767D"/>
            </a:solidFill>
            <a:prstDash val="solid"/>
          </a:ln>
        </p:spPr>
      </p:sp>
      <p:sp>
        <p:nvSpPr>
          <p:cNvPr id="12" name="txt_638"/>
          <p:cNvSpPr txBox="1"/>
          <p:nvPr/>
        </p:nvSpPr>
        <p:spPr>
          <a:xfrm>
            <a:off x="1655064" y="14813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PWR</a:t>
            </a:r>
            <a:endParaRPr lang="en-US" sz="700" dirty="0"/>
          </a:p>
        </p:txBody>
      </p:sp>
      <p:sp>
        <p:nvSpPr>
          <p:cNvPr id="13" name="txt_639"/>
          <p:cNvSpPr txBox="1"/>
          <p:nvPr/>
        </p:nvSpPr>
        <p:spPr>
          <a:xfrm>
            <a:off x="4937760" y="1408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DF0"/>
                </a:solidFill>
              </a:rPr>
              <a:t>BASYS 3</a:t>
            </a:r>
            <a:endParaRPr lang="en-US" sz="1800" dirty="0"/>
          </a:p>
        </p:txBody>
      </p:sp>
      <p:sp>
        <p:nvSpPr>
          <p:cNvPr id="14" name="shp_640"/>
          <p:cNvSpPr txBox="1"/>
          <p:nvPr/>
        </p:nvSpPr>
        <p:spPr>
          <a:xfrm>
            <a:off x="2971800" y="1591056"/>
            <a:ext cx="1280160" cy="1280160"/>
          </a:xfrm>
          <a:prstGeom prst="rect">
            <a:avLst/>
          </a:prstGeom>
          <a:solidFill>
            <a:srgbClr val="14181B"/>
          </a:solidFill>
          <a:ln w="12700">
            <a:solidFill>
              <a:srgbClr val="46505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EB6BC"/>
                </a:solidFill>
              </a:rPr>
              <a:t>ARTIX-7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EB6BC"/>
                </a:solidFill>
              </a:rPr>
              <a:t>XC7A35T</a:t>
            </a:r>
            <a:endParaRPr lang="en-US" sz="900" dirty="0"/>
          </a:p>
        </p:txBody>
      </p:sp>
      <p:sp>
        <p:nvSpPr>
          <p:cNvPr id="15" name="rect_641"/>
          <p:cNvSpPr/>
          <p:nvPr/>
        </p:nvSpPr>
        <p:spPr>
          <a:xfrm>
            <a:off x="4526280" y="2075688"/>
            <a:ext cx="365760" cy="219456"/>
          </a:xfrm>
          <a:prstGeom prst="rect">
            <a:avLst/>
          </a:prstGeom>
          <a:solidFill>
            <a:srgbClr val="C8CDD1"/>
          </a:solidFill>
          <a:ln w="9525">
            <a:solidFill>
              <a:srgbClr val="7D868C"/>
            </a:solidFill>
            <a:prstDash val="solid"/>
          </a:ln>
        </p:spPr>
      </p:sp>
      <p:sp>
        <p:nvSpPr>
          <p:cNvPr id="16" name="txt_642"/>
          <p:cNvSpPr txBox="1"/>
          <p:nvPr/>
        </p:nvSpPr>
        <p:spPr>
          <a:xfrm>
            <a:off x="4343400" y="232257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</a:rPr>
              <a:t>100 MHz</a:t>
            </a:r>
            <a:endParaRPr lang="en-US" sz="700" dirty="0"/>
          </a:p>
        </p:txBody>
      </p:sp>
      <p:sp>
        <p:nvSpPr>
          <p:cNvPr id="17" name="rect_643"/>
          <p:cNvSpPr/>
          <p:nvPr/>
        </p:nvSpPr>
        <p:spPr>
          <a:xfrm>
            <a:off x="6748272" y="170992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8" name="rect_644"/>
          <p:cNvSpPr/>
          <p:nvPr/>
        </p:nvSpPr>
        <p:spPr>
          <a:xfrm>
            <a:off x="6748272" y="267004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9" name="rect_645"/>
          <p:cNvSpPr/>
          <p:nvPr/>
        </p:nvSpPr>
        <p:spPr>
          <a:xfrm>
            <a:off x="521208" y="2121408"/>
            <a:ext cx="182880" cy="822960"/>
          </a:xfrm>
          <a:prstGeom prst="rect">
            <a:avLst/>
          </a:prstGeom>
          <a:solidFill>
            <a:srgbClr val="10161A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20" name="txt_646"/>
          <p:cNvSpPr txBox="1"/>
          <p:nvPr/>
        </p:nvSpPr>
        <p:spPr>
          <a:xfrm>
            <a:off x="6355080" y="35387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F8F99"/>
                </a:solidFill>
              </a:rPr>
              <a:t>Pmod</a:t>
            </a:r>
            <a:endParaRPr lang="en-US" sz="650" dirty="0"/>
          </a:p>
        </p:txBody>
      </p:sp>
      <p:sp>
        <p:nvSpPr>
          <p:cNvPr id="21" name="fnd"/>
          <p:cNvSpPr/>
          <p:nvPr/>
        </p:nvSpPr>
        <p:spPr>
          <a:xfrm>
            <a:off x="1600200" y="3172968"/>
            <a:ext cx="2697480" cy="1051560"/>
          </a:xfrm>
          <a:prstGeom prst="rect">
            <a:avLst/>
          </a:prstGeom>
          <a:solidFill>
            <a:srgbClr val="0B0B0B"/>
          </a:solidFill>
          <a:ln w="12700">
            <a:solidFill>
              <a:srgbClr val="46505A"/>
            </a:solidFill>
            <a:prstDash val="solid"/>
          </a:ln>
        </p:spPr>
      </p:sp>
      <p:sp>
        <p:nvSpPr>
          <p:cNvPr id="22" name="txt_647"/>
          <p:cNvSpPr txBox="1"/>
          <p:nvPr/>
        </p:nvSpPr>
        <p:spPr>
          <a:xfrm>
            <a:off x="1755648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400" dirty="0"/>
          </a:p>
        </p:txBody>
      </p:sp>
      <p:sp>
        <p:nvSpPr>
          <p:cNvPr id="23" name="dp_648"/>
          <p:cNvSpPr/>
          <p:nvPr/>
        </p:nvSpPr>
        <p:spPr>
          <a:xfrm>
            <a:off x="2276856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24" name="txt_649"/>
          <p:cNvSpPr txBox="1"/>
          <p:nvPr/>
        </p:nvSpPr>
        <p:spPr>
          <a:xfrm>
            <a:off x="1755648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AN3</a:t>
            </a:r>
            <a:endParaRPr lang="en-US" sz="700" dirty="0"/>
          </a:p>
        </p:txBody>
      </p:sp>
      <p:sp>
        <p:nvSpPr>
          <p:cNvPr id="25" name="txt_650"/>
          <p:cNvSpPr txBox="1"/>
          <p:nvPr/>
        </p:nvSpPr>
        <p:spPr>
          <a:xfrm>
            <a:off x="2377440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4400" dirty="0"/>
          </a:p>
        </p:txBody>
      </p:sp>
      <p:sp>
        <p:nvSpPr>
          <p:cNvPr id="26" name="dp_651"/>
          <p:cNvSpPr/>
          <p:nvPr/>
        </p:nvSpPr>
        <p:spPr>
          <a:xfrm>
            <a:off x="2898648" y="3959352"/>
            <a:ext cx="82296" cy="82296"/>
          </a:xfrm>
          <a:prstGeom prst="ellipse">
            <a:avLst/>
          </a:prstGeom>
          <a:solidFill>
            <a:srgbClr val="FF4A2E"/>
          </a:solidFill>
          <a:ln/>
        </p:spPr>
      </p:sp>
      <p:sp>
        <p:nvSpPr>
          <p:cNvPr id="27" name="txt_652"/>
          <p:cNvSpPr txBox="1"/>
          <p:nvPr/>
        </p:nvSpPr>
        <p:spPr>
          <a:xfrm>
            <a:off x="2377440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AN2</a:t>
            </a:r>
            <a:endParaRPr lang="en-US" sz="700" dirty="0"/>
          </a:p>
        </p:txBody>
      </p:sp>
      <p:sp>
        <p:nvSpPr>
          <p:cNvPr id="28" name="txt_653"/>
          <p:cNvSpPr txBox="1"/>
          <p:nvPr/>
        </p:nvSpPr>
        <p:spPr>
          <a:xfrm>
            <a:off x="2999232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4400" dirty="0"/>
          </a:p>
        </p:txBody>
      </p:sp>
      <p:sp>
        <p:nvSpPr>
          <p:cNvPr id="29" name="dp_654"/>
          <p:cNvSpPr/>
          <p:nvPr/>
        </p:nvSpPr>
        <p:spPr>
          <a:xfrm>
            <a:off x="3520440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30" name="txt_655"/>
          <p:cNvSpPr txBox="1"/>
          <p:nvPr/>
        </p:nvSpPr>
        <p:spPr>
          <a:xfrm>
            <a:off x="2999232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AN1</a:t>
            </a:r>
            <a:endParaRPr lang="en-US" sz="700" dirty="0"/>
          </a:p>
        </p:txBody>
      </p:sp>
      <p:sp>
        <p:nvSpPr>
          <p:cNvPr id="31" name="txt_656"/>
          <p:cNvSpPr txBox="1"/>
          <p:nvPr/>
        </p:nvSpPr>
        <p:spPr>
          <a:xfrm>
            <a:off x="3621024" y="3246120"/>
            <a:ext cx="530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4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4400" dirty="0"/>
          </a:p>
        </p:txBody>
      </p:sp>
      <p:sp>
        <p:nvSpPr>
          <p:cNvPr id="32" name="dp_657"/>
          <p:cNvSpPr/>
          <p:nvPr/>
        </p:nvSpPr>
        <p:spPr>
          <a:xfrm>
            <a:off x="4142232" y="3959352"/>
            <a:ext cx="82296" cy="82296"/>
          </a:xfrm>
          <a:prstGeom prst="ellipse">
            <a:avLst/>
          </a:prstGeom>
          <a:solidFill>
            <a:srgbClr val="3A1A12"/>
          </a:solidFill>
          <a:ln/>
        </p:spPr>
      </p:sp>
      <p:sp>
        <p:nvSpPr>
          <p:cNvPr id="33" name="txt_658"/>
          <p:cNvSpPr txBox="1"/>
          <p:nvPr/>
        </p:nvSpPr>
        <p:spPr>
          <a:xfrm>
            <a:off x="3621024" y="425196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AN0</a:t>
            </a:r>
            <a:endParaRPr lang="en-US" sz="700" dirty="0"/>
          </a:p>
        </p:txBody>
      </p:sp>
      <p:sp>
        <p:nvSpPr>
          <p:cNvPr id="34" name="txt_659"/>
          <p:cNvSpPr txBox="1"/>
          <p:nvPr/>
        </p:nvSpPr>
        <p:spPr>
          <a:xfrm>
            <a:off x="1508760" y="4416552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266"/>
                </a:solidFill>
              </a:rPr>
              <a:t>SW1=1 → 남은 시 . 분  (15분 남음)</a:t>
            </a:r>
            <a:endParaRPr lang="en-US" sz="900" dirty="0"/>
          </a:p>
        </p:txBody>
      </p:sp>
      <p:sp>
        <p:nvSpPr>
          <p:cNvPr id="35" name="btn_660"/>
          <p:cNvSpPr/>
          <p:nvPr/>
        </p:nvSpPr>
        <p:spPr>
          <a:xfrm>
            <a:off x="5340096" y="28620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36" name="shp_661"/>
          <p:cNvSpPr txBox="1"/>
          <p:nvPr/>
        </p:nvSpPr>
        <p:spPr>
          <a:xfrm>
            <a:off x="5404104" y="292608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</a:t>
            </a:r>
            <a:endParaRPr lang="en-US" sz="900" dirty="0"/>
          </a:p>
        </p:txBody>
      </p:sp>
      <p:sp>
        <p:nvSpPr>
          <p:cNvPr id="37" name="txt_662"/>
          <p:cNvSpPr txBox="1"/>
          <p:nvPr/>
        </p:nvSpPr>
        <p:spPr>
          <a:xfrm>
            <a:off x="4983480" y="24871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BTNU</a:t>
            </a:r>
            <a:endParaRPr lang="en-US" sz="750" dirty="0"/>
          </a:p>
        </p:txBody>
      </p:sp>
      <p:sp>
        <p:nvSpPr>
          <p:cNvPr id="38" name="shp_663"/>
          <p:cNvSpPr txBox="1"/>
          <p:nvPr/>
        </p:nvSpPr>
        <p:spPr>
          <a:xfrm>
            <a:off x="5751576" y="28712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btn_664"/>
          <p:cNvSpPr/>
          <p:nvPr/>
        </p:nvSpPr>
        <p:spPr>
          <a:xfrm>
            <a:off x="479145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0" name="shp_665"/>
          <p:cNvSpPr txBox="1"/>
          <p:nvPr/>
        </p:nvSpPr>
        <p:spPr>
          <a:xfrm>
            <a:off x="485546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</a:t>
            </a:r>
            <a:endParaRPr lang="en-US" sz="900" dirty="0"/>
          </a:p>
        </p:txBody>
      </p:sp>
      <p:sp>
        <p:nvSpPr>
          <p:cNvPr id="41" name="txt_666"/>
          <p:cNvSpPr txBox="1"/>
          <p:nvPr/>
        </p:nvSpPr>
        <p:spPr>
          <a:xfrm>
            <a:off x="4023360" y="34655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BTNL</a:t>
            </a:r>
            <a:endParaRPr lang="en-US" sz="750" dirty="0"/>
          </a:p>
        </p:txBody>
      </p:sp>
      <p:sp>
        <p:nvSpPr>
          <p:cNvPr id="42" name="shp_667"/>
          <p:cNvSpPr txBox="1"/>
          <p:nvPr/>
        </p:nvSpPr>
        <p:spPr>
          <a:xfrm>
            <a:off x="4855464" y="30998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43" name="btn_668"/>
          <p:cNvSpPr/>
          <p:nvPr/>
        </p:nvSpPr>
        <p:spPr>
          <a:xfrm>
            <a:off x="534009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9525">
            <a:solidFill>
              <a:srgbClr val="8A949A"/>
            </a:solidFill>
            <a:prstDash val="solid"/>
          </a:ln>
        </p:spPr>
      </p:sp>
      <p:sp>
        <p:nvSpPr>
          <p:cNvPr id="44" name="shp_669"/>
          <p:cNvSpPr txBox="1"/>
          <p:nvPr/>
        </p:nvSpPr>
        <p:spPr>
          <a:xfrm>
            <a:off x="5404104" y="3474720"/>
            <a:ext cx="256032" cy="256032"/>
          </a:xfrm>
          <a:prstGeom prst="ellipse">
            <a:avLst/>
          </a:prstGeom>
          <a:solidFill>
            <a:srgbClr val="C832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45" name="btn_670"/>
          <p:cNvSpPr/>
          <p:nvPr/>
        </p:nvSpPr>
        <p:spPr>
          <a:xfrm>
            <a:off x="5888736" y="34107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46" name="shp_671"/>
          <p:cNvSpPr txBox="1"/>
          <p:nvPr/>
        </p:nvSpPr>
        <p:spPr>
          <a:xfrm>
            <a:off x="5952744" y="347472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</a:t>
            </a:r>
            <a:endParaRPr lang="en-US" sz="900" dirty="0"/>
          </a:p>
        </p:txBody>
      </p:sp>
      <p:sp>
        <p:nvSpPr>
          <p:cNvPr id="47" name="txt_672"/>
          <p:cNvSpPr txBox="1"/>
          <p:nvPr/>
        </p:nvSpPr>
        <p:spPr>
          <a:xfrm>
            <a:off x="6382512" y="34655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BTNR</a:t>
            </a:r>
            <a:endParaRPr lang="en-US" sz="750" dirty="0"/>
          </a:p>
        </p:txBody>
      </p:sp>
      <p:sp>
        <p:nvSpPr>
          <p:cNvPr id="48" name="shp_673"/>
          <p:cNvSpPr txBox="1"/>
          <p:nvPr/>
        </p:nvSpPr>
        <p:spPr>
          <a:xfrm>
            <a:off x="5952744" y="309981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9" name="btn_674"/>
          <p:cNvSpPr/>
          <p:nvPr/>
        </p:nvSpPr>
        <p:spPr>
          <a:xfrm>
            <a:off x="5340096" y="39593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9CED2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50" name="shp_675"/>
          <p:cNvSpPr txBox="1"/>
          <p:nvPr/>
        </p:nvSpPr>
        <p:spPr>
          <a:xfrm>
            <a:off x="5404104" y="4023360"/>
            <a:ext cx="256032" cy="256032"/>
          </a:xfrm>
          <a:prstGeom prst="ellipse">
            <a:avLst/>
          </a:prstGeom>
          <a:solidFill>
            <a:srgbClr val="E0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</a:t>
            </a:r>
            <a:endParaRPr lang="en-US" sz="900" dirty="0"/>
          </a:p>
        </p:txBody>
      </p:sp>
      <p:sp>
        <p:nvSpPr>
          <p:cNvPr id="51" name="txt_676"/>
          <p:cNvSpPr txBox="1"/>
          <p:nvPr/>
        </p:nvSpPr>
        <p:spPr>
          <a:xfrm>
            <a:off x="4983480" y="44988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C266"/>
                </a:solidFill>
              </a:rPr>
              <a:t>BTND</a:t>
            </a:r>
            <a:endParaRPr lang="en-US" sz="750" dirty="0"/>
          </a:p>
        </p:txBody>
      </p:sp>
      <p:sp>
        <p:nvSpPr>
          <p:cNvPr id="52" name="shp_677"/>
          <p:cNvSpPr txBox="1"/>
          <p:nvPr/>
        </p:nvSpPr>
        <p:spPr>
          <a:xfrm>
            <a:off x="5751576" y="405993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3" name="txt_678"/>
          <p:cNvSpPr txBox="1"/>
          <p:nvPr/>
        </p:nvSpPr>
        <p:spPr>
          <a:xfrm>
            <a:off x="4892040" y="470001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2A0A6"/>
                </a:solidFill>
              </a:rPr>
              <a:t>BTNC = rst</a:t>
            </a:r>
            <a:endParaRPr lang="en-US" sz="750" dirty="0"/>
          </a:p>
        </p:txBody>
      </p:sp>
      <p:sp>
        <p:nvSpPr>
          <p:cNvPr id="54" name="led_679"/>
          <p:cNvSpPr/>
          <p:nvPr/>
        </p:nvSpPr>
        <p:spPr>
          <a:xfrm>
            <a:off x="64739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55" name="txt_680"/>
          <p:cNvSpPr txBox="1"/>
          <p:nvPr/>
        </p:nvSpPr>
        <p:spPr>
          <a:xfrm>
            <a:off x="63825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LD0</a:t>
            </a:r>
            <a:endParaRPr lang="en-US" sz="650" dirty="0"/>
          </a:p>
        </p:txBody>
      </p:sp>
      <p:sp>
        <p:nvSpPr>
          <p:cNvPr id="56" name="led_681"/>
          <p:cNvSpPr/>
          <p:nvPr/>
        </p:nvSpPr>
        <p:spPr>
          <a:xfrm>
            <a:off x="610819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57" name="txt_682"/>
          <p:cNvSpPr txBox="1"/>
          <p:nvPr/>
        </p:nvSpPr>
        <p:spPr>
          <a:xfrm>
            <a:off x="60167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</a:t>
            </a:r>
            <a:endParaRPr lang="en-US" sz="650" dirty="0"/>
          </a:p>
        </p:txBody>
      </p:sp>
      <p:sp>
        <p:nvSpPr>
          <p:cNvPr id="58" name="led_683"/>
          <p:cNvSpPr/>
          <p:nvPr/>
        </p:nvSpPr>
        <p:spPr>
          <a:xfrm>
            <a:off x="574243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59" name="txt_684"/>
          <p:cNvSpPr txBox="1"/>
          <p:nvPr/>
        </p:nvSpPr>
        <p:spPr>
          <a:xfrm>
            <a:off x="56509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LD2</a:t>
            </a:r>
            <a:endParaRPr lang="en-US" sz="650" dirty="0"/>
          </a:p>
        </p:txBody>
      </p:sp>
      <p:sp>
        <p:nvSpPr>
          <p:cNvPr id="60" name="led_685"/>
          <p:cNvSpPr/>
          <p:nvPr/>
        </p:nvSpPr>
        <p:spPr>
          <a:xfrm>
            <a:off x="537667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1" name="txt_686"/>
          <p:cNvSpPr txBox="1"/>
          <p:nvPr/>
        </p:nvSpPr>
        <p:spPr>
          <a:xfrm>
            <a:off x="52852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LD3</a:t>
            </a:r>
            <a:endParaRPr lang="en-US" sz="650" dirty="0"/>
          </a:p>
        </p:txBody>
      </p:sp>
      <p:sp>
        <p:nvSpPr>
          <p:cNvPr id="62" name="led_687"/>
          <p:cNvSpPr/>
          <p:nvPr/>
        </p:nvSpPr>
        <p:spPr>
          <a:xfrm>
            <a:off x="50109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3" name="txt_688"/>
          <p:cNvSpPr txBox="1"/>
          <p:nvPr/>
        </p:nvSpPr>
        <p:spPr>
          <a:xfrm>
            <a:off x="49194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LD4</a:t>
            </a:r>
            <a:endParaRPr lang="en-US" sz="650" dirty="0"/>
          </a:p>
        </p:txBody>
      </p:sp>
      <p:sp>
        <p:nvSpPr>
          <p:cNvPr id="64" name="led_689"/>
          <p:cNvSpPr/>
          <p:nvPr/>
        </p:nvSpPr>
        <p:spPr>
          <a:xfrm>
            <a:off x="464515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65" name="txt_690"/>
          <p:cNvSpPr txBox="1"/>
          <p:nvPr/>
        </p:nvSpPr>
        <p:spPr>
          <a:xfrm>
            <a:off x="45537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LD5</a:t>
            </a:r>
            <a:endParaRPr lang="en-US" sz="650" dirty="0"/>
          </a:p>
        </p:txBody>
      </p:sp>
      <p:sp>
        <p:nvSpPr>
          <p:cNvPr id="66" name="led_691"/>
          <p:cNvSpPr/>
          <p:nvPr/>
        </p:nvSpPr>
        <p:spPr>
          <a:xfrm>
            <a:off x="4279392" y="4882896"/>
            <a:ext cx="182880" cy="100584"/>
          </a:xfrm>
          <a:prstGeom prst="rect">
            <a:avLst/>
          </a:prstGeom>
          <a:solidFill>
            <a:srgbClr val="3DDC84"/>
          </a:solidFill>
          <a:ln w="6350">
            <a:solidFill>
              <a:srgbClr val="3DDC84"/>
            </a:solidFill>
            <a:prstDash val="solid"/>
          </a:ln>
        </p:spPr>
      </p:sp>
      <p:sp>
        <p:nvSpPr>
          <p:cNvPr id="67" name="txt_692"/>
          <p:cNvSpPr txBox="1"/>
          <p:nvPr/>
        </p:nvSpPr>
        <p:spPr>
          <a:xfrm>
            <a:off x="41879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LD6</a:t>
            </a:r>
            <a:endParaRPr lang="en-US" sz="650" dirty="0"/>
          </a:p>
        </p:txBody>
      </p:sp>
      <p:sp>
        <p:nvSpPr>
          <p:cNvPr id="68" name="led_693"/>
          <p:cNvSpPr/>
          <p:nvPr/>
        </p:nvSpPr>
        <p:spPr>
          <a:xfrm>
            <a:off x="391363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69" name="txt_694"/>
          <p:cNvSpPr txBox="1"/>
          <p:nvPr/>
        </p:nvSpPr>
        <p:spPr>
          <a:xfrm>
            <a:off x="38221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LD7</a:t>
            </a:r>
            <a:endParaRPr lang="en-US" sz="650" dirty="0"/>
          </a:p>
        </p:txBody>
      </p:sp>
      <p:sp>
        <p:nvSpPr>
          <p:cNvPr id="70" name="led_695"/>
          <p:cNvSpPr/>
          <p:nvPr/>
        </p:nvSpPr>
        <p:spPr>
          <a:xfrm>
            <a:off x="354787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1" name="txt_696"/>
          <p:cNvSpPr txBox="1"/>
          <p:nvPr/>
        </p:nvSpPr>
        <p:spPr>
          <a:xfrm>
            <a:off x="34564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LD8</a:t>
            </a:r>
            <a:endParaRPr lang="en-US" sz="650" dirty="0"/>
          </a:p>
        </p:txBody>
      </p:sp>
      <p:sp>
        <p:nvSpPr>
          <p:cNvPr id="72" name="led_697"/>
          <p:cNvSpPr/>
          <p:nvPr/>
        </p:nvSpPr>
        <p:spPr>
          <a:xfrm>
            <a:off x="31821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3" name="txt_698"/>
          <p:cNvSpPr txBox="1"/>
          <p:nvPr/>
        </p:nvSpPr>
        <p:spPr>
          <a:xfrm>
            <a:off x="30906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LD9</a:t>
            </a:r>
            <a:endParaRPr lang="en-US" sz="650" dirty="0"/>
          </a:p>
        </p:txBody>
      </p:sp>
      <p:sp>
        <p:nvSpPr>
          <p:cNvPr id="74" name="led_699"/>
          <p:cNvSpPr/>
          <p:nvPr/>
        </p:nvSpPr>
        <p:spPr>
          <a:xfrm>
            <a:off x="28163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5" name="txt_700"/>
          <p:cNvSpPr txBox="1"/>
          <p:nvPr/>
        </p:nvSpPr>
        <p:spPr>
          <a:xfrm>
            <a:off x="27249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LD10</a:t>
            </a:r>
            <a:endParaRPr lang="en-US" sz="650" dirty="0"/>
          </a:p>
        </p:txBody>
      </p:sp>
      <p:sp>
        <p:nvSpPr>
          <p:cNvPr id="76" name="led_701"/>
          <p:cNvSpPr/>
          <p:nvPr/>
        </p:nvSpPr>
        <p:spPr>
          <a:xfrm>
            <a:off x="245059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7" name="txt_702"/>
          <p:cNvSpPr txBox="1"/>
          <p:nvPr/>
        </p:nvSpPr>
        <p:spPr>
          <a:xfrm>
            <a:off x="235915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LD11</a:t>
            </a:r>
            <a:endParaRPr lang="en-US" sz="650" dirty="0"/>
          </a:p>
        </p:txBody>
      </p:sp>
      <p:sp>
        <p:nvSpPr>
          <p:cNvPr id="78" name="led_703"/>
          <p:cNvSpPr/>
          <p:nvPr/>
        </p:nvSpPr>
        <p:spPr>
          <a:xfrm>
            <a:off x="208483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79" name="txt_704"/>
          <p:cNvSpPr txBox="1"/>
          <p:nvPr/>
        </p:nvSpPr>
        <p:spPr>
          <a:xfrm>
            <a:off x="199339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LD12</a:t>
            </a:r>
            <a:endParaRPr lang="en-US" sz="650" dirty="0"/>
          </a:p>
        </p:txBody>
      </p:sp>
      <p:sp>
        <p:nvSpPr>
          <p:cNvPr id="80" name="led_705"/>
          <p:cNvSpPr/>
          <p:nvPr/>
        </p:nvSpPr>
        <p:spPr>
          <a:xfrm>
            <a:off x="171907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1" name="txt_706"/>
          <p:cNvSpPr txBox="1"/>
          <p:nvPr/>
        </p:nvSpPr>
        <p:spPr>
          <a:xfrm>
            <a:off x="162763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LD13</a:t>
            </a:r>
            <a:endParaRPr lang="en-US" sz="650" dirty="0"/>
          </a:p>
        </p:txBody>
      </p:sp>
      <p:sp>
        <p:nvSpPr>
          <p:cNvPr id="82" name="led_707"/>
          <p:cNvSpPr/>
          <p:nvPr/>
        </p:nvSpPr>
        <p:spPr>
          <a:xfrm>
            <a:off x="135331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3" name="txt_708"/>
          <p:cNvSpPr txBox="1"/>
          <p:nvPr/>
        </p:nvSpPr>
        <p:spPr>
          <a:xfrm>
            <a:off x="126187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LD14</a:t>
            </a:r>
            <a:endParaRPr lang="en-US" sz="650" dirty="0"/>
          </a:p>
        </p:txBody>
      </p:sp>
      <p:sp>
        <p:nvSpPr>
          <p:cNvPr id="84" name="led_709"/>
          <p:cNvSpPr/>
          <p:nvPr/>
        </p:nvSpPr>
        <p:spPr>
          <a:xfrm>
            <a:off x="987552" y="4882896"/>
            <a:ext cx="182880" cy="100584"/>
          </a:xfrm>
          <a:prstGeom prst="rect">
            <a:avLst/>
          </a:prstGeom>
          <a:solidFill>
            <a:srgbClr val="3A464E"/>
          </a:solidFill>
          <a:ln w="6350">
            <a:solidFill>
              <a:srgbClr val="56636B"/>
            </a:solidFill>
            <a:prstDash val="solid"/>
          </a:ln>
        </p:spPr>
      </p:sp>
      <p:sp>
        <p:nvSpPr>
          <p:cNvPr id="85" name="txt_710"/>
          <p:cNvSpPr txBox="1"/>
          <p:nvPr/>
        </p:nvSpPr>
        <p:spPr>
          <a:xfrm>
            <a:off x="896112" y="499262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LD15</a:t>
            </a:r>
            <a:endParaRPr lang="en-US" sz="650" dirty="0"/>
          </a:p>
        </p:txBody>
      </p:sp>
      <p:sp>
        <p:nvSpPr>
          <p:cNvPr id="86" name="shp_711"/>
          <p:cNvSpPr txBox="1"/>
          <p:nvPr/>
        </p:nvSpPr>
        <p:spPr>
          <a:xfrm>
            <a:off x="576072" y="4791456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87" name="sw_712"/>
          <p:cNvSpPr/>
          <p:nvPr/>
        </p:nvSpPr>
        <p:spPr>
          <a:xfrm>
            <a:off x="64739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88" name="knob_713"/>
          <p:cNvSpPr/>
          <p:nvPr/>
        </p:nvSpPr>
        <p:spPr>
          <a:xfrm>
            <a:off x="649224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89" name="txt_714"/>
          <p:cNvSpPr txBox="1"/>
          <p:nvPr/>
        </p:nvSpPr>
        <p:spPr>
          <a:xfrm>
            <a:off x="63825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SW0</a:t>
            </a:r>
            <a:endParaRPr lang="en-US" sz="650" dirty="0"/>
          </a:p>
        </p:txBody>
      </p:sp>
      <p:sp>
        <p:nvSpPr>
          <p:cNvPr id="90" name="txt_715"/>
          <p:cNvSpPr txBox="1"/>
          <p:nvPr/>
        </p:nvSpPr>
        <p:spPr>
          <a:xfrm>
            <a:off x="638251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91" name="sw_716"/>
          <p:cNvSpPr/>
          <p:nvPr/>
        </p:nvSpPr>
        <p:spPr>
          <a:xfrm>
            <a:off x="61081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92" name="knob_717"/>
          <p:cNvSpPr/>
          <p:nvPr/>
        </p:nvSpPr>
        <p:spPr>
          <a:xfrm>
            <a:off x="6126480" y="5239512"/>
            <a:ext cx="14630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txt_718"/>
          <p:cNvSpPr txBox="1"/>
          <p:nvPr/>
        </p:nvSpPr>
        <p:spPr>
          <a:xfrm>
            <a:off x="60167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</a:t>
            </a:r>
            <a:endParaRPr lang="en-US" sz="650" dirty="0"/>
          </a:p>
        </p:txBody>
      </p:sp>
      <p:sp>
        <p:nvSpPr>
          <p:cNvPr id="94" name="txt_719"/>
          <p:cNvSpPr txBox="1"/>
          <p:nvPr/>
        </p:nvSpPr>
        <p:spPr>
          <a:xfrm>
            <a:off x="601675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95" name="sw_720"/>
          <p:cNvSpPr/>
          <p:nvPr/>
        </p:nvSpPr>
        <p:spPr>
          <a:xfrm>
            <a:off x="57424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96" name="knob_721"/>
          <p:cNvSpPr/>
          <p:nvPr/>
        </p:nvSpPr>
        <p:spPr>
          <a:xfrm>
            <a:off x="5760720" y="5458968"/>
            <a:ext cx="146304" cy="182880"/>
          </a:xfrm>
          <a:prstGeom prst="rect">
            <a:avLst/>
          </a:prstGeom>
          <a:solidFill>
            <a:srgbClr val="D6DBDF"/>
          </a:solidFill>
          <a:ln/>
        </p:spPr>
      </p:sp>
      <p:sp>
        <p:nvSpPr>
          <p:cNvPr id="97" name="txt_722"/>
          <p:cNvSpPr txBox="1"/>
          <p:nvPr/>
        </p:nvSpPr>
        <p:spPr>
          <a:xfrm>
            <a:off x="56509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</a:t>
            </a:r>
            <a:endParaRPr lang="en-US" sz="650" dirty="0"/>
          </a:p>
        </p:txBody>
      </p:sp>
      <p:sp>
        <p:nvSpPr>
          <p:cNvPr id="98" name="txt_723"/>
          <p:cNvSpPr txBox="1"/>
          <p:nvPr/>
        </p:nvSpPr>
        <p:spPr>
          <a:xfrm>
            <a:off x="565099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00" dirty="0"/>
          </a:p>
        </p:txBody>
      </p:sp>
      <p:sp>
        <p:nvSpPr>
          <p:cNvPr id="99" name="sw_724"/>
          <p:cNvSpPr/>
          <p:nvPr/>
        </p:nvSpPr>
        <p:spPr>
          <a:xfrm>
            <a:off x="53766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00" name="knob_725"/>
          <p:cNvSpPr/>
          <p:nvPr/>
        </p:nvSpPr>
        <p:spPr>
          <a:xfrm>
            <a:off x="53949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01" name="txt_726"/>
          <p:cNvSpPr txBox="1"/>
          <p:nvPr/>
        </p:nvSpPr>
        <p:spPr>
          <a:xfrm>
            <a:off x="52852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SW3</a:t>
            </a:r>
            <a:endParaRPr lang="en-US" sz="650" dirty="0"/>
          </a:p>
        </p:txBody>
      </p:sp>
      <p:sp>
        <p:nvSpPr>
          <p:cNvPr id="102" name="sw_727"/>
          <p:cNvSpPr/>
          <p:nvPr/>
        </p:nvSpPr>
        <p:spPr>
          <a:xfrm>
            <a:off x="50109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03" name="knob_728"/>
          <p:cNvSpPr/>
          <p:nvPr/>
        </p:nvSpPr>
        <p:spPr>
          <a:xfrm>
            <a:off x="5029200" y="5239512"/>
            <a:ext cx="146304" cy="1828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xt_729"/>
          <p:cNvSpPr txBox="1"/>
          <p:nvPr/>
        </p:nvSpPr>
        <p:spPr>
          <a:xfrm>
            <a:off x="49194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</a:t>
            </a:r>
            <a:endParaRPr lang="en-US" sz="650" dirty="0"/>
          </a:p>
        </p:txBody>
      </p:sp>
      <p:sp>
        <p:nvSpPr>
          <p:cNvPr id="105" name="txt_730"/>
          <p:cNvSpPr txBox="1"/>
          <p:nvPr/>
        </p:nvSpPr>
        <p:spPr>
          <a:xfrm>
            <a:off x="491947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C2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106" name="sw_731"/>
          <p:cNvSpPr/>
          <p:nvPr/>
        </p:nvSpPr>
        <p:spPr>
          <a:xfrm>
            <a:off x="4645152" y="5212080"/>
            <a:ext cx="182880" cy="457200"/>
          </a:xfrm>
          <a:prstGeom prst="rect">
            <a:avLst/>
          </a:prstGeom>
          <a:solidFill>
            <a:srgbClr val="0E1114"/>
          </a:solidFill>
          <a:ln w="25400">
            <a:solidFill>
              <a:srgbClr val="E08A00"/>
            </a:solidFill>
            <a:prstDash val="solid"/>
          </a:ln>
        </p:spPr>
      </p:sp>
      <p:sp>
        <p:nvSpPr>
          <p:cNvPr id="107" name="knob_732"/>
          <p:cNvSpPr/>
          <p:nvPr/>
        </p:nvSpPr>
        <p:spPr>
          <a:xfrm>
            <a:off x="4663440" y="5458968"/>
            <a:ext cx="146304" cy="182880"/>
          </a:xfrm>
          <a:prstGeom prst="rect">
            <a:avLst/>
          </a:prstGeom>
          <a:solidFill>
            <a:srgbClr val="8A949A"/>
          </a:solidFill>
          <a:ln/>
        </p:spPr>
      </p:sp>
      <p:sp>
        <p:nvSpPr>
          <p:cNvPr id="108" name="txt_733"/>
          <p:cNvSpPr txBox="1"/>
          <p:nvPr/>
        </p:nvSpPr>
        <p:spPr>
          <a:xfrm>
            <a:off x="45537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8ED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SW5</a:t>
            </a:r>
            <a:endParaRPr lang="en-US" sz="650" dirty="0"/>
          </a:p>
        </p:txBody>
      </p:sp>
      <p:sp>
        <p:nvSpPr>
          <p:cNvPr id="109" name="txt_734"/>
          <p:cNvSpPr txBox="1"/>
          <p:nvPr/>
        </p:nvSpPr>
        <p:spPr>
          <a:xfrm>
            <a:off x="4553712" y="5815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FB0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0/1</a:t>
            </a:r>
            <a:endParaRPr lang="en-US" sz="700" dirty="0"/>
          </a:p>
        </p:txBody>
      </p:sp>
      <p:sp>
        <p:nvSpPr>
          <p:cNvPr id="110" name="shp_735"/>
          <p:cNvSpPr txBox="1"/>
          <p:nvPr/>
        </p:nvSpPr>
        <p:spPr>
          <a:xfrm>
            <a:off x="4613148" y="6108192"/>
            <a:ext cx="246888" cy="246888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11" name="sw_736"/>
          <p:cNvSpPr/>
          <p:nvPr/>
        </p:nvSpPr>
        <p:spPr>
          <a:xfrm>
            <a:off x="42793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2" name="knob_737"/>
          <p:cNvSpPr/>
          <p:nvPr/>
        </p:nvSpPr>
        <p:spPr>
          <a:xfrm>
            <a:off x="429768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3" name="txt_738"/>
          <p:cNvSpPr txBox="1"/>
          <p:nvPr/>
        </p:nvSpPr>
        <p:spPr>
          <a:xfrm>
            <a:off x="41879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SW6</a:t>
            </a:r>
            <a:endParaRPr lang="en-US" sz="650" dirty="0"/>
          </a:p>
        </p:txBody>
      </p:sp>
      <p:sp>
        <p:nvSpPr>
          <p:cNvPr id="114" name="sw_739"/>
          <p:cNvSpPr/>
          <p:nvPr/>
        </p:nvSpPr>
        <p:spPr>
          <a:xfrm>
            <a:off x="39136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5" name="knob_740"/>
          <p:cNvSpPr/>
          <p:nvPr/>
        </p:nvSpPr>
        <p:spPr>
          <a:xfrm>
            <a:off x="39319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6" name="txt_741"/>
          <p:cNvSpPr txBox="1"/>
          <p:nvPr/>
        </p:nvSpPr>
        <p:spPr>
          <a:xfrm>
            <a:off x="38221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SW7</a:t>
            </a:r>
            <a:endParaRPr lang="en-US" sz="650" dirty="0"/>
          </a:p>
        </p:txBody>
      </p:sp>
      <p:sp>
        <p:nvSpPr>
          <p:cNvPr id="117" name="sw_742"/>
          <p:cNvSpPr/>
          <p:nvPr/>
        </p:nvSpPr>
        <p:spPr>
          <a:xfrm>
            <a:off x="35478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18" name="knob_743"/>
          <p:cNvSpPr/>
          <p:nvPr/>
        </p:nvSpPr>
        <p:spPr>
          <a:xfrm>
            <a:off x="35661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19" name="txt_744"/>
          <p:cNvSpPr txBox="1"/>
          <p:nvPr/>
        </p:nvSpPr>
        <p:spPr>
          <a:xfrm>
            <a:off x="34564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SW8</a:t>
            </a:r>
            <a:endParaRPr lang="en-US" sz="650" dirty="0"/>
          </a:p>
        </p:txBody>
      </p:sp>
      <p:sp>
        <p:nvSpPr>
          <p:cNvPr id="120" name="sw_745"/>
          <p:cNvSpPr/>
          <p:nvPr/>
        </p:nvSpPr>
        <p:spPr>
          <a:xfrm>
            <a:off x="31821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1" name="knob_746"/>
          <p:cNvSpPr/>
          <p:nvPr/>
        </p:nvSpPr>
        <p:spPr>
          <a:xfrm>
            <a:off x="320040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2" name="txt_747"/>
          <p:cNvSpPr txBox="1"/>
          <p:nvPr/>
        </p:nvSpPr>
        <p:spPr>
          <a:xfrm>
            <a:off x="30906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SW9</a:t>
            </a:r>
            <a:endParaRPr lang="en-US" sz="650" dirty="0"/>
          </a:p>
        </p:txBody>
      </p:sp>
      <p:sp>
        <p:nvSpPr>
          <p:cNvPr id="123" name="sw_748"/>
          <p:cNvSpPr/>
          <p:nvPr/>
        </p:nvSpPr>
        <p:spPr>
          <a:xfrm>
            <a:off x="28163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4" name="knob_749"/>
          <p:cNvSpPr/>
          <p:nvPr/>
        </p:nvSpPr>
        <p:spPr>
          <a:xfrm>
            <a:off x="28346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5" name="txt_750"/>
          <p:cNvSpPr txBox="1"/>
          <p:nvPr/>
        </p:nvSpPr>
        <p:spPr>
          <a:xfrm>
            <a:off x="27249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SW10</a:t>
            </a:r>
            <a:endParaRPr lang="en-US" sz="650" dirty="0"/>
          </a:p>
        </p:txBody>
      </p:sp>
      <p:sp>
        <p:nvSpPr>
          <p:cNvPr id="126" name="sw_751"/>
          <p:cNvSpPr/>
          <p:nvPr/>
        </p:nvSpPr>
        <p:spPr>
          <a:xfrm>
            <a:off x="245059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27" name="knob_752"/>
          <p:cNvSpPr/>
          <p:nvPr/>
        </p:nvSpPr>
        <p:spPr>
          <a:xfrm>
            <a:off x="246888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28" name="txt_753"/>
          <p:cNvSpPr txBox="1"/>
          <p:nvPr/>
        </p:nvSpPr>
        <p:spPr>
          <a:xfrm>
            <a:off x="235915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SW11</a:t>
            </a:r>
            <a:endParaRPr lang="en-US" sz="650" dirty="0"/>
          </a:p>
        </p:txBody>
      </p:sp>
      <p:sp>
        <p:nvSpPr>
          <p:cNvPr id="129" name="sw_754"/>
          <p:cNvSpPr/>
          <p:nvPr/>
        </p:nvSpPr>
        <p:spPr>
          <a:xfrm>
            <a:off x="208483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0" name="knob_755"/>
          <p:cNvSpPr/>
          <p:nvPr/>
        </p:nvSpPr>
        <p:spPr>
          <a:xfrm>
            <a:off x="210312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1" name="txt_756"/>
          <p:cNvSpPr txBox="1"/>
          <p:nvPr/>
        </p:nvSpPr>
        <p:spPr>
          <a:xfrm>
            <a:off x="199339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SW12</a:t>
            </a:r>
            <a:endParaRPr lang="en-US" sz="650" dirty="0"/>
          </a:p>
        </p:txBody>
      </p:sp>
      <p:sp>
        <p:nvSpPr>
          <p:cNvPr id="132" name="sw_757"/>
          <p:cNvSpPr/>
          <p:nvPr/>
        </p:nvSpPr>
        <p:spPr>
          <a:xfrm>
            <a:off x="171907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3" name="knob_758"/>
          <p:cNvSpPr/>
          <p:nvPr/>
        </p:nvSpPr>
        <p:spPr>
          <a:xfrm>
            <a:off x="173736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4" name="txt_759"/>
          <p:cNvSpPr txBox="1"/>
          <p:nvPr/>
        </p:nvSpPr>
        <p:spPr>
          <a:xfrm>
            <a:off x="162763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SW13</a:t>
            </a:r>
            <a:endParaRPr lang="en-US" sz="650" dirty="0"/>
          </a:p>
        </p:txBody>
      </p:sp>
      <p:sp>
        <p:nvSpPr>
          <p:cNvPr id="135" name="sw_760"/>
          <p:cNvSpPr/>
          <p:nvPr/>
        </p:nvSpPr>
        <p:spPr>
          <a:xfrm>
            <a:off x="135331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6" name="knob_761"/>
          <p:cNvSpPr/>
          <p:nvPr/>
        </p:nvSpPr>
        <p:spPr>
          <a:xfrm>
            <a:off x="137160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37" name="txt_762"/>
          <p:cNvSpPr txBox="1"/>
          <p:nvPr/>
        </p:nvSpPr>
        <p:spPr>
          <a:xfrm>
            <a:off x="126187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SW14</a:t>
            </a:r>
            <a:endParaRPr lang="en-US" sz="650" dirty="0"/>
          </a:p>
        </p:txBody>
      </p:sp>
      <p:sp>
        <p:nvSpPr>
          <p:cNvPr id="138" name="sw_763"/>
          <p:cNvSpPr/>
          <p:nvPr/>
        </p:nvSpPr>
        <p:spPr>
          <a:xfrm>
            <a:off x="987552" y="5212080"/>
            <a:ext cx="182880" cy="457200"/>
          </a:xfrm>
          <a:prstGeom prst="rect">
            <a:avLst/>
          </a:prstGeom>
          <a:solidFill>
            <a:srgbClr val="0E1114"/>
          </a:solidFill>
          <a:ln w="9525">
            <a:solidFill>
              <a:srgbClr val="46505A"/>
            </a:solidFill>
            <a:prstDash val="solid"/>
          </a:ln>
        </p:spPr>
      </p:sp>
      <p:sp>
        <p:nvSpPr>
          <p:cNvPr id="139" name="knob_764"/>
          <p:cNvSpPr/>
          <p:nvPr/>
        </p:nvSpPr>
        <p:spPr>
          <a:xfrm>
            <a:off x="1005840" y="5458968"/>
            <a:ext cx="146304" cy="182880"/>
          </a:xfrm>
          <a:prstGeom prst="rect">
            <a:avLst/>
          </a:prstGeom>
          <a:solidFill>
            <a:srgbClr val="6C767D"/>
          </a:solidFill>
          <a:ln/>
        </p:spPr>
      </p:sp>
      <p:sp>
        <p:nvSpPr>
          <p:cNvPr id="140" name="txt_765"/>
          <p:cNvSpPr txBox="1"/>
          <p:nvPr/>
        </p:nvSpPr>
        <p:spPr>
          <a:xfrm>
            <a:off x="896112" y="568756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F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SW15</a:t>
            </a:r>
            <a:endParaRPr lang="en-US" sz="650" dirty="0"/>
          </a:p>
        </p:txBody>
      </p:sp>
      <p:sp>
        <p:nvSpPr>
          <p:cNvPr id="141" name="txt_766"/>
          <p:cNvSpPr txBox="1"/>
          <p:nvPr/>
        </p:nvSpPr>
        <p:spPr>
          <a:xfrm>
            <a:off x="7360920" y="12070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A85"/>
                </a:solidFill>
              </a:rPr>
              <a:t>모드 진입</a:t>
            </a:r>
            <a:endParaRPr lang="en-US" sz="1200" dirty="0"/>
          </a:p>
        </p:txBody>
      </p:sp>
      <p:sp>
        <p:nvSpPr>
          <p:cNvPr id="142" name="shp_767"/>
          <p:cNvSpPr txBox="1"/>
          <p:nvPr/>
        </p:nvSpPr>
        <p:spPr>
          <a:xfrm>
            <a:off x="8366760" y="1207008"/>
            <a:ext cx="745236" cy="292608"/>
          </a:xfrm>
          <a:prstGeom prst="roundRect">
            <a:avLst>
              <a:gd name="adj" fmla="val 25000"/>
            </a:avLst>
          </a:prstGeom>
          <a:solidFill>
            <a:srgbClr val="2E3B44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 = 1</a:t>
            </a:r>
            <a:endParaRPr lang="en-US" sz="1100" dirty="0"/>
          </a:p>
        </p:txBody>
      </p:sp>
      <p:sp>
        <p:nvSpPr>
          <p:cNvPr id="143" name="shp_768"/>
          <p:cNvSpPr txBox="1"/>
          <p:nvPr/>
        </p:nvSpPr>
        <p:spPr>
          <a:xfrm>
            <a:off x="9203436" y="1207008"/>
            <a:ext cx="2574036" cy="292608"/>
          </a:xfrm>
          <a:prstGeom prst="roundRect">
            <a:avLst>
              <a:gd name="adj" fmla="val 25000"/>
            </a:avLst>
          </a:prstGeom>
          <a:solidFill>
            <a:srgbClr val="E4F8EC"/>
          </a:solidFill>
          <a:ln w="9525">
            <a:solidFill>
              <a:srgbClr val="2EA86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63C"/>
                </a:solidFill>
              </a:rPr>
              <a:t>LD5 점등 · 진행 중 LD6</a:t>
            </a:r>
            <a:endParaRPr lang="en-US" sz="1050" dirty="0"/>
          </a:p>
        </p:txBody>
      </p:sp>
      <p:sp>
        <p:nvSpPr>
          <p:cNvPr id="144" name="shp_769"/>
          <p:cNvSpPr txBox="1"/>
          <p:nvPr/>
        </p:nvSpPr>
        <p:spPr>
          <a:xfrm>
            <a:off x="7360920" y="178308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45" name="txt_770"/>
          <p:cNvSpPr txBox="1"/>
          <p:nvPr/>
        </p:nvSpPr>
        <p:spPr>
          <a:xfrm>
            <a:off x="7726680" y="1737360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BTNU</a:t>
            </a:r>
            <a:endParaRPr lang="en-US" sz="1200" dirty="0"/>
          </a:p>
        </p:txBody>
      </p:sp>
      <p:sp>
        <p:nvSpPr>
          <p:cNvPr id="146" name="txt_771"/>
          <p:cNvSpPr txBox="1"/>
          <p:nvPr/>
        </p:nvSpPr>
        <p:spPr>
          <a:xfrm>
            <a:off x="8686800" y="1737360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+1분  (SW5 = 1이면 +4분)</a:t>
            </a:r>
            <a:endParaRPr lang="en-US" sz="1150" dirty="0"/>
          </a:p>
        </p:txBody>
      </p:sp>
      <p:sp>
        <p:nvSpPr>
          <p:cNvPr id="147" name="sep_772"/>
          <p:cNvSpPr/>
          <p:nvPr/>
        </p:nvSpPr>
        <p:spPr>
          <a:xfrm>
            <a:off x="7360920" y="2212848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48" name="shp_773"/>
          <p:cNvSpPr txBox="1"/>
          <p:nvPr/>
        </p:nvSpPr>
        <p:spPr>
          <a:xfrm>
            <a:off x="7360920" y="2295144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9" name="txt_774"/>
          <p:cNvSpPr txBox="1"/>
          <p:nvPr/>
        </p:nvSpPr>
        <p:spPr>
          <a:xfrm>
            <a:off x="7726680" y="2249424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BTNR</a:t>
            </a:r>
            <a:endParaRPr lang="en-US" sz="1200" dirty="0"/>
          </a:p>
        </p:txBody>
      </p:sp>
      <p:sp>
        <p:nvSpPr>
          <p:cNvPr id="150" name="txt_775"/>
          <p:cNvSpPr txBox="1"/>
          <p:nvPr/>
        </p:nvSpPr>
        <p:spPr>
          <a:xfrm>
            <a:off x="8686800" y="2249424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+10분  (SW5 = 1이면 +30분)</a:t>
            </a:r>
            <a:endParaRPr lang="en-US" sz="1150" dirty="0"/>
          </a:p>
        </p:txBody>
      </p:sp>
      <p:sp>
        <p:nvSpPr>
          <p:cNvPr id="151" name="sep_776"/>
          <p:cNvSpPr/>
          <p:nvPr/>
        </p:nvSpPr>
        <p:spPr>
          <a:xfrm>
            <a:off x="7360920" y="2724912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52" name="shp_777"/>
          <p:cNvSpPr txBox="1"/>
          <p:nvPr/>
        </p:nvSpPr>
        <p:spPr>
          <a:xfrm>
            <a:off x="7360920" y="2807208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3" name="txt_778"/>
          <p:cNvSpPr txBox="1"/>
          <p:nvPr/>
        </p:nvSpPr>
        <p:spPr>
          <a:xfrm>
            <a:off x="7726680" y="2761488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BTND</a:t>
            </a:r>
            <a:endParaRPr lang="en-US" sz="1200" dirty="0"/>
          </a:p>
        </p:txBody>
      </p:sp>
      <p:sp>
        <p:nvSpPr>
          <p:cNvPr id="154" name="txt_779"/>
          <p:cNvSpPr txBox="1"/>
          <p:nvPr/>
        </p:nvSpPr>
        <p:spPr>
          <a:xfrm>
            <a:off x="8686800" y="2761488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+60분 · 최대 12:00:00.00에서 멈춤</a:t>
            </a:r>
            <a:endParaRPr lang="en-US" sz="1150" dirty="0"/>
          </a:p>
        </p:txBody>
      </p:sp>
      <p:sp>
        <p:nvSpPr>
          <p:cNvPr id="155" name="sep_780"/>
          <p:cNvSpPr/>
          <p:nvPr/>
        </p:nvSpPr>
        <p:spPr>
          <a:xfrm>
            <a:off x="7360920" y="3236976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56" name="shp_781"/>
          <p:cNvSpPr txBox="1"/>
          <p:nvPr/>
        </p:nvSpPr>
        <p:spPr>
          <a:xfrm>
            <a:off x="7360920" y="3319272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7" name="txt_782"/>
          <p:cNvSpPr txBox="1"/>
          <p:nvPr/>
        </p:nvSpPr>
        <p:spPr>
          <a:xfrm>
            <a:off x="7726680" y="3273552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BTNL</a:t>
            </a:r>
            <a:endParaRPr lang="en-US" sz="1200" dirty="0"/>
          </a:p>
        </p:txBody>
      </p:sp>
      <p:sp>
        <p:nvSpPr>
          <p:cNvPr id="158" name="txt_783"/>
          <p:cNvSpPr txBox="1"/>
          <p:nvPr/>
        </p:nvSpPr>
        <p:spPr>
          <a:xfrm>
            <a:off x="8686800" y="3273552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시작 (0이면 무시) · 진행 중엔 취소 → 0</a:t>
            </a:r>
            <a:endParaRPr lang="en-US" sz="1150" dirty="0"/>
          </a:p>
        </p:txBody>
      </p:sp>
      <p:sp>
        <p:nvSpPr>
          <p:cNvPr id="159" name="sep_784"/>
          <p:cNvSpPr/>
          <p:nvPr/>
        </p:nvSpPr>
        <p:spPr>
          <a:xfrm>
            <a:off x="7360920" y="3749040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60" name="shp_785"/>
          <p:cNvSpPr txBox="1"/>
          <p:nvPr/>
        </p:nvSpPr>
        <p:spPr>
          <a:xfrm>
            <a:off x="7360920" y="3831336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61" name="txt_786"/>
          <p:cNvSpPr txBox="1"/>
          <p:nvPr/>
        </p:nvSpPr>
        <p:spPr>
          <a:xfrm>
            <a:off x="7726680" y="3785616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SW5</a:t>
            </a:r>
            <a:endParaRPr lang="en-US" sz="1200" dirty="0"/>
          </a:p>
        </p:txBody>
      </p:sp>
      <p:sp>
        <p:nvSpPr>
          <p:cNvPr id="162" name="txt_787"/>
          <p:cNvSpPr txBox="1"/>
          <p:nvPr/>
        </p:nvSpPr>
        <p:spPr>
          <a:xfrm>
            <a:off x="8686800" y="3785616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더하기 단위 전환 (BTNU·BTNR)</a:t>
            </a:r>
            <a:endParaRPr lang="en-US" sz="1150" dirty="0"/>
          </a:p>
        </p:txBody>
      </p:sp>
      <p:sp>
        <p:nvSpPr>
          <p:cNvPr id="163" name="sep_788"/>
          <p:cNvSpPr/>
          <p:nvPr/>
        </p:nvSpPr>
        <p:spPr>
          <a:xfrm>
            <a:off x="7360920" y="4261104"/>
            <a:ext cx="4416552" cy="0"/>
          </a:xfrm>
          <a:prstGeom prst="line">
            <a:avLst/>
          </a:prstGeom>
          <a:noFill/>
          <a:ln w="9525">
            <a:solidFill>
              <a:srgbClr val="D5DCE1"/>
            </a:solidFill>
            <a:prstDash val="solid"/>
          </a:ln>
        </p:spPr>
      </p:sp>
      <p:sp>
        <p:nvSpPr>
          <p:cNvPr id="164" name="shp_789"/>
          <p:cNvSpPr txBox="1"/>
          <p:nvPr/>
        </p:nvSpPr>
        <p:spPr>
          <a:xfrm>
            <a:off x="7360920" y="4343400"/>
            <a:ext cx="274320" cy="274320"/>
          </a:xfrm>
          <a:prstGeom prst="ellipse">
            <a:avLst/>
          </a:prstGeom>
          <a:solidFill>
            <a:srgbClr val="E08A0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65" name="txt_790"/>
          <p:cNvSpPr txBox="1"/>
          <p:nvPr/>
        </p:nvSpPr>
        <p:spPr>
          <a:xfrm>
            <a:off x="7726680" y="4297680"/>
            <a:ext cx="960120" cy="365760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LD0~15</a:t>
            </a:r>
            <a:endParaRPr lang="en-US" sz="1200" dirty="0"/>
          </a:p>
        </p:txBody>
      </p:sp>
      <p:sp>
        <p:nvSpPr>
          <p:cNvPr id="166" name="txt_791"/>
          <p:cNvSpPr txBox="1"/>
          <p:nvPr/>
        </p:nvSpPr>
        <p:spPr>
          <a:xfrm>
            <a:off x="8686800" y="4297680"/>
            <a:ext cx="3090672" cy="438912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28"/>
                </a:solidFill>
              </a:rPr>
              <a:t>0 도달 → 16개 0.5초 점멸 · SW4=1에서 아무 버튼 = 끄기</a:t>
            </a:r>
            <a:endParaRPr lang="en-US" sz="1150" dirty="0"/>
          </a:p>
        </p:txBody>
      </p:sp>
      <p:sp>
        <p:nvSpPr>
          <p:cNvPr id="167" name="card_792"/>
          <p:cNvSpPr/>
          <p:nvPr/>
        </p:nvSpPr>
        <p:spPr>
          <a:xfrm>
            <a:off x="7360920" y="4892040"/>
            <a:ext cx="4416552" cy="1371600"/>
          </a:xfrm>
          <a:prstGeom prst="roundRect">
            <a:avLst>
              <a:gd name="adj" fmla="val 5333"/>
            </a:avLst>
          </a:prstGeom>
          <a:solidFill>
            <a:srgbClr val="F3F5F7"/>
          </a:solidFill>
          <a:ln/>
        </p:spPr>
      </p:sp>
      <p:sp>
        <p:nvSpPr>
          <p:cNvPr id="168" name="txt_793"/>
          <p:cNvSpPr txBox="1"/>
          <p:nvPr/>
        </p:nvSpPr>
        <p:spPr>
          <a:xfrm>
            <a:off x="7543800" y="4983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8A00"/>
                </a:solidFill>
              </a:rPr>
              <a:t>알아두기</a:t>
            </a:r>
            <a:endParaRPr lang="en-US" sz="1150" dirty="0"/>
          </a:p>
        </p:txBody>
      </p:sp>
      <p:sp>
        <p:nvSpPr>
          <p:cNvPr id="169" name="tips_794"/>
          <p:cNvSpPr txBox="1"/>
          <p:nvPr/>
        </p:nvSpPr>
        <p:spPr>
          <a:xfrm>
            <a:off x="7543800" y="5276088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진행 중 BTNU·R·D는 무시 — 시간 추가는 SET 상태에서만.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다른 화면으로 가도 타이머는 계속 줄어든다 (LD6).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E3B44"/>
                </a:solidFill>
              </a:rPr>
              <a:t>SW2는 0으로 — SW2=1·SW1=1이면 분₁ 자리가 깜빡일 수 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04  ASM 차트 · control_unit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스톱워치 컨트롤 — 정지 상태에서 R &gt; L &gt; U 순으로 본다</a:t>
            </a:r>
            <a:endParaRPr lang="en-US" sz="2800" dirty="0"/>
          </a:p>
        </p:txBody>
      </p:sp>
      <p:sp>
        <p:nvSpPr>
          <p:cNvPr id="4" name="shp_795"/>
          <p:cNvSpPr txBox="1"/>
          <p:nvPr/>
        </p:nvSpPr>
        <p:spPr>
          <a:xfrm>
            <a:off x="2606040" y="1508760"/>
            <a:ext cx="2103120" cy="640080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STOP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run_stop=0 · clear=0</a:t>
            </a:r>
            <a:endParaRPr lang="en-US" sz="900" dirty="0"/>
          </a:p>
        </p:txBody>
      </p:sp>
      <p:sp>
        <p:nvSpPr>
          <p:cNvPr id="5" name="shp_796"/>
          <p:cNvSpPr txBox="1"/>
          <p:nvPr/>
        </p:nvSpPr>
        <p:spPr>
          <a:xfrm>
            <a:off x="2697480" y="2386584"/>
            <a:ext cx="1920240" cy="71323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btn_run_stop</a:t>
            </a:r>
            <a:endParaRPr lang="en-US" sz="950" dirty="0"/>
          </a:p>
        </p:txBody>
      </p:sp>
      <p:sp>
        <p:nvSpPr>
          <p:cNvPr id="6" name="shp_797"/>
          <p:cNvSpPr txBox="1"/>
          <p:nvPr/>
        </p:nvSpPr>
        <p:spPr>
          <a:xfrm>
            <a:off x="2697480" y="3410712"/>
            <a:ext cx="1920240" cy="71323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btn_clear</a:t>
            </a:r>
            <a:endParaRPr lang="en-US" sz="950" dirty="0"/>
          </a:p>
        </p:txBody>
      </p:sp>
      <p:sp>
        <p:nvSpPr>
          <p:cNvPr id="7" name="shp_798"/>
          <p:cNvSpPr txBox="1"/>
          <p:nvPr/>
        </p:nvSpPr>
        <p:spPr>
          <a:xfrm>
            <a:off x="2697480" y="4434840"/>
            <a:ext cx="1920240" cy="71323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btn_mode</a:t>
            </a:r>
            <a:endParaRPr lang="en-US" sz="950" dirty="0"/>
          </a:p>
        </p:txBody>
      </p:sp>
      <p:sp>
        <p:nvSpPr>
          <p:cNvPr id="8" name="shp_799"/>
          <p:cNvSpPr txBox="1"/>
          <p:nvPr/>
        </p:nvSpPr>
        <p:spPr>
          <a:xfrm>
            <a:off x="5852160" y="2423160"/>
            <a:ext cx="1828800" cy="640080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RUN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run_stop=1</a:t>
            </a:r>
            <a:endParaRPr lang="en-US" sz="900" dirty="0"/>
          </a:p>
        </p:txBody>
      </p:sp>
      <p:sp>
        <p:nvSpPr>
          <p:cNvPr id="9" name="shp_800"/>
          <p:cNvSpPr txBox="1"/>
          <p:nvPr/>
        </p:nvSpPr>
        <p:spPr>
          <a:xfrm>
            <a:off x="5806440" y="3575304"/>
            <a:ext cx="1920240" cy="713232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btn_run_stop</a:t>
            </a:r>
            <a:endParaRPr lang="en-US" sz="950" dirty="0"/>
          </a:p>
        </p:txBody>
      </p:sp>
      <p:sp>
        <p:nvSpPr>
          <p:cNvPr id="10" name="shp_801"/>
          <p:cNvSpPr txBox="1"/>
          <p:nvPr/>
        </p:nvSpPr>
        <p:spPr>
          <a:xfrm>
            <a:off x="640080" y="3447288"/>
            <a:ext cx="1737360" cy="640080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CLEAR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clear=1</a:t>
            </a:r>
            <a:endParaRPr lang="en-US" sz="900" dirty="0"/>
          </a:p>
        </p:txBody>
      </p:sp>
      <p:sp>
        <p:nvSpPr>
          <p:cNvPr id="11" name="shp_802"/>
          <p:cNvSpPr txBox="1"/>
          <p:nvPr/>
        </p:nvSpPr>
        <p:spPr>
          <a:xfrm>
            <a:off x="640080" y="4471416"/>
            <a:ext cx="1737360" cy="640080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MODE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2'b11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mode_reg ← ~mode_reg</a:t>
            </a:r>
            <a:endParaRPr lang="en-US" sz="900" dirty="0"/>
          </a:p>
        </p:txBody>
      </p:sp>
      <p:sp>
        <p:nvSpPr>
          <p:cNvPr id="12" name="wire_803"/>
          <p:cNvSpPr/>
          <p:nvPr/>
        </p:nvSpPr>
        <p:spPr>
          <a:xfrm>
            <a:off x="3657600" y="2148840"/>
            <a:ext cx="0" cy="23774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3" name="wire_804"/>
          <p:cNvSpPr/>
          <p:nvPr/>
        </p:nvSpPr>
        <p:spPr>
          <a:xfrm>
            <a:off x="3657600" y="3099816"/>
            <a:ext cx="0" cy="31089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4" name="txt_805"/>
          <p:cNvSpPr txBox="1"/>
          <p:nvPr/>
        </p:nvSpPr>
        <p:spPr>
          <a:xfrm>
            <a:off x="3703320" y="31272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wire_806"/>
          <p:cNvSpPr/>
          <p:nvPr/>
        </p:nvSpPr>
        <p:spPr>
          <a:xfrm>
            <a:off x="3657600" y="4123944"/>
            <a:ext cx="0" cy="31089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6" name="txt_807"/>
          <p:cNvSpPr txBox="1"/>
          <p:nvPr/>
        </p:nvSpPr>
        <p:spPr>
          <a:xfrm>
            <a:off x="3703320" y="41513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7" name="wire_808"/>
          <p:cNvSpPr/>
          <p:nvPr/>
        </p:nvSpPr>
        <p:spPr>
          <a:xfrm>
            <a:off x="4617720" y="2743200"/>
            <a:ext cx="1234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8" name="txt_809"/>
          <p:cNvSpPr txBox="1"/>
          <p:nvPr/>
        </p:nvSpPr>
        <p:spPr>
          <a:xfrm>
            <a:off x="4663440" y="2523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wire_810"/>
          <p:cNvSpPr/>
          <p:nvPr/>
        </p:nvSpPr>
        <p:spPr>
          <a:xfrm flipH="1">
            <a:off x="2377440" y="3767328"/>
            <a:ext cx="3200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0" name="txt_811"/>
          <p:cNvSpPr txBox="1"/>
          <p:nvPr/>
        </p:nvSpPr>
        <p:spPr>
          <a:xfrm>
            <a:off x="2468880" y="35478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wire_812"/>
          <p:cNvSpPr/>
          <p:nvPr/>
        </p:nvSpPr>
        <p:spPr>
          <a:xfrm flipH="1">
            <a:off x="2377440" y="4791456"/>
            <a:ext cx="3200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2" name="txt_813"/>
          <p:cNvSpPr txBox="1"/>
          <p:nvPr/>
        </p:nvSpPr>
        <p:spPr>
          <a:xfrm>
            <a:off x="2468880" y="4572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wire_814"/>
          <p:cNvSpPr/>
          <p:nvPr/>
        </p:nvSpPr>
        <p:spPr>
          <a:xfrm>
            <a:off x="6766560" y="3063240"/>
            <a:ext cx="0" cy="51206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4" name="wire_815"/>
          <p:cNvSpPr/>
          <p:nvPr/>
        </p:nvSpPr>
        <p:spPr>
          <a:xfrm>
            <a:off x="7726680" y="3931920"/>
            <a:ext cx="3657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25" name="wire_816"/>
          <p:cNvSpPr/>
          <p:nvPr/>
        </p:nvSpPr>
        <p:spPr>
          <a:xfrm flipV="1">
            <a:off x="8092440" y="2212848"/>
            <a:ext cx="0" cy="171907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26" name="wire_817"/>
          <p:cNvSpPr/>
          <p:nvPr/>
        </p:nvSpPr>
        <p:spPr>
          <a:xfrm flipH="1">
            <a:off x="6766560" y="2212848"/>
            <a:ext cx="132588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27" name="wire_818"/>
          <p:cNvSpPr/>
          <p:nvPr/>
        </p:nvSpPr>
        <p:spPr>
          <a:xfrm>
            <a:off x="6766560" y="2212848"/>
            <a:ext cx="0" cy="21031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8" name="txt_819"/>
          <p:cNvSpPr txBox="1"/>
          <p:nvPr/>
        </p:nvSpPr>
        <p:spPr>
          <a:xfrm>
            <a:off x="7772400" y="37124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9" name="wire_820"/>
          <p:cNvSpPr/>
          <p:nvPr/>
        </p:nvSpPr>
        <p:spPr>
          <a:xfrm>
            <a:off x="6766560" y="4288536"/>
            <a:ext cx="0" cy="142646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30" name="wire_821"/>
          <p:cNvSpPr/>
          <p:nvPr/>
        </p:nvSpPr>
        <p:spPr>
          <a:xfrm flipH="1">
            <a:off x="457200" y="5715000"/>
            <a:ext cx="63093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31" name="wire_822"/>
          <p:cNvSpPr/>
          <p:nvPr/>
        </p:nvSpPr>
        <p:spPr>
          <a:xfrm flipV="1">
            <a:off x="457200" y="1325880"/>
            <a:ext cx="0" cy="438912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32" name="wire_823"/>
          <p:cNvSpPr/>
          <p:nvPr/>
        </p:nvSpPr>
        <p:spPr>
          <a:xfrm>
            <a:off x="457200" y="1325880"/>
            <a:ext cx="32004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33" name="wire_824"/>
          <p:cNvSpPr/>
          <p:nvPr/>
        </p:nvSpPr>
        <p:spPr>
          <a:xfrm>
            <a:off x="3657600" y="1325880"/>
            <a:ext cx="0" cy="18288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4" name="txt_825"/>
          <p:cNvSpPr txBox="1"/>
          <p:nvPr/>
        </p:nvSpPr>
        <p:spPr>
          <a:xfrm>
            <a:off x="6812280" y="43342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5" name="wire_826"/>
          <p:cNvSpPr/>
          <p:nvPr/>
        </p:nvSpPr>
        <p:spPr>
          <a:xfrm>
            <a:off x="3657600" y="5148072"/>
            <a:ext cx="0" cy="56692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36" name="txt_827"/>
          <p:cNvSpPr txBox="1"/>
          <p:nvPr/>
        </p:nvSpPr>
        <p:spPr>
          <a:xfrm>
            <a:off x="3703320" y="51755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7" name="junction_828"/>
          <p:cNvSpPr/>
          <p:nvPr/>
        </p:nvSpPr>
        <p:spPr>
          <a:xfrm>
            <a:off x="3616452" y="5673852"/>
            <a:ext cx="82296" cy="82296"/>
          </a:xfrm>
          <a:prstGeom prst="ellipse">
            <a:avLst/>
          </a:prstGeom>
          <a:solidFill>
            <a:srgbClr val="2E3B44"/>
          </a:solidFill>
          <a:ln w="6350">
            <a:solidFill>
              <a:srgbClr val="2E3B44"/>
            </a:solidFill>
            <a:prstDash val="solid"/>
          </a:ln>
        </p:spPr>
      </p:sp>
      <p:sp>
        <p:nvSpPr>
          <p:cNvPr id="38" name="wire_829"/>
          <p:cNvSpPr/>
          <p:nvPr/>
        </p:nvSpPr>
        <p:spPr>
          <a:xfrm flipH="1">
            <a:off x="457200" y="3767328"/>
            <a:ext cx="18288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39" name="junction_830"/>
          <p:cNvSpPr/>
          <p:nvPr/>
        </p:nvSpPr>
        <p:spPr>
          <a:xfrm>
            <a:off x="416052" y="3726180"/>
            <a:ext cx="82296" cy="82296"/>
          </a:xfrm>
          <a:prstGeom prst="ellipse">
            <a:avLst/>
          </a:prstGeom>
          <a:solidFill>
            <a:srgbClr val="2E3B44"/>
          </a:solidFill>
          <a:ln w="6350">
            <a:solidFill>
              <a:srgbClr val="2E3B44"/>
            </a:solidFill>
            <a:prstDash val="solid"/>
          </a:ln>
        </p:spPr>
      </p:sp>
      <p:sp>
        <p:nvSpPr>
          <p:cNvPr id="40" name="wire_831"/>
          <p:cNvSpPr/>
          <p:nvPr/>
        </p:nvSpPr>
        <p:spPr>
          <a:xfrm flipH="1">
            <a:off x="457200" y="4791456"/>
            <a:ext cx="18288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</a:ln>
        </p:spPr>
      </p:sp>
      <p:sp>
        <p:nvSpPr>
          <p:cNvPr id="41" name="junction_832"/>
          <p:cNvSpPr/>
          <p:nvPr/>
        </p:nvSpPr>
        <p:spPr>
          <a:xfrm>
            <a:off x="416052" y="4750308"/>
            <a:ext cx="82296" cy="82296"/>
          </a:xfrm>
          <a:prstGeom prst="ellipse">
            <a:avLst/>
          </a:prstGeom>
          <a:solidFill>
            <a:srgbClr val="2E3B44"/>
          </a:solidFill>
          <a:ln w="6350">
            <a:solidFill>
              <a:srgbClr val="2E3B44"/>
            </a:solidFill>
            <a:prstDash val="solid"/>
          </a:ln>
        </p:spPr>
      </p:sp>
      <p:sp>
        <p:nvSpPr>
          <p:cNvPr id="42" name="card_833"/>
          <p:cNvSpPr/>
          <p:nvPr/>
        </p:nvSpPr>
        <p:spPr>
          <a:xfrm>
            <a:off x="8503920" y="1280160"/>
            <a:ext cx="3273552" cy="4434840"/>
          </a:xfrm>
          <a:prstGeom prst="roundRect">
            <a:avLst>
              <a:gd name="adj" fmla="val 2235"/>
            </a:avLst>
          </a:prstGeom>
          <a:solidFill>
            <a:srgbClr val="F3F5F7"/>
          </a:solidFill>
          <a:ln/>
        </p:spPr>
      </p:sp>
      <p:sp>
        <p:nvSpPr>
          <p:cNvPr id="43" name="txt_834"/>
          <p:cNvSpPr txBox="1"/>
          <p:nvPr/>
        </p:nvSpPr>
        <p:spPr>
          <a:xfrm>
            <a:off x="8686800" y="1389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8"/>
                </a:solidFill>
              </a:rPr>
              <a:t>상태별 출력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0" y="1737360"/>
          <a:ext cx="2926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914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run_stop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clear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CLEAR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MODE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note_835"/>
          <p:cNvSpPr txBox="1"/>
          <p:nvPr/>
        </p:nvSpPr>
        <p:spPr>
          <a:xfrm>
            <a:off x="8686800" y="3090672"/>
            <a:ext cx="29260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 = mode_reg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3B44"/>
                </a:solidFill>
              </a:rPr>
              <a:t>0 = Up 카운트, 1 = Down 카운트. MODE 상태를 한 번 지날 때마다 뒤집힌다.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2E3B44"/>
                </a:solidFill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2E3B44"/>
                </a:solidFill>
              </a:rPr>
              <a:t>CLEAR · MODE는 1클럭 머문 뒤 STOP으로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E3B44"/>
                </a:solidFill>
              </a:rPr>
              <a:t>버튼은 디바운서가 만든 1클럭 펄스라서 한 번 누르면 한 번만 반영된다.</a:t>
            </a:r>
            <a:endParaRPr lang="en-US" sz="1050" dirty="0"/>
          </a:p>
        </p:txBody>
      </p:sp>
      <p:sp>
        <p:nvSpPr>
          <p:cNvPr id="46" name="lgS_836"/>
          <p:cNvSpPr/>
          <p:nvPr/>
        </p:nvSpPr>
        <p:spPr>
          <a:xfrm>
            <a:off x="457200" y="6062472"/>
            <a:ext cx="292608" cy="182880"/>
          </a:xfrm>
          <a:prstGeom prst="rect">
            <a:avLst/>
          </a:prstGeom>
          <a:solidFill>
            <a:srgbClr val="FFF2DC"/>
          </a:solidFill>
          <a:ln w="15875">
            <a:solidFill>
              <a:srgbClr val="E08A00"/>
            </a:solidFill>
            <a:prstDash val="solid"/>
          </a:ln>
        </p:spPr>
      </p:sp>
      <p:sp>
        <p:nvSpPr>
          <p:cNvPr id="47" name="txt_837"/>
          <p:cNvSpPr txBox="1"/>
          <p:nvPr/>
        </p:nvSpPr>
        <p:spPr>
          <a:xfrm>
            <a:off x="822960" y="603504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상태 박스 (Moore 출력)</a:t>
            </a:r>
            <a:endParaRPr lang="en-US" sz="900" dirty="0"/>
          </a:p>
        </p:txBody>
      </p:sp>
      <p:sp>
        <p:nvSpPr>
          <p:cNvPr id="48" name="lgD_838"/>
          <p:cNvSpPr/>
          <p:nvPr/>
        </p:nvSpPr>
        <p:spPr>
          <a:xfrm>
            <a:off x="2468880" y="6025896"/>
            <a:ext cx="310896" cy="25603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7C73"/>
            </a:solidFill>
            <a:prstDash val="solid"/>
          </a:ln>
        </p:spPr>
      </p:sp>
      <p:sp>
        <p:nvSpPr>
          <p:cNvPr id="49" name="txt_839"/>
          <p:cNvSpPr txBox="1"/>
          <p:nvPr/>
        </p:nvSpPr>
        <p:spPr>
          <a:xfrm>
            <a:off x="2852928" y="60350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판단 박스</a:t>
            </a:r>
            <a:endParaRPr lang="en-US" sz="900" dirty="0"/>
          </a:p>
        </p:txBody>
      </p:sp>
      <p:sp>
        <p:nvSpPr>
          <p:cNvPr id="50" name="lgC_840"/>
          <p:cNvSpPr/>
          <p:nvPr/>
        </p:nvSpPr>
        <p:spPr>
          <a:xfrm>
            <a:off x="3657600" y="6062472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  <a:prstDash val="solid"/>
          </a:ln>
        </p:spPr>
      </p:sp>
      <p:sp>
        <p:nvSpPr>
          <p:cNvPr id="51" name="txt_841"/>
          <p:cNvSpPr txBox="1"/>
          <p:nvPr/>
        </p:nvSpPr>
        <p:spPr>
          <a:xfrm>
            <a:off x="4059936" y="60350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조건부 출력 (Mealy)</a:t>
            </a:r>
            <a:endParaRPr lang="en-US" sz="900" dirty="0"/>
          </a:p>
        </p:txBody>
      </p:sp>
      <p:sp>
        <p:nvSpPr>
          <p:cNvPr id="52" name="lgG_842"/>
          <p:cNvSpPr/>
          <p:nvPr/>
        </p:nvSpPr>
        <p:spPr>
          <a:xfrm>
            <a:off x="5486400" y="6062472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2E3B44"/>
          </a:solidFill>
          <a:ln/>
        </p:spPr>
      </p:sp>
      <p:sp>
        <p:nvSpPr>
          <p:cNvPr id="53" name="txt_843"/>
          <p:cNvSpPr txBox="1"/>
          <p:nvPr/>
        </p:nvSpPr>
        <p:spPr>
          <a:xfrm>
            <a:off x="5888736" y="60350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다음 상태로 이동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04  ASM 차트 · watch_control_unit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시계 컨트롤 — 설정 자리는 커서 상태 3개로 돈다</a:t>
            </a:r>
            <a:endParaRPr lang="en-US" sz="2800" dirty="0"/>
          </a:p>
        </p:txBody>
      </p:sp>
      <p:sp>
        <p:nvSpPr>
          <p:cNvPr id="4" name="shp_844"/>
          <p:cNvSpPr txBox="1"/>
          <p:nvPr/>
        </p:nvSpPr>
        <p:spPr>
          <a:xfrm>
            <a:off x="274320" y="1325880"/>
            <a:ext cx="2194560" cy="640080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NORMAL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set_mode=0 · cursor=3</a:t>
            </a:r>
            <a:endParaRPr lang="en-US" sz="900" dirty="0"/>
          </a:p>
        </p:txBody>
      </p:sp>
      <p:sp>
        <p:nvSpPr>
          <p:cNvPr id="5" name="shp_845"/>
          <p:cNvSpPr txBox="1"/>
          <p:nvPr/>
        </p:nvSpPr>
        <p:spPr>
          <a:xfrm>
            <a:off x="685800" y="2231136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sw_set</a:t>
            </a:r>
            <a:endParaRPr lang="en-US" sz="950" dirty="0"/>
          </a:p>
        </p:txBody>
      </p:sp>
      <p:sp>
        <p:nvSpPr>
          <p:cNvPr id="6" name="wire_846"/>
          <p:cNvSpPr/>
          <p:nvPr/>
        </p:nvSpPr>
        <p:spPr>
          <a:xfrm>
            <a:off x="1371600" y="1965960"/>
            <a:ext cx="0" cy="26517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" name="wire_847"/>
          <p:cNvSpPr/>
          <p:nvPr/>
        </p:nvSpPr>
        <p:spPr>
          <a:xfrm>
            <a:off x="2057400" y="2514600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" name="shp_848"/>
          <p:cNvSpPr txBox="1"/>
          <p:nvPr/>
        </p:nvSpPr>
        <p:spPr>
          <a:xfrm>
            <a:off x="2194560" y="239572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NORMAL</a:t>
            </a:r>
            <a:endParaRPr lang="en-US" sz="800" dirty="0"/>
          </a:p>
        </p:txBody>
      </p:sp>
      <p:sp>
        <p:nvSpPr>
          <p:cNvPr id="9" name="txt_849"/>
          <p:cNvSpPr txBox="1"/>
          <p:nvPr/>
        </p:nvSpPr>
        <p:spPr>
          <a:xfrm>
            <a:off x="2029968" y="2286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wire_850"/>
          <p:cNvSpPr/>
          <p:nvPr/>
        </p:nvSpPr>
        <p:spPr>
          <a:xfrm>
            <a:off x="1371600" y="2798064"/>
            <a:ext cx="0" cy="21945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1" name="shp_851"/>
          <p:cNvSpPr txBox="1"/>
          <p:nvPr/>
        </p:nvSpPr>
        <p:spPr>
          <a:xfrm>
            <a:off x="822960" y="3017520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SET_MIN_1</a:t>
            </a:r>
            <a:endParaRPr lang="en-US" sz="800" dirty="0"/>
          </a:p>
        </p:txBody>
      </p:sp>
      <p:sp>
        <p:nvSpPr>
          <p:cNvPr id="12" name="txt_852"/>
          <p:cNvSpPr txBox="1"/>
          <p:nvPr/>
        </p:nvSpPr>
        <p:spPr>
          <a:xfrm>
            <a:off x="1417320" y="2779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xt_853"/>
          <p:cNvSpPr txBox="1"/>
          <p:nvPr/>
        </p:nvSpPr>
        <p:spPr>
          <a:xfrm>
            <a:off x="320040" y="3520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cursor ↔ FND 자리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94760"/>
          <a:ext cx="2194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cursor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자리</a:t>
                      </a:r>
                      <a:endParaRPr lang="en-US" sz="9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분₁ · AN0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분₁₀ · AN1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시₁ · AN2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없음 (NORMAL)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xt_854"/>
          <p:cNvSpPr txBox="1"/>
          <p:nvPr/>
        </p:nvSpPr>
        <p:spPr>
          <a:xfrm>
            <a:off x="320040" y="51206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5"/>
                </a:solidFill>
              </a:rPr>
              <a:t>SET 상태 공통: set_mode = 1</a:t>
            </a:r>
            <a:endParaRPr lang="en-US" sz="950" dirty="0"/>
          </a:p>
        </p:txBody>
      </p:sp>
      <p:sp>
        <p:nvSpPr>
          <p:cNvPr id="16" name="txt_855"/>
          <p:cNvSpPr txBox="1"/>
          <p:nvPr/>
        </p:nvSpPr>
        <p:spPr>
          <a:xfrm>
            <a:off x="320040" y="5349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85"/>
                </a:solidFill>
              </a:rPr>
              <a:t>U·D가 같은 클럭에 오면 U 우선</a:t>
            </a:r>
            <a:endParaRPr lang="en-US" sz="950" dirty="0"/>
          </a:p>
        </p:txBody>
      </p:sp>
      <p:sp>
        <p:nvSpPr>
          <p:cNvPr id="17" name="shp_856"/>
          <p:cNvSpPr txBox="1"/>
          <p:nvPr/>
        </p:nvSpPr>
        <p:spPr>
          <a:xfrm>
            <a:off x="2971800" y="1325880"/>
            <a:ext cx="2194560" cy="640080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SET_HOUR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cursor=2</a:t>
            </a:r>
            <a:endParaRPr lang="en-US" sz="900" dirty="0"/>
          </a:p>
        </p:txBody>
      </p:sp>
      <p:sp>
        <p:nvSpPr>
          <p:cNvPr id="18" name="shp_857"/>
          <p:cNvSpPr txBox="1"/>
          <p:nvPr/>
        </p:nvSpPr>
        <p:spPr>
          <a:xfrm>
            <a:off x="3383280" y="2231136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sw_set</a:t>
            </a:r>
            <a:endParaRPr lang="en-US" sz="950" dirty="0"/>
          </a:p>
        </p:txBody>
      </p:sp>
      <p:sp>
        <p:nvSpPr>
          <p:cNvPr id="19" name="shp_858"/>
          <p:cNvSpPr txBox="1"/>
          <p:nvPr/>
        </p:nvSpPr>
        <p:spPr>
          <a:xfrm>
            <a:off x="2948940" y="3054096"/>
            <a:ext cx="2240280" cy="512064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o_up = btn_up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o_down = btn_down &amp; ~btn_up</a:t>
            </a:r>
            <a:endParaRPr lang="en-US" sz="850" dirty="0"/>
          </a:p>
        </p:txBody>
      </p:sp>
      <p:sp>
        <p:nvSpPr>
          <p:cNvPr id="20" name="shp_859"/>
          <p:cNvSpPr txBox="1"/>
          <p:nvPr/>
        </p:nvSpPr>
        <p:spPr>
          <a:xfrm>
            <a:off x="3383280" y="3877056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btn_left</a:t>
            </a:r>
            <a:endParaRPr lang="en-US" sz="950" dirty="0"/>
          </a:p>
        </p:txBody>
      </p:sp>
      <p:sp>
        <p:nvSpPr>
          <p:cNvPr id="21" name="shp_860"/>
          <p:cNvSpPr txBox="1"/>
          <p:nvPr/>
        </p:nvSpPr>
        <p:spPr>
          <a:xfrm>
            <a:off x="3383280" y="4727448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btn_right</a:t>
            </a:r>
            <a:endParaRPr lang="en-US" sz="950" dirty="0"/>
          </a:p>
        </p:txBody>
      </p:sp>
      <p:sp>
        <p:nvSpPr>
          <p:cNvPr id="22" name="wire_861"/>
          <p:cNvSpPr/>
          <p:nvPr/>
        </p:nvSpPr>
        <p:spPr>
          <a:xfrm>
            <a:off x="4069080" y="1965960"/>
            <a:ext cx="0" cy="26517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3" name="wire_862"/>
          <p:cNvSpPr/>
          <p:nvPr/>
        </p:nvSpPr>
        <p:spPr>
          <a:xfrm>
            <a:off x="4754880" y="2514600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4" name="shp_863"/>
          <p:cNvSpPr txBox="1"/>
          <p:nvPr/>
        </p:nvSpPr>
        <p:spPr>
          <a:xfrm>
            <a:off x="4892040" y="239572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NORMAL</a:t>
            </a:r>
            <a:endParaRPr lang="en-US" sz="800" dirty="0"/>
          </a:p>
        </p:txBody>
      </p:sp>
      <p:sp>
        <p:nvSpPr>
          <p:cNvPr id="25" name="txt_864"/>
          <p:cNvSpPr txBox="1"/>
          <p:nvPr/>
        </p:nvSpPr>
        <p:spPr>
          <a:xfrm>
            <a:off x="4727448" y="2286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6" name="wire_865"/>
          <p:cNvSpPr/>
          <p:nvPr/>
        </p:nvSpPr>
        <p:spPr>
          <a:xfrm>
            <a:off x="4069080" y="2798064"/>
            <a:ext cx="0" cy="25603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7" name="txt_866"/>
          <p:cNvSpPr txBox="1"/>
          <p:nvPr/>
        </p:nvSpPr>
        <p:spPr>
          <a:xfrm>
            <a:off x="4114800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wire_867"/>
          <p:cNvSpPr/>
          <p:nvPr/>
        </p:nvSpPr>
        <p:spPr>
          <a:xfrm>
            <a:off x="4069080" y="3566160"/>
            <a:ext cx="0" cy="31089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9" name="wire_868"/>
          <p:cNvSpPr/>
          <p:nvPr/>
        </p:nvSpPr>
        <p:spPr>
          <a:xfrm>
            <a:off x="4754880" y="4160520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0" name="shp_869"/>
          <p:cNvSpPr txBox="1"/>
          <p:nvPr/>
        </p:nvSpPr>
        <p:spPr>
          <a:xfrm>
            <a:off x="4892040" y="4041648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SET_MIN_1</a:t>
            </a:r>
            <a:endParaRPr lang="en-US" sz="800" dirty="0"/>
          </a:p>
        </p:txBody>
      </p:sp>
      <p:sp>
        <p:nvSpPr>
          <p:cNvPr id="31" name="txt_870"/>
          <p:cNvSpPr txBox="1"/>
          <p:nvPr/>
        </p:nvSpPr>
        <p:spPr>
          <a:xfrm>
            <a:off x="4727448" y="3931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wire_871"/>
          <p:cNvSpPr/>
          <p:nvPr/>
        </p:nvSpPr>
        <p:spPr>
          <a:xfrm>
            <a:off x="4069080" y="4443984"/>
            <a:ext cx="0" cy="28346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3" name="txt_872"/>
          <p:cNvSpPr txBox="1"/>
          <p:nvPr/>
        </p:nvSpPr>
        <p:spPr>
          <a:xfrm>
            <a:off x="4114800" y="4462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4" name="wire_873"/>
          <p:cNvSpPr/>
          <p:nvPr/>
        </p:nvSpPr>
        <p:spPr>
          <a:xfrm>
            <a:off x="4754880" y="5010912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5" name="shp_874"/>
          <p:cNvSpPr txBox="1"/>
          <p:nvPr/>
        </p:nvSpPr>
        <p:spPr>
          <a:xfrm>
            <a:off x="4892040" y="489204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SET_MIN_10</a:t>
            </a:r>
            <a:endParaRPr lang="en-US" sz="800" dirty="0"/>
          </a:p>
        </p:txBody>
      </p:sp>
      <p:sp>
        <p:nvSpPr>
          <p:cNvPr id="36" name="txt_875"/>
          <p:cNvSpPr txBox="1"/>
          <p:nvPr/>
        </p:nvSpPr>
        <p:spPr>
          <a:xfrm>
            <a:off x="4727448" y="4782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wire_876"/>
          <p:cNvSpPr/>
          <p:nvPr/>
        </p:nvSpPr>
        <p:spPr>
          <a:xfrm>
            <a:off x="4069080" y="5294376"/>
            <a:ext cx="0" cy="23774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8" name="shp_877"/>
          <p:cNvSpPr txBox="1"/>
          <p:nvPr/>
        </p:nvSpPr>
        <p:spPr>
          <a:xfrm>
            <a:off x="3520440" y="5532120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SET_HOUR</a:t>
            </a:r>
            <a:endParaRPr lang="en-US" sz="800" dirty="0"/>
          </a:p>
        </p:txBody>
      </p:sp>
      <p:sp>
        <p:nvSpPr>
          <p:cNvPr id="39" name="txt_878"/>
          <p:cNvSpPr txBox="1"/>
          <p:nvPr/>
        </p:nvSpPr>
        <p:spPr>
          <a:xfrm>
            <a:off x="4114800" y="5303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0" name="shp_879"/>
          <p:cNvSpPr txBox="1"/>
          <p:nvPr/>
        </p:nvSpPr>
        <p:spPr>
          <a:xfrm>
            <a:off x="5715000" y="1325880"/>
            <a:ext cx="2194560" cy="640080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SET_MIN_10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cursor=1</a:t>
            </a:r>
            <a:endParaRPr lang="en-US" sz="900" dirty="0"/>
          </a:p>
        </p:txBody>
      </p:sp>
      <p:sp>
        <p:nvSpPr>
          <p:cNvPr id="41" name="shp_880"/>
          <p:cNvSpPr txBox="1"/>
          <p:nvPr/>
        </p:nvSpPr>
        <p:spPr>
          <a:xfrm>
            <a:off x="6126480" y="2231136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sw_set</a:t>
            </a:r>
            <a:endParaRPr lang="en-US" sz="950" dirty="0"/>
          </a:p>
        </p:txBody>
      </p:sp>
      <p:sp>
        <p:nvSpPr>
          <p:cNvPr id="42" name="shp_881"/>
          <p:cNvSpPr txBox="1"/>
          <p:nvPr/>
        </p:nvSpPr>
        <p:spPr>
          <a:xfrm>
            <a:off x="5692140" y="3054096"/>
            <a:ext cx="2240280" cy="512064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o_up = btn_up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o_down = btn_down &amp; ~btn_up</a:t>
            </a:r>
            <a:endParaRPr lang="en-US" sz="850" dirty="0"/>
          </a:p>
        </p:txBody>
      </p:sp>
      <p:sp>
        <p:nvSpPr>
          <p:cNvPr id="43" name="shp_882"/>
          <p:cNvSpPr txBox="1"/>
          <p:nvPr/>
        </p:nvSpPr>
        <p:spPr>
          <a:xfrm>
            <a:off x="6126480" y="3877056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btn_left</a:t>
            </a:r>
            <a:endParaRPr lang="en-US" sz="950" dirty="0"/>
          </a:p>
        </p:txBody>
      </p:sp>
      <p:sp>
        <p:nvSpPr>
          <p:cNvPr id="44" name="shp_883"/>
          <p:cNvSpPr txBox="1"/>
          <p:nvPr/>
        </p:nvSpPr>
        <p:spPr>
          <a:xfrm>
            <a:off x="6126480" y="4727448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btn_right</a:t>
            </a:r>
            <a:endParaRPr lang="en-US" sz="950" dirty="0"/>
          </a:p>
        </p:txBody>
      </p:sp>
      <p:sp>
        <p:nvSpPr>
          <p:cNvPr id="45" name="wire_884"/>
          <p:cNvSpPr/>
          <p:nvPr/>
        </p:nvSpPr>
        <p:spPr>
          <a:xfrm>
            <a:off x="6812280" y="1965960"/>
            <a:ext cx="0" cy="26517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6" name="wire_885"/>
          <p:cNvSpPr/>
          <p:nvPr/>
        </p:nvSpPr>
        <p:spPr>
          <a:xfrm>
            <a:off x="7498080" y="2514600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7" name="shp_886"/>
          <p:cNvSpPr txBox="1"/>
          <p:nvPr/>
        </p:nvSpPr>
        <p:spPr>
          <a:xfrm>
            <a:off x="7635240" y="239572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NORMAL</a:t>
            </a:r>
            <a:endParaRPr lang="en-US" sz="800" dirty="0"/>
          </a:p>
        </p:txBody>
      </p:sp>
      <p:sp>
        <p:nvSpPr>
          <p:cNvPr id="48" name="txt_887"/>
          <p:cNvSpPr txBox="1"/>
          <p:nvPr/>
        </p:nvSpPr>
        <p:spPr>
          <a:xfrm>
            <a:off x="7470648" y="2286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49" name="wire_888"/>
          <p:cNvSpPr/>
          <p:nvPr/>
        </p:nvSpPr>
        <p:spPr>
          <a:xfrm>
            <a:off x="6812280" y="2798064"/>
            <a:ext cx="0" cy="25603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0" name="txt_889"/>
          <p:cNvSpPr txBox="1"/>
          <p:nvPr/>
        </p:nvSpPr>
        <p:spPr>
          <a:xfrm>
            <a:off x="6858000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wire_890"/>
          <p:cNvSpPr/>
          <p:nvPr/>
        </p:nvSpPr>
        <p:spPr>
          <a:xfrm>
            <a:off x="6812280" y="3566160"/>
            <a:ext cx="0" cy="31089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2" name="wire_891"/>
          <p:cNvSpPr/>
          <p:nvPr/>
        </p:nvSpPr>
        <p:spPr>
          <a:xfrm>
            <a:off x="7498080" y="4160520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3" name="shp_892"/>
          <p:cNvSpPr txBox="1"/>
          <p:nvPr/>
        </p:nvSpPr>
        <p:spPr>
          <a:xfrm>
            <a:off x="7635240" y="4041648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SET_HOUR</a:t>
            </a:r>
            <a:endParaRPr lang="en-US" sz="800" dirty="0"/>
          </a:p>
        </p:txBody>
      </p:sp>
      <p:sp>
        <p:nvSpPr>
          <p:cNvPr id="54" name="txt_893"/>
          <p:cNvSpPr txBox="1"/>
          <p:nvPr/>
        </p:nvSpPr>
        <p:spPr>
          <a:xfrm>
            <a:off x="7470648" y="3931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5" name="wire_894"/>
          <p:cNvSpPr/>
          <p:nvPr/>
        </p:nvSpPr>
        <p:spPr>
          <a:xfrm>
            <a:off x="6812280" y="4443984"/>
            <a:ext cx="0" cy="28346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6" name="txt_895"/>
          <p:cNvSpPr txBox="1"/>
          <p:nvPr/>
        </p:nvSpPr>
        <p:spPr>
          <a:xfrm>
            <a:off x="6858000" y="4462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7" name="wire_896"/>
          <p:cNvSpPr/>
          <p:nvPr/>
        </p:nvSpPr>
        <p:spPr>
          <a:xfrm>
            <a:off x="7498080" y="5010912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8" name="shp_897"/>
          <p:cNvSpPr txBox="1"/>
          <p:nvPr/>
        </p:nvSpPr>
        <p:spPr>
          <a:xfrm>
            <a:off x="7635240" y="489204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SET_MIN_1</a:t>
            </a:r>
            <a:endParaRPr lang="en-US" sz="800" dirty="0"/>
          </a:p>
        </p:txBody>
      </p:sp>
      <p:sp>
        <p:nvSpPr>
          <p:cNvPr id="59" name="txt_898"/>
          <p:cNvSpPr txBox="1"/>
          <p:nvPr/>
        </p:nvSpPr>
        <p:spPr>
          <a:xfrm>
            <a:off x="7470648" y="4782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0" name="wire_899"/>
          <p:cNvSpPr/>
          <p:nvPr/>
        </p:nvSpPr>
        <p:spPr>
          <a:xfrm>
            <a:off x="6812280" y="5294376"/>
            <a:ext cx="0" cy="23774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1" name="shp_900"/>
          <p:cNvSpPr txBox="1"/>
          <p:nvPr/>
        </p:nvSpPr>
        <p:spPr>
          <a:xfrm>
            <a:off x="6263640" y="5532120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SET_MIN_10</a:t>
            </a:r>
            <a:endParaRPr lang="en-US" sz="800" dirty="0"/>
          </a:p>
        </p:txBody>
      </p:sp>
      <p:sp>
        <p:nvSpPr>
          <p:cNvPr id="62" name="txt_901"/>
          <p:cNvSpPr txBox="1"/>
          <p:nvPr/>
        </p:nvSpPr>
        <p:spPr>
          <a:xfrm>
            <a:off x="6858000" y="5303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3" name="shp_902"/>
          <p:cNvSpPr txBox="1"/>
          <p:nvPr/>
        </p:nvSpPr>
        <p:spPr>
          <a:xfrm>
            <a:off x="8458200" y="1325880"/>
            <a:ext cx="2194560" cy="640080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SET_MIN_1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2'b11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cursor=0</a:t>
            </a:r>
            <a:endParaRPr lang="en-US" sz="900" dirty="0"/>
          </a:p>
        </p:txBody>
      </p:sp>
      <p:sp>
        <p:nvSpPr>
          <p:cNvPr id="64" name="shp_903"/>
          <p:cNvSpPr txBox="1"/>
          <p:nvPr/>
        </p:nvSpPr>
        <p:spPr>
          <a:xfrm>
            <a:off x="8869680" y="2231136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sw_set</a:t>
            </a:r>
            <a:endParaRPr lang="en-US" sz="950" dirty="0"/>
          </a:p>
        </p:txBody>
      </p:sp>
      <p:sp>
        <p:nvSpPr>
          <p:cNvPr id="65" name="shp_904"/>
          <p:cNvSpPr txBox="1"/>
          <p:nvPr/>
        </p:nvSpPr>
        <p:spPr>
          <a:xfrm>
            <a:off x="8435340" y="3054096"/>
            <a:ext cx="2240280" cy="512064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o_up = btn_up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o_down = btn_down &amp; ~btn_up</a:t>
            </a:r>
            <a:endParaRPr lang="en-US" sz="850" dirty="0"/>
          </a:p>
        </p:txBody>
      </p:sp>
      <p:sp>
        <p:nvSpPr>
          <p:cNvPr id="66" name="shp_905"/>
          <p:cNvSpPr txBox="1"/>
          <p:nvPr/>
        </p:nvSpPr>
        <p:spPr>
          <a:xfrm>
            <a:off x="8869680" y="3877056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btn_left</a:t>
            </a:r>
            <a:endParaRPr lang="en-US" sz="950" dirty="0"/>
          </a:p>
        </p:txBody>
      </p:sp>
      <p:sp>
        <p:nvSpPr>
          <p:cNvPr id="67" name="shp_906"/>
          <p:cNvSpPr txBox="1"/>
          <p:nvPr/>
        </p:nvSpPr>
        <p:spPr>
          <a:xfrm>
            <a:off x="8869680" y="4727448"/>
            <a:ext cx="1371600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btn_right</a:t>
            </a:r>
            <a:endParaRPr lang="en-US" sz="950" dirty="0"/>
          </a:p>
        </p:txBody>
      </p:sp>
      <p:sp>
        <p:nvSpPr>
          <p:cNvPr id="68" name="wire_907"/>
          <p:cNvSpPr/>
          <p:nvPr/>
        </p:nvSpPr>
        <p:spPr>
          <a:xfrm>
            <a:off x="9555480" y="1965960"/>
            <a:ext cx="0" cy="26517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9" name="wire_908"/>
          <p:cNvSpPr/>
          <p:nvPr/>
        </p:nvSpPr>
        <p:spPr>
          <a:xfrm>
            <a:off x="10241280" y="2514600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0" name="shp_909"/>
          <p:cNvSpPr txBox="1"/>
          <p:nvPr/>
        </p:nvSpPr>
        <p:spPr>
          <a:xfrm>
            <a:off x="10378440" y="239572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NORMAL</a:t>
            </a:r>
            <a:endParaRPr lang="en-US" sz="800" dirty="0"/>
          </a:p>
        </p:txBody>
      </p:sp>
      <p:sp>
        <p:nvSpPr>
          <p:cNvPr id="71" name="txt_910"/>
          <p:cNvSpPr txBox="1"/>
          <p:nvPr/>
        </p:nvSpPr>
        <p:spPr>
          <a:xfrm>
            <a:off x="10213848" y="2286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72" name="wire_911"/>
          <p:cNvSpPr/>
          <p:nvPr/>
        </p:nvSpPr>
        <p:spPr>
          <a:xfrm>
            <a:off x="9555480" y="2798064"/>
            <a:ext cx="0" cy="25603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3" name="txt_912"/>
          <p:cNvSpPr txBox="1"/>
          <p:nvPr/>
        </p:nvSpPr>
        <p:spPr>
          <a:xfrm>
            <a:off x="9601200" y="27980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74" name="wire_913"/>
          <p:cNvSpPr/>
          <p:nvPr/>
        </p:nvSpPr>
        <p:spPr>
          <a:xfrm>
            <a:off x="9555480" y="3566160"/>
            <a:ext cx="0" cy="31089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5" name="wire_914"/>
          <p:cNvSpPr/>
          <p:nvPr/>
        </p:nvSpPr>
        <p:spPr>
          <a:xfrm>
            <a:off x="10241280" y="4160520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6" name="shp_915"/>
          <p:cNvSpPr txBox="1"/>
          <p:nvPr/>
        </p:nvSpPr>
        <p:spPr>
          <a:xfrm>
            <a:off x="10378440" y="4041648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SET_MIN_10</a:t>
            </a:r>
            <a:endParaRPr lang="en-US" sz="800" dirty="0"/>
          </a:p>
        </p:txBody>
      </p:sp>
      <p:sp>
        <p:nvSpPr>
          <p:cNvPr id="77" name="txt_916"/>
          <p:cNvSpPr txBox="1"/>
          <p:nvPr/>
        </p:nvSpPr>
        <p:spPr>
          <a:xfrm>
            <a:off x="10213848" y="39319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78" name="wire_917"/>
          <p:cNvSpPr/>
          <p:nvPr/>
        </p:nvSpPr>
        <p:spPr>
          <a:xfrm>
            <a:off x="9555480" y="4443984"/>
            <a:ext cx="0" cy="28346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9" name="txt_918"/>
          <p:cNvSpPr txBox="1"/>
          <p:nvPr/>
        </p:nvSpPr>
        <p:spPr>
          <a:xfrm>
            <a:off x="9601200" y="44622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80" name="wire_919"/>
          <p:cNvSpPr/>
          <p:nvPr/>
        </p:nvSpPr>
        <p:spPr>
          <a:xfrm>
            <a:off x="10241280" y="5010912"/>
            <a:ext cx="1371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1" name="shp_920"/>
          <p:cNvSpPr txBox="1"/>
          <p:nvPr/>
        </p:nvSpPr>
        <p:spPr>
          <a:xfrm>
            <a:off x="10378440" y="4892040"/>
            <a:ext cx="10515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SET_HOUR</a:t>
            </a:r>
            <a:endParaRPr lang="en-US" sz="800" dirty="0"/>
          </a:p>
        </p:txBody>
      </p:sp>
      <p:sp>
        <p:nvSpPr>
          <p:cNvPr id="82" name="txt_921"/>
          <p:cNvSpPr txBox="1"/>
          <p:nvPr/>
        </p:nvSpPr>
        <p:spPr>
          <a:xfrm>
            <a:off x="10213848" y="47823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83" name="wire_922"/>
          <p:cNvSpPr/>
          <p:nvPr/>
        </p:nvSpPr>
        <p:spPr>
          <a:xfrm>
            <a:off x="9555480" y="5294376"/>
            <a:ext cx="0" cy="237744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4" name="shp_923"/>
          <p:cNvSpPr txBox="1"/>
          <p:nvPr/>
        </p:nvSpPr>
        <p:spPr>
          <a:xfrm>
            <a:off x="9006840" y="5532120"/>
            <a:ext cx="109728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SET_MIN_1</a:t>
            </a:r>
            <a:endParaRPr lang="en-US" sz="800" dirty="0"/>
          </a:p>
        </p:txBody>
      </p:sp>
      <p:sp>
        <p:nvSpPr>
          <p:cNvPr id="85" name="txt_924"/>
          <p:cNvSpPr txBox="1"/>
          <p:nvPr/>
        </p:nvSpPr>
        <p:spPr>
          <a:xfrm>
            <a:off x="9601200" y="53035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86" name="lgS_925"/>
          <p:cNvSpPr/>
          <p:nvPr/>
        </p:nvSpPr>
        <p:spPr>
          <a:xfrm>
            <a:off x="457200" y="6080760"/>
            <a:ext cx="292608" cy="182880"/>
          </a:xfrm>
          <a:prstGeom prst="rect">
            <a:avLst/>
          </a:prstGeom>
          <a:solidFill>
            <a:srgbClr val="FFF2DC"/>
          </a:solidFill>
          <a:ln w="15875">
            <a:solidFill>
              <a:srgbClr val="E08A00"/>
            </a:solidFill>
            <a:prstDash val="solid"/>
          </a:ln>
        </p:spPr>
      </p:sp>
      <p:sp>
        <p:nvSpPr>
          <p:cNvPr id="87" name="txt_926"/>
          <p:cNvSpPr txBox="1"/>
          <p:nvPr/>
        </p:nvSpPr>
        <p:spPr>
          <a:xfrm>
            <a:off x="822960" y="60533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상태 박스 (Moore 출력)</a:t>
            </a:r>
            <a:endParaRPr lang="en-US" sz="900" dirty="0"/>
          </a:p>
        </p:txBody>
      </p:sp>
      <p:sp>
        <p:nvSpPr>
          <p:cNvPr id="88" name="lgD_927"/>
          <p:cNvSpPr/>
          <p:nvPr/>
        </p:nvSpPr>
        <p:spPr>
          <a:xfrm>
            <a:off x="2468880" y="6044184"/>
            <a:ext cx="310896" cy="25603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7C73"/>
            </a:solidFill>
            <a:prstDash val="solid"/>
          </a:ln>
        </p:spPr>
      </p:sp>
      <p:sp>
        <p:nvSpPr>
          <p:cNvPr id="89" name="txt_928"/>
          <p:cNvSpPr txBox="1"/>
          <p:nvPr/>
        </p:nvSpPr>
        <p:spPr>
          <a:xfrm>
            <a:off x="2852928" y="60533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판단 박스</a:t>
            </a:r>
            <a:endParaRPr lang="en-US" sz="900" dirty="0"/>
          </a:p>
        </p:txBody>
      </p:sp>
      <p:sp>
        <p:nvSpPr>
          <p:cNvPr id="90" name="lgC_929"/>
          <p:cNvSpPr/>
          <p:nvPr/>
        </p:nvSpPr>
        <p:spPr>
          <a:xfrm>
            <a:off x="3657600" y="6080760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  <a:prstDash val="solid"/>
          </a:ln>
        </p:spPr>
      </p:sp>
      <p:sp>
        <p:nvSpPr>
          <p:cNvPr id="91" name="txt_930"/>
          <p:cNvSpPr txBox="1"/>
          <p:nvPr/>
        </p:nvSpPr>
        <p:spPr>
          <a:xfrm>
            <a:off x="4059936" y="6053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조건부 출력 (Mealy)</a:t>
            </a:r>
            <a:endParaRPr lang="en-US" sz="900" dirty="0"/>
          </a:p>
        </p:txBody>
      </p:sp>
      <p:sp>
        <p:nvSpPr>
          <p:cNvPr id="92" name="lgG_931"/>
          <p:cNvSpPr/>
          <p:nvPr/>
        </p:nvSpPr>
        <p:spPr>
          <a:xfrm>
            <a:off x="5486400" y="6080760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2E3B44"/>
          </a:solidFill>
          <a:ln/>
        </p:spPr>
      </p:sp>
      <p:sp>
        <p:nvSpPr>
          <p:cNvPr id="93" name="txt_932"/>
          <p:cNvSpPr txBox="1"/>
          <p:nvPr/>
        </p:nvSpPr>
        <p:spPr>
          <a:xfrm>
            <a:off x="5888736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다음 상태로 이동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04  ASM 차트 · timer_control_unit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타이머 컨트롤 — 더하기는 SET에서만, 0이면 ALARM</a:t>
            </a:r>
            <a:endParaRPr lang="en-US" sz="2800" dirty="0"/>
          </a:p>
        </p:txBody>
      </p:sp>
      <p:sp>
        <p:nvSpPr>
          <p:cNvPr id="4" name="shp_933"/>
          <p:cNvSpPr txBox="1"/>
          <p:nvPr/>
        </p:nvSpPr>
        <p:spPr>
          <a:xfrm>
            <a:off x="365760" y="1344168"/>
            <a:ext cx="2103120" cy="603504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SET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run=0 · alarm=0</a:t>
            </a:r>
            <a:endParaRPr lang="en-US" sz="900" dirty="0"/>
          </a:p>
        </p:txBody>
      </p:sp>
      <p:sp>
        <p:nvSpPr>
          <p:cNvPr id="5" name="shp_934"/>
          <p:cNvSpPr txBox="1"/>
          <p:nvPr/>
        </p:nvSpPr>
        <p:spPr>
          <a:xfrm>
            <a:off x="731520" y="2212848"/>
            <a:ext cx="1371600" cy="5486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btn_left</a:t>
            </a:r>
            <a:endParaRPr lang="en-US" sz="950" dirty="0"/>
          </a:p>
        </p:txBody>
      </p:sp>
      <p:sp>
        <p:nvSpPr>
          <p:cNvPr id="6" name="shp_935"/>
          <p:cNvSpPr txBox="1"/>
          <p:nvPr/>
        </p:nvSpPr>
        <p:spPr>
          <a:xfrm>
            <a:off x="731520" y="3063240"/>
            <a:ext cx="1371600" cy="5486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btn_up</a:t>
            </a:r>
            <a:endParaRPr lang="en-US" sz="950" dirty="0"/>
          </a:p>
        </p:txBody>
      </p:sp>
      <p:sp>
        <p:nvSpPr>
          <p:cNvPr id="7" name="shp_936"/>
          <p:cNvSpPr txBox="1"/>
          <p:nvPr/>
        </p:nvSpPr>
        <p:spPr>
          <a:xfrm>
            <a:off x="731520" y="3913632"/>
            <a:ext cx="1371600" cy="5486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btn_right</a:t>
            </a:r>
            <a:endParaRPr lang="en-US" sz="950" dirty="0"/>
          </a:p>
        </p:txBody>
      </p:sp>
      <p:sp>
        <p:nvSpPr>
          <p:cNvPr id="8" name="shp_937"/>
          <p:cNvSpPr txBox="1"/>
          <p:nvPr/>
        </p:nvSpPr>
        <p:spPr>
          <a:xfrm>
            <a:off x="731520" y="4764024"/>
            <a:ext cx="1371600" cy="5486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btn_down</a:t>
            </a:r>
            <a:endParaRPr lang="en-US" sz="950" dirty="0"/>
          </a:p>
        </p:txBody>
      </p:sp>
      <p:sp>
        <p:nvSpPr>
          <p:cNvPr id="9" name="wire_938"/>
          <p:cNvSpPr/>
          <p:nvPr/>
        </p:nvSpPr>
        <p:spPr>
          <a:xfrm>
            <a:off x="1417320" y="1947672"/>
            <a:ext cx="0" cy="265176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0" name="wire_939"/>
          <p:cNvSpPr/>
          <p:nvPr/>
        </p:nvSpPr>
        <p:spPr>
          <a:xfrm>
            <a:off x="1417320" y="2761488"/>
            <a:ext cx="0" cy="30175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1" name="txt_940"/>
          <p:cNvSpPr txBox="1"/>
          <p:nvPr/>
        </p:nvSpPr>
        <p:spPr>
          <a:xfrm>
            <a:off x="1463040" y="27797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2" name="wire_941"/>
          <p:cNvSpPr/>
          <p:nvPr/>
        </p:nvSpPr>
        <p:spPr>
          <a:xfrm>
            <a:off x="1417320" y="3611880"/>
            <a:ext cx="0" cy="30175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3" name="txt_942"/>
          <p:cNvSpPr txBox="1"/>
          <p:nvPr/>
        </p:nvSpPr>
        <p:spPr>
          <a:xfrm>
            <a:off x="1463040" y="36301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4" name="wire_943"/>
          <p:cNvSpPr/>
          <p:nvPr/>
        </p:nvSpPr>
        <p:spPr>
          <a:xfrm>
            <a:off x="1417320" y="4462272"/>
            <a:ext cx="0" cy="30175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5" name="txt_944"/>
          <p:cNvSpPr txBox="1"/>
          <p:nvPr/>
        </p:nvSpPr>
        <p:spPr>
          <a:xfrm>
            <a:off x="1463040" y="44805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6" name="wire_945"/>
          <p:cNvSpPr/>
          <p:nvPr/>
        </p:nvSpPr>
        <p:spPr>
          <a:xfrm>
            <a:off x="1417320" y="5312664"/>
            <a:ext cx="0" cy="24688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7" name="txt_946"/>
          <p:cNvSpPr txBox="1"/>
          <p:nvPr/>
        </p:nvSpPr>
        <p:spPr>
          <a:xfrm>
            <a:off x="1463040" y="53309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18" name="shp_947"/>
          <p:cNvSpPr txBox="1"/>
          <p:nvPr/>
        </p:nvSpPr>
        <p:spPr>
          <a:xfrm>
            <a:off x="1005840" y="555955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</a:t>
            </a:r>
            <a:endParaRPr lang="en-US" sz="800" dirty="0"/>
          </a:p>
        </p:txBody>
      </p:sp>
      <p:sp>
        <p:nvSpPr>
          <p:cNvPr id="19" name="shp_948"/>
          <p:cNvSpPr txBox="1"/>
          <p:nvPr/>
        </p:nvSpPr>
        <p:spPr>
          <a:xfrm>
            <a:off x="3154680" y="2212848"/>
            <a:ext cx="1188720" cy="5486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i_zero</a:t>
            </a:r>
            <a:endParaRPr lang="en-US" sz="950" dirty="0"/>
          </a:p>
        </p:txBody>
      </p:sp>
      <p:sp>
        <p:nvSpPr>
          <p:cNvPr id="20" name="wire_949"/>
          <p:cNvSpPr/>
          <p:nvPr/>
        </p:nvSpPr>
        <p:spPr>
          <a:xfrm>
            <a:off x="2103120" y="2487168"/>
            <a:ext cx="10515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1" name="txt_950"/>
          <p:cNvSpPr txBox="1"/>
          <p:nvPr/>
        </p:nvSpPr>
        <p:spPr>
          <a:xfrm>
            <a:off x="2103120" y="2258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wire_951"/>
          <p:cNvSpPr/>
          <p:nvPr/>
        </p:nvSpPr>
        <p:spPr>
          <a:xfrm>
            <a:off x="4343400" y="2487168"/>
            <a:ext cx="18288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3" name="shp_952"/>
          <p:cNvSpPr txBox="1"/>
          <p:nvPr/>
        </p:nvSpPr>
        <p:spPr>
          <a:xfrm>
            <a:off x="4526280" y="2368296"/>
            <a:ext cx="68580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</a:t>
            </a:r>
            <a:endParaRPr lang="en-US" sz="800" dirty="0"/>
          </a:p>
        </p:txBody>
      </p:sp>
      <p:sp>
        <p:nvSpPr>
          <p:cNvPr id="24" name="txt_953"/>
          <p:cNvSpPr txBox="1"/>
          <p:nvPr/>
        </p:nvSpPr>
        <p:spPr>
          <a:xfrm>
            <a:off x="4315968" y="2258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25" name="wire_954"/>
          <p:cNvSpPr/>
          <p:nvPr/>
        </p:nvSpPr>
        <p:spPr>
          <a:xfrm flipV="1">
            <a:off x="3749040" y="2011680"/>
            <a:ext cx="0" cy="20116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6" name="shp_955"/>
          <p:cNvSpPr txBox="1"/>
          <p:nvPr/>
        </p:nvSpPr>
        <p:spPr>
          <a:xfrm>
            <a:off x="2880360" y="1773936"/>
            <a:ext cx="17373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  (0이면 시작 안 함)</a:t>
            </a:r>
            <a:endParaRPr lang="en-US" sz="800" dirty="0"/>
          </a:p>
        </p:txBody>
      </p:sp>
      <p:sp>
        <p:nvSpPr>
          <p:cNvPr id="27" name="txt_956"/>
          <p:cNvSpPr txBox="1"/>
          <p:nvPr/>
        </p:nvSpPr>
        <p:spPr>
          <a:xfrm>
            <a:off x="3794760" y="20116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p_957"/>
          <p:cNvSpPr txBox="1"/>
          <p:nvPr/>
        </p:nvSpPr>
        <p:spPr>
          <a:xfrm>
            <a:off x="2720340" y="3081528"/>
            <a:ext cx="2057400" cy="512064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o_add =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= sw_alt ? 4 : 1</a:t>
            </a:r>
            <a:endParaRPr lang="en-US" sz="850" dirty="0"/>
          </a:p>
        </p:txBody>
      </p:sp>
      <p:sp>
        <p:nvSpPr>
          <p:cNvPr id="29" name="wire_958"/>
          <p:cNvSpPr/>
          <p:nvPr/>
        </p:nvSpPr>
        <p:spPr>
          <a:xfrm>
            <a:off x="2103120" y="3337560"/>
            <a:ext cx="61264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0" name="txt_959"/>
          <p:cNvSpPr txBox="1"/>
          <p:nvPr/>
        </p:nvSpPr>
        <p:spPr>
          <a:xfrm>
            <a:off x="2103120" y="3108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wire_960"/>
          <p:cNvSpPr/>
          <p:nvPr/>
        </p:nvSpPr>
        <p:spPr>
          <a:xfrm>
            <a:off x="4773168" y="3337560"/>
            <a:ext cx="164592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2" name="shp_961"/>
          <p:cNvSpPr txBox="1"/>
          <p:nvPr/>
        </p:nvSpPr>
        <p:spPr>
          <a:xfrm>
            <a:off x="4937760" y="3218688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</a:t>
            </a:r>
            <a:endParaRPr lang="en-US" sz="800" dirty="0"/>
          </a:p>
        </p:txBody>
      </p:sp>
      <p:sp>
        <p:nvSpPr>
          <p:cNvPr id="33" name="shp_962"/>
          <p:cNvSpPr txBox="1"/>
          <p:nvPr/>
        </p:nvSpPr>
        <p:spPr>
          <a:xfrm>
            <a:off x="2720340" y="3931920"/>
            <a:ext cx="2057400" cy="512064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o_add =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= sw_alt ? 30 : 10</a:t>
            </a:r>
            <a:endParaRPr lang="en-US" sz="850" dirty="0"/>
          </a:p>
        </p:txBody>
      </p:sp>
      <p:sp>
        <p:nvSpPr>
          <p:cNvPr id="34" name="wire_963"/>
          <p:cNvSpPr/>
          <p:nvPr/>
        </p:nvSpPr>
        <p:spPr>
          <a:xfrm>
            <a:off x="2103120" y="4187952"/>
            <a:ext cx="61264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5" name="txt_964"/>
          <p:cNvSpPr txBox="1"/>
          <p:nvPr/>
        </p:nvSpPr>
        <p:spPr>
          <a:xfrm>
            <a:off x="2103120" y="39593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wire_965"/>
          <p:cNvSpPr/>
          <p:nvPr/>
        </p:nvSpPr>
        <p:spPr>
          <a:xfrm>
            <a:off x="4773168" y="4187952"/>
            <a:ext cx="164592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7" name="shp_966"/>
          <p:cNvSpPr txBox="1"/>
          <p:nvPr/>
        </p:nvSpPr>
        <p:spPr>
          <a:xfrm>
            <a:off x="4937760" y="4069080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</a:t>
            </a:r>
            <a:endParaRPr lang="en-US" sz="800" dirty="0"/>
          </a:p>
        </p:txBody>
      </p:sp>
      <p:sp>
        <p:nvSpPr>
          <p:cNvPr id="38" name="shp_967"/>
          <p:cNvSpPr txBox="1"/>
          <p:nvPr/>
        </p:nvSpPr>
        <p:spPr>
          <a:xfrm>
            <a:off x="2720340" y="4782312"/>
            <a:ext cx="2057400" cy="512064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o_add =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= 60</a:t>
            </a:r>
            <a:endParaRPr lang="en-US" sz="850" dirty="0"/>
          </a:p>
        </p:txBody>
      </p:sp>
      <p:sp>
        <p:nvSpPr>
          <p:cNvPr id="39" name="wire_968"/>
          <p:cNvSpPr/>
          <p:nvPr/>
        </p:nvSpPr>
        <p:spPr>
          <a:xfrm>
            <a:off x="2103120" y="5038344"/>
            <a:ext cx="61264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0" name="txt_969"/>
          <p:cNvSpPr txBox="1"/>
          <p:nvPr/>
        </p:nvSpPr>
        <p:spPr>
          <a:xfrm>
            <a:off x="2103120" y="48097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wire_970"/>
          <p:cNvSpPr/>
          <p:nvPr/>
        </p:nvSpPr>
        <p:spPr>
          <a:xfrm>
            <a:off x="4773168" y="5038344"/>
            <a:ext cx="164592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2" name="shp_971"/>
          <p:cNvSpPr txBox="1"/>
          <p:nvPr/>
        </p:nvSpPr>
        <p:spPr>
          <a:xfrm>
            <a:off x="4937760" y="4919472"/>
            <a:ext cx="59436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</a:t>
            </a:r>
            <a:endParaRPr lang="en-US" sz="800" dirty="0"/>
          </a:p>
        </p:txBody>
      </p:sp>
      <p:sp>
        <p:nvSpPr>
          <p:cNvPr id="43" name="shp_972"/>
          <p:cNvSpPr txBox="1"/>
          <p:nvPr/>
        </p:nvSpPr>
        <p:spPr>
          <a:xfrm>
            <a:off x="5897880" y="1344168"/>
            <a:ext cx="1920240" cy="603504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RUN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2'b01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run=1</a:t>
            </a:r>
            <a:endParaRPr lang="en-US" sz="900" dirty="0"/>
          </a:p>
        </p:txBody>
      </p:sp>
      <p:sp>
        <p:nvSpPr>
          <p:cNvPr id="44" name="shp_973"/>
          <p:cNvSpPr txBox="1"/>
          <p:nvPr/>
        </p:nvSpPr>
        <p:spPr>
          <a:xfrm>
            <a:off x="6172200" y="2240280"/>
            <a:ext cx="1371600" cy="5486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btn_left</a:t>
            </a:r>
            <a:endParaRPr lang="en-US" sz="950" dirty="0"/>
          </a:p>
        </p:txBody>
      </p:sp>
      <p:sp>
        <p:nvSpPr>
          <p:cNvPr id="45" name="shp_974"/>
          <p:cNvSpPr txBox="1"/>
          <p:nvPr/>
        </p:nvSpPr>
        <p:spPr>
          <a:xfrm>
            <a:off x="6172200" y="3154680"/>
            <a:ext cx="1371600" cy="54864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i_zero</a:t>
            </a:r>
            <a:endParaRPr lang="en-US" sz="950" dirty="0"/>
          </a:p>
        </p:txBody>
      </p:sp>
      <p:sp>
        <p:nvSpPr>
          <p:cNvPr id="46" name="wire_975"/>
          <p:cNvSpPr/>
          <p:nvPr/>
        </p:nvSpPr>
        <p:spPr>
          <a:xfrm>
            <a:off x="6858000" y="1947672"/>
            <a:ext cx="0" cy="29260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7" name="shp_976"/>
          <p:cNvSpPr txBox="1"/>
          <p:nvPr/>
        </p:nvSpPr>
        <p:spPr>
          <a:xfrm>
            <a:off x="7840980" y="2304288"/>
            <a:ext cx="1051560" cy="420624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o_clear = 1</a:t>
            </a:r>
            <a:endParaRPr lang="en-US" sz="850" dirty="0"/>
          </a:p>
        </p:txBody>
      </p:sp>
      <p:sp>
        <p:nvSpPr>
          <p:cNvPr id="48" name="wire_977"/>
          <p:cNvSpPr/>
          <p:nvPr/>
        </p:nvSpPr>
        <p:spPr>
          <a:xfrm>
            <a:off x="7543800" y="2514600"/>
            <a:ext cx="292608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9" name="txt_978"/>
          <p:cNvSpPr txBox="1"/>
          <p:nvPr/>
        </p:nvSpPr>
        <p:spPr>
          <a:xfrm>
            <a:off x="7543800" y="22860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0" name="wire_979"/>
          <p:cNvSpPr/>
          <p:nvPr/>
        </p:nvSpPr>
        <p:spPr>
          <a:xfrm>
            <a:off x="8366760" y="2724912"/>
            <a:ext cx="0" cy="18288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1" name="shp_980"/>
          <p:cNvSpPr txBox="1"/>
          <p:nvPr/>
        </p:nvSpPr>
        <p:spPr>
          <a:xfrm>
            <a:off x="8065008" y="2907792"/>
            <a:ext cx="603504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</a:t>
            </a:r>
            <a:endParaRPr lang="en-US" sz="800" dirty="0"/>
          </a:p>
        </p:txBody>
      </p:sp>
      <p:sp>
        <p:nvSpPr>
          <p:cNvPr id="52" name="wire_981"/>
          <p:cNvSpPr/>
          <p:nvPr/>
        </p:nvSpPr>
        <p:spPr>
          <a:xfrm>
            <a:off x="6858000" y="2788920"/>
            <a:ext cx="0" cy="36576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3" name="txt_982"/>
          <p:cNvSpPr txBox="1"/>
          <p:nvPr/>
        </p:nvSpPr>
        <p:spPr>
          <a:xfrm>
            <a:off x="6903720" y="28163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54" name="wire_983"/>
          <p:cNvSpPr/>
          <p:nvPr/>
        </p:nvSpPr>
        <p:spPr>
          <a:xfrm>
            <a:off x="7543800" y="3429000"/>
            <a:ext cx="18288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5" name="shp_984"/>
          <p:cNvSpPr txBox="1"/>
          <p:nvPr/>
        </p:nvSpPr>
        <p:spPr>
          <a:xfrm>
            <a:off x="7726680" y="3310128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ALARM</a:t>
            </a:r>
            <a:endParaRPr lang="en-US" sz="800" dirty="0"/>
          </a:p>
        </p:txBody>
      </p:sp>
      <p:sp>
        <p:nvSpPr>
          <p:cNvPr id="56" name="txt_985"/>
          <p:cNvSpPr txBox="1"/>
          <p:nvPr/>
        </p:nvSpPr>
        <p:spPr>
          <a:xfrm>
            <a:off x="7516368" y="3200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wire_986"/>
          <p:cNvSpPr/>
          <p:nvPr/>
        </p:nvSpPr>
        <p:spPr>
          <a:xfrm>
            <a:off x="6858000" y="3703320"/>
            <a:ext cx="0" cy="20116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8" name="shp_987"/>
          <p:cNvSpPr txBox="1"/>
          <p:nvPr/>
        </p:nvSpPr>
        <p:spPr>
          <a:xfrm>
            <a:off x="6492240" y="3904488"/>
            <a:ext cx="73152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RUN</a:t>
            </a:r>
            <a:endParaRPr lang="en-US" sz="800" dirty="0"/>
          </a:p>
        </p:txBody>
      </p:sp>
      <p:sp>
        <p:nvSpPr>
          <p:cNvPr id="59" name="txt_988"/>
          <p:cNvSpPr txBox="1"/>
          <p:nvPr/>
        </p:nvSpPr>
        <p:spPr>
          <a:xfrm>
            <a:off x="6903720" y="37216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0" name="shp_989"/>
          <p:cNvSpPr txBox="1"/>
          <p:nvPr/>
        </p:nvSpPr>
        <p:spPr>
          <a:xfrm>
            <a:off x="9098280" y="1344168"/>
            <a:ext cx="1920240" cy="603504"/>
          </a:xfrm>
          <a:prstGeom prst="rect">
            <a:avLst/>
          </a:prstGeom>
          <a:solidFill>
            <a:srgbClr val="FFF2DC"/>
          </a:solidFill>
          <a:ln w="19050">
            <a:solidFill>
              <a:srgbClr val="E08A0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228"/>
                </a:solidFill>
              </a:rPr>
              <a:t>ALARM  </a:t>
            </a:r>
            <a:pPr algn="ctr" indent="0" marL="0">
              <a:buNone/>
            </a:pPr>
            <a:r>
              <a:rPr lang="en-US" sz="9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2'b10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alarm=1</a:t>
            </a:r>
            <a:endParaRPr lang="en-US" sz="900" dirty="0"/>
          </a:p>
        </p:txBody>
      </p:sp>
      <p:sp>
        <p:nvSpPr>
          <p:cNvPr id="61" name="shp_990"/>
          <p:cNvSpPr txBox="1"/>
          <p:nvPr/>
        </p:nvSpPr>
        <p:spPr>
          <a:xfrm>
            <a:off x="9281160" y="2240280"/>
            <a:ext cx="1554480" cy="603504"/>
          </a:xfrm>
          <a:prstGeom prst="diamond">
            <a:avLst/>
          </a:prstGeom>
          <a:solidFill>
            <a:srgbClr val="FFFFFF"/>
          </a:solidFill>
          <a:ln w="19050">
            <a:solidFill>
              <a:srgbClr val="0F7C7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2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L|R|U|D</a:t>
            </a:r>
            <a:endParaRPr lang="en-US" sz="950" dirty="0"/>
          </a:p>
        </p:txBody>
      </p:sp>
      <p:sp>
        <p:nvSpPr>
          <p:cNvPr id="62" name="wire_991"/>
          <p:cNvSpPr/>
          <p:nvPr/>
        </p:nvSpPr>
        <p:spPr>
          <a:xfrm>
            <a:off x="10058400" y="1947672"/>
            <a:ext cx="0" cy="29260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3" name="wire_992"/>
          <p:cNvSpPr/>
          <p:nvPr/>
        </p:nvSpPr>
        <p:spPr>
          <a:xfrm>
            <a:off x="10058400" y="2843784"/>
            <a:ext cx="0" cy="20116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4" name="shp_993"/>
          <p:cNvSpPr txBox="1"/>
          <p:nvPr/>
        </p:nvSpPr>
        <p:spPr>
          <a:xfrm>
            <a:off x="9756648" y="3044952"/>
            <a:ext cx="603504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SET</a:t>
            </a:r>
            <a:endParaRPr lang="en-US" sz="800" dirty="0"/>
          </a:p>
        </p:txBody>
      </p:sp>
      <p:sp>
        <p:nvSpPr>
          <p:cNvPr id="65" name="txt_994"/>
          <p:cNvSpPr txBox="1"/>
          <p:nvPr/>
        </p:nvSpPr>
        <p:spPr>
          <a:xfrm>
            <a:off x="10104120" y="285292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66" name="wire_995"/>
          <p:cNvSpPr/>
          <p:nvPr/>
        </p:nvSpPr>
        <p:spPr>
          <a:xfrm>
            <a:off x="10835640" y="2542032"/>
            <a:ext cx="118872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7" name="shp_996"/>
          <p:cNvSpPr txBox="1"/>
          <p:nvPr/>
        </p:nvSpPr>
        <p:spPr>
          <a:xfrm>
            <a:off x="10954512" y="2423160"/>
            <a:ext cx="777240" cy="237744"/>
          </a:xfrm>
          <a:prstGeom prst="roundRect">
            <a:avLst>
              <a:gd name="adj" fmla="val 19231"/>
            </a:avLst>
          </a:prstGeom>
          <a:solidFill>
            <a:srgbClr val="2E3B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ALARM</a:t>
            </a:r>
            <a:endParaRPr lang="en-US" sz="800" dirty="0"/>
          </a:p>
        </p:txBody>
      </p:sp>
      <p:sp>
        <p:nvSpPr>
          <p:cNvPr id="68" name="txt_997"/>
          <p:cNvSpPr txBox="1"/>
          <p:nvPr/>
        </p:nvSpPr>
        <p:spPr>
          <a:xfrm>
            <a:off x="10808208" y="23134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C7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69" name="txt_998"/>
          <p:cNvSpPr txBox="1"/>
          <p:nvPr/>
        </p:nvSpPr>
        <p:spPr>
          <a:xfrm>
            <a:off x="58978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</a:rPr>
              <a:t>상태별 출력 · 조건부 출력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4727448"/>
          <a:ext cx="5879592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40080"/>
                <a:gridCol w="731520"/>
                <a:gridCol w="3593592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run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alarm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조건부 출력 (1클럭)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o_add + amount (U·R·D)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RUN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o_clear (L = 취소)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ALARM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2'b11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default → SET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1" name="lgS_999"/>
          <p:cNvSpPr/>
          <p:nvPr/>
        </p:nvSpPr>
        <p:spPr>
          <a:xfrm>
            <a:off x="457200" y="6080760"/>
            <a:ext cx="292608" cy="182880"/>
          </a:xfrm>
          <a:prstGeom prst="rect">
            <a:avLst/>
          </a:prstGeom>
          <a:solidFill>
            <a:srgbClr val="FFF2DC"/>
          </a:solidFill>
          <a:ln w="15875">
            <a:solidFill>
              <a:srgbClr val="E08A00"/>
            </a:solidFill>
            <a:prstDash val="solid"/>
          </a:ln>
        </p:spPr>
      </p:sp>
      <p:sp>
        <p:nvSpPr>
          <p:cNvPr id="72" name="txt_1000"/>
          <p:cNvSpPr txBox="1"/>
          <p:nvPr/>
        </p:nvSpPr>
        <p:spPr>
          <a:xfrm>
            <a:off x="822960" y="605332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상태 박스 (Moore 출력)</a:t>
            </a:r>
            <a:endParaRPr lang="en-US" sz="900" dirty="0"/>
          </a:p>
        </p:txBody>
      </p:sp>
      <p:sp>
        <p:nvSpPr>
          <p:cNvPr id="73" name="lgD_1001"/>
          <p:cNvSpPr/>
          <p:nvPr/>
        </p:nvSpPr>
        <p:spPr>
          <a:xfrm>
            <a:off x="2468880" y="6044184"/>
            <a:ext cx="310896" cy="256032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7C73"/>
            </a:solidFill>
            <a:prstDash val="solid"/>
          </a:ln>
        </p:spPr>
      </p:sp>
      <p:sp>
        <p:nvSpPr>
          <p:cNvPr id="74" name="txt_1002"/>
          <p:cNvSpPr txBox="1"/>
          <p:nvPr/>
        </p:nvSpPr>
        <p:spPr>
          <a:xfrm>
            <a:off x="2852928" y="60533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판단 박스</a:t>
            </a:r>
            <a:endParaRPr lang="en-US" sz="900" dirty="0"/>
          </a:p>
        </p:txBody>
      </p:sp>
      <p:sp>
        <p:nvSpPr>
          <p:cNvPr id="75" name="lgC_1003"/>
          <p:cNvSpPr/>
          <p:nvPr/>
        </p:nvSpPr>
        <p:spPr>
          <a:xfrm>
            <a:off x="3657600" y="6080760"/>
            <a:ext cx="329184" cy="182880"/>
          </a:xfrm>
          <a:prstGeom prst="roundRect">
            <a:avLst>
              <a:gd name="adj" fmla="val 50000"/>
            </a:avLst>
          </a:prstGeom>
          <a:solidFill>
            <a:srgbClr val="E3F3F1"/>
          </a:solidFill>
          <a:ln w="15875">
            <a:solidFill>
              <a:srgbClr val="0F7C73"/>
            </a:solidFill>
            <a:prstDash val="solid"/>
          </a:ln>
        </p:spPr>
      </p:sp>
      <p:sp>
        <p:nvSpPr>
          <p:cNvPr id="76" name="txt_1004"/>
          <p:cNvSpPr txBox="1"/>
          <p:nvPr/>
        </p:nvSpPr>
        <p:spPr>
          <a:xfrm>
            <a:off x="4059936" y="6053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조건부 출력 (Mealy)</a:t>
            </a:r>
            <a:endParaRPr lang="en-US" sz="900" dirty="0"/>
          </a:p>
        </p:txBody>
      </p:sp>
      <p:sp>
        <p:nvSpPr>
          <p:cNvPr id="77" name="lgG_1005"/>
          <p:cNvSpPr/>
          <p:nvPr/>
        </p:nvSpPr>
        <p:spPr>
          <a:xfrm>
            <a:off x="5486400" y="6080760"/>
            <a:ext cx="329184" cy="182880"/>
          </a:xfrm>
          <a:prstGeom prst="roundRect">
            <a:avLst>
              <a:gd name="adj" fmla="val 20000"/>
            </a:avLst>
          </a:prstGeom>
          <a:solidFill>
            <a:srgbClr val="2E3B44"/>
          </a:solidFill>
          <a:ln/>
        </p:spPr>
      </p:sp>
      <p:sp>
        <p:nvSpPr>
          <p:cNvPr id="78" name="txt_1006"/>
          <p:cNvSpPr txBox="1"/>
          <p:nvPr/>
        </p:nvSpPr>
        <p:spPr>
          <a:xfrm>
            <a:off x="5888736" y="60533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85"/>
                </a:solidFill>
              </a:rPr>
              <a:t>다음 상태로 이동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05  SW2_FND_CONTROLLER 상세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내부 블럭 — 자리 분리 → 깜빡임 → 8슬롯 스캔 → 세그먼트</a:t>
            </a:r>
            <a:endParaRPr lang="en-US" sz="2800" dirty="0"/>
          </a:p>
        </p:txBody>
      </p:sp>
      <p:sp>
        <p:nvSpPr>
          <p:cNvPr id="4" name="shp_1007"/>
          <p:cNvSpPr txBox="1"/>
          <p:nvPr/>
        </p:nvSpPr>
        <p:spPr>
          <a:xfrm>
            <a:off x="274320" y="1572768"/>
            <a:ext cx="914400" cy="237744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i_msec[6:0]</a:t>
            </a:r>
            <a:endParaRPr lang="en-US" sz="800" dirty="0"/>
          </a:p>
        </p:txBody>
      </p:sp>
      <p:sp>
        <p:nvSpPr>
          <p:cNvPr id="5" name="wire_1008"/>
          <p:cNvSpPr/>
          <p:nvPr/>
        </p:nvSpPr>
        <p:spPr>
          <a:xfrm>
            <a:off x="1188720" y="1691640"/>
            <a:ext cx="2286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" name="shp_1009"/>
          <p:cNvSpPr txBox="1"/>
          <p:nvPr/>
        </p:nvSpPr>
        <p:spPr>
          <a:xfrm>
            <a:off x="1417320" y="146304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digit_splitter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U_MSEC · W=7</a:t>
            </a:r>
            <a:endParaRPr lang="en-US" sz="900" dirty="0"/>
          </a:p>
        </p:txBody>
      </p:sp>
      <p:sp>
        <p:nvSpPr>
          <p:cNvPr id="7" name="wire_1010"/>
          <p:cNvSpPr/>
          <p:nvPr/>
        </p:nvSpPr>
        <p:spPr>
          <a:xfrm>
            <a:off x="2560320" y="1600200"/>
            <a:ext cx="4572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" name="wire_1011"/>
          <p:cNvSpPr/>
          <p:nvPr/>
        </p:nvSpPr>
        <p:spPr>
          <a:xfrm>
            <a:off x="2560320" y="1783080"/>
            <a:ext cx="4572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9" name="txt_1012"/>
          <p:cNvSpPr txBox="1"/>
          <p:nvPr/>
        </p:nvSpPr>
        <p:spPr>
          <a:xfrm>
            <a:off x="2606040" y="144475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ds1</a:t>
            </a:r>
            <a:endParaRPr lang="en-US" sz="650" dirty="0"/>
          </a:p>
        </p:txBody>
      </p:sp>
      <p:sp>
        <p:nvSpPr>
          <p:cNvPr id="10" name="txt_1013"/>
          <p:cNvSpPr txBox="1"/>
          <p:nvPr/>
        </p:nvSpPr>
        <p:spPr>
          <a:xfrm>
            <a:off x="2606040" y="179222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ds10</a:t>
            </a:r>
            <a:endParaRPr lang="en-US" sz="650" dirty="0"/>
          </a:p>
        </p:txBody>
      </p:sp>
      <p:sp>
        <p:nvSpPr>
          <p:cNvPr id="11" name="shp_1014"/>
          <p:cNvSpPr txBox="1"/>
          <p:nvPr/>
        </p:nvSpPr>
        <p:spPr>
          <a:xfrm>
            <a:off x="274320" y="2167128"/>
            <a:ext cx="914400" cy="237744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i_sec[5:0]</a:t>
            </a:r>
            <a:endParaRPr lang="en-US" sz="800" dirty="0"/>
          </a:p>
        </p:txBody>
      </p:sp>
      <p:sp>
        <p:nvSpPr>
          <p:cNvPr id="12" name="wire_1015"/>
          <p:cNvSpPr/>
          <p:nvPr/>
        </p:nvSpPr>
        <p:spPr>
          <a:xfrm>
            <a:off x="1188720" y="2286000"/>
            <a:ext cx="2286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3" name="shp_1016"/>
          <p:cNvSpPr txBox="1"/>
          <p:nvPr/>
        </p:nvSpPr>
        <p:spPr>
          <a:xfrm>
            <a:off x="1417320" y="205740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digit_splitter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U_SEC · W=6</a:t>
            </a:r>
            <a:endParaRPr lang="en-US" sz="900" dirty="0"/>
          </a:p>
        </p:txBody>
      </p:sp>
      <p:sp>
        <p:nvSpPr>
          <p:cNvPr id="14" name="wire_1017"/>
          <p:cNvSpPr/>
          <p:nvPr/>
        </p:nvSpPr>
        <p:spPr>
          <a:xfrm>
            <a:off x="2560320" y="2194560"/>
            <a:ext cx="4572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5" name="wire_1018"/>
          <p:cNvSpPr/>
          <p:nvPr/>
        </p:nvSpPr>
        <p:spPr>
          <a:xfrm>
            <a:off x="2560320" y="2377440"/>
            <a:ext cx="4572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16" name="txt_1019"/>
          <p:cNvSpPr txBox="1"/>
          <p:nvPr/>
        </p:nvSpPr>
        <p:spPr>
          <a:xfrm>
            <a:off x="2606040" y="203911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ds1</a:t>
            </a:r>
            <a:endParaRPr lang="en-US" sz="650" dirty="0"/>
          </a:p>
        </p:txBody>
      </p:sp>
      <p:sp>
        <p:nvSpPr>
          <p:cNvPr id="17" name="txt_1020"/>
          <p:cNvSpPr txBox="1"/>
          <p:nvPr/>
        </p:nvSpPr>
        <p:spPr>
          <a:xfrm>
            <a:off x="2606040" y="238658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ds10</a:t>
            </a:r>
            <a:endParaRPr lang="en-US" sz="650" dirty="0"/>
          </a:p>
        </p:txBody>
      </p:sp>
      <p:sp>
        <p:nvSpPr>
          <p:cNvPr id="18" name="shp_1021"/>
          <p:cNvSpPr txBox="1"/>
          <p:nvPr/>
        </p:nvSpPr>
        <p:spPr>
          <a:xfrm>
            <a:off x="274320" y="3813048"/>
            <a:ext cx="914400" cy="237744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i_min[5:0]</a:t>
            </a:r>
            <a:endParaRPr lang="en-US" sz="800" dirty="0"/>
          </a:p>
        </p:txBody>
      </p:sp>
      <p:sp>
        <p:nvSpPr>
          <p:cNvPr id="19" name="wire_1022"/>
          <p:cNvSpPr/>
          <p:nvPr/>
        </p:nvSpPr>
        <p:spPr>
          <a:xfrm>
            <a:off x="1188720" y="3931920"/>
            <a:ext cx="2286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0" name="shp_1023"/>
          <p:cNvSpPr txBox="1"/>
          <p:nvPr/>
        </p:nvSpPr>
        <p:spPr>
          <a:xfrm>
            <a:off x="1417320" y="370332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digit_splitter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U_MIN · W=6</a:t>
            </a:r>
            <a:endParaRPr lang="en-US" sz="900" dirty="0"/>
          </a:p>
        </p:txBody>
      </p:sp>
      <p:sp>
        <p:nvSpPr>
          <p:cNvPr id="21" name="wire_1024"/>
          <p:cNvSpPr/>
          <p:nvPr/>
        </p:nvSpPr>
        <p:spPr>
          <a:xfrm>
            <a:off x="2560320" y="3840480"/>
            <a:ext cx="4572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2" name="wire_1025"/>
          <p:cNvSpPr/>
          <p:nvPr/>
        </p:nvSpPr>
        <p:spPr>
          <a:xfrm>
            <a:off x="2560320" y="4023360"/>
            <a:ext cx="4572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3" name="txt_1026"/>
          <p:cNvSpPr txBox="1"/>
          <p:nvPr/>
        </p:nvSpPr>
        <p:spPr>
          <a:xfrm>
            <a:off x="2606040" y="368503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ds1</a:t>
            </a:r>
            <a:endParaRPr lang="en-US" sz="650" dirty="0"/>
          </a:p>
        </p:txBody>
      </p:sp>
      <p:sp>
        <p:nvSpPr>
          <p:cNvPr id="24" name="txt_1027"/>
          <p:cNvSpPr txBox="1"/>
          <p:nvPr/>
        </p:nvSpPr>
        <p:spPr>
          <a:xfrm>
            <a:off x="2606040" y="403250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ds10</a:t>
            </a:r>
            <a:endParaRPr lang="en-US" sz="650" dirty="0"/>
          </a:p>
        </p:txBody>
      </p:sp>
      <p:sp>
        <p:nvSpPr>
          <p:cNvPr id="25" name="shp_1028"/>
          <p:cNvSpPr txBox="1"/>
          <p:nvPr/>
        </p:nvSpPr>
        <p:spPr>
          <a:xfrm>
            <a:off x="274320" y="4407408"/>
            <a:ext cx="914400" cy="237744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i_hour[4:0]</a:t>
            </a:r>
            <a:endParaRPr lang="en-US" sz="800" dirty="0"/>
          </a:p>
        </p:txBody>
      </p:sp>
      <p:sp>
        <p:nvSpPr>
          <p:cNvPr id="26" name="wire_1029"/>
          <p:cNvSpPr/>
          <p:nvPr/>
        </p:nvSpPr>
        <p:spPr>
          <a:xfrm>
            <a:off x="1188720" y="4526280"/>
            <a:ext cx="2286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7" name="shp_1030"/>
          <p:cNvSpPr txBox="1"/>
          <p:nvPr/>
        </p:nvSpPr>
        <p:spPr>
          <a:xfrm>
            <a:off x="1417320" y="4297680"/>
            <a:ext cx="1143000" cy="457200"/>
          </a:xfrm>
          <a:prstGeom prst="roundRect">
            <a:avLst>
              <a:gd name="adj" fmla="val 12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digit_splitter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U_HOUR · W=5</a:t>
            </a:r>
            <a:endParaRPr lang="en-US" sz="900" dirty="0"/>
          </a:p>
        </p:txBody>
      </p:sp>
      <p:sp>
        <p:nvSpPr>
          <p:cNvPr id="28" name="wire_1031"/>
          <p:cNvSpPr/>
          <p:nvPr/>
        </p:nvSpPr>
        <p:spPr>
          <a:xfrm>
            <a:off x="2560320" y="4434840"/>
            <a:ext cx="4572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29" name="wire_1032"/>
          <p:cNvSpPr/>
          <p:nvPr/>
        </p:nvSpPr>
        <p:spPr>
          <a:xfrm>
            <a:off x="2560320" y="4617720"/>
            <a:ext cx="4572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0" name="txt_1033"/>
          <p:cNvSpPr txBox="1"/>
          <p:nvPr/>
        </p:nvSpPr>
        <p:spPr>
          <a:xfrm>
            <a:off x="2606040" y="4279392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ds1</a:t>
            </a:r>
            <a:endParaRPr lang="en-US" sz="650" dirty="0"/>
          </a:p>
        </p:txBody>
      </p:sp>
      <p:sp>
        <p:nvSpPr>
          <p:cNvPr id="31" name="txt_1034"/>
          <p:cNvSpPr txBox="1"/>
          <p:nvPr/>
        </p:nvSpPr>
        <p:spPr>
          <a:xfrm>
            <a:off x="2606040" y="4626864"/>
            <a:ext cx="365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ds10</a:t>
            </a:r>
            <a:endParaRPr lang="en-US" sz="650" dirty="0"/>
          </a:p>
        </p:txBody>
      </p:sp>
      <p:sp>
        <p:nvSpPr>
          <p:cNvPr id="32" name="shp_1035"/>
          <p:cNvSpPr txBox="1"/>
          <p:nvPr/>
        </p:nvSpPr>
        <p:spPr>
          <a:xfrm>
            <a:off x="3017520" y="1417320"/>
            <a:ext cx="1371600" cy="1143000"/>
          </a:xfrm>
          <a:prstGeom prst="roundRect">
            <a:avLst>
              <a:gd name="adj" fmla="val 4800"/>
            </a:avLst>
          </a:prstGeom>
          <a:solidFill>
            <a:srgbClr val="FCE6E7"/>
          </a:solidFill>
          <a:ln w="15875">
            <a:solidFill>
              <a:srgbClr val="C8323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SW2_ANODE_</a:t>
            </a: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CHOICE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U_ANODE_CHOICE_TO_MUX1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</a:rPr>
              <a:t>커서 자리 → 4'hD(꺼짐)</a:t>
            </a:r>
            <a:endParaRPr lang="en-US" sz="900" dirty="0"/>
          </a:p>
        </p:txBody>
      </p:sp>
      <p:sp>
        <p:nvSpPr>
          <p:cNvPr id="33" name="shp_1036"/>
          <p:cNvSpPr txBox="1"/>
          <p:nvPr/>
        </p:nvSpPr>
        <p:spPr>
          <a:xfrm>
            <a:off x="3017520" y="3657600"/>
            <a:ext cx="1371600" cy="1143000"/>
          </a:xfrm>
          <a:prstGeom prst="roundRect">
            <a:avLst>
              <a:gd name="adj" fmla="val 4800"/>
            </a:avLst>
          </a:prstGeom>
          <a:solidFill>
            <a:srgbClr val="FCE6E7"/>
          </a:solidFill>
          <a:ln w="15875">
            <a:solidFill>
              <a:srgbClr val="C8323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SW2_ANODE_</a:t>
            </a:r>
            <a:endParaRPr lang="en-US" sz="9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CHOICE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U_ANODE_CHOICE_TO_MUX2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</a:rPr>
              <a:t>커서 자리 → 4'hD(꺼짐)</a:t>
            </a:r>
            <a:endParaRPr lang="en-US" sz="900" dirty="0"/>
          </a:p>
        </p:txBody>
      </p:sp>
      <p:sp>
        <p:nvSpPr>
          <p:cNvPr id="34" name="shp_1037"/>
          <p:cNvSpPr txBox="1"/>
          <p:nvPr/>
        </p:nvSpPr>
        <p:spPr>
          <a:xfrm>
            <a:off x="3017520" y="2816352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2E3B44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i_cursor[1:0] · w_dot_onoff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 · SW1 · SW0</a:t>
            </a:r>
            <a:endParaRPr lang="en-US" sz="750" dirty="0"/>
          </a:p>
        </p:txBody>
      </p:sp>
      <p:sp>
        <p:nvSpPr>
          <p:cNvPr id="35" name="wire_1038"/>
          <p:cNvSpPr/>
          <p:nvPr/>
        </p:nvSpPr>
        <p:spPr>
          <a:xfrm flipV="1">
            <a:off x="3703320" y="2560320"/>
            <a:ext cx="0" cy="256032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6" name="wire_1039"/>
          <p:cNvSpPr/>
          <p:nvPr/>
        </p:nvSpPr>
        <p:spPr>
          <a:xfrm>
            <a:off x="3703320" y="3383280"/>
            <a:ext cx="0" cy="27432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7" name="wire_1040"/>
          <p:cNvSpPr/>
          <p:nvPr/>
        </p:nvSpPr>
        <p:spPr>
          <a:xfrm>
            <a:off x="4389120" y="1600200"/>
            <a:ext cx="5029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8" name="wire_1041"/>
          <p:cNvSpPr/>
          <p:nvPr/>
        </p:nvSpPr>
        <p:spPr>
          <a:xfrm>
            <a:off x="4389120" y="1783080"/>
            <a:ext cx="5029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39" name="wire_1042"/>
          <p:cNvSpPr/>
          <p:nvPr/>
        </p:nvSpPr>
        <p:spPr>
          <a:xfrm>
            <a:off x="4389120" y="2194560"/>
            <a:ext cx="5029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0" name="wire_1043"/>
          <p:cNvSpPr/>
          <p:nvPr/>
        </p:nvSpPr>
        <p:spPr>
          <a:xfrm>
            <a:off x="4389120" y="2377440"/>
            <a:ext cx="5029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1" name="wire_1044"/>
          <p:cNvSpPr/>
          <p:nvPr/>
        </p:nvSpPr>
        <p:spPr>
          <a:xfrm>
            <a:off x="4389120" y="3840480"/>
            <a:ext cx="5029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2" name="wire_1045"/>
          <p:cNvSpPr/>
          <p:nvPr/>
        </p:nvSpPr>
        <p:spPr>
          <a:xfrm>
            <a:off x="4389120" y="4023360"/>
            <a:ext cx="5029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3" name="wire_1046"/>
          <p:cNvSpPr/>
          <p:nvPr/>
        </p:nvSpPr>
        <p:spPr>
          <a:xfrm>
            <a:off x="4389120" y="4434840"/>
            <a:ext cx="5029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4" name="wire_1047"/>
          <p:cNvSpPr/>
          <p:nvPr/>
        </p:nvSpPr>
        <p:spPr>
          <a:xfrm>
            <a:off x="4389120" y="4617720"/>
            <a:ext cx="50292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45" name="txt_1048"/>
          <p:cNvSpPr txBox="1"/>
          <p:nvPr/>
        </p:nvSpPr>
        <p:spPr>
          <a:xfrm>
            <a:off x="4636008" y="146304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</a:t>
            </a:r>
            <a:endParaRPr lang="en-US" sz="650" dirty="0"/>
          </a:p>
        </p:txBody>
      </p:sp>
      <p:sp>
        <p:nvSpPr>
          <p:cNvPr id="46" name="txt_1049"/>
          <p:cNvSpPr txBox="1"/>
          <p:nvPr/>
        </p:nvSpPr>
        <p:spPr>
          <a:xfrm>
            <a:off x="4636008" y="370332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</a:t>
            </a:r>
            <a:endParaRPr lang="en-US" sz="650" dirty="0"/>
          </a:p>
        </p:txBody>
      </p:sp>
      <p:sp>
        <p:nvSpPr>
          <p:cNvPr id="47" name="txt_1050"/>
          <p:cNvSpPr txBox="1"/>
          <p:nvPr/>
        </p:nvSpPr>
        <p:spPr>
          <a:xfrm>
            <a:off x="4636008" y="164592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</a:t>
            </a:r>
            <a:endParaRPr lang="en-US" sz="650" dirty="0"/>
          </a:p>
        </p:txBody>
      </p:sp>
      <p:sp>
        <p:nvSpPr>
          <p:cNvPr id="48" name="txt_1051"/>
          <p:cNvSpPr txBox="1"/>
          <p:nvPr/>
        </p:nvSpPr>
        <p:spPr>
          <a:xfrm>
            <a:off x="4636008" y="388620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</a:t>
            </a:r>
            <a:endParaRPr lang="en-US" sz="650" dirty="0"/>
          </a:p>
        </p:txBody>
      </p:sp>
      <p:sp>
        <p:nvSpPr>
          <p:cNvPr id="49" name="txt_1052"/>
          <p:cNvSpPr txBox="1"/>
          <p:nvPr/>
        </p:nvSpPr>
        <p:spPr>
          <a:xfrm>
            <a:off x="4636008" y="205740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650" dirty="0"/>
          </a:p>
        </p:txBody>
      </p:sp>
      <p:sp>
        <p:nvSpPr>
          <p:cNvPr id="50" name="txt_1053"/>
          <p:cNvSpPr txBox="1"/>
          <p:nvPr/>
        </p:nvSpPr>
        <p:spPr>
          <a:xfrm>
            <a:off x="4636008" y="429768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650" dirty="0"/>
          </a:p>
        </p:txBody>
      </p:sp>
      <p:sp>
        <p:nvSpPr>
          <p:cNvPr id="51" name="txt_1054"/>
          <p:cNvSpPr txBox="1"/>
          <p:nvPr/>
        </p:nvSpPr>
        <p:spPr>
          <a:xfrm>
            <a:off x="4636008" y="224028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</a:t>
            </a:r>
            <a:endParaRPr lang="en-US" sz="650" dirty="0"/>
          </a:p>
        </p:txBody>
      </p:sp>
      <p:sp>
        <p:nvSpPr>
          <p:cNvPr id="52" name="txt_1055"/>
          <p:cNvSpPr txBox="1"/>
          <p:nvPr/>
        </p:nvSpPr>
        <p:spPr>
          <a:xfrm>
            <a:off x="4636008" y="4480560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</a:t>
            </a:r>
            <a:endParaRPr lang="en-US" sz="650" dirty="0"/>
          </a:p>
        </p:txBody>
      </p:sp>
      <p:sp>
        <p:nvSpPr>
          <p:cNvPr id="53" name="shp_1056"/>
          <p:cNvSpPr txBox="1"/>
          <p:nvPr/>
        </p:nvSpPr>
        <p:spPr>
          <a:xfrm>
            <a:off x="4892040" y="1417320"/>
            <a:ext cx="1188720" cy="1143000"/>
          </a:xfrm>
          <a:prstGeom prst="roundRect">
            <a:avLst>
              <a:gd name="adj" fmla="val 48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mux_8x1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U_SEC_MUXER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</a:rPr>
              <a:t>d4·d5·d7 = F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</a:rPr>
              <a:t>d6 = {111, dot}</a:t>
            </a:r>
            <a:endParaRPr lang="en-US" sz="900" dirty="0"/>
          </a:p>
        </p:txBody>
      </p:sp>
      <p:sp>
        <p:nvSpPr>
          <p:cNvPr id="54" name="shp_1057"/>
          <p:cNvSpPr txBox="1"/>
          <p:nvPr/>
        </p:nvSpPr>
        <p:spPr>
          <a:xfrm>
            <a:off x="4892040" y="3657600"/>
            <a:ext cx="1188720" cy="1143000"/>
          </a:xfrm>
          <a:prstGeom prst="roundRect">
            <a:avLst>
              <a:gd name="adj" fmla="val 4800"/>
            </a:avLst>
          </a:prstGeom>
          <a:solidFill>
            <a:srgbClr val="E3F3F1"/>
          </a:solidFill>
          <a:ln w="15875">
            <a:solidFill>
              <a:srgbClr val="0F7C73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mux_8x1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U_MIN_MUXER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</a:rPr>
              <a:t>d4·d5·d7 = F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</a:rPr>
              <a:t>d6 = {111, dot}</a:t>
            </a:r>
            <a:endParaRPr lang="en-US" sz="900" dirty="0"/>
          </a:p>
        </p:txBody>
      </p:sp>
      <p:sp>
        <p:nvSpPr>
          <p:cNvPr id="55" name="shp_1058"/>
          <p:cNvSpPr txBox="1"/>
          <p:nvPr/>
        </p:nvSpPr>
        <p:spPr>
          <a:xfrm>
            <a:off x="4892040" y="2834640"/>
            <a:ext cx="1188720" cy="530352"/>
          </a:xfrm>
          <a:prstGeom prst="roundRect">
            <a:avLst>
              <a:gd name="adj" fmla="val 10345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counter8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U_COUNTER8 · clk=tick</a:t>
            </a:r>
            <a:endParaRPr lang="en-US" sz="900" dirty="0"/>
          </a:p>
        </p:txBody>
      </p:sp>
      <p:sp>
        <p:nvSpPr>
          <p:cNvPr id="56" name="wire_1059"/>
          <p:cNvSpPr/>
          <p:nvPr/>
        </p:nvSpPr>
        <p:spPr>
          <a:xfrm flipV="1">
            <a:off x="5486400" y="2560320"/>
            <a:ext cx="0" cy="27432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7" name="wire_1060"/>
          <p:cNvSpPr/>
          <p:nvPr/>
        </p:nvSpPr>
        <p:spPr>
          <a:xfrm>
            <a:off x="5486400" y="3364992"/>
            <a:ext cx="0" cy="292608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58" name="txt_1061"/>
          <p:cNvSpPr txBox="1"/>
          <p:nvPr/>
        </p:nvSpPr>
        <p:spPr>
          <a:xfrm>
            <a:off x="5532120" y="258775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w_sel[2:0]</a:t>
            </a:r>
            <a:endParaRPr lang="en-US" sz="650" dirty="0"/>
          </a:p>
        </p:txBody>
      </p:sp>
      <p:sp>
        <p:nvSpPr>
          <p:cNvPr id="59" name="shp_1062"/>
          <p:cNvSpPr txBox="1"/>
          <p:nvPr/>
        </p:nvSpPr>
        <p:spPr>
          <a:xfrm>
            <a:off x="6903720" y="1737360"/>
            <a:ext cx="685800" cy="27432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2:1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w_input_BCD</a:t>
            </a:r>
            <a:endParaRPr lang="en-US" sz="900" dirty="0"/>
          </a:p>
        </p:txBody>
      </p:sp>
      <p:sp>
        <p:nvSpPr>
          <p:cNvPr id="60" name="wire_1063"/>
          <p:cNvSpPr/>
          <p:nvPr/>
        </p:nvSpPr>
        <p:spPr>
          <a:xfrm>
            <a:off x="6080760" y="1984248"/>
            <a:ext cx="8229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1" name="txt_1064"/>
          <p:cNvSpPr txBox="1"/>
          <p:nvPr/>
        </p:nvSpPr>
        <p:spPr>
          <a:xfrm>
            <a:off x="6126480" y="181051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w_msec_sec</a:t>
            </a:r>
            <a:endParaRPr lang="en-US" sz="650" dirty="0"/>
          </a:p>
        </p:txBody>
      </p:sp>
      <p:sp>
        <p:nvSpPr>
          <p:cNvPr id="62" name="wire_1065"/>
          <p:cNvSpPr/>
          <p:nvPr/>
        </p:nvSpPr>
        <p:spPr>
          <a:xfrm>
            <a:off x="6080760" y="4224528"/>
            <a:ext cx="8229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3" name="txt_1066"/>
          <p:cNvSpPr txBox="1"/>
          <p:nvPr/>
        </p:nvSpPr>
        <p:spPr>
          <a:xfrm>
            <a:off x="6099048" y="40507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w_min_hour</a:t>
            </a:r>
            <a:endParaRPr lang="en-US" sz="650" dirty="0"/>
          </a:p>
        </p:txBody>
      </p:sp>
      <p:sp>
        <p:nvSpPr>
          <p:cNvPr id="64" name="wire_1067"/>
          <p:cNvSpPr/>
          <p:nvPr/>
        </p:nvSpPr>
        <p:spPr>
          <a:xfrm flipV="1">
            <a:off x="7246620" y="4480560"/>
            <a:ext cx="0" cy="27432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5" name="txt_1068"/>
          <p:cNvSpPr txBox="1"/>
          <p:nvPr/>
        </p:nvSpPr>
        <p:spPr>
          <a:xfrm>
            <a:off x="6400800" y="47548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 i_sw_display_mode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 초.cs  1: 시.분</a:t>
            </a:r>
            <a:endParaRPr lang="en-US" sz="750" dirty="0"/>
          </a:p>
        </p:txBody>
      </p:sp>
      <p:sp>
        <p:nvSpPr>
          <p:cNvPr id="66" name="wire_1069"/>
          <p:cNvSpPr/>
          <p:nvPr/>
        </p:nvSpPr>
        <p:spPr>
          <a:xfrm>
            <a:off x="7589520" y="3108960"/>
            <a:ext cx="36576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67" name="txt_1070"/>
          <p:cNvSpPr txBox="1"/>
          <p:nvPr/>
        </p:nvSpPr>
        <p:spPr>
          <a:xfrm>
            <a:off x="7616952" y="292608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4b BCD</a:t>
            </a:r>
            <a:endParaRPr lang="en-US" sz="650" dirty="0"/>
          </a:p>
        </p:txBody>
      </p:sp>
      <p:sp>
        <p:nvSpPr>
          <p:cNvPr id="68" name="shp_1071"/>
          <p:cNvSpPr txBox="1"/>
          <p:nvPr/>
        </p:nvSpPr>
        <p:spPr>
          <a:xfrm>
            <a:off x="7955280" y="278892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FCE6E7"/>
          </a:solidFill>
          <a:ln w="15875">
            <a:solidFill>
              <a:srgbClr val="C8323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fnd_decoder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U_FND_DEC</a:t>
            </a:r>
            <a:endParaRPr lang="en-US" sz="9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2E3B44"/>
                </a:solidFill>
              </a:rPr>
              <a:t>active-low</a:t>
            </a:r>
            <a:endParaRPr lang="en-US" sz="900" dirty="0"/>
          </a:p>
        </p:txBody>
      </p:sp>
      <p:sp>
        <p:nvSpPr>
          <p:cNvPr id="69" name="wire_1072"/>
          <p:cNvSpPr/>
          <p:nvPr/>
        </p:nvSpPr>
        <p:spPr>
          <a:xfrm>
            <a:off x="9098280" y="3108960"/>
            <a:ext cx="91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0" name="shp_1073"/>
          <p:cNvSpPr txBox="1"/>
          <p:nvPr/>
        </p:nvSpPr>
        <p:spPr>
          <a:xfrm>
            <a:off x="9189720" y="2990088"/>
            <a:ext cx="1143000" cy="237744"/>
          </a:xfrm>
          <a:prstGeom prst="homePlate">
            <a:avLst/>
          </a:prstGeom>
          <a:solidFill>
            <a:srgbClr val="C8323C"/>
          </a:solidFill>
          <a:ln w="9525">
            <a:solidFill>
              <a:srgbClr val="C8323C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o_fnd_data[7:0]</a:t>
            </a:r>
            <a:endParaRPr lang="en-US" sz="800" dirty="0"/>
          </a:p>
        </p:txBody>
      </p:sp>
      <p:sp>
        <p:nvSpPr>
          <p:cNvPr id="71" name="shp_1074"/>
          <p:cNvSpPr txBox="1"/>
          <p:nvPr/>
        </p:nvSpPr>
        <p:spPr>
          <a:xfrm>
            <a:off x="7040880" y="5394960"/>
            <a:ext cx="822960" cy="237744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w_sel[1:0]</a:t>
            </a:r>
            <a:endParaRPr lang="en-US" sz="800" dirty="0"/>
          </a:p>
        </p:txBody>
      </p:sp>
      <p:sp>
        <p:nvSpPr>
          <p:cNvPr id="72" name="wire_1075"/>
          <p:cNvSpPr/>
          <p:nvPr/>
        </p:nvSpPr>
        <p:spPr>
          <a:xfrm>
            <a:off x="7863840" y="5513832"/>
            <a:ext cx="91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3" name="shp_1076"/>
          <p:cNvSpPr txBox="1"/>
          <p:nvPr/>
        </p:nvSpPr>
        <p:spPr>
          <a:xfrm>
            <a:off x="7955280" y="5239512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FCE6E7"/>
          </a:solidFill>
          <a:ln w="15875">
            <a:solidFill>
              <a:srgbClr val="C8323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decoder_2x4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U_DECODER</a:t>
            </a:r>
            <a:endParaRPr lang="en-US" sz="900" dirty="0"/>
          </a:p>
        </p:txBody>
      </p:sp>
      <p:sp>
        <p:nvSpPr>
          <p:cNvPr id="74" name="wire_1077"/>
          <p:cNvSpPr/>
          <p:nvPr/>
        </p:nvSpPr>
        <p:spPr>
          <a:xfrm>
            <a:off x="9098280" y="5513832"/>
            <a:ext cx="9144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5" name="shp_1078"/>
          <p:cNvSpPr txBox="1"/>
          <p:nvPr/>
        </p:nvSpPr>
        <p:spPr>
          <a:xfrm>
            <a:off x="9189720" y="5394960"/>
            <a:ext cx="1143000" cy="237744"/>
          </a:xfrm>
          <a:prstGeom prst="homePlate">
            <a:avLst/>
          </a:prstGeom>
          <a:solidFill>
            <a:srgbClr val="C8323C"/>
          </a:solidFill>
          <a:ln w="9525">
            <a:solidFill>
              <a:srgbClr val="C8323C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o_fnd_com[3:0]</a:t>
            </a:r>
            <a:endParaRPr lang="en-US" sz="800" dirty="0"/>
          </a:p>
        </p:txBody>
      </p:sp>
      <p:sp>
        <p:nvSpPr>
          <p:cNvPr id="76" name="shp_1079"/>
          <p:cNvSpPr txBox="1"/>
          <p:nvPr/>
        </p:nvSpPr>
        <p:spPr>
          <a:xfrm>
            <a:off x="274320" y="5394960"/>
            <a:ext cx="914400" cy="237744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i_msec</a:t>
            </a:r>
            <a:endParaRPr lang="en-US" sz="800" dirty="0"/>
          </a:p>
        </p:txBody>
      </p:sp>
      <p:sp>
        <p:nvSpPr>
          <p:cNvPr id="77" name="wire_1080"/>
          <p:cNvSpPr/>
          <p:nvPr/>
        </p:nvSpPr>
        <p:spPr>
          <a:xfrm>
            <a:off x="1188720" y="5513832"/>
            <a:ext cx="22860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78" name="shp_1081"/>
          <p:cNvSpPr txBox="1"/>
          <p:nvPr/>
        </p:nvSpPr>
        <p:spPr>
          <a:xfrm>
            <a:off x="1417320" y="5257800"/>
            <a:ext cx="1143000" cy="512064"/>
          </a:xfrm>
          <a:prstGeom prst="roundRect">
            <a:avLst>
              <a:gd name="adj" fmla="val 10714"/>
            </a:avLst>
          </a:prstGeom>
          <a:solidFill>
            <a:srgbClr val="EEF1F4"/>
          </a:solidFill>
          <a:ln w="15875">
            <a:solidFill>
              <a:srgbClr val="5B6B76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228"/>
                </a:solidFill>
              </a:rPr>
              <a:t>dot</a:t>
            </a:r>
            <a:endParaRPr lang="en-US" sz="90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6B7A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U_DOT · msec ≥ 50</a:t>
            </a:r>
            <a:endParaRPr lang="en-US" sz="900" dirty="0"/>
          </a:p>
        </p:txBody>
      </p:sp>
      <p:sp>
        <p:nvSpPr>
          <p:cNvPr id="79" name="wire_1082"/>
          <p:cNvSpPr/>
          <p:nvPr/>
        </p:nvSpPr>
        <p:spPr>
          <a:xfrm>
            <a:off x="2560320" y="5513832"/>
            <a:ext cx="182880" cy="0"/>
          </a:xfrm>
          <a:prstGeom prst="line">
            <a:avLst/>
          </a:prstGeom>
          <a:noFill/>
          <a:ln w="15875">
            <a:solidFill>
              <a:srgbClr val="2E3B44"/>
            </a:solidFill>
            <a:prstDash val="solid"/>
            <a:tailEnd type="triangle"/>
          </a:ln>
        </p:spPr>
      </p:sp>
      <p:sp>
        <p:nvSpPr>
          <p:cNvPr id="80" name="shp_1083"/>
          <p:cNvSpPr txBox="1"/>
          <p:nvPr/>
        </p:nvSpPr>
        <p:spPr>
          <a:xfrm>
            <a:off x="2743200" y="5394960"/>
            <a:ext cx="1005840" cy="237744"/>
          </a:xfrm>
          <a:prstGeom prst="homePlate">
            <a:avLst/>
          </a:prstGeom>
          <a:solidFill>
            <a:srgbClr val="2E3B44"/>
          </a:solidFill>
          <a:ln w="9525">
            <a:solidFill>
              <a:srgbClr val="2E3B44"/>
            </a:solidFill>
          </a:ln>
        </p:spPr>
        <p:txBody>
          <a:bodyPr wrap="square" lIns="0" tIns="50800" rIns="2540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w_dot_onoff</a:t>
            </a:r>
            <a:endParaRPr lang="en-US" sz="800" dirty="0"/>
          </a:p>
        </p:txBody>
      </p:sp>
      <p:sp>
        <p:nvSpPr>
          <p:cNvPr id="81" name="txt_1084"/>
          <p:cNvSpPr txBox="1"/>
          <p:nvPr/>
        </p:nvSpPr>
        <p:spPr>
          <a:xfrm>
            <a:off x="4023360" y="589788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i_clk_remake = w_tick (1 ms 펄스) · i_reset → counter8</a:t>
            </a:r>
            <a:endParaRPr lang="en-US" sz="800" dirty="0"/>
          </a:p>
        </p:txBody>
      </p:sp>
      <p:sp>
        <p:nvSpPr>
          <p:cNvPr id="82" name="card_1085"/>
          <p:cNvSpPr/>
          <p:nvPr/>
        </p:nvSpPr>
        <p:spPr>
          <a:xfrm>
            <a:off x="10424160" y="1325880"/>
            <a:ext cx="1353312" cy="4526280"/>
          </a:xfrm>
          <a:prstGeom prst="roundRect">
            <a:avLst>
              <a:gd name="adj" fmla="val 5405"/>
            </a:avLst>
          </a:prstGeom>
          <a:solidFill>
            <a:srgbClr val="F3F5F7"/>
          </a:solidFill>
          <a:ln/>
        </p:spPr>
      </p:sp>
      <p:sp>
        <p:nvSpPr>
          <p:cNvPr id="83" name="txt_1086"/>
          <p:cNvSpPr txBox="1"/>
          <p:nvPr/>
        </p:nvSpPr>
        <p:spPr>
          <a:xfrm>
            <a:off x="10561320" y="1417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A00"/>
                </a:solidFill>
              </a:rPr>
              <a:t>흐름</a:t>
            </a:r>
            <a:endParaRPr lang="en-US" sz="1200" dirty="0"/>
          </a:p>
        </p:txBody>
      </p:sp>
      <p:sp>
        <p:nvSpPr>
          <p:cNvPr id="84" name="shp_1087"/>
          <p:cNvSpPr txBox="1"/>
          <p:nvPr/>
        </p:nvSpPr>
        <p:spPr>
          <a:xfrm>
            <a:off x="10533888" y="1810512"/>
            <a:ext cx="237744" cy="237744"/>
          </a:xfrm>
          <a:prstGeom prst="ellipse">
            <a:avLst/>
          </a:prstGeom>
          <a:solidFill>
            <a:srgbClr val="2E3B4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5" name="txt_1088"/>
          <p:cNvSpPr txBox="1"/>
          <p:nvPr/>
        </p:nvSpPr>
        <p:spPr>
          <a:xfrm>
            <a:off x="10835640" y="1764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BCD 분리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(÷10, %10)</a:t>
            </a:r>
            <a:endParaRPr lang="en-US" sz="900" dirty="0"/>
          </a:p>
        </p:txBody>
      </p:sp>
      <p:sp>
        <p:nvSpPr>
          <p:cNvPr id="86" name="shp_1089"/>
          <p:cNvSpPr txBox="1"/>
          <p:nvPr/>
        </p:nvSpPr>
        <p:spPr>
          <a:xfrm>
            <a:off x="10533888" y="2596896"/>
            <a:ext cx="237744" cy="237744"/>
          </a:xfrm>
          <a:prstGeom prst="ellipse">
            <a:avLst/>
          </a:prstGeom>
          <a:solidFill>
            <a:srgbClr val="2E3B4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87" name="txt_1090"/>
          <p:cNvSpPr txBox="1"/>
          <p:nvPr/>
        </p:nvSpPr>
        <p:spPr>
          <a:xfrm>
            <a:off x="10835640" y="255117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커서 자리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깜빡임</a:t>
            </a:r>
            <a:endParaRPr lang="en-US" sz="900" dirty="0"/>
          </a:p>
        </p:txBody>
      </p:sp>
      <p:sp>
        <p:nvSpPr>
          <p:cNvPr id="88" name="shp_1091"/>
          <p:cNvSpPr txBox="1"/>
          <p:nvPr/>
        </p:nvSpPr>
        <p:spPr>
          <a:xfrm>
            <a:off x="10533888" y="3383280"/>
            <a:ext cx="237744" cy="237744"/>
          </a:xfrm>
          <a:prstGeom prst="ellipse">
            <a:avLst/>
          </a:prstGeom>
          <a:solidFill>
            <a:srgbClr val="2E3B4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89" name="txt_1092"/>
          <p:cNvSpPr txBox="1"/>
          <p:nvPr/>
        </p:nvSpPr>
        <p:spPr>
          <a:xfrm>
            <a:off x="10835640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8슬롯 MUX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(sel 0~7)</a:t>
            </a:r>
            <a:endParaRPr lang="en-US" sz="900" dirty="0"/>
          </a:p>
        </p:txBody>
      </p:sp>
      <p:sp>
        <p:nvSpPr>
          <p:cNvPr id="90" name="shp_1093"/>
          <p:cNvSpPr txBox="1"/>
          <p:nvPr/>
        </p:nvSpPr>
        <p:spPr>
          <a:xfrm>
            <a:off x="10533888" y="4169664"/>
            <a:ext cx="237744" cy="237744"/>
          </a:xfrm>
          <a:prstGeom prst="ellipse">
            <a:avLst/>
          </a:prstGeom>
          <a:solidFill>
            <a:srgbClr val="2E3B4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91" name="txt_1094"/>
          <p:cNvSpPr txBox="1"/>
          <p:nvPr/>
        </p:nvSpPr>
        <p:spPr>
          <a:xfrm>
            <a:off x="10835640" y="412394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SW1로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화면 선택</a:t>
            </a:r>
            <a:endParaRPr lang="en-US" sz="900" dirty="0"/>
          </a:p>
        </p:txBody>
      </p:sp>
      <p:sp>
        <p:nvSpPr>
          <p:cNvPr id="92" name="shp_1095"/>
          <p:cNvSpPr txBox="1"/>
          <p:nvPr/>
        </p:nvSpPr>
        <p:spPr>
          <a:xfrm>
            <a:off x="10533888" y="4956048"/>
            <a:ext cx="237744" cy="237744"/>
          </a:xfrm>
          <a:prstGeom prst="ellipse">
            <a:avLst/>
          </a:prstGeom>
          <a:solidFill>
            <a:srgbClr val="2E3B44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93" name="txt_1096"/>
          <p:cNvSpPr txBox="1"/>
          <p:nvPr/>
        </p:nvSpPr>
        <p:spPr>
          <a:xfrm>
            <a:off x="10835640" y="4910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세그먼트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E3B44"/>
                </a:solidFill>
              </a:rPr>
              <a:t>·자리 출력</a:t>
            </a:r>
            <a:endParaRPr lang="en-US" sz="900" dirty="0"/>
          </a:p>
        </p:txBody>
      </p:sp>
      <p:sp>
        <p:nvSpPr>
          <p:cNvPr id="94" name="txt_1097"/>
          <p:cNvSpPr txBox="1"/>
          <p:nvPr/>
        </p:nvSpPr>
        <p:spPr>
          <a:xfrm>
            <a:off x="274320" y="61447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A85"/>
                </a:solidFill>
              </a:rPr>
              <a:t>미사용 입력: i_clk · i_btn_R · i_btn_L (포트만 존재)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05  SW2_FND_CONTROLLER 상세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228"/>
                </a:solidFill>
              </a:rPr>
              <a:t>스캔 타이밍과 깜빡임 규칙</a:t>
            </a:r>
            <a:endParaRPr lang="en-US" sz="2800" dirty="0"/>
          </a:p>
        </p:txBody>
      </p:sp>
      <p:sp>
        <p:nvSpPr>
          <p:cNvPr id="4" name="card_1098"/>
          <p:cNvSpPr/>
          <p:nvPr/>
        </p:nvSpPr>
        <p:spPr>
          <a:xfrm>
            <a:off x="411480" y="1261872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</p:sp>
      <p:sp>
        <p:nvSpPr>
          <p:cNvPr id="5" name="txt_1099"/>
          <p:cNvSpPr txBox="1"/>
          <p:nvPr/>
        </p:nvSpPr>
        <p:spPr>
          <a:xfrm>
            <a:off x="576072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ms</a:t>
            </a:r>
            <a:endParaRPr lang="en-US" sz="3000" dirty="0"/>
          </a:p>
        </p:txBody>
      </p:sp>
      <p:sp>
        <p:nvSpPr>
          <p:cNvPr id="6" name="txt_1100"/>
          <p:cNvSpPr txBox="1"/>
          <p:nvPr/>
        </p:nvSpPr>
        <p:spPr>
          <a:xfrm>
            <a:off x="576072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</a:rPr>
              <a:t>슬롯 하나 (tick 1 kHz)</a:t>
            </a:r>
            <a:endParaRPr lang="en-US" sz="1050" dirty="0"/>
          </a:p>
        </p:txBody>
      </p:sp>
      <p:sp>
        <p:nvSpPr>
          <p:cNvPr id="7" name="card_1101"/>
          <p:cNvSpPr/>
          <p:nvPr/>
        </p:nvSpPr>
        <p:spPr>
          <a:xfrm>
            <a:off x="2423160" y="1261872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</p:sp>
      <p:sp>
        <p:nvSpPr>
          <p:cNvPr id="8" name="txt_1102"/>
          <p:cNvSpPr txBox="1"/>
          <p:nvPr/>
        </p:nvSpPr>
        <p:spPr>
          <a:xfrm>
            <a:off x="2587752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ms</a:t>
            </a:r>
            <a:endParaRPr lang="en-US" sz="3000" dirty="0"/>
          </a:p>
        </p:txBody>
      </p:sp>
      <p:sp>
        <p:nvSpPr>
          <p:cNvPr id="9" name="txt_1103"/>
          <p:cNvSpPr txBox="1"/>
          <p:nvPr/>
        </p:nvSpPr>
        <p:spPr>
          <a:xfrm>
            <a:off x="2587752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</a:rPr>
              <a:t>한 프레임 = 125 Hz</a:t>
            </a:r>
            <a:endParaRPr lang="en-US" sz="1050" dirty="0"/>
          </a:p>
        </p:txBody>
      </p:sp>
      <p:sp>
        <p:nvSpPr>
          <p:cNvPr id="10" name="card_1104"/>
          <p:cNvSpPr/>
          <p:nvPr/>
        </p:nvSpPr>
        <p:spPr>
          <a:xfrm>
            <a:off x="4434840" y="1261872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3F5F7"/>
          </a:solidFill>
          <a:ln/>
        </p:spPr>
      </p:sp>
      <p:sp>
        <p:nvSpPr>
          <p:cNvPr id="11" name="txt_1105"/>
          <p:cNvSpPr txBox="1"/>
          <p:nvPr/>
        </p:nvSpPr>
        <p:spPr>
          <a:xfrm>
            <a:off x="4599432" y="13258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Hz</a:t>
            </a:r>
            <a:endParaRPr lang="en-US" sz="3000" dirty="0"/>
          </a:p>
        </p:txBody>
      </p:sp>
      <p:sp>
        <p:nvSpPr>
          <p:cNvPr id="12" name="txt_1106"/>
          <p:cNvSpPr txBox="1"/>
          <p:nvPr/>
        </p:nvSpPr>
        <p:spPr>
          <a:xfrm>
            <a:off x="4599432" y="18745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5"/>
                </a:solidFill>
              </a:rPr>
              <a:t>DP·설정 자리 점멸</a:t>
            </a:r>
            <a:endParaRPr lang="en-US" sz="10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514600"/>
          <a:ext cx="58978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1732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w_sel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fnd_com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SW1 = 0 화면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SW1 = 1 화면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AN0 · 1110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1/100초 일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분 일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AN1 · 1101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1/100초 십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분 십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AN2 · 1011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초 일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시 일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AN3 · 0111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초 십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228"/>
                          </a:solidFill>
                        </a:rPr>
                        <a:t>시 십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AN0 · 1110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</a:rPr>
                        <a:t>꺼짐 (F)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</a:rPr>
                        <a:t>꺼짐 (F)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AN1 · 1101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</a:rPr>
                        <a:t>꺼짐 (F)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</a:rPr>
                        <a:t>꺼짐 (F)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AN2 · 1011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8A00"/>
                          </a:solidFill>
                        </a:rPr>
                        <a:t>DP만 {111,dot}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08A00"/>
                          </a:solidFill>
                        </a:rPr>
                        <a:t>DP만 {111,dot}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B7A8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AN3 · 0111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</a:rPr>
                        <a:t>꺼짐 (F)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B7A85"/>
                          </a:solidFill>
                        </a:rPr>
                        <a:t>꺼짐 (F)</a:t>
                      </a:r>
                      <a:endParaRPr lang="en-US" sz="1000" dirty="0"/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</a:tr>
            </a:tbl>
          </a:graphicData>
        </a:graphic>
      </p:graphicFrame>
      <p:sp>
        <p:nvSpPr>
          <p:cNvPr id="14" name="txt_1107"/>
          <p:cNvSpPr txBox="1"/>
          <p:nvPr/>
        </p:nvSpPr>
        <p:spPr>
          <a:xfrm>
            <a:off x="411480" y="6035040"/>
            <a:ext cx="5897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A85"/>
                </a:solidFill>
              </a:rPr>
              <a:t>자리마다 데이터 1슬롯 + 빈 슬롯 1개 → 8 ms마다 한 번씩 켜짐. AN2의 둘째 슬롯이 DP 전용.</a:t>
            </a:r>
            <a:endParaRPr lang="en-US" sz="950" dirty="0"/>
          </a:p>
        </p:txBody>
      </p:sp>
      <p:sp>
        <p:nvSpPr>
          <p:cNvPr id="15" name="card_1108"/>
          <p:cNvSpPr/>
          <p:nvPr/>
        </p:nvSpPr>
        <p:spPr>
          <a:xfrm>
            <a:off x="6675120" y="1261872"/>
            <a:ext cx="5102352" cy="2103120"/>
          </a:xfrm>
          <a:prstGeom prst="roundRect">
            <a:avLst>
              <a:gd name="adj" fmla="val 3478"/>
            </a:avLst>
          </a:prstGeom>
          <a:solidFill>
            <a:srgbClr val="FFF2DC"/>
          </a:solidFill>
          <a:ln/>
        </p:spPr>
      </p:sp>
      <p:sp>
        <p:nvSpPr>
          <p:cNvPr id="16" name="txt_1109"/>
          <p:cNvSpPr txBox="1"/>
          <p:nvPr/>
        </p:nvSpPr>
        <p:spPr>
          <a:xfrm>
            <a:off x="6858000" y="13716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28"/>
                </a:solidFill>
              </a:rPr>
              <a:t>설정 자리 깜빡임 (SW2_ANODE_CHOICE)</a:t>
            </a:r>
            <a:endParaRPr lang="en-US" sz="1300" dirty="0"/>
          </a:p>
        </p:txBody>
      </p:sp>
      <p:sp>
        <p:nvSpPr>
          <p:cNvPr id="17" name="rule_1110"/>
          <p:cNvSpPr txBox="1"/>
          <p:nvPr/>
        </p:nvSpPr>
        <p:spPr>
          <a:xfrm>
            <a:off x="6858000" y="17373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  {SW2, SW1, SW0} = 3'b110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3B44"/>
                </a:solidFill>
              </a:rPr>
              <a:t>시계 설정 중 + 시.분 화면일 때만 동작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2E3B44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 = 1 (msec ≥ 50) 인 반 초 동안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3B44"/>
                </a:solidFill>
              </a:rPr>
              <a:t>cursor가 가리키는 자리를 4'hD(꺼짐)로 바꿈 → 1초 주기 깜빡임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2E3B44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E3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 0 → AN0 · 1 → AN1 · 2 → AN2 · 3 → 그대로</a:t>
            </a:r>
            <a:endParaRPr lang="en-US" sz="1100" dirty="0"/>
          </a:p>
        </p:txBody>
      </p:sp>
      <p:sp>
        <p:nvSpPr>
          <p:cNvPr id="18" name="txt_1111"/>
          <p:cNvSpPr txBox="1"/>
          <p:nvPr/>
        </p:nvSpPr>
        <p:spPr>
          <a:xfrm>
            <a:off x="6675120" y="3611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228"/>
                </a:solidFill>
              </a:rPr>
              <a:t>fnd_decoder 코드 (active-low, bit7 = DP)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3931920"/>
          <a:ext cx="5102352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868680"/>
                <a:gridCol w="996696"/>
                <a:gridCol w="685800"/>
                <a:gridCol w="868680"/>
                <a:gridCol w="996696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입력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출력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입력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출력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의미</a:t>
                      </a:r>
                      <a:endParaRPr lang="en-US" sz="100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B4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0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8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1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9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2~7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A4…F8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2~7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 / 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</a:rPr>
                        <a:t>꺼짐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22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7F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08A00"/>
                          </a:solidFill>
                        </a:rPr>
                        <a:t>DP만 켜짐</a:t>
                      </a:r>
                      <a:endParaRPr lang="en-US" sz="950" dirty="0"/>
                    </a:p>
                  </a:txBody>
                  <a:tcPr marL="54864" marR="54864" marT="18288" marB="18288" anchor="ctr">
                    <a:lnL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xt_1112"/>
          <p:cNvSpPr txBox="1"/>
          <p:nvPr/>
        </p:nvSpPr>
        <p:spPr>
          <a:xfrm>
            <a:off x="6675120" y="5760720"/>
            <a:ext cx="5102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5"/>
                </a:solidFill>
              </a:rPr>
              <a:t>dot = 0 → d6 = E → DP 켜짐 / dot = 1 → F → 꺼짐. 그래서 DP는 매초 앞 0.5초 동안 켜진다.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11480" y="23774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A00"/>
                </a:solidFill>
              </a:rPr>
              <a:t>마무리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11480" y="512064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보드에 올린 직후 5분 점검 순서</a:t>
            </a:r>
            <a:endParaRPr lang="en-US" sz="2800" dirty="0"/>
          </a:p>
        </p:txBody>
      </p:sp>
      <p:sp>
        <p:nvSpPr>
          <p:cNvPr id="4" name="card_1113"/>
          <p:cNvSpPr/>
          <p:nvPr/>
        </p:nvSpPr>
        <p:spPr>
          <a:xfrm>
            <a:off x="411480" y="1325880"/>
            <a:ext cx="11365992" cy="841248"/>
          </a:xfrm>
          <a:prstGeom prst="roundRect">
            <a:avLst>
              <a:gd name="adj" fmla="val 8696"/>
            </a:avLst>
          </a:prstGeom>
          <a:solidFill>
            <a:srgbClr val="26333C"/>
          </a:solidFill>
          <a:ln/>
        </p:spPr>
      </p:sp>
      <p:sp>
        <p:nvSpPr>
          <p:cNvPr id="5" name="txt_1114"/>
          <p:cNvSpPr txBox="1"/>
          <p:nvPr/>
        </p:nvSpPr>
        <p:spPr>
          <a:xfrm>
            <a:off x="640080" y="143560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xt_1115"/>
          <p:cNvSpPr txBox="1"/>
          <p:nvPr/>
        </p:nvSpPr>
        <p:spPr>
          <a:xfrm>
            <a:off x="1371600" y="14173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모든 SW = 0, BTNC</a:t>
            </a:r>
            <a:endParaRPr lang="en-US" sz="1700" dirty="0"/>
          </a:p>
        </p:txBody>
      </p:sp>
      <p:sp>
        <p:nvSpPr>
          <p:cNvPr id="7" name="txt_1116"/>
          <p:cNvSpPr txBox="1"/>
          <p:nvPr/>
        </p:nvSpPr>
        <p:spPr>
          <a:xfrm>
            <a:off x="5669280" y="14173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A"/>
                </a:solidFill>
              </a:rPr>
              <a:t>시계 화면(LD0) · 초.1/100초(LD3) — 초가 올라간다</a:t>
            </a:r>
            <a:endParaRPr lang="en-US" sz="1400" dirty="0"/>
          </a:p>
        </p:txBody>
      </p:sp>
      <p:sp>
        <p:nvSpPr>
          <p:cNvPr id="8" name="card_1117"/>
          <p:cNvSpPr/>
          <p:nvPr/>
        </p:nvSpPr>
        <p:spPr>
          <a:xfrm>
            <a:off x="411480" y="2313432"/>
            <a:ext cx="11365992" cy="841248"/>
          </a:xfrm>
          <a:prstGeom prst="roundRect">
            <a:avLst>
              <a:gd name="adj" fmla="val 8696"/>
            </a:avLst>
          </a:prstGeom>
          <a:solidFill>
            <a:srgbClr val="26333C"/>
          </a:solidFill>
          <a:ln/>
        </p:spPr>
      </p:sp>
      <p:sp>
        <p:nvSpPr>
          <p:cNvPr id="9" name="txt_1118"/>
          <p:cNvSpPr txBox="1"/>
          <p:nvPr/>
        </p:nvSpPr>
        <p:spPr>
          <a:xfrm>
            <a:off x="640080" y="242316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xt_1119"/>
          <p:cNvSpPr txBox="1"/>
          <p:nvPr/>
        </p:nvSpPr>
        <p:spPr>
          <a:xfrm>
            <a:off x="1371600" y="2404872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 = 1</a:t>
            </a:r>
            <a:endParaRPr lang="en-US" sz="1700" dirty="0"/>
          </a:p>
        </p:txBody>
      </p:sp>
      <p:sp>
        <p:nvSpPr>
          <p:cNvPr id="11" name="txt_1120"/>
          <p:cNvSpPr txBox="1"/>
          <p:nvPr/>
        </p:nvSpPr>
        <p:spPr>
          <a:xfrm>
            <a:off x="5669280" y="24048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A"/>
                </a:solidFill>
              </a:rPr>
              <a:t>12.00 표시, 가운데 DP가 1초마다 깜빡</a:t>
            </a:r>
            <a:endParaRPr lang="en-US" sz="1400" dirty="0"/>
          </a:p>
        </p:txBody>
      </p:sp>
      <p:sp>
        <p:nvSpPr>
          <p:cNvPr id="12" name="card_1121"/>
          <p:cNvSpPr/>
          <p:nvPr/>
        </p:nvSpPr>
        <p:spPr>
          <a:xfrm>
            <a:off x="411480" y="3300984"/>
            <a:ext cx="11365992" cy="841248"/>
          </a:xfrm>
          <a:prstGeom prst="roundRect">
            <a:avLst>
              <a:gd name="adj" fmla="val 8696"/>
            </a:avLst>
          </a:prstGeom>
          <a:solidFill>
            <a:srgbClr val="26333C"/>
          </a:solidFill>
          <a:ln/>
        </p:spPr>
      </p:sp>
      <p:sp>
        <p:nvSpPr>
          <p:cNvPr id="13" name="txt_1122"/>
          <p:cNvSpPr txBox="1"/>
          <p:nvPr/>
        </p:nvSpPr>
        <p:spPr>
          <a:xfrm>
            <a:off x="640080" y="34107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xt_1123"/>
          <p:cNvSpPr txBox="1"/>
          <p:nvPr/>
        </p:nvSpPr>
        <p:spPr>
          <a:xfrm>
            <a:off x="1371600" y="3392424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SW0 = 1 → BTNR · BTNL</a:t>
            </a:r>
            <a:endParaRPr lang="en-US" sz="1700" dirty="0"/>
          </a:p>
        </p:txBody>
      </p:sp>
      <p:sp>
        <p:nvSpPr>
          <p:cNvPr id="15" name="txt_1124"/>
          <p:cNvSpPr txBox="1"/>
          <p:nvPr/>
        </p:nvSpPr>
        <p:spPr>
          <a:xfrm>
            <a:off x="5669280" y="339242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A"/>
                </a:solidFill>
              </a:rPr>
              <a:t>LD1 · 시작/정지 후 정지 상태에서 초기화</a:t>
            </a:r>
            <a:endParaRPr lang="en-US" sz="1400" dirty="0"/>
          </a:p>
        </p:txBody>
      </p:sp>
      <p:sp>
        <p:nvSpPr>
          <p:cNvPr id="16" name="card_1125"/>
          <p:cNvSpPr/>
          <p:nvPr/>
        </p:nvSpPr>
        <p:spPr>
          <a:xfrm>
            <a:off x="411480" y="4288536"/>
            <a:ext cx="11365992" cy="841248"/>
          </a:xfrm>
          <a:prstGeom prst="roundRect">
            <a:avLst>
              <a:gd name="adj" fmla="val 8696"/>
            </a:avLst>
          </a:prstGeom>
          <a:solidFill>
            <a:srgbClr val="26333C"/>
          </a:solidFill>
          <a:ln/>
        </p:spPr>
      </p:sp>
      <p:sp>
        <p:nvSpPr>
          <p:cNvPr id="17" name="txt_1126"/>
          <p:cNvSpPr txBox="1"/>
          <p:nvPr/>
        </p:nvSpPr>
        <p:spPr>
          <a:xfrm>
            <a:off x="640080" y="43982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xt_1127"/>
          <p:cNvSpPr txBox="1"/>
          <p:nvPr/>
        </p:nvSpPr>
        <p:spPr>
          <a:xfrm>
            <a:off x="1371600" y="4379976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 = 1 → BTNU, BTNL</a:t>
            </a:r>
            <a:endParaRPr lang="en-US" sz="1700" dirty="0"/>
          </a:p>
        </p:txBody>
      </p:sp>
      <p:sp>
        <p:nvSpPr>
          <p:cNvPr id="19" name="txt_1128"/>
          <p:cNvSpPr txBox="1"/>
          <p:nvPr/>
        </p:nvSpPr>
        <p:spPr>
          <a:xfrm>
            <a:off x="5669280" y="437997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A"/>
                </a:solidFill>
              </a:rPr>
              <a:t>LD5 · 1분 추가 후 시작, LD6 점등 → 0에서 16 LED 점멸</a:t>
            </a:r>
            <a:endParaRPr lang="en-US" sz="1400" dirty="0"/>
          </a:p>
        </p:txBody>
      </p:sp>
      <p:sp>
        <p:nvSpPr>
          <p:cNvPr id="20" name="card_1129"/>
          <p:cNvSpPr/>
          <p:nvPr/>
        </p:nvSpPr>
        <p:spPr>
          <a:xfrm>
            <a:off x="411480" y="5276088"/>
            <a:ext cx="11365992" cy="841248"/>
          </a:xfrm>
          <a:prstGeom prst="roundRect">
            <a:avLst>
              <a:gd name="adj" fmla="val 8696"/>
            </a:avLst>
          </a:prstGeom>
          <a:solidFill>
            <a:srgbClr val="26333C"/>
          </a:solidFill>
          <a:ln/>
        </p:spPr>
      </p:sp>
      <p:sp>
        <p:nvSpPr>
          <p:cNvPr id="21" name="txt_1130"/>
          <p:cNvSpPr txBox="1"/>
          <p:nvPr/>
        </p:nvSpPr>
        <p:spPr>
          <a:xfrm>
            <a:off x="640080" y="5385816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08A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3200" dirty="0"/>
          </a:p>
        </p:txBody>
      </p:sp>
      <p:sp>
        <p:nvSpPr>
          <p:cNvPr id="22" name="txt_1131"/>
          <p:cNvSpPr txBox="1"/>
          <p:nvPr/>
        </p:nvSpPr>
        <p:spPr>
          <a:xfrm>
            <a:off x="1371600" y="53675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SW4 = 0, SW0 = 0, SW2 = 1</a:t>
            </a:r>
            <a:endParaRPr lang="en-US" sz="1700" dirty="0"/>
          </a:p>
        </p:txBody>
      </p:sp>
      <p:sp>
        <p:nvSpPr>
          <p:cNvPr id="23" name="txt_1132"/>
          <p:cNvSpPr txBox="1"/>
          <p:nvPr/>
        </p:nvSpPr>
        <p:spPr>
          <a:xfrm>
            <a:off x="5669280" y="536752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A"/>
                </a:solidFill>
              </a:rPr>
              <a:t>L/R로 자리 이동, U/D로 값 변경, 깜빡이는 자리 확인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92240"/>
            <a:ext cx="57607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8E9A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PGA Bench">
  <a:themeElements>
    <a:clrScheme name="FPGA Bench">
      <a:dk1>
        <a:srgbClr val="1B2228"/>
      </a:dk1>
      <a:lt1>
        <a:srgbClr val="FFFFFF"/>
      </a:lt1>
      <a:dk2>
        <a:srgbClr val="2E3B44"/>
      </a:dk2>
      <a:lt2>
        <a:srgbClr val="F3F5F7"/>
      </a:lt2>
      <a:accent1>
        <a:srgbClr val="E08A00"/>
      </a:accent1>
      <a:accent2>
        <a:srgbClr val="0F7C73"/>
      </a:accent2>
      <a:accent3>
        <a:srgbClr val="C8323C"/>
      </a:accent3>
      <a:accent4>
        <a:srgbClr val="5B6B76"/>
      </a:accent4>
      <a:accent5>
        <a:srgbClr val="3D5A80"/>
      </a:accent5>
      <a:accent6>
        <a:srgbClr val="8E9AA3"/>
      </a:accent6>
      <a:hlink>
        <a:srgbClr val="0F7C73"/>
      </a:hlink>
      <a:folHlink>
        <a:srgbClr val="5B6B76"/>
      </a:folHlink>
    </a:clrScheme>
    <a:fontScheme name="FPGA Bench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stopwatch_watch 설계 점검 · Basys3 설명서</dc:title>
  <dc:subject>PptxGenJS Presentation</dc:subject>
  <dc:creator>BEST_Stop_watch_project</dc:creator>
  <cp:lastModifiedBy>BEST_Stop_watch_project</cp:lastModifiedBy>
  <cp:revision>1</cp:revision>
  <dcterms:created xsi:type="dcterms:W3CDTF">2026-10-15T23:09:02Z</dcterms:created>
  <dcterms:modified xsi:type="dcterms:W3CDTF">2026-10-15T23:09:02Z</dcterms:modified>
</cp:coreProperties>
</file>