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8" r:id="rId7"/>
    <p:sldId id="269" r:id="rId8"/>
    <p:sldId id="264" r:id="rId9"/>
    <p:sldId id="265" r:id="rId10"/>
    <p:sldId id="266" r:id="rId11"/>
    <p:sldId id="256" r:id="rId12"/>
    <p:sldId id="267" r:id="rId13"/>
  </p:sldIdLst>
  <p:sldSz cx="18288000" cy="10287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774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라벨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WTS · SR04 · DHT11 · UART</a:t>
            </a:r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라벨"/>
          <p:cNvSpPr txBox="1"/>
          <p:nvPr/>
        </p:nvSpPr>
        <p:spPr>
          <a:xfrm>
            <a:off x="1042415" y="402336"/>
            <a:ext cx="91440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02  시스템 구조 · 보드 입력</a:t>
            </a:r>
          </a:p>
        </p:txBody>
      </p:sp>
      <p:sp>
        <p:nvSpPr>
          <p:cNvPr id="5" name="라벨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스위치 · 버튼 흐름 — /mod 전에는 보드 입력으로 조작</a:t>
            </a:r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7" name="라벨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리셋 후 첫 /mod 전까지 sw0 ~ sw6 이 모드 결정 · 버튼 4 개는 디바운스 → OR → 지금 화면 모듈의 AND 만 통과</a:t>
            </a:r>
          </a:p>
        </p:txBody>
      </p:sp>
      <p:sp>
        <p:nvSpPr>
          <p:cNvPr id="8" name="라벨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9" name="줄 WTS  스톱워치 · 시계 · 타이머"/>
          <p:cNvSpPr/>
          <p:nvPr/>
        </p:nvSpPr>
        <p:spPr>
          <a:xfrm>
            <a:off x="5806440" y="2487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3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라벨"/>
          <p:cNvSpPr txBox="1"/>
          <p:nvPr/>
        </p:nvSpPr>
        <p:spPr>
          <a:xfrm>
            <a:off x="5916168" y="2514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WTS  스톱워치 · 시계 · 타이머</a:t>
            </a:r>
          </a:p>
        </p:txBody>
      </p:sp>
      <p:sp>
        <p:nvSpPr>
          <p:cNvPr id="11" name="줄 SR04  초음파 거리"/>
          <p:cNvSpPr/>
          <p:nvPr/>
        </p:nvSpPr>
        <p:spPr>
          <a:xfrm>
            <a:off x="5806440" y="3630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3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라벨"/>
          <p:cNvSpPr txBox="1"/>
          <p:nvPr/>
        </p:nvSpPr>
        <p:spPr>
          <a:xfrm>
            <a:off x="5916168" y="3657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SR04  초음파 거리</a:t>
            </a:r>
          </a:p>
        </p:txBody>
      </p:sp>
      <p:sp>
        <p:nvSpPr>
          <p:cNvPr id="13" name="줄 DHT11  온습도"/>
          <p:cNvSpPr/>
          <p:nvPr/>
        </p:nvSpPr>
        <p:spPr>
          <a:xfrm>
            <a:off x="5806440" y="4773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3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라벨"/>
          <p:cNvSpPr txBox="1"/>
          <p:nvPr/>
        </p:nvSpPr>
        <p:spPr>
          <a:xfrm>
            <a:off x="5916168" y="4800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DHT11  온습도</a:t>
            </a:r>
          </a:p>
        </p:txBody>
      </p:sp>
      <p:sp>
        <p:nvSpPr>
          <p:cNvPr id="15" name="줄 UART  명령 수신 · 응답 전송  (uart_top)"/>
          <p:cNvSpPr/>
          <p:nvPr/>
        </p:nvSpPr>
        <p:spPr>
          <a:xfrm>
            <a:off x="1600200" y="6355080"/>
            <a:ext cx="15133320" cy="2011680"/>
          </a:xfrm>
          <a:prstGeom prst="roundRect">
            <a:avLst>
              <a:gd name="adj" fmla="val 3636"/>
            </a:avLst>
          </a:prstGeom>
          <a:solidFill>
            <a:srgbClr val="FA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라벨"/>
          <p:cNvSpPr txBox="1"/>
          <p:nvPr/>
        </p:nvSpPr>
        <p:spPr>
          <a:xfrm>
            <a:off x="1709928" y="6382512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  명령 수신 · 응답 전송  (uart_top)</a:t>
            </a:r>
          </a:p>
        </p:txBody>
      </p:sp>
      <p:sp>
        <p:nvSpPr>
          <p:cNvPr id="17" name="라벨"/>
          <p:cNvSpPr txBox="1"/>
          <p:nvPr/>
        </p:nvSpPr>
        <p:spPr>
          <a:xfrm>
            <a:off x="11137392" y="6382512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9600 bps · 8N1</a:t>
            </a:r>
          </a:p>
        </p:txBody>
      </p:sp>
      <p:sp>
        <p:nvSpPr>
          <p:cNvPr id="18" name="태그 clk"/>
          <p:cNvSpPr/>
          <p:nvPr/>
        </p:nvSpPr>
        <p:spPr>
          <a:xfrm>
            <a:off x="411480" y="21031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clk</a:t>
            </a:r>
          </a:p>
        </p:txBody>
      </p:sp>
      <p:cxnSp>
        <p:nvCxnSpPr>
          <p:cNvPr id="19" name="선"/>
          <p:cNvCxnSpPr/>
          <p:nvPr/>
        </p:nvCxnSpPr>
        <p:spPr>
          <a:xfrm>
            <a:off x="1417320" y="2249424"/>
            <a:ext cx="320040" cy="0"/>
          </a:xfrm>
          <a:prstGeom prst="line">
            <a:avLst/>
          </a:prstGeom>
          <a:ln w="31750">
            <a:solidFill>
              <a:srgbClr val="6B46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블록 clock_tick_generator"/>
          <p:cNvSpPr/>
          <p:nvPr/>
        </p:nvSpPr>
        <p:spPr>
          <a:xfrm>
            <a:off x="1737360" y="2057400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6B4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clock_tick_generator</a:t>
            </a:r>
          </a:p>
        </p:txBody>
      </p:sp>
      <p:cxnSp>
        <p:nvCxnSpPr>
          <p:cNvPr id="21" name="선"/>
          <p:cNvCxnSpPr/>
          <p:nvPr/>
        </p:nvCxnSpPr>
        <p:spPr>
          <a:xfrm>
            <a:off x="3429000" y="2249424"/>
            <a:ext cx="11567159" cy="0"/>
          </a:xfrm>
          <a:prstGeom prst="line">
            <a:avLst/>
          </a:prstGeom>
          <a:ln w="31750">
            <a:solidFill>
              <a:srgbClr val="6B46C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선"/>
          <p:cNvCxnSpPr/>
          <p:nvPr/>
        </p:nvCxnSpPr>
        <p:spPr>
          <a:xfrm>
            <a:off x="14996159" y="2249424"/>
            <a:ext cx="0" cy="356616"/>
          </a:xfrm>
          <a:prstGeom prst="line">
            <a:avLst/>
          </a:prstGeom>
          <a:ln w="31750">
            <a:solidFill>
              <a:srgbClr val="6B46C1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라벨"/>
          <p:cNvSpPr txBox="1"/>
          <p:nvPr/>
        </p:nvSpPr>
        <p:spPr>
          <a:xfrm>
            <a:off x="3840480" y="2011680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4 kHz  →  디바운서 · FND 스캔</a:t>
            </a:r>
          </a:p>
        </p:txBody>
      </p:sp>
      <p:cxnSp>
        <p:nvCxnSpPr>
          <p:cNvPr id="24" name="선"/>
          <p:cNvCxnSpPr/>
          <p:nvPr/>
        </p:nvCxnSpPr>
        <p:spPr>
          <a:xfrm>
            <a:off x="2194560" y="2441448"/>
            <a:ext cx="0" cy="118872"/>
          </a:xfrm>
          <a:prstGeom prst="line">
            <a:avLst/>
          </a:prstGeom>
          <a:ln w="31750">
            <a:solidFill>
              <a:srgbClr val="6B46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태그 btn_R"/>
          <p:cNvSpPr/>
          <p:nvPr/>
        </p:nvSpPr>
        <p:spPr>
          <a:xfrm>
            <a:off x="411480" y="263347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btn_R</a:t>
            </a:r>
          </a:p>
        </p:txBody>
      </p:sp>
      <p:cxnSp>
        <p:nvCxnSpPr>
          <p:cNvPr id="26" name="선"/>
          <p:cNvCxnSpPr/>
          <p:nvPr/>
        </p:nvCxnSpPr>
        <p:spPr>
          <a:xfrm>
            <a:off x="1417320" y="2779776"/>
            <a:ext cx="320040" cy="0"/>
          </a:xfrm>
          <a:prstGeom prst="line">
            <a:avLst/>
          </a:prstGeom>
          <a:ln w="31750">
            <a:solidFill>
              <a:srgbClr val="6B46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태그 btn_L"/>
          <p:cNvSpPr/>
          <p:nvPr/>
        </p:nvSpPr>
        <p:spPr>
          <a:xfrm>
            <a:off x="411480" y="299923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btn_L</a:t>
            </a:r>
          </a:p>
        </p:txBody>
      </p:sp>
      <p:cxnSp>
        <p:nvCxnSpPr>
          <p:cNvPr id="28" name="선"/>
          <p:cNvCxnSpPr/>
          <p:nvPr/>
        </p:nvCxnSpPr>
        <p:spPr>
          <a:xfrm>
            <a:off x="1417320" y="3145536"/>
            <a:ext cx="320040" cy="0"/>
          </a:xfrm>
          <a:prstGeom prst="line">
            <a:avLst/>
          </a:prstGeom>
          <a:ln w="31750">
            <a:solidFill>
              <a:srgbClr val="6B46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태그 btn_U"/>
          <p:cNvSpPr/>
          <p:nvPr/>
        </p:nvSpPr>
        <p:spPr>
          <a:xfrm>
            <a:off x="411480" y="3364991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btn_U</a:t>
            </a:r>
          </a:p>
        </p:txBody>
      </p:sp>
      <p:cxnSp>
        <p:nvCxnSpPr>
          <p:cNvPr id="30" name="선"/>
          <p:cNvCxnSpPr/>
          <p:nvPr/>
        </p:nvCxnSpPr>
        <p:spPr>
          <a:xfrm>
            <a:off x="1417320" y="3511296"/>
            <a:ext cx="320040" cy="0"/>
          </a:xfrm>
          <a:prstGeom prst="line">
            <a:avLst/>
          </a:prstGeom>
          <a:ln w="31750">
            <a:solidFill>
              <a:srgbClr val="6B46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태그 btn_D"/>
          <p:cNvSpPr/>
          <p:nvPr/>
        </p:nvSpPr>
        <p:spPr>
          <a:xfrm>
            <a:off x="411480" y="373075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btn_D</a:t>
            </a:r>
          </a:p>
        </p:txBody>
      </p:sp>
      <p:cxnSp>
        <p:nvCxnSpPr>
          <p:cNvPr id="32" name="선"/>
          <p:cNvCxnSpPr/>
          <p:nvPr/>
        </p:nvCxnSpPr>
        <p:spPr>
          <a:xfrm>
            <a:off x="1417320" y="3877056"/>
            <a:ext cx="320040" cy="0"/>
          </a:xfrm>
          <a:prstGeom prst="line">
            <a:avLst/>
          </a:prstGeom>
          <a:ln w="31750">
            <a:solidFill>
              <a:srgbClr val="6B46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블록 btn_debounce&#10;×4"/>
          <p:cNvSpPr/>
          <p:nvPr/>
        </p:nvSpPr>
        <p:spPr>
          <a:xfrm>
            <a:off x="1737360" y="2560320"/>
            <a:ext cx="1371600" cy="1481328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8575">
            <a:solidFill>
              <a:srgbClr val="6B4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btn_debounce</a:t>
            </a:r>
          </a:p>
          <a:p>
            <a:pPr algn="ctr"/>
            <a:r>
              <a:rPr sz="12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×4</a:t>
            </a:r>
          </a:p>
        </p:txBody>
      </p:sp>
      <p:cxnSp>
        <p:nvCxnSpPr>
          <p:cNvPr id="34" name="선"/>
          <p:cNvCxnSpPr/>
          <p:nvPr/>
        </p:nvCxnSpPr>
        <p:spPr>
          <a:xfrm>
            <a:off x="3108960" y="3163824"/>
            <a:ext cx="868679" cy="0"/>
          </a:xfrm>
          <a:prstGeom prst="line">
            <a:avLst/>
          </a:prstGeom>
          <a:ln w="31750">
            <a:solidFill>
              <a:srgbClr val="6B46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라벨"/>
          <p:cNvSpPr txBox="1"/>
          <p:nvPr/>
        </p:nvSpPr>
        <p:spPr>
          <a:xfrm>
            <a:off x="3182112" y="2907792"/>
            <a:ext cx="8229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phy_btn</a:t>
            </a:r>
          </a:p>
        </p:txBody>
      </p:sp>
      <p:sp>
        <p:nvSpPr>
          <p:cNvPr id="36" name="게이트"/>
          <p:cNvSpPr/>
          <p:nvPr/>
        </p:nvSpPr>
        <p:spPr>
          <a:xfrm>
            <a:off x="3977639" y="3026664"/>
            <a:ext cx="548640" cy="548640"/>
          </a:xfrm>
          <a:prstGeom prst="flowChartDelay">
            <a:avLst/>
          </a:prstGeom>
          <a:solidFill>
            <a:srgbClr val="6B46C1"/>
          </a:solidFill>
          <a:ln w="22225">
            <a:solidFill>
              <a:srgbClr val="6B4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≥1</a:t>
            </a:r>
          </a:p>
        </p:txBody>
      </p:sp>
      <p:cxnSp>
        <p:nvCxnSpPr>
          <p:cNvPr id="37" name="선"/>
          <p:cNvCxnSpPr/>
          <p:nvPr/>
        </p:nvCxnSpPr>
        <p:spPr>
          <a:xfrm>
            <a:off x="4526280" y="3300984"/>
            <a:ext cx="182880" cy="0"/>
          </a:xfrm>
          <a:prstGeom prst="line">
            <a:avLst/>
          </a:prstGeom>
          <a:ln w="31750">
            <a:solidFill>
              <a:srgbClr val="6B46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선"/>
          <p:cNvCxnSpPr/>
          <p:nvPr/>
        </p:nvCxnSpPr>
        <p:spPr>
          <a:xfrm>
            <a:off x="4709160" y="2967228"/>
            <a:ext cx="0" cy="2285999"/>
          </a:xfrm>
          <a:prstGeom prst="line">
            <a:avLst/>
          </a:prstGeom>
          <a:ln w="31750">
            <a:solidFill>
              <a:srgbClr val="6B46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접점"/>
          <p:cNvSpPr/>
          <p:nvPr/>
        </p:nvSpPr>
        <p:spPr>
          <a:xfrm>
            <a:off x="4668012" y="3259836"/>
            <a:ext cx="82296" cy="82296"/>
          </a:xfrm>
          <a:prstGeom prst="ellipse">
            <a:avLst/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선"/>
          <p:cNvCxnSpPr/>
          <p:nvPr/>
        </p:nvCxnSpPr>
        <p:spPr>
          <a:xfrm>
            <a:off x="3611880" y="4965192"/>
            <a:ext cx="1280160" cy="0"/>
          </a:xfrm>
          <a:prstGeom prst="line">
            <a:avLst/>
          </a:prstGeom>
          <a:ln w="31750">
            <a:solidFill>
              <a:srgbClr val="6B46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선"/>
          <p:cNvCxnSpPr/>
          <p:nvPr/>
        </p:nvCxnSpPr>
        <p:spPr>
          <a:xfrm>
            <a:off x="4892040" y="3241548"/>
            <a:ext cx="0" cy="2286000"/>
          </a:xfrm>
          <a:prstGeom prst="line">
            <a:avLst/>
          </a:prstGeom>
          <a:ln w="31750">
            <a:solidFill>
              <a:srgbClr val="6B46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접점"/>
          <p:cNvSpPr/>
          <p:nvPr/>
        </p:nvSpPr>
        <p:spPr>
          <a:xfrm>
            <a:off x="4850892" y="4924044"/>
            <a:ext cx="82296" cy="82296"/>
          </a:xfrm>
          <a:prstGeom prst="ellipse">
            <a:avLst/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3" name="선"/>
          <p:cNvCxnSpPr/>
          <p:nvPr/>
        </p:nvCxnSpPr>
        <p:spPr>
          <a:xfrm>
            <a:off x="4709160" y="2967228"/>
            <a:ext cx="365760" cy="0"/>
          </a:xfrm>
          <a:prstGeom prst="line">
            <a:avLst/>
          </a:prstGeom>
          <a:ln w="31750">
            <a:solidFill>
              <a:srgbClr val="6B46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선"/>
          <p:cNvCxnSpPr/>
          <p:nvPr/>
        </p:nvCxnSpPr>
        <p:spPr>
          <a:xfrm>
            <a:off x="4892040" y="3241548"/>
            <a:ext cx="182880" cy="0"/>
          </a:xfrm>
          <a:prstGeom prst="line">
            <a:avLst/>
          </a:prstGeom>
          <a:ln w="31750">
            <a:solidFill>
              <a:srgbClr val="6B46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접점"/>
          <p:cNvSpPr/>
          <p:nvPr/>
        </p:nvSpPr>
        <p:spPr>
          <a:xfrm>
            <a:off x="4850892" y="3200400"/>
            <a:ext cx="82296" cy="82296"/>
          </a:xfrm>
          <a:prstGeom prst="ellipse">
            <a:avLst/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게이트"/>
          <p:cNvSpPr/>
          <p:nvPr/>
        </p:nvSpPr>
        <p:spPr>
          <a:xfrm>
            <a:off x="5074920" y="2830068"/>
            <a:ext cx="548640" cy="548640"/>
          </a:xfrm>
          <a:prstGeom prst="flowChartDelay">
            <a:avLst/>
          </a:prstGeom>
          <a:solidFill>
            <a:srgbClr val="6B46C1"/>
          </a:solidFill>
          <a:ln w="22225">
            <a:solidFill>
              <a:srgbClr val="6B4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47" name="라벨"/>
          <p:cNvSpPr txBox="1"/>
          <p:nvPr/>
        </p:nvSpPr>
        <p:spPr>
          <a:xfrm>
            <a:off x="5029200" y="33878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mode_wts</a:t>
            </a:r>
          </a:p>
        </p:txBody>
      </p:sp>
      <p:cxnSp>
        <p:nvCxnSpPr>
          <p:cNvPr id="48" name="선"/>
          <p:cNvCxnSpPr/>
          <p:nvPr/>
        </p:nvCxnSpPr>
        <p:spPr>
          <a:xfrm>
            <a:off x="5623560" y="3104388"/>
            <a:ext cx="731520" cy="0"/>
          </a:xfrm>
          <a:prstGeom prst="line">
            <a:avLst/>
          </a:prstGeom>
          <a:ln w="31750">
            <a:solidFill>
              <a:srgbClr val="6B46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라벨"/>
          <p:cNvSpPr txBox="1"/>
          <p:nvPr/>
        </p:nvSpPr>
        <p:spPr>
          <a:xfrm>
            <a:off x="5669280" y="2839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R·L·U·D</a:t>
            </a:r>
          </a:p>
        </p:txBody>
      </p:sp>
      <p:cxnSp>
        <p:nvCxnSpPr>
          <p:cNvPr id="50" name="선"/>
          <p:cNvCxnSpPr/>
          <p:nvPr/>
        </p:nvCxnSpPr>
        <p:spPr>
          <a:xfrm>
            <a:off x="4709160" y="4110228"/>
            <a:ext cx="365760" cy="0"/>
          </a:xfrm>
          <a:prstGeom prst="line">
            <a:avLst/>
          </a:prstGeom>
          <a:ln w="31750">
            <a:solidFill>
              <a:srgbClr val="6B46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접점"/>
          <p:cNvSpPr/>
          <p:nvPr/>
        </p:nvSpPr>
        <p:spPr>
          <a:xfrm>
            <a:off x="4668012" y="4069080"/>
            <a:ext cx="82296" cy="82296"/>
          </a:xfrm>
          <a:prstGeom prst="ellipse">
            <a:avLst/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2" name="선"/>
          <p:cNvCxnSpPr/>
          <p:nvPr/>
        </p:nvCxnSpPr>
        <p:spPr>
          <a:xfrm>
            <a:off x="4892040" y="4384548"/>
            <a:ext cx="182880" cy="0"/>
          </a:xfrm>
          <a:prstGeom prst="line">
            <a:avLst/>
          </a:prstGeom>
          <a:ln w="31750">
            <a:solidFill>
              <a:srgbClr val="6B46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접점"/>
          <p:cNvSpPr/>
          <p:nvPr/>
        </p:nvSpPr>
        <p:spPr>
          <a:xfrm>
            <a:off x="4850892" y="4343400"/>
            <a:ext cx="82296" cy="82296"/>
          </a:xfrm>
          <a:prstGeom prst="ellipse">
            <a:avLst/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게이트"/>
          <p:cNvSpPr/>
          <p:nvPr/>
        </p:nvSpPr>
        <p:spPr>
          <a:xfrm>
            <a:off x="5074920" y="3973068"/>
            <a:ext cx="548640" cy="548640"/>
          </a:xfrm>
          <a:prstGeom prst="flowChartDelay">
            <a:avLst/>
          </a:prstGeom>
          <a:solidFill>
            <a:srgbClr val="6B46C1"/>
          </a:solidFill>
          <a:ln w="22225">
            <a:solidFill>
              <a:srgbClr val="6B4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55" name="라벨"/>
          <p:cNvSpPr txBox="1"/>
          <p:nvPr/>
        </p:nvSpPr>
        <p:spPr>
          <a:xfrm>
            <a:off x="5029200" y="45308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mode_dist</a:t>
            </a:r>
          </a:p>
        </p:txBody>
      </p:sp>
      <p:cxnSp>
        <p:nvCxnSpPr>
          <p:cNvPr id="56" name="선"/>
          <p:cNvCxnSpPr/>
          <p:nvPr/>
        </p:nvCxnSpPr>
        <p:spPr>
          <a:xfrm>
            <a:off x="5623560" y="4247388"/>
            <a:ext cx="731520" cy="0"/>
          </a:xfrm>
          <a:prstGeom prst="line">
            <a:avLst/>
          </a:prstGeom>
          <a:ln w="31750">
            <a:solidFill>
              <a:srgbClr val="6B46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라벨"/>
          <p:cNvSpPr txBox="1"/>
          <p:nvPr/>
        </p:nvSpPr>
        <p:spPr>
          <a:xfrm>
            <a:off x="5669280" y="3982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cxnSp>
        <p:nvCxnSpPr>
          <p:cNvPr id="58" name="선"/>
          <p:cNvCxnSpPr/>
          <p:nvPr/>
        </p:nvCxnSpPr>
        <p:spPr>
          <a:xfrm>
            <a:off x="4709160" y="5253227"/>
            <a:ext cx="365760" cy="0"/>
          </a:xfrm>
          <a:prstGeom prst="line">
            <a:avLst/>
          </a:prstGeom>
          <a:ln w="31750">
            <a:solidFill>
              <a:srgbClr val="6B46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접점"/>
          <p:cNvSpPr/>
          <p:nvPr/>
        </p:nvSpPr>
        <p:spPr>
          <a:xfrm>
            <a:off x="4668012" y="5212079"/>
            <a:ext cx="82296" cy="82296"/>
          </a:xfrm>
          <a:prstGeom prst="ellipse">
            <a:avLst/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0" name="선"/>
          <p:cNvCxnSpPr/>
          <p:nvPr/>
        </p:nvCxnSpPr>
        <p:spPr>
          <a:xfrm>
            <a:off x="4892040" y="5527548"/>
            <a:ext cx="182880" cy="0"/>
          </a:xfrm>
          <a:prstGeom prst="line">
            <a:avLst/>
          </a:prstGeom>
          <a:ln w="31750">
            <a:solidFill>
              <a:srgbClr val="6B46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게이트"/>
          <p:cNvSpPr/>
          <p:nvPr/>
        </p:nvSpPr>
        <p:spPr>
          <a:xfrm>
            <a:off x="5074920" y="5116068"/>
            <a:ext cx="548640" cy="548640"/>
          </a:xfrm>
          <a:prstGeom prst="flowChartDelay">
            <a:avLst/>
          </a:prstGeom>
          <a:solidFill>
            <a:srgbClr val="6B46C1"/>
          </a:solidFill>
          <a:ln w="22225">
            <a:solidFill>
              <a:srgbClr val="6B4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62" name="라벨"/>
          <p:cNvSpPr txBox="1"/>
          <p:nvPr/>
        </p:nvSpPr>
        <p:spPr>
          <a:xfrm>
            <a:off x="5029200" y="5673851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mode_dht</a:t>
            </a:r>
          </a:p>
        </p:txBody>
      </p:sp>
      <p:cxnSp>
        <p:nvCxnSpPr>
          <p:cNvPr id="63" name="선"/>
          <p:cNvCxnSpPr/>
          <p:nvPr/>
        </p:nvCxnSpPr>
        <p:spPr>
          <a:xfrm>
            <a:off x="5623560" y="5390388"/>
            <a:ext cx="731520" cy="0"/>
          </a:xfrm>
          <a:prstGeom prst="line">
            <a:avLst/>
          </a:prstGeom>
          <a:ln w="31750">
            <a:solidFill>
              <a:srgbClr val="6B46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라벨"/>
          <p:cNvSpPr txBox="1"/>
          <p:nvPr/>
        </p:nvSpPr>
        <p:spPr>
          <a:xfrm>
            <a:off x="5669280" y="5125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sp>
        <p:nvSpPr>
          <p:cNvPr id="65" name="모드 선택 칸"/>
          <p:cNvSpPr/>
          <p:nvPr/>
        </p:nvSpPr>
        <p:spPr>
          <a:xfrm>
            <a:off x="1600200" y="4160520"/>
            <a:ext cx="2103120" cy="1481328"/>
          </a:xfrm>
          <a:prstGeom prst="roundRect">
            <a:avLst>
              <a:gd name="adj" fmla="val 4938"/>
            </a:avLst>
          </a:prstGeom>
          <a:solidFill>
            <a:srgbClr val="FBFBFC"/>
          </a:solidFill>
          <a:ln w="12700">
            <a:solidFill>
              <a:srgbClr val="C8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라벨"/>
          <p:cNvSpPr txBox="1"/>
          <p:nvPr/>
        </p:nvSpPr>
        <p:spPr>
          <a:xfrm>
            <a:off x="1664208" y="417880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모드 선택</a:t>
            </a:r>
          </a:p>
        </p:txBody>
      </p:sp>
      <p:sp>
        <p:nvSpPr>
          <p:cNvPr id="67" name="태그 sw0 ~ sw6"/>
          <p:cNvSpPr/>
          <p:nvPr/>
        </p:nvSpPr>
        <p:spPr>
          <a:xfrm>
            <a:off x="411480" y="4498848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sw0 ~ sw6</a:t>
            </a:r>
          </a:p>
        </p:txBody>
      </p:sp>
      <p:cxnSp>
        <p:nvCxnSpPr>
          <p:cNvPr id="68" name="선"/>
          <p:cNvCxnSpPr/>
          <p:nvPr/>
        </p:nvCxnSpPr>
        <p:spPr>
          <a:xfrm>
            <a:off x="1417320" y="4645152"/>
            <a:ext cx="548640" cy="0"/>
          </a:xfrm>
          <a:prstGeom prst="line">
            <a:avLst/>
          </a:prstGeom>
          <a:ln w="31750">
            <a:solidFill>
              <a:srgbClr val="6B46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MUX 모드"/>
          <p:cNvSpPr/>
          <p:nvPr/>
        </p:nvSpPr>
        <p:spPr>
          <a:xfrm>
            <a:off x="1965960" y="4480560"/>
            <a:ext cx="457200" cy="987552"/>
          </a:xfrm>
          <a:custGeom>
            <a:avLst/>
            <a:gdLst/>
            <a:ahLst/>
            <a:cxnLst/>
            <a:rect l="l" t="t" r="r" b="b"/>
            <a:pathLst>
              <a:path w="457200" h="987552">
                <a:moveTo>
                  <a:pt x="0" y="0"/>
                </a:moveTo>
                <a:lnTo>
                  <a:pt x="457200" y="109728"/>
                </a:lnTo>
                <a:lnTo>
                  <a:pt x="457200" y="877824"/>
                </a:lnTo>
                <a:lnTo>
                  <a:pt x="0" y="987552"/>
                </a:lnTo>
                <a:lnTo>
                  <a:pt x="0" y="0"/>
                </a:lnTo>
                <a:close/>
              </a:path>
            </a:pathLst>
          </a:custGeom>
          <a:solidFill>
            <a:srgbClr val="F3EEFF"/>
          </a:solidFill>
          <a:ln w="19050">
            <a:solidFill>
              <a:srgbClr val="6B4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라벨"/>
          <p:cNvSpPr txBox="1"/>
          <p:nvPr/>
        </p:nvSpPr>
        <p:spPr>
          <a:xfrm>
            <a:off x="2020824" y="4526280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71" name="라벨"/>
          <p:cNvSpPr txBox="1"/>
          <p:nvPr/>
        </p:nvSpPr>
        <p:spPr>
          <a:xfrm>
            <a:off x="2020824" y="5093208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72" name="라벨"/>
          <p:cNvSpPr txBox="1"/>
          <p:nvPr/>
        </p:nvSpPr>
        <p:spPr>
          <a:xfrm>
            <a:off x="2423160" y="418795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2:1 × 7 bit</a:t>
            </a:r>
          </a:p>
        </p:txBody>
      </p:sp>
      <p:cxnSp>
        <p:nvCxnSpPr>
          <p:cNvPr id="73" name="선"/>
          <p:cNvCxnSpPr/>
          <p:nvPr/>
        </p:nvCxnSpPr>
        <p:spPr>
          <a:xfrm>
            <a:off x="2423160" y="4965192"/>
            <a:ext cx="274320" cy="0"/>
          </a:xfrm>
          <a:prstGeom prst="line">
            <a:avLst/>
          </a:prstGeom>
          <a:ln w="31750">
            <a:solidFill>
              <a:srgbClr val="6B46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블록 모드&#10;디코드"/>
          <p:cNvSpPr/>
          <p:nvPr/>
        </p:nvSpPr>
        <p:spPr>
          <a:xfrm>
            <a:off x="2697480" y="4663440"/>
            <a:ext cx="914400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6B4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모드</a:t>
            </a:r>
          </a:p>
          <a:p>
            <a:pPr algn="ctr"/>
            <a:r>
              <a:rPr sz="11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디코드</a:t>
            </a:r>
          </a:p>
        </p:txBody>
      </p:sp>
      <p:sp>
        <p:nvSpPr>
          <p:cNvPr id="75" name="라벨"/>
          <p:cNvSpPr txBox="1"/>
          <p:nvPr/>
        </p:nvSpPr>
        <p:spPr>
          <a:xfrm>
            <a:off x="2331720" y="5340096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50" b="1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→ mode_* · disp_sel</a:t>
            </a:r>
          </a:p>
        </p:txBody>
      </p:sp>
      <p:sp>
        <p:nvSpPr>
          <p:cNvPr id="76" name="블록 wts_top"/>
          <p:cNvSpPr/>
          <p:nvPr/>
        </p:nvSpPr>
        <p:spPr>
          <a:xfrm>
            <a:off x="6355080" y="2761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FFFFF"/>
          </a:solidFill>
          <a:ln w="28575">
            <a:solidFill>
              <a:srgbClr val="6B4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wts_top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control_unit · datapath × 3</a:t>
            </a:r>
          </a:p>
        </p:txBody>
      </p:sp>
      <p:cxnSp>
        <p:nvCxnSpPr>
          <p:cNvPr id="77" name="선"/>
          <p:cNvCxnSpPr/>
          <p:nvPr/>
        </p:nvCxnSpPr>
        <p:spPr>
          <a:xfrm>
            <a:off x="8549640" y="3104388"/>
            <a:ext cx="3611880" cy="0"/>
          </a:xfrm>
          <a:prstGeom prst="line">
            <a:avLst/>
          </a:prstGeom>
          <a:ln w="31750">
            <a:solidFill>
              <a:srgbClr val="6B46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라벨"/>
          <p:cNvSpPr txBox="1"/>
          <p:nvPr/>
        </p:nvSpPr>
        <p:spPr>
          <a:xfrm>
            <a:off x="8686800" y="2839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disp  시 · 분 · 초 · 1/100</a:t>
            </a:r>
          </a:p>
        </p:txBody>
      </p:sp>
      <p:sp>
        <p:nvSpPr>
          <p:cNvPr id="79" name="라벨"/>
          <p:cNvSpPr txBox="1"/>
          <p:nvPr/>
        </p:nvSpPr>
        <p:spPr>
          <a:xfrm>
            <a:off x="8686800" y="3150108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← ctrl_bit[4:0]  (sw0 · sw1 · sw2 · sw3 · sw4)</a:t>
            </a:r>
          </a:p>
        </p:txBody>
      </p:sp>
      <p:sp>
        <p:nvSpPr>
          <p:cNvPr id="80" name="블록 sr04_top"/>
          <p:cNvSpPr/>
          <p:nvPr/>
        </p:nvSpPr>
        <p:spPr>
          <a:xfrm>
            <a:off x="6355080" y="3904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FFFFF"/>
          </a:solidFill>
          <a:ln w="28575">
            <a:solidFill>
              <a:srgbClr val="6B4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sr04_top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core · mode_ctrl · led_bar</a:t>
            </a:r>
          </a:p>
        </p:txBody>
      </p:sp>
      <p:cxnSp>
        <p:nvCxnSpPr>
          <p:cNvPr id="81" name="선"/>
          <p:cNvCxnSpPr/>
          <p:nvPr/>
        </p:nvCxnSpPr>
        <p:spPr>
          <a:xfrm>
            <a:off x="8549640" y="4247388"/>
            <a:ext cx="3611880" cy="0"/>
          </a:xfrm>
          <a:prstGeom prst="line">
            <a:avLst/>
          </a:prstGeom>
          <a:ln w="31750">
            <a:solidFill>
              <a:srgbClr val="6B46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라벨"/>
          <p:cNvSpPr txBox="1"/>
          <p:nvPr/>
        </p:nvSpPr>
        <p:spPr>
          <a:xfrm>
            <a:off x="8686800" y="3982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distance_x10 · err · status</a:t>
            </a:r>
          </a:p>
        </p:txBody>
      </p:sp>
      <p:sp>
        <p:nvSpPr>
          <p:cNvPr id="83" name="라벨"/>
          <p:cNvSpPr txBox="1"/>
          <p:nvPr/>
        </p:nvSpPr>
        <p:spPr>
          <a:xfrm>
            <a:off x="8686800" y="4293108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trig → JA1 · echo ← JA2 · sw15 = 거리 막대 LED</a:t>
            </a:r>
          </a:p>
        </p:txBody>
      </p:sp>
      <p:sp>
        <p:nvSpPr>
          <p:cNvPr id="84" name="블록 dht11_top"/>
          <p:cNvSpPr/>
          <p:nvPr/>
        </p:nvSpPr>
        <p:spPr>
          <a:xfrm>
            <a:off x="6355080" y="5047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FFFFF"/>
          </a:solidFill>
          <a:ln w="28575">
            <a:solidFill>
              <a:srgbClr val="6B4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dht11_top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core · controller · manager</a:t>
            </a:r>
          </a:p>
        </p:txBody>
      </p:sp>
      <p:cxnSp>
        <p:nvCxnSpPr>
          <p:cNvPr id="85" name="선"/>
          <p:cNvCxnSpPr/>
          <p:nvPr/>
        </p:nvCxnSpPr>
        <p:spPr>
          <a:xfrm>
            <a:off x="8549640" y="5390388"/>
            <a:ext cx="3611880" cy="0"/>
          </a:xfrm>
          <a:prstGeom prst="line">
            <a:avLst/>
          </a:prstGeom>
          <a:ln w="31750">
            <a:solidFill>
              <a:srgbClr val="6B46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라벨"/>
          <p:cNvSpPr txBox="1"/>
          <p:nvPr/>
        </p:nvSpPr>
        <p:spPr>
          <a:xfrm>
            <a:off x="8686800" y="5125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fnd_data · dashes · err</a:t>
            </a:r>
          </a:p>
        </p:txBody>
      </p:sp>
      <p:sp>
        <p:nvSpPr>
          <p:cNvPr id="87" name="라벨"/>
          <p:cNvSpPr txBox="1"/>
          <p:nvPr/>
        </p:nvSpPr>
        <p:spPr>
          <a:xfrm>
            <a:off x="8686800" y="5436107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dht11_io ↔ JXADC3 (M2)</a:t>
            </a:r>
          </a:p>
        </p:txBody>
      </p:sp>
      <p:sp>
        <p:nvSpPr>
          <p:cNvPr id="88" name="MUX FND"/>
          <p:cNvSpPr/>
          <p:nvPr/>
        </p:nvSpPr>
        <p:spPr>
          <a:xfrm>
            <a:off x="12161520" y="2606040"/>
            <a:ext cx="640080" cy="3108960"/>
          </a:xfrm>
          <a:custGeom>
            <a:avLst/>
            <a:gdLst/>
            <a:ahLst/>
            <a:cxnLst/>
            <a:rect l="l" t="t" r="r" b="b"/>
            <a:pathLst>
              <a:path w="640080" h="3108960">
                <a:moveTo>
                  <a:pt x="0" y="0"/>
                </a:moveTo>
                <a:lnTo>
                  <a:pt x="640080" y="228600"/>
                </a:lnTo>
                <a:lnTo>
                  <a:pt x="640080" y="2880360"/>
                </a:lnTo>
                <a:lnTo>
                  <a:pt x="0" y="3108960"/>
                </a:lnTo>
                <a:lnTo>
                  <a:pt x="0" y="0"/>
                </a:lnTo>
                <a:close/>
              </a:path>
            </a:pathLst>
          </a:custGeom>
          <a:solidFill>
            <a:srgbClr val="F3EEFF"/>
          </a:solidFill>
          <a:ln w="19050">
            <a:solidFill>
              <a:srgbClr val="6B4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라벨"/>
          <p:cNvSpPr txBox="1"/>
          <p:nvPr/>
        </p:nvSpPr>
        <p:spPr>
          <a:xfrm>
            <a:off x="12216384" y="298551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90" name="라벨"/>
          <p:cNvSpPr txBox="1"/>
          <p:nvPr/>
        </p:nvSpPr>
        <p:spPr>
          <a:xfrm>
            <a:off x="12216384" y="412851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1" name="라벨"/>
          <p:cNvSpPr txBox="1"/>
          <p:nvPr/>
        </p:nvSpPr>
        <p:spPr>
          <a:xfrm>
            <a:off x="12216384" y="527151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92" name="라벨"/>
          <p:cNvSpPr txBox="1"/>
          <p:nvPr/>
        </p:nvSpPr>
        <p:spPr>
          <a:xfrm>
            <a:off x="11978640" y="5742432"/>
            <a:ext cx="2011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FND MUX  3:1 × 25 bit</a:t>
            </a:r>
          </a:p>
        </p:txBody>
      </p:sp>
      <p:sp>
        <p:nvSpPr>
          <p:cNvPr id="93" name="라벨"/>
          <p:cNvSpPr txBox="1"/>
          <p:nvPr/>
        </p:nvSpPr>
        <p:spPr>
          <a:xfrm>
            <a:off x="11978640" y="5961888"/>
            <a:ext cx="2011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sel = disp_sel (2 bit)</a:t>
            </a:r>
          </a:p>
        </p:txBody>
      </p:sp>
      <p:cxnSp>
        <p:nvCxnSpPr>
          <p:cNvPr id="94" name="선"/>
          <p:cNvCxnSpPr/>
          <p:nvPr/>
        </p:nvCxnSpPr>
        <p:spPr>
          <a:xfrm>
            <a:off x="12801600" y="3017520"/>
            <a:ext cx="1280160" cy="0"/>
          </a:xfrm>
          <a:prstGeom prst="line">
            <a:avLst/>
          </a:prstGeom>
          <a:ln w="31750">
            <a:solidFill>
              <a:srgbClr val="6B46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라벨"/>
          <p:cNvSpPr txBox="1"/>
          <p:nvPr/>
        </p:nvSpPr>
        <p:spPr>
          <a:xfrm>
            <a:off x="12874752" y="277063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fnd_data</a:t>
            </a:r>
          </a:p>
        </p:txBody>
      </p:sp>
      <p:sp>
        <p:nvSpPr>
          <p:cNvPr id="96" name="블록 FND&#10;컨트롤러"/>
          <p:cNvSpPr/>
          <p:nvPr/>
        </p:nvSpPr>
        <p:spPr>
          <a:xfrm>
            <a:off x="14081760" y="2606040"/>
            <a:ext cx="182880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28575">
            <a:solidFill>
              <a:srgbClr val="6B4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FND</a:t>
            </a:r>
          </a:p>
          <a:p>
            <a:pPr algn="ctr"/>
            <a:r>
              <a:rPr sz="14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컨트롤러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SW2_FND_CONTROLLER</a:t>
            </a:r>
          </a:p>
        </p:txBody>
      </p:sp>
      <p:sp>
        <p:nvSpPr>
          <p:cNvPr id="97" name="태그 disp_sel"/>
          <p:cNvSpPr/>
          <p:nvPr/>
        </p:nvSpPr>
        <p:spPr>
          <a:xfrm>
            <a:off x="13167360" y="325526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98" name="태그 wt_cursor"/>
          <p:cNvSpPr/>
          <p:nvPr/>
        </p:nvSpPr>
        <p:spPr>
          <a:xfrm>
            <a:off x="13167360" y="354787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wt_cursor</a:t>
            </a:r>
          </a:p>
        </p:txBody>
      </p:sp>
      <p:sp>
        <p:nvSpPr>
          <p:cNvPr id="99" name="태그 set_sw2"/>
          <p:cNvSpPr/>
          <p:nvPr/>
        </p:nvSpPr>
        <p:spPr>
          <a:xfrm>
            <a:off x="13167360" y="384048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set_sw2</a:t>
            </a:r>
          </a:p>
        </p:txBody>
      </p:sp>
      <p:cxnSp>
        <p:nvCxnSpPr>
          <p:cNvPr id="100" name="선"/>
          <p:cNvCxnSpPr/>
          <p:nvPr/>
        </p:nvCxnSpPr>
        <p:spPr>
          <a:xfrm>
            <a:off x="15910559" y="3054096"/>
            <a:ext cx="411481" cy="0"/>
          </a:xfrm>
          <a:prstGeom prst="line">
            <a:avLst/>
          </a:prstGeom>
          <a:ln w="31750">
            <a:solidFill>
              <a:srgbClr val="6B46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태그 fnd_com"/>
          <p:cNvSpPr/>
          <p:nvPr/>
        </p:nvSpPr>
        <p:spPr>
          <a:xfrm>
            <a:off x="16322040" y="29077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fnd_com</a:t>
            </a:r>
          </a:p>
        </p:txBody>
      </p:sp>
      <p:cxnSp>
        <p:nvCxnSpPr>
          <p:cNvPr id="102" name="선"/>
          <p:cNvCxnSpPr/>
          <p:nvPr/>
        </p:nvCxnSpPr>
        <p:spPr>
          <a:xfrm>
            <a:off x="15910559" y="3739896"/>
            <a:ext cx="411481" cy="0"/>
          </a:xfrm>
          <a:prstGeom prst="line">
            <a:avLst/>
          </a:prstGeom>
          <a:ln w="31750">
            <a:solidFill>
              <a:srgbClr val="6B46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태그 fnd_font"/>
          <p:cNvSpPr/>
          <p:nvPr/>
        </p:nvSpPr>
        <p:spPr>
          <a:xfrm>
            <a:off x="16322040" y="35935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fnd_font</a:t>
            </a:r>
          </a:p>
        </p:txBody>
      </p:sp>
      <p:sp>
        <p:nvSpPr>
          <p:cNvPr id="104" name="블록 LED 로직"/>
          <p:cNvSpPr/>
          <p:nvPr/>
        </p:nvSpPr>
        <p:spPr>
          <a:xfrm>
            <a:off x="14081760" y="4343400"/>
            <a:ext cx="1828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8575">
            <a:solidFill>
              <a:srgbClr val="6B4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 로직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led_output</a:t>
            </a:r>
          </a:p>
        </p:txBody>
      </p:sp>
      <p:sp>
        <p:nvSpPr>
          <p:cNvPr id="105" name="태그 disp_sel"/>
          <p:cNvSpPr/>
          <p:nvPr/>
        </p:nvSpPr>
        <p:spPr>
          <a:xfrm>
            <a:off x="13167360" y="4425696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106" name="태그 WTS 신호"/>
          <p:cNvSpPr/>
          <p:nvPr/>
        </p:nvSpPr>
        <p:spPr>
          <a:xfrm>
            <a:off x="13167360" y="471830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WTS 신호</a:t>
            </a:r>
          </a:p>
        </p:txBody>
      </p:sp>
      <p:sp>
        <p:nvSpPr>
          <p:cNvPr id="107" name="태그 sr04_led"/>
          <p:cNvSpPr/>
          <p:nvPr/>
        </p:nvSpPr>
        <p:spPr>
          <a:xfrm>
            <a:off x="13167360" y="501091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sr04_led</a:t>
            </a:r>
          </a:p>
        </p:txBody>
      </p:sp>
      <p:sp>
        <p:nvSpPr>
          <p:cNvPr id="108" name="태그 dht_led"/>
          <p:cNvSpPr/>
          <p:nvPr/>
        </p:nvSpPr>
        <p:spPr>
          <a:xfrm>
            <a:off x="13167360" y="530352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dht_led</a:t>
            </a:r>
          </a:p>
        </p:txBody>
      </p:sp>
      <p:cxnSp>
        <p:nvCxnSpPr>
          <p:cNvPr id="109" name="선"/>
          <p:cNvCxnSpPr/>
          <p:nvPr/>
        </p:nvCxnSpPr>
        <p:spPr>
          <a:xfrm>
            <a:off x="15910559" y="5029200"/>
            <a:ext cx="411481" cy="0"/>
          </a:xfrm>
          <a:prstGeom prst="line">
            <a:avLst/>
          </a:prstGeom>
          <a:ln w="31750">
            <a:solidFill>
              <a:srgbClr val="6B46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태그 led[15:0]"/>
          <p:cNvSpPr/>
          <p:nvPr/>
        </p:nvSpPr>
        <p:spPr>
          <a:xfrm>
            <a:off x="16322040" y="4882896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led[15:0]</a:t>
            </a:r>
          </a:p>
        </p:txBody>
      </p:sp>
      <p:sp>
        <p:nvSpPr>
          <p:cNvPr id="111" name="태그 rx"/>
          <p:cNvSpPr/>
          <p:nvPr/>
        </p:nvSpPr>
        <p:spPr>
          <a:xfrm>
            <a:off x="411480" y="69037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rx</a:t>
            </a:r>
          </a:p>
        </p:txBody>
      </p:sp>
      <p:cxnSp>
        <p:nvCxnSpPr>
          <p:cNvPr id="112" name="선"/>
          <p:cNvCxnSpPr/>
          <p:nvPr/>
        </p:nvCxnSpPr>
        <p:spPr>
          <a:xfrm>
            <a:off x="1417320" y="7050024"/>
            <a:ext cx="36576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블록 uart_rx"/>
          <p:cNvSpPr/>
          <p:nvPr/>
        </p:nvSpPr>
        <p:spPr>
          <a:xfrm>
            <a:off x="1783080" y="6766560"/>
            <a:ext cx="1188720" cy="566928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uart_rx</a:t>
            </a:r>
          </a:p>
        </p:txBody>
      </p:sp>
      <p:cxnSp>
        <p:nvCxnSpPr>
          <p:cNvPr id="114" name="선"/>
          <p:cNvCxnSpPr/>
          <p:nvPr/>
        </p:nvCxnSpPr>
        <p:spPr>
          <a:xfrm>
            <a:off x="2971800" y="7050024"/>
            <a:ext cx="2743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블록 fifo"/>
          <p:cNvSpPr/>
          <p:nvPr/>
        </p:nvSpPr>
        <p:spPr>
          <a:xfrm>
            <a:off x="3246120" y="6766560"/>
            <a:ext cx="914400" cy="566928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RX × 8</a:t>
            </a:r>
          </a:p>
        </p:txBody>
      </p:sp>
      <p:cxnSp>
        <p:nvCxnSpPr>
          <p:cNvPr id="116" name="선"/>
          <p:cNvCxnSpPr/>
          <p:nvPr/>
        </p:nvCxnSpPr>
        <p:spPr>
          <a:xfrm>
            <a:off x="4160520" y="7050024"/>
            <a:ext cx="2743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블록 ASCII_DECODER"/>
          <p:cNvSpPr/>
          <p:nvPr/>
        </p:nvSpPr>
        <p:spPr>
          <a:xfrm>
            <a:off x="4434840" y="6675120"/>
            <a:ext cx="1828800" cy="749808"/>
          </a:xfrm>
          <a:prstGeom prst="roundRect">
            <a:avLst>
              <a:gd name="adj" fmla="val 9756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ASCII_DECODER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/명령 + 옵션 파싱</a:t>
            </a:r>
          </a:p>
        </p:txBody>
      </p:sp>
      <p:cxnSp>
        <p:nvCxnSpPr>
          <p:cNvPr id="118" name="선"/>
          <p:cNvCxnSpPr/>
          <p:nvPr/>
        </p:nvCxnSpPr>
        <p:spPr>
          <a:xfrm>
            <a:off x="6263640" y="7050024"/>
            <a:ext cx="5029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블록 baud_tick_gen"/>
          <p:cNvSpPr/>
          <p:nvPr/>
        </p:nvSpPr>
        <p:spPr>
          <a:xfrm>
            <a:off x="1783080" y="7680960"/>
            <a:ext cx="1188720" cy="530352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baud_tick_gen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9600 × 16</a:t>
            </a:r>
          </a:p>
        </p:txBody>
      </p:sp>
      <p:cxnSp>
        <p:nvCxnSpPr>
          <p:cNvPr id="120" name="선"/>
          <p:cNvCxnSpPr/>
          <p:nvPr/>
        </p:nvCxnSpPr>
        <p:spPr>
          <a:xfrm flipV="1">
            <a:off x="2377440" y="7333488"/>
            <a:ext cx="0" cy="347472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라벨"/>
          <p:cNvSpPr txBox="1"/>
          <p:nvPr/>
        </p:nvSpPr>
        <p:spPr>
          <a:xfrm>
            <a:off x="3063240" y="782726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→ RX · TX 공용</a:t>
            </a:r>
          </a:p>
        </p:txBody>
      </p:sp>
      <p:sp>
        <p:nvSpPr>
          <p:cNvPr id="122" name="블록 UART_CONTROLLER"/>
          <p:cNvSpPr/>
          <p:nvPr/>
        </p:nvSpPr>
        <p:spPr>
          <a:xfrm>
            <a:off x="6766560" y="6675120"/>
            <a:ext cx="2377440" cy="1371600"/>
          </a:xfrm>
          <a:prstGeom prst="roundRect">
            <a:avLst>
              <a:gd name="adj" fmla="val 5333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UART_CONTROLLER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mode · auto · btn FSM</a:t>
            </a:r>
          </a:p>
        </p:txBody>
      </p:sp>
      <p:sp>
        <p:nvSpPr>
          <p:cNvPr id="123" name="태그 phy_btn"/>
          <p:cNvSpPr/>
          <p:nvPr/>
        </p:nvSpPr>
        <p:spPr>
          <a:xfrm>
            <a:off x="5870448" y="7498079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phy_btn</a:t>
            </a:r>
          </a:p>
        </p:txBody>
      </p:sp>
      <p:sp>
        <p:nvSpPr>
          <p:cNvPr id="124" name="라벨"/>
          <p:cNvSpPr txBox="1"/>
          <p:nvPr/>
        </p:nvSpPr>
        <p:spPr>
          <a:xfrm>
            <a:off x="3950208" y="750722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같은 clk 면 물리 먼저</a:t>
            </a:r>
          </a:p>
        </p:txBody>
      </p:sp>
      <p:cxnSp>
        <p:nvCxnSpPr>
          <p:cNvPr id="125" name="선"/>
          <p:cNvCxnSpPr/>
          <p:nvPr/>
        </p:nvCxnSpPr>
        <p:spPr>
          <a:xfrm flipV="1">
            <a:off x="6903720" y="6217920"/>
            <a:ext cx="0" cy="45720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선"/>
          <p:cNvCxnSpPr/>
          <p:nvPr/>
        </p:nvCxnSpPr>
        <p:spPr>
          <a:xfrm flipH="1">
            <a:off x="1691640" y="6217920"/>
            <a:ext cx="5212080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선"/>
          <p:cNvCxnSpPr/>
          <p:nvPr/>
        </p:nvCxnSpPr>
        <p:spPr>
          <a:xfrm flipV="1">
            <a:off x="1691640" y="5212080"/>
            <a:ext cx="0" cy="100584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선"/>
          <p:cNvCxnSpPr/>
          <p:nvPr/>
        </p:nvCxnSpPr>
        <p:spPr>
          <a:xfrm>
            <a:off x="1691640" y="5212080"/>
            <a:ext cx="2743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라벨"/>
          <p:cNvSpPr txBox="1"/>
          <p:nvPr/>
        </p:nvSpPr>
        <p:spPr>
          <a:xfrm>
            <a:off x="3931920" y="623620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module_control_bit[6:0]</a:t>
            </a:r>
          </a:p>
        </p:txBody>
      </p:sp>
      <p:cxnSp>
        <p:nvCxnSpPr>
          <p:cNvPr id="130" name="선"/>
          <p:cNvCxnSpPr/>
          <p:nvPr/>
        </p:nvCxnSpPr>
        <p:spPr>
          <a:xfrm flipV="1">
            <a:off x="7178040" y="6080760"/>
            <a:ext cx="0" cy="59436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선"/>
          <p:cNvCxnSpPr/>
          <p:nvPr/>
        </p:nvCxnSpPr>
        <p:spPr>
          <a:xfrm flipH="1">
            <a:off x="2194560" y="6080760"/>
            <a:ext cx="4983480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선"/>
          <p:cNvCxnSpPr/>
          <p:nvPr/>
        </p:nvCxnSpPr>
        <p:spPr>
          <a:xfrm flipV="1">
            <a:off x="2194560" y="5413248"/>
            <a:ext cx="0" cy="667512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라벨"/>
          <p:cNvSpPr txBox="1"/>
          <p:nvPr/>
        </p:nvSpPr>
        <p:spPr>
          <a:xfrm>
            <a:off x="2286000" y="5852160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uart_mode</a:t>
            </a:r>
          </a:p>
        </p:txBody>
      </p:sp>
      <p:cxnSp>
        <p:nvCxnSpPr>
          <p:cNvPr id="134" name="선"/>
          <p:cNvCxnSpPr/>
          <p:nvPr/>
        </p:nvCxnSpPr>
        <p:spPr>
          <a:xfrm flipV="1">
            <a:off x="7452360" y="5943600"/>
            <a:ext cx="0" cy="73152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선"/>
          <p:cNvCxnSpPr/>
          <p:nvPr/>
        </p:nvCxnSpPr>
        <p:spPr>
          <a:xfrm flipH="1">
            <a:off x="3749039" y="5943600"/>
            <a:ext cx="3703321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선"/>
          <p:cNvCxnSpPr/>
          <p:nvPr/>
        </p:nvCxnSpPr>
        <p:spPr>
          <a:xfrm flipV="1">
            <a:off x="3749039" y="3438144"/>
            <a:ext cx="0" cy="2505456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선"/>
          <p:cNvCxnSpPr/>
          <p:nvPr/>
        </p:nvCxnSpPr>
        <p:spPr>
          <a:xfrm>
            <a:off x="3749039" y="3438144"/>
            <a:ext cx="22860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라벨"/>
          <p:cNvSpPr txBox="1"/>
          <p:nvPr/>
        </p:nvSpPr>
        <p:spPr>
          <a:xfrm>
            <a:off x="3840480" y="3703320"/>
            <a:ext cx="8229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uart_btn</a:t>
            </a:r>
          </a:p>
        </p:txBody>
      </p:sp>
      <p:sp>
        <p:nvSpPr>
          <p:cNvPr id="139" name="블록 sender_tick"/>
          <p:cNvSpPr/>
          <p:nvPr/>
        </p:nvSpPr>
        <p:spPr>
          <a:xfrm>
            <a:off x="9555480" y="6967728"/>
            <a:ext cx="1371600" cy="566928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sender_tick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1 Hz · scan 0→4</a:t>
            </a:r>
          </a:p>
        </p:txBody>
      </p:sp>
      <p:cxnSp>
        <p:nvCxnSpPr>
          <p:cNvPr id="140" name="선"/>
          <p:cNvCxnSpPr/>
          <p:nvPr/>
        </p:nvCxnSpPr>
        <p:spPr>
          <a:xfrm flipH="1">
            <a:off x="9144000" y="7251192"/>
            <a:ext cx="4114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선"/>
          <p:cNvCxnSpPr/>
          <p:nvPr/>
        </p:nvCxnSpPr>
        <p:spPr>
          <a:xfrm>
            <a:off x="9144000" y="6784848"/>
            <a:ext cx="4727448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선"/>
          <p:cNvCxnSpPr/>
          <p:nvPr/>
        </p:nvCxnSpPr>
        <p:spPr>
          <a:xfrm>
            <a:off x="13871448" y="6784848"/>
            <a:ext cx="0" cy="301752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라벨"/>
          <p:cNvSpPr txBox="1"/>
          <p:nvPr/>
        </p:nvSpPr>
        <p:spPr>
          <a:xfrm>
            <a:off x="10241280" y="6547104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send_go</a:t>
            </a:r>
          </a:p>
        </p:txBody>
      </p:sp>
      <p:sp>
        <p:nvSpPr>
          <p:cNvPr id="144" name="MUX 전송"/>
          <p:cNvSpPr/>
          <p:nvPr/>
        </p:nvSpPr>
        <p:spPr>
          <a:xfrm>
            <a:off x="11887200" y="6903720"/>
            <a:ext cx="868680" cy="1280159"/>
          </a:xfrm>
          <a:custGeom>
            <a:avLst/>
            <a:gdLst/>
            <a:ahLst/>
            <a:cxnLst/>
            <a:rect l="l" t="t" r="r" b="b"/>
            <a:pathLst>
              <a:path w="868680" h="1280159">
                <a:moveTo>
                  <a:pt x="0" y="0"/>
                </a:moveTo>
                <a:lnTo>
                  <a:pt x="868680" y="164592"/>
                </a:lnTo>
                <a:lnTo>
                  <a:pt x="868680" y="1115568"/>
                </a:lnTo>
                <a:lnTo>
                  <a:pt x="0" y="1280159"/>
                </a:lnTo>
                <a:lnTo>
                  <a:pt x="0" y="0"/>
                </a:lnTo>
                <a:close/>
              </a:path>
            </a:pathLst>
          </a:cu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라벨"/>
          <p:cNvSpPr txBox="1"/>
          <p:nvPr/>
        </p:nvSpPr>
        <p:spPr>
          <a:xfrm>
            <a:off x="11841480" y="6528816"/>
            <a:ext cx="21945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전송 MUX  8:1 × 24 bit</a:t>
            </a:r>
          </a:p>
        </p:txBody>
      </p:sp>
      <p:cxnSp>
        <p:nvCxnSpPr>
          <p:cNvPr id="146" name="선"/>
          <p:cNvCxnSpPr/>
          <p:nvPr/>
        </p:nvCxnSpPr>
        <p:spPr>
          <a:xfrm>
            <a:off x="11777472" y="3104388"/>
            <a:ext cx="0" cy="4210812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선"/>
          <p:cNvCxnSpPr/>
          <p:nvPr/>
        </p:nvCxnSpPr>
        <p:spPr>
          <a:xfrm>
            <a:off x="11777472" y="7315200"/>
            <a:ext cx="109728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선"/>
          <p:cNvCxnSpPr/>
          <p:nvPr/>
        </p:nvCxnSpPr>
        <p:spPr>
          <a:xfrm>
            <a:off x="11777472" y="7022592"/>
            <a:ext cx="109728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접점"/>
          <p:cNvSpPr/>
          <p:nvPr/>
        </p:nvSpPr>
        <p:spPr>
          <a:xfrm>
            <a:off x="11736324" y="6981444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0" name="선"/>
          <p:cNvCxnSpPr/>
          <p:nvPr/>
        </p:nvCxnSpPr>
        <p:spPr>
          <a:xfrm>
            <a:off x="11777472" y="7168896"/>
            <a:ext cx="109728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접점"/>
          <p:cNvSpPr/>
          <p:nvPr/>
        </p:nvSpPr>
        <p:spPr>
          <a:xfrm>
            <a:off x="11736324" y="7127748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접점"/>
          <p:cNvSpPr/>
          <p:nvPr/>
        </p:nvSpPr>
        <p:spPr>
          <a:xfrm>
            <a:off x="11736324" y="306324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3" name="선"/>
          <p:cNvCxnSpPr/>
          <p:nvPr/>
        </p:nvCxnSpPr>
        <p:spPr>
          <a:xfrm>
            <a:off x="11686032" y="4247388"/>
            <a:ext cx="0" cy="326898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선"/>
          <p:cNvCxnSpPr/>
          <p:nvPr/>
        </p:nvCxnSpPr>
        <p:spPr>
          <a:xfrm>
            <a:off x="11686032" y="7516368"/>
            <a:ext cx="201168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접점"/>
          <p:cNvSpPr/>
          <p:nvPr/>
        </p:nvSpPr>
        <p:spPr>
          <a:xfrm>
            <a:off x="11644884" y="420624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6" name="선"/>
          <p:cNvCxnSpPr/>
          <p:nvPr/>
        </p:nvCxnSpPr>
        <p:spPr>
          <a:xfrm>
            <a:off x="11430000" y="5390388"/>
            <a:ext cx="0" cy="2327148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선"/>
          <p:cNvCxnSpPr/>
          <p:nvPr/>
        </p:nvCxnSpPr>
        <p:spPr>
          <a:xfrm>
            <a:off x="11430000" y="7717536"/>
            <a:ext cx="45720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접점"/>
          <p:cNvSpPr/>
          <p:nvPr/>
        </p:nvSpPr>
        <p:spPr>
          <a:xfrm>
            <a:off x="11388852" y="534924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MUX 핀"/>
          <p:cNvSpPr txBox="1"/>
          <p:nvPr/>
        </p:nvSpPr>
        <p:spPr>
          <a:xfrm>
            <a:off x="11932920" y="693115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0 sw</a:t>
            </a:r>
          </a:p>
        </p:txBody>
      </p:sp>
      <p:sp>
        <p:nvSpPr>
          <p:cNvPr id="160" name="MUX 핀"/>
          <p:cNvSpPr txBox="1"/>
          <p:nvPr/>
        </p:nvSpPr>
        <p:spPr>
          <a:xfrm>
            <a:off x="11932920" y="707745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1 tm</a:t>
            </a:r>
          </a:p>
        </p:txBody>
      </p:sp>
      <p:sp>
        <p:nvSpPr>
          <p:cNvPr id="161" name="MUX 핀"/>
          <p:cNvSpPr txBox="1"/>
          <p:nvPr/>
        </p:nvSpPr>
        <p:spPr>
          <a:xfrm>
            <a:off x="11932920" y="722376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2 wt</a:t>
            </a:r>
          </a:p>
        </p:txBody>
      </p:sp>
      <p:sp>
        <p:nvSpPr>
          <p:cNvPr id="162" name="MUX 핀"/>
          <p:cNvSpPr txBox="1"/>
          <p:nvPr/>
        </p:nvSpPr>
        <p:spPr>
          <a:xfrm>
            <a:off x="11932920" y="742492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3 거리·상태</a:t>
            </a:r>
          </a:p>
        </p:txBody>
      </p:sp>
      <p:sp>
        <p:nvSpPr>
          <p:cNvPr id="163" name="MUX 핀"/>
          <p:cNvSpPr txBox="1"/>
          <p:nvPr/>
        </p:nvSpPr>
        <p:spPr>
          <a:xfrm>
            <a:off x="11932920" y="762609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4 온습도·상태</a:t>
            </a:r>
          </a:p>
        </p:txBody>
      </p:sp>
      <p:cxnSp>
        <p:nvCxnSpPr>
          <p:cNvPr id="165" name="선"/>
          <p:cNvCxnSpPr/>
          <p:nvPr/>
        </p:nvCxnSpPr>
        <p:spPr>
          <a:xfrm>
            <a:off x="12755880" y="7498079"/>
            <a:ext cx="45720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선"/>
          <p:cNvCxnSpPr/>
          <p:nvPr/>
        </p:nvCxnSpPr>
        <p:spPr>
          <a:xfrm>
            <a:off x="8869680" y="8046720"/>
            <a:ext cx="0" cy="201168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선"/>
          <p:cNvCxnSpPr/>
          <p:nvPr/>
        </p:nvCxnSpPr>
        <p:spPr>
          <a:xfrm>
            <a:off x="8869680" y="8247888"/>
            <a:ext cx="5001768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선"/>
          <p:cNvCxnSpPr/>
          <p:nvPr/>
        </p:nvCxnSpPr>
        <p:spPr>
          <a:xfrm flipV="1">
            <a:off x="13871448" y="7909560"/>
            <a:ext cx="0" cy="338328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라벨"/>
          <p:cNvSpPr txBox="1"/>
          <p:nvPr/>
        </p:nvSpPr>
        <p:spPr>
          <a:xfrm>
            <a:off x="9509760" y="8010144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send_sel</a:t>
            </a:r>
          </a:p>
        </p:txBody>
      </p:sp>
      <p:cxnSp>
        <p:nvCxnSpPr>
          <p:cNvPr id="170" name="선"/>
          <p:cNvCxnSpPr/>
          <p:nvPr/>
        </p:nvCxnSpPr>
        <p:spPr>
          <a:xfrm flipV="1">
            <a:off x="12481560" y="8071264"/>
            <a:ext cx="0" cy="176624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접점"/>
          <p:cNvSpPr/>
          <p:nvPr/>
        </p:nvSpPr>
        <p:spPr>
          <a:xfrm>
            <a:off x="12440412" y="820674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2" name="블록 uart_sender"/>
          <p:cNvSpPr/>
          <p:nvPr/>
        </p:nvSpPr>
        <p:spPr>
          <a:xfrm>
            <a:off x="13213080" y="7086600"/>
            <a:ext cx="1325880" cy="822960"/>
          </a:xfrm>
          <a:prstGeom prst="roundRect">
            <a:avLst>
              <a:gd name="adj" fmla="val 8888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uart_sender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숫자 → ASCII 한 줄</a:t>
            </a:r>
          </a:p>
        </p:txBody>
      </p:sp>
      <p:cxnSp>
        <p:nvCxnSpPr>
          <p:cNvPr id="173" name="선"/>
          <p:cNvCxnSpPr/>
          <p:nvPr/>
        </p:nvCxnSpPr>
        <p:spPr>
          <a:xfrm>
            <a:off x="14538960" y="7498079"/>
            <a:ext cx="228599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블록 fifo"/>
          <p:cNvSpPr/>
          <p:nvPr/>
        </p:nvSpPr>
        <p:spPr>
          <a:xfrm>
            <a:off x="14767559" y="7214616"/>
            <a:ext cx="822960" cy="566928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TX × 64</a:t>
            </a:r>
          </a:p>
        </p:txBody>
      </p:sp>
      <p:cxnSp>
        <p:nvCxnSpPr>
          <p:cNvPr id="175" name="선"/>
          <p:cNvCxnSpPr/>
          <p:nvPr/>
        </p:nvCxnSpPr>
        <p:spPr>
          <a:xfrm>
            <a:off x="15590520" y="7498079"/>
            <a:ext cx="22860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블록 uart_tx"/>
          <p:cNvSpPr/>
          <p:nvPr/>
        </p:nvSpPr>
        <p:spPr>
          <a:xfrm>
            <a:off x="15819120" y="7214616"/>
            <a:ext cx="868680" cy="566928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uart_tx</a:t>
            </a:r>
          </a:p>
        </p:txBody>
      </p:sp>
      <p:cxnSp>
        <p:nvCxnSpPr>
          <p:cNvPr id="177" name="선"/>
          <p:cNvCxnSpPr/>
          <p:nvPr/>
        </p:nvCxnSpPr>
        <p:spPr>
          <a:xfrm>
            <a:off x="16687800" y="7498079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8" name="태그 tx"/>
          <p:cNvSpPr/>
          <p:nvPr/>
        </p:nvSpPr>
        <p:spPr>
          <a:xfrm>
            <a:off x="16870680" y="7351775"/>
            <a:ext cx="822960" cy="292608"/>
          </a:xfrm>
          <a:prstGeom prst="homePlate">
            <a:avLst>
              <a:gd name="adj" fmla="val 24888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tx</a:t>
            </a:r>
          </a:p>
        </p:txBody>
      </p:sp>
      <p:sp>
        <p:nvSpPr>
          <p:cNvPr id="179" name="라벨"/>
          <p:cNvSpPr txBox="1"/>
          <p:nvPr/>
        </p:nvSpPr>
        <p:spPr>
          <a:xfrm>
            <a:off x="411480" y="4828032"/>
            <a:ext cx="11430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첫 /mod 전</a:t>
            </a:r>
          </a:p>
        </p:txBody>
      </p:sp>
      <p:sp>
        <p:nvSpPr>
          <p:cNvPr id="180" name="단계 1"/>
          <p:cNvSpPr/>
          <p:nvPr/>
        </p:nvSpPr>
        <p:spPr>
          <a:xfrm>
            <a:off x="1115568" y="4114800"/>
            <a:ext cx="347472" cy="347472"/>
          </a:xfrm>
          <a:prstGeom prst="ellipse">
            <a:avLst/>
          </a:prstGeom>
          <a:solidFill>
            <a:srgbClr val="6B46C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81" name="단계 2"/>
          <p:cNvSpPr/>
          <p:nvPr/>
        </p:nvSpPr>
        <p:spPr>
          <a:xfrm>
            <a:off x="3200400" y="4279392"/>
            <a:ext cx="347472" cy="347472"/>
          </a:xfrm>
          <a:prstGeom prst="ellipse">
            <a:avLst/>
          </a:prstGeom>
          <a:solidFill>
            <a:srgbClr val="6B46C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82" name="단계 3"/>
          <p:cNvSpPr/>
          <p:nvPr/>
        </p:nvSpPr>
        <p:spPr>
          <a:xfrm>
            <a:off x="3154680" y="2487168"/>
            <a:ext cx="347472" cy="347472"/>
          </a:xfrm>
          <a:prstGeom prst="ellipse">
            <a:avLst/>
          </a:prstGeom>
          <a:solidFill>
            <a:srgbClr val="6B46C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3" name="단계 4"/>
          <p:cNvSpPr/>
          <p:nvPr/>
        </p:nvSpPr>
        <p:spPr>
          <a:xfrm>
            <a:off x="3703320" y="2697480"/>
            <a:ext cx="347472" cy="347472"/>
          </a:xfrm>
          <a:prstGeom prst="ellipse">
            <a:avLst/>
          </a:prstGeom>
          <a:solidFill>
            <a:srgbClr val="6B46C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84" name="단계 5"/>
          <p:cNvSpPr/>
          <p:nvPr/>
        </p:nvSpPr>
        <p:spPr>
          <a:xfrm>
            <a:off x="4983480" y="2450592"/>
            <a:ext cx="347472" cy="347472"/>
          </a:xfrm>
          <a:prstGeom prst="ellipse">
            <a:avLst/>
          </a:prstGeom>
          <a:solidFill>
            <a:srgbClr val="6B46C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85" name="단계 6"/>
          <p:cNvSpPr/>
          <p:nvPr/>
        </p:nvSpPr>
        <p:spPr>
          <a:xfrm>
            <a:off x="12984480" y="2377440"/>
            <a:ext cx="347472" cy="347472"/>
          </a:xfrm>
          <a:prstGeom prst="ellipse">
            <a:avLst/>
          </a:prstGeom>
          <a:solidFill>
            <a:srgbClr val="6B46C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86" name="단계표 1"/>
          <p:cNvSpPr/>
          <p:nvPr/>
        </p:nvSpPr>
        <p:spPr>
          <a:xfrm>
            <a:off x="841248" y="8613648"/>
            <a:ext cx="329184" cy="329184"/>
          </a:xfrm>
          <a:prstGeom prst="ellipse">
            <a:avLst/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87" name="라벨"/>
          <p:cNvSpPr txBox="1"/>
          <p:nvPr/>
        </p:nvSpPr>
        <p:spPr>
          <a:xfrm>
            <a:off x="1252728" y="86045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sw0 ~ sw6 → 모드 선택 MUX 0 번 (uart_mode = 0)</a:t>
            </a:r>
          </a:p>
        </p:txBody>
      </p:sp>
      <p:sp>
        <p:nvSpPr>
          <p:cNvPr id="188" name="단계표 2"/>
          <p:cNvSpPr/>
          <p:nvPr/>
        </p:nvSpPr>
        <p:spPr>
          <a:xfrm>
            <a:off x="6419088" y="8613648"/>
            <a:ext cx="329184" cy="329184"/>
          </a:xfrm>
          <a:prstGeom prst="ellipse">
            <a:avLst/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89" name="라벨"/>
          <p:cNvSpPr txBox="1"/>
          <p:nvPr/>
        </p:nvSpPr>
        <p:spPr>
          <a:xfrm>
            <a:off x="6830568" y="86045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모드 디코드 : sw6 온습도 &gt; sw5 거리 &gt; WTS</a:t>
            </a:r>
          </a:p>
        </p:txBody>
      </p:sp>
      <p:sp>
        <p:nvSpPr>
          <p:cNvPr id="190" name="단계표 3"/>
          <p:cNvSpPr/>
          <p:nvPr/>
        </p:nvSpPr>
        <p:spPr>
          <a:xfrm>
            <a:off x="11996928" y="8613648"/>
            <a:ext cx="329184" cy="329184"/>
          </a:xfrm>
          <a:prstGeom prst="ellipse">
            <a:avLst/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91" name="라벨"/>
          <p:cNvSpPr txBox="1"/>
          <p:nvPr/>
        </p:nvSpPr>
        <p:spPr>
          <a:xfrm>
            <a:off x="12408407" y="86045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btn R · L · U · D → 디바운서 (4 kHz × 8 샘플)</a:t>
            </a:r>
          </a:p>
        </p:txBody>
      </p:sp>
      <p:sp>
        <p:nvSpPr>
          <p:cNvPr id="192" name="단계표 4"/>
          <p:cNvSpPr/>
          <p:nvPr/>
        </p:nvSpPr>
        <p:spPr>
          <a:xfrm>
            <a:off x="841248" y="9070848"/>
            <a:ext cx="329184" cy="329184"/>
          </a:xfrm>
          <a:prstGeom prst="ellipse">
            <a:avLst/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3" name="라벨"/>
          <p:cNvSpPr txBox="1"/>
          <p:nvPr/>
        </p:nvSpPr>
        <p:spPr>
          <a:xfrm>
            <a:off x="1252728" y="90617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OR : 물리 btn | uart_btn → 같은 버튼 tick</a:t>
            </a:r>
          </a:p>
        </p:txBody>
      </p:sp>
      <p:sp>
        <p:nvSpPr>
          <p:cNvPr id="194" name="단계표 5"/>
          <p:cNvSpPr/>
          <p:nvPr/>
        </p:nvSpPr>
        <p:spPr>
          <a:xfrm>
            <a:off x="6419088" y="9070848"/>
            <a:ext cx="329184" cy="329184"/>
          </a:xfrm>
          <a:prstGeom prst="ellipse">
            <a:avLst/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95" name="라벨"/>
          <p:cNvSpPr txBox="1"/>
          <p:nvPr/>
        </p:nvSpPr>
        <p:spPr>
          <a:xfrm>
            <a:off x="6830568" y="90617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AND : 지금 화면 mode_* 모듈만 통과</a:t>
            </a:r>
          </a:p>
        </p:txBody>
      </p:sp>
      <p:sp>
        <p:nvSpPr>
          <p:cNvPr id="196" name="단계표 6"/>
          <p:cNvSpPr/>
          <p:nvPr/>
        </p:nvSpPr>
        <p:spPr>
          <a:xfrm>
            <a:off x="11996928" y="9070848"/>
            <a:ext cx="329184" cy="329184"/>
          </a:xfrm>
          <a:prstGeom prst="ellipse">
            <a:avLst/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97" name="라벨"/>
          <p:cNvSpPr txBox="1"/>
          <p:nvPr/>
        </p:nvSpPr>
        <p:spPr>
          <a:xfrm>
            <a:off x="12408407" y="90617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disp_sel → FND MUX · LED (sw15 거리 막대)</a:t>
            </a:r>
          </a:p>
        </p:txBody>
      </p:sp>
      <p:sp>
        <p:nvSpPr>
          <p:cNvPr id="198" name="라벨 v2"/>
          <p:cNvSpPr txBox="1"/>
          <p:nvPr/>
        </p:nvSpPr>
        <p:spPr>
          <a:xfrm>
            <a:off x="841248" y="9582912"/>
            <a:ext cx="1536192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1E8E3E"/>
                </a:solidFill>
                <a:latin typeface="Malgun Gothic"/>
                <a:ea typeface="Malgun Gothic"/>
                <a:cs typeface="Malgun Gothic"/>
              </a:rPr>
              <a:t>참고</a:t>
            </a:r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  sw0 ~ sw4 → WTS 기능 (시계 · 스톱워치 · 설정 · 12/24 · 타이머)  ·  첫 /mod 를 받으면 스위치 무시 · btnC 리셋하면 다시 스위치  →  다음 장 /mod 흐름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라벨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WTS · SR04 · DHT11 · UART</a:t>
            </a:r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라벨"/>
          <p:cNvSpPr txBox="1"/>
          <p:nvPr/>
        </p:nvSpPr>
        <p:spPr>
          <a:xfrm>
            <a:off x="1042415" y="402336"/>
            <a:ext cx="91440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02  시스템 구조 · 명령별 흐름</a:t>
            </a:r>
          </a:p>
        </p:txBody>
      </p:sp>
      <p:sp>
        <p:nvSpPr>
          <p:cNvPr id="5" name="라벨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/mod 흐름 — 화면 · 버튼 대상 바꾸기</a:t>
            </a:r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7" name="라벨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첫 /mod 부터 스위치 대신 UART 비트가 모드 결정 · [6:5] 로 버튼 대상과 FND · LED 화면이 같이 바뀜</a:t>
            </a:r>
          </a:p>
        </p:txBody>
      </p:sp>
      <p:sp>
        <p:nvSpPr>
          <p:cNvPr id="8" name="라벨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9" name="줄 WTS  스톱워치 · 시계 · 타이머"/>
          <p:cNvSpPr/>
          <p:nvPr/>
        </p:nvSpPr>
        <p:spPr>
          <a:xfrm>
            <a:off x="5806440" y="2487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라벨"/>
          <p:cNvSpPr txBox="1"/>
          <p:nvPr/>
        </p:nvSpPr>
        <p:spPr>
          <a:xfrm>
            <a:off x="5916168" y="2514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WTS  스톱워치 · 시계 · 타이머</a:t>
            </a:r>
          </a:p>
        </p:txBody>
      </p:sp>
      <p:sp>
        <p:nvSpPr>
          <p:cNvPr id="11" name="줄 SR04  초음파 거리"/>
          <p:cNvSpPr/>
          <p:nvPr/>
        </p:nvSpPr>
        <p:spPr>
          <a:xfrm>
            <a:off x="5806440" y="3630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라벨"/>
          <p:cNvSpPr txBox="1"/>
          <p:nvPr/>
        </p:nvSpPr>
        <p:spPr>
          <a:xfrm>
            <a:off x="5916168" y="3657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SR04  초음파 거리</a:t>
            </a:r>
          </a:p>
        </p:txBody>
      </p:sp>
      <p:sp>
        <p:nvSpPr>
          <p:cNvPr id="13" name="줄 DHT11  온습도"/>
          <p:cNvSpPr/>
          <p:nvPr/>
        </p:nvSpPr>
        <p:spPr>
          <a:xfrm>
            <a:off x="5806440" y="4773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라벨"/>
          <p:cNvSpPr txBox="1"/>
          <p:nvPr/>
        </p:nvSpPr>
        <p:spPr>
          <a:xfrm>
            <a:off x="5916168" y="4800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DHT11  온습도</a:t>
            </a:r>
          </a:p>
        </p:txBody>
      </p:sp>
      <p:sp>
        <p:nvSpPr>
          <p:cNvPr id="15" name="줄 UART  명령 수신 · 응답 전송  (uart_top)"/>
          <p:cNvSpPr/>
          <p:nvPr/>
        </p:nvSpPr>
        <p:spPr>
          <a:xfrm>
            <a:off x="1600200" y="6355080"/>
            <a:ext cx="15133320" cy="2011680"/>
          </a:xfrm>
          <a:prstGeom prst="roundRect">
            <a:avLst>
              <a:gd name="adj" fmla="val 3636"/>
            </a:avLst>
          </a:prstGeom>
          <a:solidFill>
            <a:srgbClr val="E6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라벨"/>
          <p:cNvSpPr txBox="1"/>
          <p:nvPr/>
        </p:nvSpPr>
        <p:spPr>
          <a:xfrm>
            <a:off x="1709928" y="6382512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UART  명령 수신 · 응답 전송  (uart_top)</a:t>
            </a:r>
          </a:p>
        </p:txBody>
      </p:sp>
      <p:sp>
        <p:nvSpPr>
          <p:cNvPr id="17" name="라벨"/>
          <p:cNvSpPr txBox="1"/>
          <p:nvPr/>
        </p:nvSpPr>
        <p:spPr>
          <a:xfrm>
            <a:off x="11137392" y="6382512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9600 bps · 8N1</a:t>
            </a:r>
          </a:p>
        </p:txBody>
      </p:sp>
      <p:sp>
        <p:nvSpPr>
          <p:cNvPr id="18" name="태그 clk"/>
          <p:cNvSpPr/>
          <p:nvPr/>
        </p:nvSpPr>
        <p:spPr>
          <a:xfrm>
            <a:off x="411480" y="21031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clk</a:t>
            </a:r>
          </a:p>
        </p:txBody>
      </p:sp>
      <p:cxnSp>
        <p:nvCxnSpPr>
          <p:cNvPr id="19" name="선"/>
          <p:cNvCxnSpPr/>
          <p:nvPr/>
        </p:nvCxnSpPr>
        <p:spPr>
          <a:xfrm>
            <a:off x="1417320" y="2249424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블록 clock_tick_generator"/>
          <p:cNvSpPr/>
          <p:nvPr/>
        </p:nvSpPr>
        <p:spPr>
          <a:xfrm>
            <a:off x="1737360" y="2057400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clock_tick_generator</a:t>
            </a:r>
          </a:p>
        </p:txBody>
      </p:sp>
      <p:cxnSp>
        <p:nvCxnSpPr>
          <p:cNvPr id="21" name="선"/>
          <p:cNvCxnSpPr/>
          <p:nvPr/>
        </p:nvCxnSpPr>
        <p:spPr>
          <a:xfrm>
            <a:off x="3429000" y="2249424"/>
            <a:ext cx="11567159" cy="0"/>
          </a:xfrm>
          <a:prstGeom prst="line">
            <a:avLst/>
          </a:prstGeom>
          <a:ln w="19050">
            <a:solidFill>
              <a:srgbClr val="4A556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선"/>
          <p:cNvCxnSpPr/>
          <p:nvPr/>
        </p:nvCxnSpPr>
        <p:spPr>
          <a:xfrm>
            <a:off x="14996159" y="2249424"/>
            <a:ext cx="0" cy="356616"/>
          </a:xfrm>
          <a:prstGeom prst="line">
            <a:avLst/>
          </a:prstGeom>
          <a:ln w="19050">
            <a:solidFill>
              <a:srgbClr val="4A556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라벨"/>
          <p:cNvSpPr txBox="1"/>
          <p:nvPr/>
        </p:nvSpPr>
        <p:spPr>
          <a:xfrm>
            <a:off x="3840480" y="2011680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4 kHz  →  디바운서 · FND 스캔</a:t>
            </a:r>
          </a:p>
        </p:txBody>
      </p:sp>
      <p:cxnSp>
        <p:nvCxnSpPr>
          <p:cNvPr id="24" name="선"/>
          <p:cNvCxnSpPr/>
          <p:nvPr/>
        </p:nvCxnSpPr>
        <p:spPr>
          <a:xfrm>
            <a:off x="2194560" y="2441448"/>
            <a:ext cx="0" cy="118872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태그 btn_R"/>
          <p:cNvSpPr/>
          <p:nvPr/>
        </p:nvSpPr>
        <p:spPr>
          <a:xfrm>
            <a:off x="411480" y="263347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btn_R</a:t>
            </a:r>
          </a:p>
        </p:txBody>
      </p:sp>
      <p:cxnSp>
        <p:nvCxnSpPr>
          <p:cNvPr id="26" name="선"/>
          <p:cNvCxnSpPr/>
          <p:nvPr/>
        </p:nvCxnSpPr>
        <p:spPr>
          <a:xfrm>
            <a:off x="1417320" y="277977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태그 btn_L"/>
          <p:cNvSpPr/>
          <p:nvPr/>
        </p:nvSpPr>
        <p:spPr>
          <a:xfrm>
            <a:off x="411480" y="299923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btn_L</a:t>
            </a:r>
          </a:p>
        </p:txBody>
      </p:sp>
      <p:cxnSp>
        <p:nvCxnSpPr>
          <p:cNvPr id="28" name="선"/>
          <p:cNvCxnSpPr/>
          <p:nvPr/>
        </p:nvCxnSpPr>
        <p:spPr>
          <a:xfrm>
            <a:off x="1417320" y="314553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태그 btn_U"/>
          <p:cNvSpPr/>
          <p:nvPr/>
        </p:nvSpPr>
        <p:spPr>
          <a:xfrm>
            <a:off x="411480" y="3364991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btn_U</a:t>
            </a:r>
          </a:p>
        </p:txBody>
      </p:sp>
      <p:cxnSp>
        <p:nvCxnSpPr>
          <p:cNvPr id="30" name="선"/>
          <p:cNvCxnSpPr/>
          <p:nvPr/>
        </p:nvCxnSpPr>
        <p:spPr>
          <a:xfrm>
            <a:off x="1417320" y="351129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태그 btn_D"/>
          <p:cNvSpPr/>
          <p:nvPr/>
        </p:nvSpPr>
        <p:spPr>
          <a:xfrm>
            <a:off x="411480" y="373075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btn_D</a:t>
            </a:r>
          </a:p>
        </p:txBody>
      </p:sp>
      <p:cxnSp>
        <p:nvCxnSpPr>
          <p:cNvPr id="32" name="선"/>
          <p:cNvCxnSpPr/>
          <p:nvPr/>
        </p:nvCxnSpPr>
        <p:spPr>
          <a:xfrm>
            <a:off x="1417320" y="387705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블록 btn_debounce&#10;×4"/>
          <p:cNvSpPr/>
          <p:nvPr/>
        </p:nvSpPr>
        <p:spPr>
          <a:xfrm>
            <a:off x="1737360" y="2560320"/>
            <a:ext cx="1371600" cy="1481328"/>
          </a:xfrm>
          <a:prstGeom prst="roundRect">
            <a:avLst>
              <a:gd name="adj" fmla="val 5333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btn_debounce</a:t>
            </a:r>
          </a:p>
          <a:p>
            <a:pPr algn="ctr"/>
            <a:r>
              <a:rPr sz="12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×4</a:t>
            </a:r>
          </a:p>
        </p:txBody>
      </p:sp>
      <p:cxnSp>
        <p:nvCxnSpPr>
          <p:cNvPr id="34" name="선"/>
          <p:cNvCxnSpPr/>
          <p:nvPr/>
        </p:nvCxnSpPr>
        <p:spPr>
          <a:xfrm>
            <a:off x="3108960" y="3163824"/>
            <a:ext cx="868679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라벨"/>
          <p:cNvSpPr txBox="1"/>
          <p:nvPr/>
        </p:nvSpPr>
        <p:spPr>
          <a:xfrm>
            <a:off x="3182112" y="2907792"/>
            <a:ext cx="8229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phy_btn</a:t>
            </a:r>
          </a:p>
        </p:txBody>
      </p:sp>
      <p:sp>
        <p:nvSpPr>
          <p:cNvPr id="36" name="게이트"/>
          <p:cNvSpPr/>
          <p:nvPr/>
        </p:nvSpPr>
        <p:spPr>
          <a:xfrm>
            <a:off x="3977639" y="3026664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≥1</a:t>
            </a:r>
          </a:p>
        </p:txBody>
      </p:sp>
      <p:cxnSp>
        <p:nvCxnSpPr>
          <p:cNvPr id="37" name="선"/>
          <p:cNvCxnSpPr/>
          <p:nvPr/>
        </p:nvCxnSpPr>
        <p:spPr>
          <a:xfrm>
            <a:off x="4526280" y="3300984"/>
            <a:ext cx="182880" cy="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선"/>
          <p:cNvCxnSpPr/>
          <p:nvPr/>
        </p:nvCxnSpPr>
        <p:spPr>
          <a:xfrm>
            <a:off x="4709160" y="2967228"/>
            <a:ext cx="0" cy="2285999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접점"/>
          <p:cNvSpPr/>
          <p:nvPr/>
        </p:nvSpPr>
        <p:spPr>
          <a:xfrm>
            <a:off x="4668012" y="3259836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선"/>
          <p:cNvCxnSpPr/>
          <p:nvPr/>
        </p:nvCxnSpPr>
        <p:spPr>
          <a:xfrm>
            <a:off x="3611880" y="4965192"/>
            <a:ext cx="1280160" cy="0"/>
          </a:xfrm>
          <a:prstGeom prst="line">
            <a:avLst/>
          </a:prstGeom>
          <a:ln w="317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선"/>
          <p:cNvCxnSpPr/>
          <p:nvPr/>
        </p:nvCxnSpPr>
        <p:spPr>
          <a:xfrm>
            <a:off x="4892040" y="3241548"/>
            <a:ext cx="0" cy="2286000"/>
          </a:xfrm>
          <a:prstGeom prst="line">
            <a:avLst/>
          </a:prstGeom>
          <a:ln w="317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접점"/>
          <p:cNvSpPr/>
          <p:nvPr/>
        </p:nvSpPr>
        <p:spPr>
          <a:xfrm>
            <a:off x="4850892" y="4924044"/>
            <a:ext cx="82296" cy="82296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3" name="선"/>
          <p:cNvCxnSpPr/>
          <p:nvPr/>
        </p:nvCxnSpPr>
        <p:spPr>
          <a:xfrm>
            <a:off x="4709160" y="2967228"/>
            <a:ext cx="36576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선"/>
          <p:cNvCxnSpPr/>
          <p:nvPr/>
        </p:nvCxnSpPr>
        <p:spPr>
          <a:xfrm>
            <a:off x="4892040" y="3241548"/>
            <a:ext cx="18288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접점"/>
          <p:cNvSpPr/>
          <p:nvPr/>
        </p:nvSpPr>
        <p:spPr>
          <a:xfrm>
            <a:off x="4850892" y="3200400"/>
            <a:ext cx="82296" cy="82296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게이트"/>
          <p:cNvSpPr/>
          <p:nvPr/>
        </p:nvSpPr>
        <p:spPr>
          <a:xfrm>
            <a:off x="5074920" y="2830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47" name="라벨"/>
          <p:cNvSpPr txBox="1"/>
          <p:nvPr/>
        </p:nvSpPr>
        <p:spPr>
          <a:xfrm>
            <a:off x="5029200" y="33878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mode_wts</a:t>
            </a:r>
          </a:p>
        </p:txBody>
      </p:sp>
      <p:cxnSp>
        <p:nvCxnSpPr>
          <p:cNvPr id="48" name="선"/>
          <p:cNvCxnSpPr/>
          <p:nvPr/>
        </p:nvCxnSpPr>
        <p:spPr>
          <a:xfrm>
            <a:off x="5623560" y="3104388"/>
            <a:ext cx="73152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라벨"/>
          <p:cNvSpPr txBox="1"/>
          <p:nvPr/>
        </p:nvSpPr>
        <p:spPr>
          <a:xfrm>
            <a:off x="5669280" y="2839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R·L·U·D</a:t>
            </a:r>
          </a:p>
        </p:txBody>
      </p:sp>
      <p:cxnSp>
        <p:nvCxnSpPr>
          <p:cNvPr id="50" name="선"/>
          <p:cNvCxnSpPr/>
          <p:nvPr/>
        </p:nvCxnSpPr>
        <p:spPr>
          <a:xfrm>
            <a:off x="4709160" y="4110228"/>
            <a:ext cx="36576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접점"/>
          <p:cNvSpPr/>
          <p:nvPr/>
        </p:nvSpPr>
        <p:spPr>
          <a:xfrm>
            <a:off x="4668012" y="4069080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2" name="선"/>
          <p:cNvCxnSpPr/>
          <p:nvPr/>
        </p:nvCxnSpPr>
        <p:spPr>
          <a:xfrm>
            <a:off x="4892040" y="4384548"/>
            <a:ext cx="18288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접점"/>
          <p:cNvSpPr/>
          <p:nvPr/>
        </p:nvSpPr>
        <p:spPr>
          <a:xfrm>
            <a:off x="4850892" y="4343400"/>
            <a:ext cx="82296" cy="82296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게이트"/>
          <p:cNvSpPr/>
          <p:nvPr/>
        </p:nvSpPr>
        <p:spPr>
          <a:xfrm>
            <a:off x="5074920" y="3973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55" name="라벨"/>
          <p:cNvSpPr txBox="1"/>
          <p:nvPr/>
        </p:nvSpPr>
        <p:spPr>
          <a:xfrm>
            <a:off x="5029200" y="45308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mode_dist</a:t>
            </a:r>
          </a:p>
        </p:txBody>
      </p:sp>
      <p:cxnSp>
        <p:nvCxnSpPr>
          <p:cNvPr id="56" name="선"/>
          <p:cNvCxnSpPr/>
          <p:nvPr/>
        </p:nvCxnSpPr>
        <p:spPr>
          <a:xfrm>
            <a:off x="5623560" y="4247388"/>
            <a:ext cx="73152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라벨"/>
          <p:cNvSpPr txBox="1"/>
          <p:nvPr/>
        </p:nvSpPr>
        <p:spPr>
          <a:xfrm>
            <a:off x="5669280" y="3982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cxnSp>
        <p:nvCxnSpPr>
          <p:cNvPr id="58" name="선"/>
          <p:cNvCxnSpPr/>
          <p:nvPr/>
        </p:nvCxnSpPr>
        <p:spPr>
          <a:xfrm>
            <a:off x="4709160" y="5253227"/>
            <a:ext cx="36576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접점"/>
          <p:cNvSpPr/>
          <p:nvPr/>
        </p:nvSpPr>
        <p:spPr>
          <a:xfrm>
            <a:off x="4668012" y="5212079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0" name="선"/>
          <p:cNvCxnSpPr/>
          <p:nvPr/>
        </p:nvCxnSpPr>
        <p:spPr>
          <a:xfrm>
            <a:off x="4892040" y="5527548"/>
            <a:ext cx="18288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게이트"/>
          <p:cNvSpPr/>
          <p:nvPr/>
        </p:nvSpPr>
        <p:spPr>
          <a:xfrm>
            <a:off x="5074920" y="5116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62" name="라벨"/>
          <p:cNvSpPr txBox="1"/>
          <p:nvPr/>
        </p:nvSpPr>
        <p:spPr>
          <a:xfrm>
            <a:off x="5029200" y="5673851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mode_dht</a:t>
            </a:r>
          </a:p>
        </p:txBody>
      </p:sp>
      <p:cxnSp>
        <p:nvCxnSpPr>
          <p:cNvPr id="63" name="선"/>
          <p:cNvCxnSpPr/>
          <p:nvPr/>
        </p:nvCxnSpPr>
        <p:spPr>
          <a:xfrm>
            <a:off x="5623560" y="5390388"/>
            <a:ext cx="73152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라벨"/>
          <p:cNvSpPr txBox="1"/>
          <p:nvPr/>
        </p:nvSpPr>
        <p:spPr>
          <a:xfrm>
            <a:off x="5669280" y="5125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sp>
        <p:nvSpPr>
          <p:cNvPr id="65" name="모드 선택 칸"/>
          <p:cNvSpPr/>
          <p:nvPr/>
        </p:nvSpPr>
        <p:spPr>
          <a:xfrm>
            <a:off x="1600200" y="4160520"/>
            <a:ext cx="2103120" cy="1481328"/>
          </a:xfrm>
          <a:prstGeom prst="roundRect">
            <a:avLst>
              <a:gd name="adj" fmla="val 4938"/>
            </a:avLst>
          </a:prstGeom>
          <a:solidFill>
            <a:srgbClr val="FBFBFC"/>
          </a:solidFill>
          <a:ln w="12700">
            <a:solidFill>
              <a:srgbClr val="C8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라벨"/>
          <p:cNvSpPr txBox="1"/>
          <p:nvPr/>
        </p:nvSpPr>
        <p:spPr>
          <a:xfrm>
            <a:off x="1664208" y="417880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모드 선택</a:t>
            </a:r>
          </a:p>
        </p:txBody>
      </p:sp>
      <p:sp>
        <p:nvSpPr>
          <p:cNvPr id="67" name="태그 sw0 ~ sw6"/>
          <p:cNvSpPr/>
          <p:nvPr/>
        </p:nvSpPr>
        <p:spPr>
          <a:xfrm>
            <a:off x="411480" y="4498848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sw0 ~ sw6</a:t>
            </a:r>
          </a:p>
        </p:txBody>
      </p:sp>
      <p:cxnSp>
        <p:nvCxnSpPr>
          <p:cNvPr id="68" name="선"/>
          <p:cNvCxnSpPr/>
          <p:nvPr/>
        </p:nvCxnSpPr>
        <p:spPr>
          <a:xfrm>
            <a:off x="1417320" y="4645152"/>
            <a:ext cx="5486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MUX 모드"/>
          <p:cNvSpPr/>
          <p:nvPr/>
        </p:nvSpPr>
        <p:spPr>
          <a:xfrm>
            <a:off x="1965960" y="4480560"/>
            <a:ext cx="457200" cy="987552"/>
          </a:xfrm>
          <a:custGeom>
            <a:avLst/>
            <a:gdLst/>
            <a:ahLst/>
            <a:cxnLst/>
            <a:rect l="l" t="t" r="r" b="b"/>
            <a:pathLst>
              <a:path w="457200" h="987552">
                <a:moveTo>
                  <a:pt x="0" y="0"/>
                </a:moveTo>
                <a:lnTo>
                  <a:pt x="457200" y="109728"/>
                </a:lnTo>
                <a:lnTo>
                  <a:pt x="457200" y="877824"/>
                </a:lnTo>
                <a:lnTo>
                  <a:pt x="0" y="987552"/>
                </a:lnTo>
                <a:lnTo>
                  <a:pt x="0" y="0"/>
                </a:lnTo>
                <a:close/>
              </a:path>
            </a:pathLst>
          </a:custGeom>
          <a:solidFill>
            <a:srgbClr val="E6F4F3"/>
          </a:solidFill>
          <a:ln w="1905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라벨"/>
          <p:cNvSpPr txBox="1"/>
          <p:nvPr/>
        </p:nvSpPr>
        <p:spPr>
          <a:xfrm>
            <a:off x="2020824" y="4526280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71" name="라벨"/>
          <p:cNvSpPr txBox="1"/>
          <p:nvPr/>
        </p:nvSpPr>
        <p:spPr>
          <a:xfrm>
            <a:off x="2020824" y="5093208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72" name="라벨"/>
          <p:cNvSpPr txBox="1"/>
          <p:nvPr/>
        </p:nvSpPr>
        <p:spPr>
          <a:xfrm>
            <a:off x="2423160" y="418795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2:1 × 7 bit</a:t>
            </a:r>
          </a:p>
        </p:txBody>
      </p:sp>
      <p:cxnSp>
        <p:nvCxnSpPr>
          <p:cNvPr id="73" name="선"/>
          <p:cNvCxnSpPr/>
          <p:nvPr/>
        </p:nvCxnSpPr>
        <p:spPr>
          <a:xfrm>
            <a:off x="2423160" y="4965192"/>
            <a:ext cx="27432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블록 모드&#10;디코드"/>
          <p:cNvSpPr/>
          <p:nvPr/>
        </p:nvSpPr>
        <p:spPr>
          <a:xfrm>
            <a:off x="2697480" y="4663440"/>
            <a:ext cx="914400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모드</a:t>
            </a:r>
          </a:p>
          <a:p>
            <a:pPr algn="ctr"/>
            <a:r>
              <a:rPr sz="11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디코드</a:t>
            </a:r>
          </a:p>
        </p:txBody>
      </p:sp>
      <p:sp>
        <p:nvSpPr>
          <p:cNvPr id="75" name="라벨"/>
          <p:cNvSpPr txBox="1"/>
          <p:nvPr/>
        </p:nvSpPr>
        <p:spPr>
          <a:xfrm>
            <a:off x="2331720" y="5340096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5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→ mode_* · disp_sel</a:t>
            </a:r>
          </a:p>
        </p:txBody>
      </p:sp>
      <p:sp>
        <p:nvSpPr>
          <p:cNvPr id="76" name="블록 wts_top"/>
          <p:cNvSpPr/>
          <p:nvPr/>
        </p:nvSpPr>
        <p:spPr>
          <a:xfrm>
            <a:off x="6355080" y="2761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wts_top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control_unit · datapath × 3</a:t>
            </a:r>
          </a:p>
        </p:txBody>
      </p:sp>
      <p:cxnSp>
        <p:nvCxnSpPr>
          <p:cNvPr id="77" name="선"/>
          <p:cNvCxnSpPr/>
          <p:nvPr/>
        </p:nvCxnSpPr>
        <p:spPr>
          <a:xfrm>
            <a:off x="8549640" y="3104388"/>
            <a:ext cx="361188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라벨"/>
          <p:cNvSpPr txBox="1"/>
          <p:nvPr/>
        </p:nvSpPr>
        <p:spPr>
          <a:xfrm>
            <a:off x="8686800" y="2839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disp  시 · 분 · 초 · 1/100</a:t>
            </a:r>
          </a:p>
        </p:txBody>
      </p:sp>
      <p:sp>
        <p:nvSpPr>
          <p:cNvPr id="79" name="라벨"/>
          <p:cNvSpPr txBox="1"/>
          <p:nvPr/>
        </p:nvSpPr>
        <p:spPr>
          <a:xfrm>
            <a:off x="8686800" y="3150108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← ctrl_bit[4:0]  (sw0 · sw1 · sw2 · sw3 · sw4)</a:t>
            </a:r>
          </a:p>
        </p:txBody>
      </p:sp>
      <p:sp>
        <p:nvSpPr>
          <p:cNvPr id="80" name="블록 sr04_top"/>
          <p:cNvSpPr/>
          <p:nvPr/>
        </p:nvSpPr>
        <p:spPr>
          <a:xfrm>
            <a:off x="6355080" y="3904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sr04_top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core · mode_ctrl · led_bar</a:t>
            </a:r>
          </a:p>
        </p:txBody>
      </p:sp>
      <p:cxnSp>
        <p:nvCxnSpPr>
          <p:cNvPr id="81" name="선"/>
          <p:cNvCxnSpPr/>
          <p:nvPr/>
        </p:nvCxnSpPr>
        <p:spPr>
          <a:xfrm>
            <a:off x="8549640" y="4247388"/>
            <a:ext cx="361188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라벨"/>
          <p:cNvSpPr txBox="1"/>
          <p:nvPr/>
        </p:nvSpPr>
        <p:spPr>
          <a:xfrm>
            <a:off x="8686800" y="3982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distance_x10 · err · status</a:t>
            </a:r>
          </a:p>
        </p:txBody>
      </p:sp>
      <p:sp>
        <p:nvSpPr>
          <p:cNvPr id="83" name="라벨"/>
          <p:cNvSpPr txBox="1"/>
          <p:nvPr/>
        </p:nvSpPr>
        <p:spPr>
          <a:xfrm>
            <a:off x="8686800" y="4293108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trig → JA1 · echo ← JA2 · sw15 = 거리 막대 LED</a:t>
            </a:r>
          </a:p>
        </p:txBody>
      </p:sp>
      <p:sp>
        <p:nvSpPr>
          <p:cNvPr id="84" name="블록 dht11_top"/>
          <p:cNvSpPr/>
          <p:nvPr/>
        </p:nvSpPr>
        <p:spPr>
          <a:xfrm>
            <a:off x="6355080" y="5047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dht11_top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core · controller · manager</a:t>
            </a:r>
          </a:p>
        </p:txBody>
      </p:sp>
      <p:cxnSp>
        <p:nvCxnSpPr>
          <p:cNvPr id="85" name="선"/>
          <p:cNvCxnSpPr/>
          <p:nvPr/>
        </p:nvCxnSpPr>
        <p:spPr>
          <a:xfrm>
            <a:off x="8549640" y="5390388"/>
            <a:ext cx="361188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라벨"/>
          <p:cNvSpPr txBox="1"/>
          <p:nvPr/>
        </p:nvSpPr>
        <p:spPr>
          <a:xfrm>
            <a:off x="8686800" y="5125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fnd_data · dashes · err</a:t>
            </a:r>
          </a:p>
        </p:txBody>
      </p:sp>
      <p:sp>
        <p:nvSpPr>
          <p:cNvPr id="87" name="라벨"/>
          <p:cNvSpPr txBox="1"/>
          <p:nvPr/>
        </p:nvSpPr>
        <p:spPr>
          <a:xfrm>
            <a:off x="8686800" y="5436107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dht11_io ↔ JXADC3 (M2)</a:t>
            </a:r>
          </a:p>
        </p:txBody>
      </p:sp>
      <p:sp>
        <p:nvSpPr>
          <p:cNvPr id="88" name="MUX FND"/>
          <p:cNvSpPr/>
          <p:nvPr/>
        </p:nvSpPr>
        <p:spPr>
          <a:xfrm>
            <a:off x="12161520" y="2606040"/>
            <a:ext cx="640080" cy="3108960"/>
          </a:xfrm>
          <a:custGeom>
            <a:avLst/>
            <a:gdLst/>
            <a:ahLst/>
            <a:cxnLst/>
            <a:rect l="l" t="t" r="r" b="b"/>
            <a:pathLst>
              <a:path w="640080" h="3108960">
                <a:moveTo>
                  <a:pt x="0" y="0"/>
                </a:moveTo>
                <a:lnTo>
                  <a:pt x="640080" y="228600"/>
                </a:lnTo>
                <a:lnTo>
                  <a:pt x="640080" y="2880360"/>
                </a:lnTo>
                <a:lnTo>
                  <a:pt x="0" y="3108960"/>
                </a:lnTo>
                <a:lnTo>
                  <a:pt x="0" y="0"/>
                </a:lnTo>
                <a:close/>
              </a:path>
            </a:pathLst>
          </a:custGeom>
          <a:solidFill>
            <a:srgbClr val="E6F4F3"/>
          </a:solidFill>
          <a:ln w="1905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라벨"/>
          <p:cNvSpPr txBox="1"/>
          <p:nvPr/>
        </p:nvSpPr>
        <p:spPr>
          <a:xfrm>
            <a:off x="12216384" y="298551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90" name="라벨"/>
          <p:cNvSpPr txBox="1"/>
          <p:nvPr/>
        </p:nvSpPr>
        <p:spPr>
          <a:xfrm>
            <a:off x="12216384" y="412851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1" name="라벨"/>
          <p:cNvSpPr txBox="1"/>
          <p:nvPr/>
        </p:nvSpPr>
        <p:spPr>
          <a:xfrm>
            <a:off x="12216384" y="527151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92" name="라벨"/>
          <p:cNvSpPr txBox="1"/>
          <p:nvPr/>
        </p:nvSpPr>
        <p:spPr>
          <a:xfrm>
            <a:off x="11978640" y="5742432"/>
            <a:ext cx="2011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FND MUX  3:1 × 25 bit</a:t>
            </a:r>
          </a:p>
        </p:txBody>
      </p:sp>
      <p:sp>
        <p:nvSpPr>
          <p:cNvPr id="93" name="라벨"/>
          <p:cNvSpPr txBox="1"/>
          <p:nvPr/>
        </p:nvSpPr>
        <p:spPr>
          <a:xfrm>
            <a:off x="11978640" y="5961888"/>
            <a:ext cx="2011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sel = disp_sel (2 bit)</a:t>
            </a:r>
          </a:p>
        </p:txBody>
      </p:sp>
      <p:cxnSp>
        <p:nvCxnSpPr>
          <p:cNvPr id="94" name="선"/>
          <p:cNvCxnSpPr/>
          <p:nvPr/>
        </p:nvCxnSpPr>
        <p:spPr>
          <a:xfrm>
            <a:off x="12801600" y="3017520"/>
            <a:ext cx="128016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라벨"/>
          <p:cNvSpPr txBox="1"/>
          <p:nvPr/>
        </p:nvSpPr>
        <p:spPr>
          <a:xfrm>
            <a:off x="12874752" y="277063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fnd_data</a:t>
            </a:r>
          </a:p>
        </p:txBody>
      </p:sp>
      <p:sp>
        <p:nvSpPr>
          <p:cNvPr id="96" name="블록 FND&#10;컨트롤러"/>
          <p:cNvSpPr/>
          <p:nvPr/>
        </p:nvSpPr>
        <p:spPr>
          <a:xfrm>
            <a:off x="14081760" y="2606040"/>
            <a:ext cx="182880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FND</a:t>
            </a:r>
          </a:p>
          <a:p>
            <a:pPr algn="ctr"/>
            <a:r>
              <a:rPr sz="14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컨트롤러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SW2_FND_CONTROLLER</a:t>
            </a:r>
          </a:p>
        </p:txBody>
      </p:sp>
      <p:sp>
        <p:nvSpPr>
          <p:cNvPr id="97" name="태그 disp_sel"/>
          <p:cNvSpPr/>
          <p:nvPr/>
        </p:nvSpPr>
        <p:spPr>
          <a:xfrm>
            <a:off x="13167360" y="325526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98" name="태그 wt_cursor"/>
          <p:cNvSpPr/>
          <p:nvPr/>
        </p:nvSpPr>
        <p:spPr>
          <a:xfrm>
            <a:off x="13167360" y="354787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wt_cursor</a:t>
            </a:r>
          </a:p>
        </p:txBody>
      </p:sp>
      <p:sp>
        <p:nvSpPr>
          <p:cNvPr id="99" name="태그 set_sw2"/>
          <p:cNvSpPr/>
          <p:nvPr/>
        </p:nvSpPr>
        <p:spPr>
          <a:xfrm>
            <a:off x="13167360" y="384048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set_sw2</a:t>
            </a:r>
          </a:p>
        </p:txBody>
      </p:sp>
      <p:cxnSp>
        <p:nvCxnSpPr>
          <p:cNvPr id="100" name="선"/>
          <p:cNvCxnSpPr/>
          <p:nvPr/>
        </p:nvCxnSpPr>
        <p:spPr>
          <a:xfrm>
            <a:off x="15910559" y="3054096"/>
            <a:ext cx="411481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태그 fnd_com"/>
          <p:cNvSpPr/>
          <p:nvPr/>
        </p:nvSpPr>
        <p:spPr>
          <a:xfrm>
            <a:off x="16322040" y="29077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fnd_com</a:t>
            </a:r>
          </a:p>
        </p:txBody>
      </p:sp>
      <p:cxnSp>
        <p:nvCxnSpPr>
          <p:cNvPr id="102" name="선"/>
          <p:cNvCxnSpPr/>
          <p:nvPr/>
        </p:nvCxnSpPr>
        <p:spPr>
          <a:xfrm>
            <a:off x="15910559" y="3739896"/>
            <a:ext cx="411481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태그 fnd_font"/>
          <p:cNvSpPr/>
          <p:nvPr/>
        </p:nvSpPr>
        <p:spPr>
          <a:xfrm>
            <a:off x="16322040" y="35935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fnd_font</a:t>
            </a:r>
          </a:p>
        </p:txBody>
      </p:sp>
      <p:sp>
        <p:nvSpPr>
          <p:cNvPr id="104" name="블록 LED 로직"/>
          <p:cNvSpPr/>
          <p:nvPr/>
        </p:nvSpPr>
        <p:spPr>
          <a:xfrm>
            <a:off x="14081760" y="4343400"/>
            <a:ext cx="1828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 로직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led_output</a:t>
            </a:r>
          </a:p>
        </p:txBody>
      </p:sp>
      <p:sp>
        <p:nvSpPr>
          <p:cNvPr id="105" name="태그 disp_sel"/>
          <p:cNvSpPr/>
          <p:nvPr/>
        </p:nvSpPr>
        <p:spPr>
          <a:xfrm>
            <a:off x="13167360" y="4425696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106" name="태그 WTS 신호"/>
          <p:cNvSpPr/>
          <p:nvPr/>
        </p:nvSpPr>
        <p:spPr>
          <a:xfrm>
            <a:off x="13167360" y="471830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WTS 신호</a:t>
            </a:r>
          </a:p>
        </p:txBody>
      </p:sp>
      <p:sp>
        <p:nvSpPr>
          <p:cNvPr id="107" name="태그 sr04_led"/>
          <p:cNvSpPr/>
          <p:nvPr/>
        </p:nvSpPr>
        <p:spPr>
          <a:xfrm>
            <a:off x="13167360" y="501091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sr04_led</a:t>
            </a:r>
          </a:p>
        </p:txBody>
      </p:sp>
      <p:sp>
        <p:nvSpPr>
          <p:cNvPr id="108" name="태그 dht_led"/>
          <p:cNvSpPr/>
          <p:nvPr/>
        </p:nvSpPr>
        <p:spPr>
          <a:xfrm>
            <a:off x="13167360" y="530352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dht_led</a:t>
            </a:r>
          </a:p>
        </p:txBody>
      </p:sp>
      <p:cxnSp>
        <p:nvCxnSpPr>
          <p:cNvPr id="109" name="선"/>
          <p:cNvCxnSpPr/>
          <p:nvPr/>
        </p:nvCxnSpPr>
        <p:spPr>
          <a:xfrm>
            <a:off x="15910559" y="5029200"/>
            <a:ext cx="411481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태그 led[15:0]"/>
          <p:cNvSpPr/>
          <p:nvPr/>
        </p:nvSpPr>
        <p:spPr>
          <a:xfrm>
            <a:off x="16322040" y="4882896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led[15:0]</a:t>
            </a:r>
          </a:p>
        </p:txBody>
      </p:sp>
      <p:sp>
        <p:nvSpPr>
          <p:cNvPr id="111" name="태그 rx"/>
          <p:cNvSpPr/>
          <p:nvPr/>
        </p:nvSpPr>
        <p:spPr>
          <a:xfrm>
            <a:off x="411480" y="69037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rx</a:t>
            </a:r>
          </a:p>
        </p:txBody>
      </p:sp>
      <p:cxnSp>
        <p:nvCxnSpPr>
          <p:cNvPr id="112" name="선"/>
          <p:cNvCxnSpPr/>
          <p:nvPr/>
        </p:nvCxnSpPr>
        <p:spPr>
          <a:xfrm>
            <a:off x="1417320" y="7050024"/>
            <a:ext cx="36576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블록 uart_rx"/>
          <p:cNvSpPr/>
          <p:nvPr/>
        </p:nvSpPr>
        <p:spPr>
          <a:xfrm>
            <a:off x="1783080" y="6766560"/>
            <a:ext cx="118872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uart_rx</a:t>
            </a:r>
          </a:p>
        </p:txBody>
      </p:sp>
      <p:cxnSp>
        <p:nvCxnSpPr>
          <p:cNvPr id="114" name="선"/>
          <p:cNvCxnSpPr/>
          <p:nvPr/>
        </p:nvCxnSpPr>
        <p:spPr>
          <a:xfrm>
            <a:off x="2971800" y="7050024"/>
            <a:ext cx="27432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블록 fifo"/>
          <p:cNvSpPr/>
          <p:nvPr/>
        </p:nvSpPr>
        <p:spPr>
          <a:xfrm>
            <a:off x="3246120" y="6766560"/>
            <a:ext cx="91440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RX × 8</a:t>
            </a:r>
          </a:p>
        </p:txBody>
      </p:sp>
      <p:cxnSp>
        <p:nvCxnSpPr>
          <p:cNvPr id="116" name="선"/>
          <p:cNvCxnSpPr/>
          <p:nvPr/>
        </p:nvCxnSpPr>
        <p:spPr>
          <a:xfrm>
            <a:off x="4160520" y="7050024"/>
            <a:ext cx="27432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블록 ASCII_DECODER"/>
          <p:cNvSpPr/>
          <p:nvPr/>
        </p:nvSpPr>
        <p:spPr>
          <a:xfrm>
            <a:off x="4434840" y="6675120"/>
            <a:ext cx="18288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ASCII_DECODER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/명령 + 옵션 파싱</a:t>
            </a:r>
          </a:p>
        </p:txBody>
      </p:sp>
      <p:cxnSp>
        <p:nvCxnSpPr>
          <p:cNvPr id="118" name="선"/>
          <p:cNvCxnSpPr/>
          <p:nvPr/>
        </p:nvCxnSpPr>
        <p:spPr>
          <a:xfrm>
            <a:off x="6263640" y="7050024"/>
            <a:ext cx="50292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블록 baud_tick_gen"/>
          <p:cNvSpPr/>
          <p:nvPr/>
        </p:nvSpPr>
        <p:spPr>
          <a:xfrm>
            <a:off x="1783080" y="7680960"/>
            <a:ext cx="1188720" cy="5303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baud_tick_gen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9600 × 16</a:t>
            </a:r>
          </a:p>
        </p:txBody>
      </p:sp>
      <p:cxnSp>
        <p:nvCxnSpPr>
          <p:cNvPr id="120" name="선"/>
          <p:cNvCxnSpPr/>
          <p:nvPr/>
        </p:nvCxnSpPr>
        <p:spPr>
          <a:xfrm flipV="1">
            <a:off x="2377440" y="7333488"/>
            <a:ext cx="0" cy="347472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라벨"/>
          <p:cNvSpPr txBox="1"/>
          <p:nvPr/>
        </p:nvSpPr>
        <p:spPr>
          <a:xfrm>
            <a:off x="3063240" y="782726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→ RX · TX 공용</a:t>
            </a:r>
          </a:p>
        </p:txBody>
      </p:sp>
      <p:sp>
        <p:nvSpPr>
          <p:cNvPr id="122" name="블록 UART_CONTROLLER"/>
          <p:cNvSpPr/>
          <p:nvPr/>
        </p:nvSpPr>
        <p:spPr>
          <a:xfrm>
            <a:off x="6766560" y="6675120"/>
            <a:ext cx="2377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UART_CONTROLLER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mode · auto · btn FSM</a:t>
            </a:r>
          </a:p>
        </p:txBody>
      </p:sp>
      <p:sp>
        <p:nvSpPr>
          <p:cNvPr id="123" name="태그 phy_btn"/>
          <p:cNvSpPr/>
          <p:nvPr/>
        </p:nvSpPr>
        <p:spPr>
          <a:xfrm>
            <a:off x="5870448" y="7498079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phy_btn</a:t>
            </a:r>
          </a:p>
        </p:txBody>
      </p:sp>
      <p:sp>
        <p:nvSpPr>
          <p:cNvPr id="124" name="라벨"/>
          <p:cNvSpPr txBox="1"/>
          <p:nvPr/>
        </p:nvSpPr>
        <p:spPr>
          <a:xfrm>
            <a:off x="3950208" y="750722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같은 clk 면 물리 먼저</a:t>
            </a:r>
          </a:p>
        </p:txBody>
      </p:sp>
      <p:cxnSp>
        <p:nvCxnSpPr>
          <p:cNvPr id="125" name="선"/>
          <p:cNvCxnSpPr/>
          <p:nvPr/>
        </p:nvCxnSpPr>
        <p:spPr>
          <a:xfrm flipV="1">
            <a:off x="6903720" y="6217920"/>
            <a:ext cx="0" cy="457200"/>
          </a:xfrm>
          <a:prstGeom prst="line">
            <a:avLst/>
          </a:prstGeom>
          <a:ln w="317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선"/>
          <p:cNvCxnSpPr/>
          <p:nvPr/>
        </p:nvCxnSpPr>
        <p:spPr>
          <a:xfrm flipH="1">
            <a:off x="1691640" y="6217920"/>
            <a:ext cx="5212080" cy="0"/>
          </a:xfrm>
          <a:prstGeom prst="line">
            <a:avLst/>
          </a:prstGeom>
          <a:ln w="317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선"/>
          <p:cNvCxnSpPr/>
          <p:nvPr/>
        </p:nvCxnSpPr>
        <p:spPr>
          <a:xfrm flipV="1">
            <a:off x="1691640" y="5212080"/>
            <a:ext cx="0" cy="1005840"/>
          </a:xfrm>
          <a:prstGeom prst="line">
            <a:avLst/>
          </a:prstGeom>
          <a:ln w="317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선"/>
          <p:cNvCxnSpPr/>
          <p:nvPr/>
        </p:nvCxnSpPr>
        <p:spPr>
          <a:xfrm>
            <a:off x="1691640" y="5212080"/>
            <a:ext cx="27432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라벨"/>
          <p:cNvSpPr txBox="1"/>
          <p:nvPr/>
        </p:nvSpPr>
        <p:spPr>
          <a:xfrm>
            <a:off x="3931920" y="623620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module_control_bit[6:0]</a:t>
            </a:r>
          </a:p>
        </p:txBody>
      </p:sp>
      <p:cxnSp>
        <p:nvCxnSpPr>
          <p:cNvPr id="130" name="선"/>
          <p:cNvCxnSpPr/>
          <p:nvPr/>
        </p:nvCxnSpPr>
        <p:spPr>
          <a:xfrm flipV="1">
            <a:off x="7178040" y="6080760"/>
            <a:ext cx="0" cy="594360"/>
          </a:xfrm>
          <a:prstGeom prst="line">
            <a:avLst/>
          </a:prstGeom>
          <a:ln w="317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선"/>
          <p:cNvCxnSpPr/>
          <p:nvPr/>
        </p:nvCxnSpPr>
        <p:spPr>
          <a:xfrm flipH="1">
            <a:off x="2194560" y="6080760"/>
            <a:ext cx="4983480" cy="0"/>
          </a:xfrm>
          <a:prstGeom prst="line">
            <a:avLst/>
          </a:prstGeom>
          <a:ln w="317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선"/>
          <p:cNvCxnSpPr/>
          <p:nvPr/>
        </p:nvCxnSpPr>
        <p:spPr>
          <a:xfrm flipV="1">
            <a:off x="2194560" y="5413248"/>
            <a:ext cx="0" cy="667512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라벨"/>
          <p:cNvSpPr txBox="1"/>
          <p:nvPr/>
        </p:nvSpPr>
        <p:spPr>
          <a:xfrm>
            <a:off x="2286000" y="5852160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uart_mode</a:t>
            </a:r>
          </a:p>
        </p:txBody>
      </p:sp>
      <p:cxnSp>
        <p:nvCxnSpPr>
          <p:cNvPr id="134" name="선"/>
          <p:cNvCxnSpPr/>
          <p:nvPr/>
        </p:nvCxnSpPr>
        <p:spPr>
          <a:xfrm flipV="1">
            <a:off x="7452360" y="5943600"/>
            <a:ext cx="0" cy="73152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선"/>
          <p:cNvCxnSpPr/>
          <p:nvPr/>
        </p:nvCxnSpPr>
        <p:spPr>
          <a:xfrm flipH="1">
            <a:off x="3749039" y="5943600"/>
            <a:ext cx="3703321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선"/>
          <p:cNvCxnSpPr/>
          <p:nvPr/>
        </p:nvCxnSpPr>
        <p:spPr>
          <a:xfrm flipV="1">
            <a:off x="3749039" y="3438144"/>
            <a:ext cx="0" cy="2505456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선"/>
          <p:cNvCxnSpPr/>
          <p:nvPr/>
        </p:nvCxnSpPr>
        <p:spPr>
          <a:xfrm>
            <a:off x="3749039" y="3438144"/>
            <a:ext cx="22860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라벨"/>
          <p:cNvSpPr txBox="1"/>
          <p:nvPr/>
        </p:nvSpPr>
        <p:spPr>
          <a:xfrm>
            <a:off x="3840480" y="3703320"/>
            <a:ext cx="8229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uart_btn</a:t>
            </a:r>
          </a:p>
        </p:txBody>
      </p:sp>
      <p:sp>
        <p:nvSpPr>
          <p:cNvPr id="139" name="블록 sender_tick"/>
          <p:cNvSpPr/>
          <p:nvPr/>
        </p:nvSpPr>
        <p:spPr>
          <a:xfrm>
            <a:off x="9555480" y="6967728"/>
            <a:ext cx="1371600" cy="566928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sender_tick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1 Hz · scan 0→4</a:t>
            </a:r>
          </a:p>
        </p:txBody>
      </p:sp>
      <p:cxnSp>
        <p:nvCxnSpPr>
          <p:cNvPr id="140" name="선"/>
          <p:cNvCxnSpPr/>
          <p:nvPr/>
        </p:nvCxnSpPr>
        <p:spPr>
          <a:xfrm flipH="1">
            <a:off x="9144000" y="7251192"/>
            <a:ext cx="4114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선"/>
          <p:cNvCxnSpPr/>
          <p:nvPr/>
        </p:nvCxnSpPr>
        <p:spPr>
          <a:xfrm>
            <a:off x="9144000" y="6784848"/>
            <a:ext cx="4727448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선"/>
          <p:cNvCxnSpPr/>
          <p:nvPr/>
        </p:nvCxnSpPr>
        <p:spPr>
          <a:xfrm>
            <a:off x="13871448" y="6784848"/>
            <a:ext cx="0" cy="301752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라벨"/>
          <p:cNvSpPr txBox="1"/>
          <p:nvPr/>
        </p:nvSpPr>
        <p:spPr>
          <a:xfrm>
            <a:off x="10241280" y="6547104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send_go</a:t>
            </a:r>
          </a:p>
        </p:txBody>
      </p:sp>
      <p:sp>
        <p:nvSpPr>
          <p:cNvPr id="144" name="MUX 전송"/>
          <p:cNvSpPr/>
          <p:nvPr/>
        </p:nvSpPr>
        <p:spPr>
          <a:xfrm>
            <a:off x="11887200" y="6903720"/>
            <a:ext cx="868680" cy="1280159"/>
          </a:xfrm>
          <a:custGeom>
            <a:avLst/>
            <a:gdLst/>
            <a:ahLst/>
            <a:cxnLst/>
            <a:rect l="l" t="t" r="r" b="b"/>
            <a:pathLst>
              <a:path w="868680" h="1280159">
                <a:moveTo>
                  <a:pt x="0" y="0"/>
                </a:moveTo>
                <a:lnTo>
                  <a:pt x="868680" y="164592"/>
                </a:lnTo>
                <a:lnTo>
                  <a:pt x="868680" y="1115568"/>
                </a:lnTo>
                <a:lnTo>
                  <a:pt x="0" y="1280159"/>
                </a:lnTo>
                <a:lnTo>
                  <a:pt x="0" y="0"/>
                </a:lnTo>
                <a:close/>
              </a:path>
            </a:pathLst>
          </a:cu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라벨"/>
          <p:cNvSpPr txBox="1"/>
          <p:nvPr/>
        </p:nvSpPr>
        <p:spPr>
          <a:xfrm>
            <a:off x="11841480" y="6528816"/>
            <a:ext cx="21945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전송 MUX  8:1 × 24 bit</a:t>
            </a:r>
          </a:p>
        </p:txBody>
      </p:sp>
      <p:cxnSp>
        <p:nvCxnSpPr>
          <p:cNvPr id="146" name="선"/>
          <p:cNvCxnSpPr/>
          <p:nvPr/>
        </p:nvCxnSpPr>
        <p:spPr>
          <a:xfrm>
            <a:off x="11777472" y="3104388"/>
            <a:ext cx="0" cy="4210812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선"/>
          <p:cNvCxnSpPr/>
          <p:nvPr/>
        </p:nvCxnSpPr>
        <p:spPr>
          <a:xfrm>
            <a:off x="11777472" y="7315200"/>
            <a:ext cx="109728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선"/>
          <p:cNvCxnSpPr/>
          <p:nvPr/>
        </p:nvCxnSpPr>
        <p:spPr>
          <a:xfrm>
            <a:off x="11777472" y="7022592"/>
            <a:ext cx="109728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접점"/>
          <p:cNvSpPr/>
          <p:nvPr/>
        </p:nvSpPr>
        <p:spPr>
          <a:xfrm>
            <a:off x="11736324" y="6981444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0" name="선"/>
          <p:cNvCxnSpPr/>
          <p:nvPr/>
        </p:nvCxnSpPr>
        <p:spPr>
          <a:xfrm>
            <a:off x="11777472" y="7168896"/>
            <a:ext cx="109728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접점"/>
          <p:cNvSpPr/>
          <p:nvPr/>
        </p:nvSpPr>
        <p:spPr>
          <a:xfrm>
            <a:off x="11736324" y="7127748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접점"/>
          <p:cNvSpPr/>
          <p:nvPr/>
        </p:nvSpPr>
        <p:spPr>
          <a:xfrm>
            <a:off x="11736324" y="306324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3" name="선"/>
          <p:cNvCxnSpPr/>
          <p:nvPr/>
        </p:nvCxnSpPr>
        <p:spPr>
          <a:xfrm>
            <a:off x="11686032" y="4247388"/>
            <a:ext cx="0" cy="326898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선"/>
          <p:cNvCxnSpPr/>
          <p:nvPr/>
        </p:nvCxnSpPr>
        <p:spPr>
          <a:xfrm>
            <a:off x="11686032" y="7516368"/>
            <a:ext cx="201168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접점"/>
          <p:cNvSpPr/>
          <p:nvPr/>
        </p:nvSpPr>
        <p:spPr>
          <a:xfrm>
            <a:off x="11644884" y="420624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6" name="선"/>
          <p:cNvCxnSpPr/>
          <p:nvPr/>
        </p:nvCxnSpPr>
        <p:spPr>
          <a:xfrm>
            <a:off x="11430000" y="5390388"/>
            <a:ext cx="0" cy="2327148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선"/>
          <p:cNvCxnSpPr/>
          <p:nvPr/>
        </p:nvCxnSpPr>
        <p:spPr>
          <a:xfrm>
            <a:off x="11430000" y="7717536"/>
            <a:ext cx="45720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접점"/>
          <p:cNvSpPr/>
          <p:nvPr/>
        </p:nvSpPr>
        <p:spPr>
          <a:xfrm>
            <a:off x="11388852" y="534924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MUX 핀"/>
          <p:cNvSpPr txBox="1"/>
          <p:nvPr/>
        </p:nvSpPr>
        <p:spPr>
          <a:xfrm>
            <a:off x="11932920" y="693115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0 sw</a:t>
            </a:r>
          </a:p>
        </p:txBody>
      </p:sp>
      <p:sp>
        <p:nvSpPr>
          <p:cNvPr id="160" name="MUX 핀"/>
          <p:cNvSpPr txBox="1"/>
          <p:nvPr/>
        </p:nvSpPr>
        <p:spPr>
          <a:xfrm>
            <a:off x="11932920" y="707745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1 tm</a:t>
            </a:r>
          </a:p>
        </p:txBody>
      </p:sp>
      <p:sp>
        <p:nvSpPr>
          <p:cNvPr id="161" name="MUX 핀"/>
          <p:cNvSpPr txBox="1"/>
          <p:nvPr/>
        </p:nvSpPr>
        <p:spPr>
          <a:xfrm>
            <a:off x="11932920" y="722376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2 wt</a:t>
            </a:r>
          </a:p>
        </p:txBody>
      </p:sp>
      <p:sp>
        <p:nvSpPr>
          <p:cNvPr id="162" name="MUX 핀"/>
          <p:cNvSpPr txBox="1"/>
          <p:nvPr/>
        </p:nvSpPr>
        <p:spPr>
          <a:xfrm>
            <a:off x="11932920" y="742492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3 거리·상태</a:t>
            </a:r>
          </a:p>
        </p:txBody>
      </p:sp>
      <p:sp>
        <p:nvSpPr>
          <p:cNvPr id="163" name="MUX 핀"/>
          <p:cNvSpPr txBox="1"/>
          <p:nvPr/>
        </p:nvSpPr>
        <p:spPr>
          <a:xfrm>
            <a:off x="11932920" y="762609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4 온습도·상태</a:t>
            </a:r>
          </a:p>
        </p:txBody>
      </p:sp>
      <p:cxnSp>
        <p:nvCxnSpPr>
          <p:cNvPr id="165" name="선"/>
          <p:cNvCxnSpPr/>
          <p:nvPr/>
        </p:nvCxnSpPr>
        <p:spPr>
          <a:xfrm>
            <a:off x="12755880" y="7498079"/>
            <a:ext cx="45720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선"/>
          <p:cNvCxnSpPr/>
          <p:nvPr/>
        </p:nvCxnSpPr>
        <p:spPr>
          <a:xfrm>
            <a:off x="8869680" y="8046720"/>
            <a:ext cx="0" cy="201168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선"/>
          <p:cNvCxnSpPr/>
          <p:nvPr/>
        </p:nvCxnSpPr>
        <p:spPr>
          <a:xfrm>
            <a:off x="8869680" y="8247888"/>
            <a:ext cx="5001768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선"/>
          <p:cNvCxnSpPr/>
          <p:nvPr/>
        </p:nvCxnSpPr>
        <p:spPr>
          <a:xfrm flipV="1">
            <a:off x="13871448" y="7909560"/>
            <a:ext cx="0" cy="338328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라벨"/>
          <p:cNvSpPr txBox="1"/>
          <p:nvPr/>
        </p:nvSpPr>
        <p:spPr>
          <a:xfrm>
            <a:off x="9509760" y="8010144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send_sel</a:t>
            </a:r>
          </a:p>
        </p:txBody>
      </p:sp>
      <p:cxnSp>
        <p:nvCxnSpPr>
          <p:cNvPr id="170" name="선"/>
          <p:cNvCxnSpPr/>
          <p:nvPr/>
        </p:nvCxnSpPr>
        <p:spPr>
          <a:xfrm flipV="1">
            <a:off x="12481560" y="8071264"/>
            <a:ext cx="0" cy="176624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접점"/>
          <p:cNvSpPr/>
          <p:nvPr/>
        </p:nvSpPr>
        <p:spPr>
          <a:xfrm>
            <a:off x="12440412" y="820674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2" name="블록 uart_sender"/>
          <p:cNvSpPr/>
          <p:nvPr/>
        </p:nvSpPr>
        <p:spPr>
          <a:xfrm>
            <a:off x="13213080" y="7086600"/>
            <a:ext cx="1325880" cy="822960"/>
          </a:xfrm>
          <a:prstGeom prst="roundRect">
            <a:avLst>
              <a:gd name="adj" fmla="val 8888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uart_sender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숫자 → ASCII 한 줄</a:t>
            </a:r>
          </a:p>
        </p:txBody>
      </p:sp>
      <p:cxnSp>
        <p:nvCxnSpPr>
          <p:cNvPr id="173" name="선"/>
          <p:cNvCxnSpPr/>
          <p:nvPr/>
        </p:nvCxnSpPr>
        <p:spPr>
          <a:xfrm>
            <a:off x="14538960" y="7498079"/>
            <a:ext cx="228599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블록 fifo"/>
          <p:cNvSpPr/>
          <p:nvPr/>
        </p:nvSpPr>
        <p:spPr>
          <a:xfrm>
            <a:off x="14767559" y="7214616"/>
            <a:ext cx="822960" cy="566928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TX × 64</a:t>
            </a:r>
          </a:p>
        </p:txBody>
      </p:sp>
      <p:cxnSp>
        <p:nvCxnSpPr>
          <p:cNvPr id="175" name="선"/>
          <p:cNvCxnSpPr/>
          <p:nvPr/>
        </p:nvCxnSpPr>
        <p:spPr>
          <a:xfrm>
            <a:off x="15590520" y="7498079"/>
            <a:ext cx="22860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블록 uart_tx"/>
          <p:cNvSpPr/>
          <p:nvPr/>
        </p:nvSpPr>
        <p:spPr>
          <a:xfrm>
            <a:off x="15819120" y="7214616"/>
            <a:ext cx="868680" cy="566928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uart_tx</a:t>
            </a:r>
          </a:p>
        </p:txBody>
      </p:sp>
      <p:cxnSp>
        <p:nvCxnSpPr>
          <p:cNvPr id="177" name="선"/>
          <p:cNvCxnSpPr/>
          <p:nvPr/>
        </p:nvCxnSpPr>
        <p:spPr>
          <a:xfrm>
            <a:off x="16687800" y="7498079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8" name="태그 tx"/>
          <p:cNvSpPr/>
          <p:nvPr/>
        </p:nvSpPr>
        <p:spPr>
          <a:xfrm>
            <a:off x="16870680" y="7351775"/>
            <a:ext cx="822960" cy="292608"/>
          </a:xfrm>
          <a:prstGeom prst="homePlate">
            <a:avLst>
              <a:gd name="adj" fmla="val 24888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tx</a:t>
            </a:r>
          </a:p>
        </p:txBody>
      </p:sp>
      <p:sp>
        <p:nvSpPr>
          <p:cNvPr id="179" name="라벨"/>
          <p:cNvSpPr txBox="1"/>
          <p:nvPr/>
        </p:nvSpPr>
        <p:spPr>
          <a:xfrm>
            <a:off x="411480" y="4828032"/>
            <a:ext cx="11430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/mod 후 무시</a:t>
            </a:r>
          </a:p>
        </p:txBody>
      </p:sp>
      <p:sp>
        <p:nvSpPr>
          <p:cNvPr id="180" name="단계 1"/>
          <p:cNvSpPr/>
          <p:nvPr/>
        </p:nvSpPr>
        <p:spPr>
          <a:xfrm>
            <a:off x="6089904" y="6473952"/>
            <a:ext cx="347472" cy="347472"/>
          </a:xfrm>
          <a:prstGeom prst="ellipse">
            <a:avLst/>
          </a:prstGeom>
          <a:solidFill>
            <a:srgbClr val="2C7A7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81" name="단계 2"/>
          <p:cNvSpPr/>
          <p:nvPr/>
        </p:nvSpPr>
        <p:spPr>
          <a:xfrm>
            <a:off x="6400800" y="7818120"/>
            <a:ext cx="347472" cy="347472"/>
          </a:xfrm>
          <a:prstGeom prst="ellipse">
            <a:avLst/>
          </a:prstGeom>
          <a:solidFill>
            <a:srgbClr val="2C7A7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82" name="단계 3"/>
          <p:cNvSpPr/>
          <p:nvPr/>
        </p:nvSpPr>
        <p:spPr>
          <a:xfrm>
            <a:off x="1188720" y="5532120"/>
            <a:ext cx="347472" cy="347472"/>
          </a:xfrm>
          <a:prstGeom prst="ellipse">
            <a:avLst/>
          </a:prstGeom>
          <a:solidFill>
            <a:srgbClr val="2C7A7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3" name="단계 4"/>
          <p:cNvSpPr/>
          <p:nvPr/>
        </p:nvSpPr>
        <p:spPr>
          <a:xfrm>
            <a:off x="3200400" y="4279392"/>
            <a:ext cx="347472" cy="347472"/>
          </a:xfrm>
          <a:prstGeom prst="ellipse">
            <a:avLst/>
          </a:prstGeom>
          <a:solidFill>
            <a:srgbClr val="2C7A7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84" name="단계 5"/>
          <p:cNvSpPr/>
          <p:nvPr/>
        </p:nvSpPr>
        <p:spPr>
          <a:xfrm>
            <a:off x="8321040" y="3246120"/>
            <a:ext cx="347472" cy="347472"/>
          </a:xfrm>
          <a:prstGeom prst="ellipse">
            <a:avLst/>
          </a:prstGeom>
          <a:solidFill>
            <a:srgbClr val="2C7A7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85" name="단계 6"/>
          <p:cNvSpPr/>
          <p:nvPr/>
        </p:nvSpPr>
        <p:spPr>
          <a:xfrm>
            <a:off x="12984480" y="2377440"/>
            <a:ext cx="347472" cy="347472"/>
          </a:xfrm>
          <a:prstGeom prst="ellipse">
            <a:avLst/>
          </a:prstGeom>
          <a:solidFill>
            <a:srgbClr val="2C7A7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86" name="단계표 1"/>
          <p:cNvSpPr/>
          <p:nvPr/>
        </p:nvSpPr>
        <p:spPr>
          <a:xfrm>
            <a:off x="841248" y="8613648"/>
            <a:ext cx="329184" cy="329184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87" name="라벨"/>
          <p:cNvSpPr txBox="1"/>
          <p:nvPr/>
        </p:nvSpPr>
        <p:spPr>
          <a:xfrm>
            <a:off x="1252728" y="86045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rx → uart_rx → FIFO → 디코더 : "/mod " + 4 글자</a:t>
            </a:r>
          </a:p>
        </p:txBody>
      </p:sp>
      <p:sp>
        <p:nvSpPr>
          <p:cNvPr id="188" name="단계표 2"/>
          <p:cNvSpPr/>
          <p:nvPr/>
        </p:nvSpPr>
        <p:spPr>
          <a:xfrm>
            <a:off x="6419088" y="8613648"/>
            <a:ext cx="329184" cy="329184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89" name="라벨"/>
          <p:cNvSpPr txBox="1"/>
          <p:nvPr/>
        </p:nvSpPr>
        <p:spPr>
          <a:xfrm>
            <a:off x="6830568" y="86045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컨트롤러 : w_hm · s_ms · t_hm · dist · temp → 7 비트</a:t>
            </a:r>
          </a:p>
        </p:txBody>
      </p:sp>
      <p:sp>
        <p:nvSpPr>
          <p:cNvPr id="190" name="단계표 3"/>
          <p:cNvSpPr/>
          <p:nvPr/>
        </p:nvSpPr>
        <p:spPr>
          <a:xfrm>
            <a:off x="11996928" y="8613648"/>
            <a:ext cx="329184" cy="329184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91" name="라벨"/>
          <p:cNvSpPr txBox="1"/>
          <p:nvPr/>
        </p:nvSpPr>
        <p:spPr>
          <a:xfrm>
            <a:off x="12408407" y="86045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uart_mode = 1 (리셋 전까지) → MUX 가 UART 값 사용</a:t>
            </a:r>
          </a:p>
        </p:txBody>
      </p:sp>
      <p:sp>
        <p:nvSpPr>
          <p:cNvPr id="192" name="단계표 4"/>
          <p:cNvSpPr/>
          <p:nvPr/>
        </p:nvSpPr>
        <p:spPr>
          <a:xfrm>
            <a:off x="841248" y="9070848"/>
            <a:ext cx="329184" cy="329184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3" name="라벨"/>
          <p:cNvSpPr txBox="1"/>
          <p:nvPr/>
        </p:nvSpPr>
        <p:spPr>
          <a:xfrm>
            <a:off x="1252728" y="90617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모드 디코드 [6:5] → mode_wts · dist · dht 버튼 대상</a:t>
            </a:r>
          </a:p>
        </p:txBody>
      </p:sp>
      <p:sp>
        <p:nvSpPr>
          <p:cNvPr id="194" name="단계표 5"/>
          <p:cNvSpPr/>
          <p:nvPr/>
        </p:nvSpPr>
        <p:spPr>
          <a:xfrm>
            <a:off x="6419088" y="9070848"/>
            <a:ext cx="329184" cy="329184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95" name="라벨"/>
          <p:cNvSpPr txBox="1"/>
          <p:nvPr/>
        </p:nvSpPr>
        <p:spPr>
          <a:xfrm>
            <a:off x="6830568" y="90617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ctrl_bit[4:0] → WTS 스위치 기능 (bit3 12/24 는 유지)</a:t>
            </a:r>
          </a:p>
        </p:txBody>
      </p:sp>
      <p:sp>
        <p:nvSpPr>
          <p:cNvPr id="196" name="단계표 6"/>
          <p:cNvSpPr/>
          <p:nvPr/>
        </p:nvSpPr>
        <p:spPr>
          <a:xfrm>
            <a:off x="11996928" y="9070848"/>
            <a:ext cx="329184" cy="329184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97" name="라벨"/>
          <p:cNvSpPr txBox="1"/>
          <p:nvPr/>
        </p:nvSpPr>
        <p:spPr>
          <a:xfrm>
            <a:off x="12408407" y="90617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disp_sel → FND MUX · LED 가 그 화면 값 선택</a:t>
            </a:r>
          </a:p>
        </p:txBody>
      </p:sp>
      <p:sp>
        <p:nvSpPr>
          <p:cNvPr id="198" name="라벨 v2"/>
          <p:cNvSpPr txBox="1"/>
          <p:nvPr/>
        </p:nvSpPr>
        <p:spPr>
          <a:xfrm>
            <a:off x="841248" y="9582912"/>
            <a:ext cx="1536192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1E8E3E"/>
                </a:solidFill>
                <a:latin typeface="Malgun Gothic"/>
                <a:ea typeface="Malgun Gothic"/>
                <a:cs typeface="Malgun Gothic"/>
              </a:rPr>
              <a:t>v2</a:t>
            </a:r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  이 흐름은 v1 과 같음 · 바뀐 곳은 전송 MUX 입력 3 · 4 (거리·상태 · 온습도·상태) 뿐  →  /get · /auto (v2) 장 참고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라벨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WTS · SR04 · DHT11 · UART</a:t>
            </a:r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라벨"/>
          <p:cNvSpPr txBox="1"/>
          <p:nvPr/>
        </p:nvSpPr>
        <p:spPr>
          <a:xfrm>
            <a:off x="1042415" y="402336"/>
            <a:ext cx="91440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02  시스템 구조 · 명령별 흐름</a:t>
            </a:r>
          </a:p>
        </p:txBody>
      </p:sp>
      <p:sp>
        <p:nvSpPr>
          <p:cNvPr id="5" name="라벨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/btn 흐름 ① WTS 화면 — /btn R · L · U · D</a:t>
            </a:r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7" name="라벨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UART 버튼은 물리 버튼과 OR → mode_wts AND 만 통과 · 같은 clk 에 겹치면 물리 버튼 먼저</a:t>
            </a:r>
          </a:p>
        </p:txBody>
      </p:sp>
      <p:sp>
        <p:nvSpPr>
          <p:cNvPr id="8" name="라벨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9" name="줄 WTS  스톱워치 · 시계 · 타이머"/>
          <p:cNvSpPr/>
          <p:nvPr/>
        </p:nvSpPr>
        <p:spPr>
          <a:xfrm>
            <a:off x="5806440" y="2487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E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라벨"/>
          <p:cNvSpPr txBox="1"/>
          <p:nvPr/>
        </p:nvSpPr>
        <p:spPr>
          <a:xfrm>
            <a:off x="5916168" y="2514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WTS  스톱워치 · 시계 · 타이머</a:t>
            </a:r>
          </a:p>
        </p:txBody>
      </p:sp>
      <p:sp>
        <p:nvSpPr>
          <p:cNvPr id="11" name="줄 SR04  초음파 거리"/>
          <p:cNvSpPr/>
          <p:nvPr/>
        </p:nvSpPr>
        <p:spPr>
          <a:xfrm>
            <a:off x="5806440" y="3630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A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라벨"/>
          <p:cNvSpPr txBox="1"/>
          <p:nvPr/>
        </p:nvSpPr>
        <p:spPr>
          <a:xfrm>
            <a:off x="5916168" y="3657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SR04  초음파 거리</a:t>
            </a:r>
          </a:p>
        </p:txBody>
      </p:sp>
      <p:sp>
        <p:nvSpPr>
          <p:cNvPr id="13" name="라벨"/>
          <p:cNvSpPr txBox="1"/>
          <p:nvPr/>
        </p:nvSpPr>
        <p:spPr>
          <a:xfrm>
            <a:off x="6245351" y="3657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버튼 차단 (mode = 0) · 진행 중 동작은 계속</a:t>
            </a:r>
          </a:p>
        </p:txBody>
      </p:sp>
      <p:sp>
        <p:nvSpPr>
          <p:cNvPr id="14" name="줄 DHT11  온습도"/>
          <p:cNvSpPr/>
          <p:nvPr/>
        </p:nvSpPr>
        <p:spPr>
          <a:xfrm>
            <a:off x="5806440" y="4773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A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라벨"/>
          <p:cNvSpPr txBox="1"/>
          <p:nvPr/>
        </p:nvSpPr>
        <p:spPr>
          <a:xfrm>
            <a:off x="5916168" y="4800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DHT11  온습도</a:t>
            </a:r>
          </a:p>
        </p:txBody>
      </p:sp>
      <p:sp>
        <p:nvSpPr>
          <p:cNvPr id="16" name="라벨"/>
          <p:cNvSpPr txBox="1"/>
          <p:nvPr/>
        </p:nvSpPr>
        <p:spPr>
          <a:xfrm>
            <a:off x="6245351" y="4800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버튼 차단 (mode = 0) · 진행 중 동작은 계속</a:t>
            </a:r>
          </a:p>
        </p:txBody>
      </p:sp>
      <p:sp>
        <p:nvSpPr>
          <p:cNvPr id="17" name="줄 UART  명령 수신 · 응답 전송  (uart_top)"/>
          <p:cNvSpPr/>
          <p:nvPr/>
        </p:nvSpPr>
        <p:spPr>
          <a:xfrm>
            <a:off x="1600200" y="6355080"/>
            <a:ext cx="15133320" cy="2011680"/>
          </a:xfrm>
          <a:prstGeom prst="roundRect">
            <a:avLst>
              <a:gd name="adj" fmla="val 3636"/>
            </a:avLst>
          </a:prstGeom>
          <a:solidFill>
            <a:srgbClr val="E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라벨"/>
          <p:cNvSpPr txBox="1"/>
          <p:nvPr/>
        </p:nvSpPr>
        <p:spPr>
          <a:xfrm>
            <a:off x="1709928" y="6382512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UART  명령 수신 · 응답 전송  (uart_top)</a:t>
            </a:r>
          </a:p>
        </p:txBody>
      </p:sp>
      <p:sp>
        <p:nvSpPr>
          <p:cNvPr id="19" name="라벨"/>
          <p:cNvSpPr txBox="1"/>
          <p:nvPr/>
        </p:nvSpPr>
        <p:spPr>
          <a:xfrm>
            <a:off x="11137392" y="6382512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9600 bps · 8N1</a:t>
            </a:r>
          </a:p>
        </p:txBody>
      </p:sp>
      <p:sp>
        <p:nvSpPr>
          <p:cNvPr id="20" name="태그 clk"/>
          <p:cNvSpPr/>
          <p:nvPr/>
        </p:nvSpPr>
        <p:spPr>
          <a:xfrm>
            <a:off x="411480" y="21031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clk</a:t>
            </a:r>
          </a:p>
        </p:txBody>
      </p:sp>
      <p:cxnSp>
        <p:nvCxnSpPr>
          <p:cNvPr id="21" name="선"/>
          <p:cNvCxnSpPr/>
          <p:nvPr/>
        </p:nvCxnSpPr>
        <p:spPr>
          <a:xfrm>
            <a:off x="1417320" y="2249424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블록 clock_tick_generator"/>
          <p:cNvSpPr/>
          <p:nvPr/>
        </p:nvSpPr>
        <p:spPr>
          <a:xfrm>
            <a:off x="1737360" y="2057400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clock_tick_generator</a:t>
            </a:r>
          </a:p>
        </p:txBody>
      </p:sp>
      <p:cxnSp>
        <p:nvCxnSpPr>
          <p:cNvPr id="23" name="선"/>
          <p:cNvCxnSpPr/>
          <p:nvPr/>
        </p:nvCxnSpPr>
        <p:spPr>
          <a:xfrm>
            <a:off x="3429000" y="2249424"/>
            <a:ext cx="11567159" cy="0"/>
          </a:xfrm>
          <a:prstGeom prst="line">
            <a:avLst/>
          </a:prstGeom>
          <a:ln w="19050">
            <a:solidFill>
              <a:srgbClr val="4A556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선"/>
          <p:cNvCxnSpPr/>
          <p:nvPr/>
        </p:nvCxnSpPr>
        <p:spPr>
          <a:xfrm>
            <a:off x="14996159" y="2249424"/>
            <a:ext cx="0" cy="356616"/>
          </a:xfrm>
          <a:prstGeom prst="line">
            <a:avLst/>
          </a:prstGeom>
          <a:ln w="19050">
            <a:solidFill>
              <a:srgbClr val="4A556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라벨"/>
          <p:cNvSpPr txBox="1"/>
          <p:nvPr/>
        </p:nvSpPr>
        <p:spPr>
          <a:xfrm>
            <a:off x="3840480" y="2011680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4 kHz  →  디바운서 · FND 스캔</a:t>
            </a:r>
          </a:p>
        </p:txBody>
      </p:sp>
      <p:cxnSp>
        <p:nvCxnSpPr>
          <p:cNvPr id="26" name="선"/>
          <p:cNvCxnSpPr/>
          <p:nvPr/>
        </p:nvCxnSpPr>
        <p:spPr>
          <a:xfrm>
            <a:off x="2194560" y="2441448"/>
            <a:ext cx="0" cy="118872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태그 btn_R"/>
          <p:cNvSpPr/>
          <p:nvPr/>
        </p:nvSpPr>
        <p:spPr>
          <a:xfrm>
            <a:off x="411480" y="263347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btn_R</a:t>
            </a:r>
          </a:p>
        </p:txBody>
      </p:sp>
      <p:cxnSp>
        <p:nvCxnSpPr>
          <p:cNvPr id="28" name="선"/>
          <p:cNvCxnSpPr/>
          <p:nvPr/>
        </p:nvCxnSpPr>
        <p:spPr>
          <a:xfrm>
            <a:off x="1417320" y="277977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태그 btn_L"/>
          <p:cNvSpPr/>
          <p:nvPr/>
        </p:nvSpPr>
        <p:spPr>
          <a:xfrm>
            <a:off x="411480" y="299923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btn_L</a:t>
            </a:r>
          </a:p>
        </p:txBody>
      </p:sp>
      <p:cxnSp>
        <p:nvCxnSpPr>
          <p:cNvPr id="30" name="선"/>
          <p:cNvCxnSpPr/>
          <p:nvPr/>
        </p:nvCxnSpPr>
        <p:spPr>
          <a:xfrm>
            <a:off x="1417320" y="314553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태그 btn_U"/>
          <p:cNvSpPr/>
          <p:nvPr/>
        </p:nvSpPr>
        <p:spPr>
          <a:xfrm>
            <a:off x="411480" y="3364991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btn_U</a:t>
            </a:r>
          </a:p>
        </p:txBody>
      </p:sp>
      <p:cxnSp>
        <p:nvCxnSpPr>
          <p:cNvPr id="32" name="선"/>
          <p:cNvCxnSpPr/>
          <p:nvPr/>
        </p:nvCxnSpPr>
        <p:spPr>
          <a:xfrm>
            <a:off x="1417320" y="351129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태그 btn_D"/>
          <p:cNvSpPr/>
          <p:nvPr/>
        </p:nvSpPr>
        <p:spPr>
          <a:xfrm>
            <a:off x="411480" y="373075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btn_D</a:t>
            </a:r>
          </a:p>
        </p:txBody>
      </p:sp>
      <p:cxnSp>
        <p:nvCxnSpPr>
          <p:cNvPr id="34" name="선"/>
          <p:cNvCxnSpPr/>
          <p:nvPr/>
        </p:nvCxnSpPr>
        <p:spPr>
          <a:xfrm>
            <a:off x="1417320" y="387705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블록 btn_debounce&#10;×4"/>
          <p:cNvSpPr/>
          <p:nvPr/>
        </p:nvSpPr>
        <p:spPr>
          <a:xfrm>
            <a:off x="1737360" y="2560320"/>
            <a:ext cx="1371600" cy="1481328"/>
          </a:xfrm>
          <a:prstGeom prst="roundRect">
            <a:avLst>
              <a:gd name="adj" fmla="val 5333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btn_debounce</a:t>
            </a:r>
          </a:p>
          <a:p>
            <a:pPr algn="ctr"/>
            <a:r>
              <a:rPr sz="12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×4</a:t>
            </a:r>
          </a:p>
        </p:txBody>
      </p:sp>
      <p:cxnSp>
        <p:nvCxnSpPr>
          <p:cNvPr id="36" name="선"/>
          <p:cNvCxnSpPr/>
          <p:nvPr/>
        </p:nvCxnSpPr>
        <p:spPr>
          <a:xfrm>
            <a:off x="3108960" y="3163824"/>
            <a:ext cx="868679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라벨"/>
          <p:cNvSpPr txBox="1"/>
          <p:nvPr/>
        </p:nvSpPr>
        <p:spPr>
          <a:xfrm>
            <a:off x="3182112" y="2907792"/>
            <a:ext cx="8229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phy_btn</a:t>
            </a:r>
          </a:p>
        </p:txBody>
      </p:sp>
      <p:sp>
        <p:nvSpPr>
          <p:cNvPr id="38" name="게이트"/>
          <p:cNvSpPr/>
          <p:nvPr/>
        </p:nvSpPr>
        <p:spPr>
          <a:xfrm>
            <a:off x="3977639" y="3026664"/>
            <a:ext cx="548640" cy="548640"/>
          </a:xfrm>
          <a:prstGeom prst="flowChartDelay">
            <a:avLst/>
          </a:prstGeom>
          <a:solidFill>
            <a:srgbClr val="2F855A"/>
          </a:solidFill>
          <a:ln w="222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≥1</a:t>
            </a:r>
          </a:p>
        </p:txBody>
      </p:sp>
      <p:cxnSp>
        <p:nvCxnSpPr>
          <p:cNvPr id="39" name="선"/>
          <p:cNvCxnSpPr/>
          <p:nvPr/>
        </p:nvCxnSpPr>
        <p:spPr>
          <a:xfrm>
            <a:off x="4526280" y="3300984"/>
            <a:ext cx="182880" cy="0"/>
          </a:xfrm>
          <a:prstGeom prst="line">
            <a:avLst/>
          </a:prstGeom>
          <a:ln w="31750">
            <a:solidFill>
              <a:srgbClr val="2F8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선"/>
          <p:cNvCxnSpPr/>
          <p:nvPr/>
        </p:nvCxnSpPr>
        <p:spPr>
          <a:xfrm>
            <a:off x="4709160" y="2967228"/>
            <a:ext cx="0" cy="2285999"/>
          </a:xfrm>
          <a:prstGeom prst="line">
            <a:avLst/>
          </a:prstGeom>
          <a:ln w="31750">
            <a:solidFill>
              <a:srgbClr val="2F8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접점"/>
          <p:cNvSpPr/>
          <p:nvPr/>
        </p:nvSpPr>
        <p:spPr>
          <a:xfrm>
            <a:off x="4668012" y="3259836"/>
            <a:ext cx="82296" cy="82296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선"/>
          <p:cNvCxnSpPr/>
          <p:nvPr/>
        </p:nvCxnSpPr>
        <p:spPr>
          <a:xfrm>
            <a:off x="3611880" y="4965192"/>
            <a:ext cx="1280160" cy="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선"/>
          <p:cNvCxnSpPr/>
          <p:nvPr/>
        </p:nvCxnSpPr>
        <p:spPr>
          <a:xfrm>
            <a:off x="4892040" y="3241548"/>
            <a:ext cx="0" cy="228600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접점"/>
          <p:cNvSpPr/>
          <p:nvPr/>
        </p:nvSpPr>
        <p:spPr>
          <a:xfrm>
            <a:off x="4850892" y="4924044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" name="선"/>
          <p:cNvCxnSpPr/>
          <p:nvPr/>
        </p:nvCxnSpPr>
        <p:spPr>
          <a:xfrm>
            <a:off x="4709160" y="2967228"/>
            <a:ext cx="36576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선"/>
          <p:cNvCxnSpPr/>
          <p:nvPr/>
        </p:nvCxnSpPr>
        <p:spPr>
          <a:xfrm>
            <a:off x="4892040" y="3241548"/>
            <a:ext cx="18288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접점"/>
          <p:cNvSpPr/>
          <p:nvPr/>
        </p:nvSpPr>
        <p:spPr>
          <a:xfrm>
            <a:off x="4850892" y="3200400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게이트"/>
          <p:cNvSpPr/>
          <p:nvPr/>
        </p:nvSpPr>
        <p:spPr>
          <a:xfrm>
            <a:off x="5074920" y="2830068"/>
            <a:ext cx="548640" cy="548640"/>
          </a:xfrm>
          <a:prstGeom prst="flowChartDelay">
            <a:avLst/>
          </a:prstGeom>
          <a:solidFill>
            <a:srgbClr val="2F855A"/>
          </a:solidFill>
          <a:ln w="222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49" name="라벨"/>
          <p:cNvSpPr txBox="1"/>
          <p:nvPr/>
        </p:nvSpPr>
        <p:spPr>
          <a:xfrm>
            <a:off x="5029200" y="33878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mode_wts</a:t>
            </a:r>
          </a:p>
        </p:txBody>
      </p:sp>
      <p:cxnSp>
        <p:nvCxnSpPr>
          <p:cNvPr id="50" name="선"/>
          <p:cNvCxnSpPr/>
          <p:nvPr/>
        </p:nvCxnSpPr>
        <p:spPr>
          <a:xfrm>
            <a:off x="5623560" y="3104388"/>
            <a:ext cx="73152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라벨"/>
          <p:cNvSpPr txBox="1"/>
          <p:nvPr/>
        </p:nvSpPr>
        <p:spPr>
          <a:xfrm>
            <a:off x="5669280" y="2839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R·L·U·D</a:t>
            </a:r>
          </a:p>
        </p:txBody>
      </p:sp>
      <p:cxnSp>
        <p:nvCxnSpPr>
          <p:cNvPr id="52" name="선"/>
          <p:cNvCxnSpPr/>
          <p:nvPr/>
        </p:nvCxnSpPr>
        <p:spPr>
          <a:xfrm>
            <a:off x="4709160" y="4110228"/>
            <a:ext cx="36576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접점"/>
          <p:cNvSpPr/>
          <p:nvPr/>
        </p:nvSpPr>
        <p:spPr>
          <a:xfrm>
            <a:off x="4668012" y="4069080"/>
            <a:ext cx="82296" cy="82296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4" name="선"/>
          <p:cNvCxnSpPr/>
          <p:nvPr/>
        </p:nvCxnSpPr>
        <p:spPr>
          <a:xfrm>
            <a:off x="4892040" y="4384548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접점"/>
          <p:cNvSpPr/>
          <p:nvPr/>
        </p:nvSpPr>
        <p:spPr>
          <a:xfrm>
            <a:off x="4850892" y="4343400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게이트"/>
          <p:cNvSpPr/>
          <p:nvPr/>
        </p:nvSpPr>
        <p:spPr>
          <a:xfrm>
            <a:off x="5074920" y="3973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57" name="라벨"/>
          <p:cNvSpPr txBox="1"/>
          <p:nvPr/>
        </p:nvSpPr>
        <p:spPr>
          <a:xfrm>
            <a:off x="5029200" y="45308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mode_dist</a:t>
            </a:r>
          </a:p>
        </p:txBody>
      </p:sp>
      <p:cxnSp>
        <p:nvCxnSpPr>
          <p:cNvPr id="58" name="선"/>
          <p:cNvCxnSpPr/>
          <p:nvPr/>
        </p:nvCxnSpPr>
        <p:spPr>
          <a:xfrm>
            <a:off x="5623560" y="4247388"/>
            <a:ext cx="7315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라벨"/>
          <p:cNvSpPr txBox="1"/>
          <p:nvPr/>
        </p:nvSpPr>
        <p:spPr>
          <a:xfrm>
            <a:off x="5669280" y="3982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cxnSp>
        <p:nvCxnSpPr>
          <p:cNvPr id="60" name="선"/>
          <p:cNvCxnSpPr/>
          <p:nvPr/>
        </p:nvCxnSpPr>
        <p:spPr>
          <a:xfrm>
            <a:off x="4709160" y="5253227"/>
            <a:ext cx="36576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접점"/>
          <p:cNvSpPr/>
          <p:nvPr/>
        </p:nvSpPr>
        <p:spPr>
          <a:xfrm>
            <a:off x="4668012" y="5212079"/>
            <a:ext cx="82296" cy="82296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2" name="선"/>
          <p:cNvCxnSpPr/>
          <p:nvPr/>
        </p:nvCxnSpPr>
        <p:spPr>
          <a:xfrm>
            <a:off x="4892040" y="5527548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게이트"/>
          <p:cNvSpPr/>
          <p:nvPr/>
        </p:nvSpPr>
        <p:spPr>
          <a:xfrm>
            <a:off x="5074920" y="5116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64" name="라벨"/>
          <p:cNvSpPr txBox="1"/>
          <p:nvPr/>
        </p:nvSpPr>
        <p:spPr>
          <a:xfrm>
            <a:off x="5029200" y="5673851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mode_dht</a:t>
            </a:r>
          </a:p>
        </p:txBody>
      </p:sp>
      <p:cxnSp>
        <p:nvCxnSpPr>
          <p:cNvPr id="65" name="선"/>
          <p:cNvCxnSpPr/>
          <p:nvPr/>
        </p:nvCxnSpPr>
        <p:spPr>
          <a:xfrm>
            <a:off x="5623560" y="5390388"/>
            <a:ext cx="7315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라벨"/>
          <p:cNvSpPr txBox="1"/>
          <p:nvPr/>
        </p:nvSpPr>
        <p:spPr>
          <a:xfrm>
            <a:off x="5669280" y="5125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sp>
        <p:nvSpPr>
          <p:cNvPr id="67" name="모드 선택 칸"/>
          <p:cNvSpPr/>
          <p:nvPr/>
        </p:nvSpPr>
        <p:spPr>
          <a:xfrm>
            <a:off x="1600200" y="4160520"/>
            <a:ext cx="2103120" cy="1481328"/>
          </a:xfrm>
          <a:prstGeom prst="roundRect">
            <a:avLst>
              <a:gd name="adj" fmla="val 4938"/>
            </a:avLst>
          </a:prstGeom>
          <a:solidFill>
            <a:srgbClr val="FBFBFC"/>
          </a:solidFill>
          <a:ln w="12700">
            <a:solidFill>
              <a:srgbClr val="C8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라벨"/>
          <p:cNvSpPr txBox="1"/>
          <p:nvPr/>
        </p:nvSpPr>
        <p:spPr>
          <a:xfrm>
            <a:off x="1664208" y="417880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모드 선택</a:t>
            </a:r>
          </a:p>
        </p:txBody>
      </p:sp>
      <p:sp>
        <p:nvSpPr>
          <p:cNvPr id="69" name="태그 sw0 ~ sw6"/>
          <p:cNvSpPr/>
          <p:nvPr/>
        </p:nvSpPr>
        <p:spPr>
          <a:xfrm>
            <a:off x="411480" y="4498848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sw0 ~ sw6</a:t>
            </a:r>
          </a:p>
        </p:txBody>
      </p:sp>
      <p:cxnSp>
        <p:nvCxnSpPr>
          <p:cNvPr id="70" name="선"/>
          <p:cNvCxnSpPr/>
          <p:nvPr/>
        </p:nvCxnSpPr>
        <p:spPr>
          <a:xfrm>
            <a:off x="1417320" y="4645152"/>
            <a:ext cx="5486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MUX 모드"/>
          <p:cNvSpPr/>
          <p:nvPr/>
        </p:nvSpPr>
        <p:spPr>
          <a:xfrm>
            <a:off x="1965960" y="4480560"/>
            <a:ext cx="457200" cy="987552"/>
          </a:xfrm>
          <a:custGeom>
            <a:avLst/>
            <a:gdLst/>
            <a:ahLst/>
            <a:cxnLst/>
            <a:rect l="l" t="t" r="r" b="b"/>
            <a:pathLst>
              <a:path w="457200" h="987552">
                <a:moveTo>
                  <a:pt x="0" y="0"/>
                </a:moveTo>
                <a:lnTo>
                  <a:pt x="457200" y="109728"/>
                </a:lnTo>
                <a:lnTo>
                  <a:pt x="457200" y="877824"/>
                </a:lnTo>
                <a:lnTo>
                  <a:pt x="0" y="987552"/>
                </a:lnTo>
                <a:lnTo>
                  <a:pt x="0" y="0"/>
                </a:lnTo>
                <a:close/>
              </a:path>
            </a:pathLst>
          </a:cu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라벨"/>
          <p:cNvSpPr txBox="1"/>
          <p:nvPr/>
        </p:nvSpPr>
        <p:spPr>
          <a:xfrm>
            <a:off x="2020824" y="4526280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73" name="라벨"/>
          <p:cNvSpPr txBox="1"/>
          <p:nvPr/>
        </p:nvSpPr>
        <p:spPr>
          <a:xfrm>
            <a:off x="2020824" y="5093208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74" name="라벨"/>
          <p:cNvSpPr txBox="1"/>
          <p:nvPr/>
        </p:nvSpPr>
        <p:spPr>
          <a:xfrm>
            <a:off x="2423160" y="418795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2:1 × 7 bit</a:t>
            </a:r>
          </a:p>
        </p:txBody>
      </p:sp>
      <p:cxnSp>
        <p:nvCxnSpPr>
          <p:cNvPr id="75" name="선"/>
          <p:cNvCxnSpPr/>
          <p:nvPr/>
        </p:nvCxnSpPr>
        <p:spPr>
          <a:xfrm>
            <a:off x="2423160" y="4965192"/>
            <a:ext cx="27432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블록 모드&#10;디코드"/>
          <p:cNvSpPr/>
          <p:nvPr/>
        </p:nvSpPr>
        <p:spPr>
          <a:xfrm>
            <a:off x="2697480" y="4663440"/>
            <a:ext cx="914400" cy="603504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모드</a:t>
            </a:r>
          </a:p>
          <a:p>
            <a:pPr algn="ctr"/>
            <a:r>
              <a:rPr sz="11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디코드</a:t>
            </a:r>
          </a:p>
        </p:txBody>
      </p:sp>
      <p:sp>
        <p:nvSpPr>
          <p:cNvPr id="77" name="라벨"/>
          <p:cNvSpPr txBox="1"/>
          <p:nvPr/>
        </p:nvSpPr>
        <p:spPr>
          <a:xfrm>
            <a:off x="2331720" y="5340096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→ mode_* · disp_sel</a:t>
            </a:r>
          </a:p>
        </p:txBody>
      </p:sp>
      <p:sp>
        <p:nvSpPr>
          <p:cNvPr id="78" name="블록 wts_top"/>
          <p:cNvSpPr/>
          <p:nvPr/>
        </p:nvSpPr>
        <p:spPr>
          <a:xfrm>
            <a:off x="6355080" y="2761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FFFFF"/>
          </a:solidFill>
          <a:ln w="285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wts_top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control_unit · datapath × 3</a:t>
            </a:r>
          </a:p>
        </p:txBody>
      </p:sp>
      <p:cxnSp>
        <p:nvCxnSpPr>
          <p:cNvPr id="79" name="선"/>
          <p:cNvCxnSpPr/>
          <p:nvPr/>
        </p:nvCxnSpPr>
        <p:spPr>
          <a:xfrm>
            <a:off x="8549640" y="3104388"/>
            <a:ext cx="361188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라벨"/>
          <p:cNvSpPr txBox="1"/>
          <p:nvPr/>
        </p:nvSpPr>
        <p:spPr>
          <a:xfrm>
            <a:off x="8686800" y="2839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disp  시 · 분 · 초 · 1/100</a:t>
            </a:r>
          </a:p>
        </p:txBody>
      </p:sp>
      <p:sp>
        <p:nvSpPr>
          <p:cNvPr id="81" name="라벨"/>
          <p:cNvSpPr txBox="1"/>
          <p:nvPr/>
        </p:nvSpPr>
        <p:spPr>
          <a:xfrm>
            <a:off x="8686800" y="3150108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← ctrl_bit[4:0]  (sw0 · sw1 · sw2 · sw3 · sw4)</a:t>
            </a:r>
          </a:p>
        </p:txBody>
      </p:sp>
      <p:sp>
        <p:nvSpPr>
          <p:cNvPr id="82" name="블록 sr04_top"/>
          <p:cNvSpPr/>
          <p:nvPr/>
        </p:nvSpPr>
        <p:spPr>
          <a:xfrm>
            <a:off x="6355080" y="3904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sr04_top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core · mode_ctrl · led_bar</a:t>
            </a:r>
          </a:p>
        </p:txBody>
      </p:sp>
      <p:cxnSp>
        <p:nvCxnSpPr>
          <p:cNvPr id="83" name="선"/>
          <p:cNvCxnSpPr/>
          <p:nvPr/>
        </p:nvCxnSpPr>
        <p:spPr>
          <a:xfrm>
            <a:off x="8549640" y="4247388"/>
            <a:ext cx="3611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라벨"/>
          <p:cNvSpPr txBox="1"/>
          <p:nvPr/>
        </p:nvSpPr>
        <p:spPr>
          <a:xfrm>
            <a:off x="8686800" y="3982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distance_x10 · err · status</a:t>
            </a:r>
          </a:p>
        </p:txBody>
      </p:sp>
      <p:sp>
        <p:nvSpPr>
          <p:cNvPr id="85" name="라벨"/>
          <p:cNvSpPr txBox="1"/>
          <p:nvPr/>
        </p:nvSpPr>
        <p:spPr>
          <a:xfrm>
            <a:off x="8686800" y="4293108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trig → JA1 · echo ← JA2 · sw15 = 거리 막대 LED</a:t>
            </a:r>
          </a:p>
        </p:txBody>
      </p:sp>
      <p:sp>
        <p:nvSpPr>
          <p:cNvPr id="86" name="블록 dht11_top"/>
          <p:cNvSpPr/>
          <p:nvPr/>
        </p:nvSpPr>
        <p:spPr>
          <a:xfrm>
            <a:off x="6355080" y="5047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dht11_top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core · controller · manager</a:t>
            </a:r>
          </a:p>
        </p:txBody>
      </p:sp>
      <p:cxnSp>
        <p:nvCxnSpPr>
          <p:cNvPr id="87" name="선"/>
          <p:cNvCxnSpPr/>
          <p:nvPr/>
        </p:nvCxnSpPr>
        <p:spPr>
          <a:xfrm>
            <a:off x="8549640" y="5390388"/>
            <a:ext cx="3611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라벨"/>
          <p:cNvSpPr txBox="1"/>
          <p:nvPr/>
        </p:nvSpPr>
        <p:spPr>
          <a:xfrm>
            <a:off x="8686800" y="5125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fnd_data · dashes · err</a:t>
            </a:r>
          </a:p>
        </p:txBody>
      </p:sp>
      <p:sp>
        <p:nvSpPr>
          <p:cNvPr id="89" name="라벨"/>
          <p:cNvSpPr txBox="1"/>
          <p:nvPr/>
        </p:nvSpPr>
        <p:spPr>
          <a:xfrm>
            <a:off x="8686800" y="5436107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dht11_io ↔ JXADC3 (M2)</a:t>
            </a:r>
          </a:p>
        </p:txBody>
      </p:sp>
      <p:sp>
        <p:nvSpPr>
          <p:cNvPr id="90" name="MUX FND"/>
          <p:cNvSpPr/>
          <p:nvPr/>
        </p:nvSpPr>
        <p:spPr>
          <a:xfrm>
            <a:off x="12161520" y="2606040"/>
            <a:ext cx="640080" cy="3108960"/>
          </a:xfrm>
          <a:custGeom>
            <a:avLst/>
            <a:gdLst/>
            <a:ahLst/>
            <a:cxnLst/>
            <a:rect l="l" t="t" r="r" b="b"/>
            <a:pathLst>
              <a:path w="640080" h="3108960">
                <a:moveTo>
                  <a:pt x="0" y="0"/>
                </a:moveTo>
                <a:lnTo>
                  <a:pt x="640080" y="228600"/>
                </a:lnTo>
                <a:lnTo>
                  <a:pt x="640080" y="2880360"/>
                </a:lnTo>
                <a:lnTo>
                  <a:pt x="0" y="3108960"/>
                </a:lnTo>
                <a:lnTo>
                  <a:pt x="0" y="0"/>
                </a:lnTo>
                <a:close/>
              </a:path>
            </a:pathLst>
          </a:custGeom>
          <a:solidFill>
            <a:srgbClr val="EDF6F0"/>
          </a:solidFill>
          <a:ln w="1905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라벨"/>
          <p:cNvSpPr txBox="1"/>
          <p:nvPr/>
        </p:nvSpPr>
        <p:spPr>
          <a:xfrm>
            <a:off x="12216384" y="298551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92" name="라벨"/>
          <p:cNvSpPr txBox="1"/>
          <p:nvPr/>
        </p:nvSpPr>
        <p:spPr>
          <a:xfrm>
            <a:off x="12216384" y="412851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3" name="라벨"/>
          <p:cNvSpPr txBox="1"/>
          <p:nvPr/>
        </p:nvSpPr>
        <p:spPr>
          <a:xfrm>
            <a:off x="12216384" y="527151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94" name="라벨"/>
          <p:cNvSpPr txBox="1"/>
          <p:nvPr/>
        </p:nvSpPr>
        <p:spPr>
          <a:xfrm>
            <a:off x="11978640" y="5742432"/>
            <a:ext cx="2011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FND MUX  3:1 × 25 bit</a:t>
            </a:r>
          </a:p>
        </p:txBody>
      </p:sp>
      <p:sp>
        <p:nvSpPr>
          <p:cNvPr id="95" name="라벨"/>
          <p:cNvSpPr txBox="1"/>
          <p:nvPr/>
        </p:nvSpPr>
        <p:spPr>
          <a:xfrm>
            <a:off x="11978640" y="5961888"/>
            <a:ext cx="2011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sel = disp_sel (2 bit)</a:t>
            </a:r>
          </a:p>
        </p:txBody>
      </p:sp>
      <p:cxnSp>
        <p:nvCxnSpPr>
          <p:cNvPr id="96" name="선"/>
          <p:cNvCxnSpPr/>
          <p:nvPr/>
        </p:nvCxnSpPr>
        <p:spPr>
          <a:xfrm>
            <a:off x="12801600" y="3017520"/>
            <a:ext cx="128016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라벨"/>
          <p:cNvSpPr txBox="1"/>
          <p:nvPr/>
        </p:nvSpPr>
        <p:spPr>
          <a:xfrm>
            <a:off x="12874752" y="277063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fnd_data</a:t>
            </a:r>
          </a:p>
        </p:txBody>
      </p:sp>
      <p:sp>
        <p:nvSpPr>
          <p:cNvPr id="98" name="블록 FND&#10;컨트롤러"/>
          <p:cNvSpPr/>
          <p:nvPr/>
        </p:nvSpPr>
        <p:spPr>
          <a:xfrm>
            <a:off x="14081760" y="2606040"/>
            <a:ext cx="182880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285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FND</a:t>
            </a:r>
          </a:p>
          <a:p>
            <a:pPr algn="ctr"/>
            <a:r>
              <a:rPr sz="14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컨트롤러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SW2_FND_CONTROLLER</a:t>
            </a:r>
          </a:p>
        </p:txBody>
      </p:sp>
      <p:sp>
        <p:nvSpPr>
          <p:cNvPr id="99" name="태그 disp_sel"/>
          <p:cNvSpPr/>
          <p:nvPr/>
        </p:nvSpPr>
        <p:spPr>
          <a:xfrm>
            <a:off x="13167360" y="325526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100" name="태그 wt_cursor"/>
          <p:cNvSpPr/>
          <p:nvPr/>
        </p:nvSpPr>
        <p:spPr>
          <a:xfrm>
            <a:off x="13167360" y="354787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wt_cursor</a:t>
            </a:r>
          </a:p>
        </p:txBody>
      </p:sp>
      <p:sp>
        <p:nvSpPr>
          <p:cNvPr id="101" name="태그 set_sw2"/>
          <p:cNvSpPr/>
          <p:nvPr/>
        </p:nvSpPr>
        <p:spPr>
          <a:xfrm>
            <a:off x="13167360" y="384048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set_sw2</a:t>
            </a:r>
          </a:p>
        </p:txBody>
      </p:sp>
      <p:cxnSp>
        <p:nvCxnSpPr>
          <p:cNvPr id="102" name="선"/>
          <p:cNvCxnSpPr/>
          <p:nvPr/>
        </p:nvCxnSpPr>
        <p:spPr>
          <a:xfrm>
            <a:off x="15910559" y="3054096"/>
            <a:ext cx="411481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태그 fnd_com"/>
          <p:cNvSpPr/>
          <p:nvPr/>
        </p:nvSpPr>
        <p:spPr>
          <a:xfrm>
            <a:off x="16322040" y="29077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fnd_com</a:t>
            </a:r>
          </a:p>
        </p:txBody>
      </p:sp>
      <p:cxnSp>
        <p:nvCxnSpPr>
          <p:cNvPr id="104" name="선"/>
          <p:cNvCxnSpPr/>
          <p:nvPr/>
        </p:nvCxnSpPr>
        <p:spPr>
          <a:xfrm>
            <a:off x="15910559" y="3739896"/>
            <a:ext cx="411481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태그 fnd_font"/>
          <p:cNvSpPr/>
          <p:nvPr/>
        </p:nvSpPr>
        <p:spPr>
          <a:xfrm>
            <a:off x="16322040" y="35935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fnd_font</a:t>
            </a:r>
          </a:p>
        </p:txBody>
      </p:sp>
      <p:sp>
        <p:nvSpPr>
          <p:cNvPr id="106" name="블록 LED 로직"/>
          <p:cNvSpPr/>
          <p:nvPr/>
        </p:nvSpPr>
        <p:spPr>
          <a:xfrm>
            <a:off x="14081760" y="4343400"/>
            <a:ext cx="1828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85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 로직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led_output</a:t>
            </a:r>
          </a:p>
        </p:txBody>
      </p:sp>
      <p:sp>
        <p:nvSpPr>
          <p:cNvPr id="107" name="태그 disp_sel"/>
          <p:cNvSpPr/>
          <p:nvPr/>
        </p:nvSpPr>
        <p:spPr>
          <a:xfrm>
            <a:off x="13167360" y="4425696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108" name="태그 WTS 신호"/>
          <p:cNvSpPr/>
          <p:nvPr/>
        </p:nvSpPr>
        <p:spPr>
          <a:xfrm>
            <a:off x="13167360" y="471830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WTS 신호</a:t>
            </a:r>
          </a:p>
        </p:txBody>
      </p:sp>
      <p:sp>
        <p:nvSpPr>
          <p:cNvPr id="109" name="태그 sr04_led"/>
          <p:cNvSpPr/>
          <p:nvPr/>
        </p:nvSpPr>
        <p:spPr>
          <a:xfrm>
            <a:off x="13167360" y="501091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sr04_led</a:t>
            </a:r>
          </a:p>
        </p:txBody>
      </p:sp>
      <p:sp>
        <p:nvSpPr>
          <p:cNvPr id="110" name="태그 dht_led"/>
          <p:cNvSpPr/>
          <p:nvPr/>
        </p:nvSpPr>
        <p:spPr>
          <a:xfrm>
            <a:off x="13167360" y="530352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dht_led</a:t>
            </a:r>
          </a:p>
        </p:txBody>
      </p:sp>
      <p:cxnSp>
        <p:nvCxnSpPr>
          <p:cNvPr id="111" name="선"/>
          <p:cNvCxnSpPr/>
          <p:nvPr/>
        </p:nvCxnSpPr>
        <p:spPr>
          <a:xfrm>
            <a:off x="15910559" y="5029200"/>
            <a:ext cx="411481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태그 led[15:0]"/>
          <p:cNvSpPr/>
          <p:nvPr/>
        </p:nvSpPr>
        <p:spPr>
          <a:xfrm>
            <a:off x="16322040" y="4882896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led[15:0]</a:t>
            </a:r>
          </a:p>
        </p:txBody>
      </p:sp>
      <p:sp>
        <p:nvSpPr>
          <p:cNvPr id="113" name="태그 rx"/>
          <p:cNvSpPr/>
          <p:nvPr/>
        </p:nvSpPr>
        <p:spPr>
          <a:xfrm>
            <a:off x="411480" y="69037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rx</a:t>
            </a:r>
          </a:p>
        </p:txBody>
      </p:sp>
      <p:cxnSp>
        <p:nvCxnSpPr>
          <p:cNvPr id="114" name="선"/>
          <p:cNvCxnSpPr/>
          <p:nvPr/>
        </p:nvCxnSpPr>
        <p:spPr>
          <a:xfrm>
            <a:off x="1417320" y="7050024"/>
            <a:ext cx="36576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블록 uart_rx"/>
          <p:cNvSpPr/>
          <p:nvPr/>
        </p:nvSpPr>
        <p:spPr>
          <a:xfrm>
            <a:off x="1783080" y="6766560"/>
            <a:ext cx="118872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uart_rx</a:t>
            </a:r>
          </a:p>
        </p:txBody>
      </p:sp>
      <p:cxnSp>
        <p:nvCxnSpPr>
          <p:cNvPr id="116" name="선"/>
          <p:cNvCxnSpPr/>
          <p:nvPr/>
        </p:nvCxnSpPr>
        <p:spPr>
          <a:xfrm>
            <a:off x="2971800" y="7050024"/>
            <a:ext cx="27432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블록 fifo"/>
          <p:cNvSpPr/>
          <p:nvPr/>
        </p:nvSpPr>
        <p:spPr>
          <a:xfrm>
            <a:off x="3246120" y="6766560"/>
            <a:ext cx="91440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RX × 8</a:t>
            </a:r>
          </a:p>
        </p:txBody>
      </p:sp>
      <p:cxnSp>
        <p:nvCxnSpPr>
          <p:cNvPr id="118" name="선"/>
          <p:cNvCxnSpPr/>
          <p:nvPr/>
        </p:nvCxnSpPr>
        <p:spPr>
          <a:xfrm>
            <a:off x="4160520" y="7050024"/>
            <a:ext cx="27432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블록 ASCII_DECODER"/>
          <p:cNvSpPr/>
          <p:nvPr/>
        </p:nvSpPr>
        <p:spPr>
          <a:xfrm>
            <a:off x="4434840" y="6675120"/>
            <a:ext cx="18288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285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ASCII_DECODER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/명령 + 옵션 파싱</a:t>
            </a:r>
          </a:p>
        </p:txBody>
      </p:sp>
      <p:cxnSp>
        <p:nvCxnSpPr>
          <p:cNvPr id="120" name="선"/>
          <p:cNvCxnSpPr/>
          <p:nvPr/>
        </p:nvCxnSpPr>
        <p:spPr>
          <a:xfrm>
            <a:off x="6263640" y="7050024"/>
            <a:ext cx="50292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블록 baud_tick_gen"/>
          <p:cNvSpPr/>
          <p:nvPr/>
        </p:nvSpPr>
        <p:spPr>
          <a:xfrm>
            <a:off x="1783080" y="7680960"/>
            <a:ext cx="1188720" cy="5303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baud_tick_gen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9600 × 16</a:t>
            </a:r>
          </a:p>
        </p:txBody>
      </p:sp>
      <p:cxnSp>
        <p:nvCxnSpPr>
          <p:cNvPr id="122" name="선"/>
          <p:cNvCxnSpPr/>
          <p:nvPr/>
        </p:nvCxnSpPr>
        <p:spPr>
          <a:xfrm flipV="1">
            <a:off x="2377440" y="7333488"/>
            <a:ext cx="0" cy="347472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라벨"/>
          <p:cNvSpPr txBox="1"/>
          <p:nvPr/>
        </p:nvSpPr>
        <p:spPr>
          <a:xfrm>
            <a:off x="3063240" y="782726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→ RX · TX 공용</a:t>
            </a:r>
          </a:p>
        </p:txBody>
      </p:sp>
      <p:sp>
        <p:nvSpPr>
          <p:cNvPr id="124" name="블록 UART_CONTROLLER"/>
          <p:cNvSpPr/>
          <p:nvPr/>
        </p:nvSpPr>
        <p:spPr>
          <a:xfrm>
            <a:off x="6766560" y="6675120"/>
            <a:ext cx="2377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85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UART_CONTROLLER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mode · auto · btn FSM</a:t>
            </a:r>
          </a:p>
        </p:txBody>
      </p:sp>
      <p:sp>
        <p:nvSpPr>
          <p:cNvPr id="125" name="태그 phy_btn"/>
          <p:cNvSpPr/>
          <p:nvPr/>
        </p:nvSpPr>
        <p:spPr>
          <a:xfrm>
            <a:off x="5870448" y="7498079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phy_btn</a:t>
            </a:r>
          </a:p>
        </p:txBody>
      </p:sp>
      <p:sp>
        <p:nvSpPr>
          <p:cNvPr id="126" name="라벨"/>
          <p:cNvSpPr txBox="1"/>
          <p:nvPr/>
        </p:nvSpPr>
        <p:spPr>
          <a:xfrm>
            <a:off x="3950208" y="750722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5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같은 clk 면 물리 먼저</a:t>
            </a:r>
          </a:p>
        </p:txBody>
      </p:sp>
      <p:cxnSp>
        <p:nvCxnSpPr>
          <p:cNvPr id="127" name="선"/>
          <p:cNvCxnSpPr/>
          <p:nvPr/>
        </p:nvCxnSpPr>
        <p:spPr>
          <a:xfrm flipV="1">
            <a:off x="6903720" y="6217920"/>
            <a:ext cx="0" cy="45720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선"/>
          <p:cNvCxnSpPr/>
          <p:nvPr/>
        </p:nvCxnSpPr>
        <p:spPr>
          <a:xfrm flipH="1">
            <a:off x="1691640" y="6217920"/>
            <a:ext cx="5212080" cy="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선"/>
          <p:cNvCxnSpPr/>
          <p:nvPr/>
        </p:nvCxnSpPr>
        <p:spPr>
          <a:xfrm flipV="1">
            <a:off x="1691640" y="5212080"/>
            <a:ext cx="0" cy="100584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선"/>
          <p:cNvCxnSpPr/>
          <p:nvPr/>
        </p:nvCxnSpPr>
        <p:spPr>
          <a:xfrm>
            <a:off x="1691640" y="5212080"/>
            <a:ext cx="27432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라벨"/>
          <p:cNvSpPr txBox="1"/>
          <p:nvPr/>
        </p:nvSpPr>
        <p:spPr>
          <a:xfrm>
            <a:off x="3931920" y="623620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module_control_bit[6:0]</a:t>
            </a:r>
          </a:p>
        </p:txBody>
      </p:sp>
      <p:cxnSp>
        <p:nvCxnSpPr>
          <p:cNvPr id="132" name="선"/>
          <p:cNvCxnSpPr/>
          <p:nvPr/>
        </p:nvCxnSpPr>
        <p:spPr>
          <a:xfrm flipV="1">
            <a:off x="7178040" y="6080760"/>
            <a:ext cx="0" cy="59436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선"/>
          <p:cNvCxnSpPr/>
          <p:nvPr/>
        </p:nvCxnSpPr>
        <p:spPr>
          <a:xfrm flipH="1">
            <a:off x="2194560" y="6080760"/>
            <a:ext cx="4983480" cy="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선"/>
          <p:cNvCxnSpPr/>
          <p:nvPr/>
        </p:nvCxnSpPr>
        <p:spPr>
          <a:xfrm flipV="1">
            <a:off x="2194560" y="5413248"/>
            <a:ext cx="0" cy="667512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라벨"/>
          <p:cNvSpPr txBox="1"/>
          <p:nvPr/>
        </p:nvSpPr>
        <p:spPr>
          <a:xfrm>
            <a:off x="2286000" y="5852160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uart_mode</a:t>
            </a:r>
          </a:p>
        </p:txBody>
      </p:sp>
      <p:cxnSp>
        <p:nvCxnSpPr>
          <p:cNvPr id="136" name="선"/>
          <p:cNvCxnSpPr/>
          <p:nvPr/>
        </p:nvCxnSpPr>
        <p:spPr>
          <a:xfrm flipV="1">
            <a:off x="7452360" y="5943600"/>
            <a:ext cx="0" cy="731520"/>
          </a:xfrm>
          <a:prstGeom prst="line">
            <a:avLst/>
          </a:prstGeom>
          <a:ln w="31750">
            <a:solidFill>
              <a:srgbClr val="2F8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선"/>
          <p:cNvCxnSpPr/>
          <p:nvPr/>
        </p:nvCxnSpPr>
        <p:spPr>
          <a:xfrm flipH="1">
            <a:off x="3749039" y="5943600"/>
            <a:ext cx="3703321" cy="0"/>
          </a:xfrm>
          <a:prstGeom prst="line">
            <a:avLst/>
          </a:prstGeom>
          <a:ln w="31750">
            <a:solidFill>
              <a:srgbClr val="2F8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선"/>
          <p:cNvCxnSpPr/>
          <p:nvPr/>
        </p:nvCxnSpPr>
        <p:spPr>
          <a:xfrm flipV="1">
            <a:off x="3749039" y="3438144"/>
            <a:ext cx="0" cy="2505456"/>
          </a:xfrm>
          <a:prstGeom prst="line">
            <a:avLst/>
          </a:prstGeom>
          <a:ln w="31750">
            <a:solidFill>
              <a:srgbClr val="2F8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선"/>
          <p:cNvCxnSpPr/>
          <p:nvPr/>
        </p:nvCxnSpPr>
        <p:spPr>
          <a:xfrm>
            <a:off x="3749039" y="3438144"/>
            <a:ext cx="22860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라벨"/>
          <p:cNvSpPr txBox="1"/>
          <p:nvPr/>
        </p:nvSpPr>
        <p:spPr>
          <a:xfrm>
            <a:off x="3840480" y="3703320"/>
            <a:ext cx="8229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uart_btn</a:t>
            </a:r>
          </a:p>
        </p:txBody>
      </p:sp>
      <p:sp>
        <p:nvSpPr>
          <p:cNvPr id="141" name="블록 sender_tick"/>
          <p:cNvSpPr/>
          <p:nvPr/>
        </p:nvSpPr>
        <p:spPr>
          <a:xfrm>
            <a:off x="9555480" y="6967728"/>
            <a:ext cx="1371600" cy="566928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sender_tick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1 Hz · scan 0→4</a:t>
            </a:r>
          </a:p>
        </p:txBody>
      </p:sp>
      <p:cxnSp>
        <p:nvCxnSpPr>
          <p:cNvPr id="142" name="선"/>
          <p:cNvCxnSpPr/>
          <p:nvPr/>
        </p:nvCxnSpPr>
        <p:spPr>
          <a:xfrm flipH="1">
            <a:off x="9144000" y="7251192"/>
            <a:ext cx="4114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선"/>
          <p:cNvCxnSpPr/>
          <p:nvPr/>
        </p:nvCxnSpPr>
        <p:spPr>
          <a:xfrm>
            <a:off x="9144000" y="6784848"/>
            <a:ext cx="4727448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선"/>
          <p:cNvCxnSpPr/>
          <p:nvPr/>
        </p:nvCxnSpPr>
        <p:spPr>
          <a:xfrm>
            <a:off x="13871448" y="6784848"/>
            <a:ext cx="0" cy="301752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라벨"/>
          <p:cNvSpPr txBox="1"/>
          <p:nvPr/>
        </p:nvSpPr>
        <p:spPr>
          <a:xfrm>
            <a:off x="10241280" y="6547104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send_go</a:t>
            </a:r>
          </a:p>
        </p:txBody>
      </p:sp>
      <p:sp>
        <p:nvSpPr>
          <p:cNvPr id="146" name="MUX 전송"/>
          <p:cNvSpPr/>
          <p:nvPr/>
        </p:nvSpPr>
        <p:spPr>
          <a:xfrm>
            <a:off x="11887200" y="6903720"/>
            <a:ext cx="868680" cy="1280159"/>
          </a:xfrm>
          <a:custGeom>
            <a:avLst/>
            <a:gdLst/>
            <a:ahLst/>
            <a:cxnLst/>
            <a:rect l="l" t="t" r="r" b="b"/>
            <a:pathLst>
              <a:path w="868680" h="1280159">
                <a:moveTo>
                  <a:pt x="0" y="0"/>
                </a:moveTo>
                <a:lnTo>
                  <a:pt x="868680" y="164592"/>
                </a:lnTo>
                <a:lnTo>
                  <a:pt x="868680" y="1115568"/>
                </a:lnTo>
                <a:lnTo>
                  <a:pt x="0" y="1280159"/>
                </a:lnTo>
                <a:lnTo>
                  <a:pt x="0" y="0"/>
                </a:lnTo>
                <a:close/>
              </a:path>
            </a:pathLst>
          </a:cu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라벨"/>
          <p:cNvSpPr txBox="1"/>
          <p:nvPr/>
        </p:nvSpPr>
        <p:spPr>
          <a:xfrm>
            <a:off x="11841480" y="6528816"/>
            <a:ext cx="21945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전송 MUX  8:1 × 24 bit</a:t>
            </a:r>
          </a:p>
        </p:txBody>
      </p:sp>
      <p:cxnSp>
        <p:nvCxnSpPr>
          <p:cNvPr id="148" name="선"/>
          <p:cNvCxnSpPr/>
          <p:nvPr/>
        </p:nvCxnSpPr>
        <p:spPr>
          <a:xfrm>
            <a:off x="11777472" y="3104388"/>
            <a:ext cx="0" cy="4210812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선"/>
          <p:cNvCxnSpPr/>
          <p:nvPr/>
        </p:nvCxnSpPr>
        <p:spPr>
          <a:xfrm>
            <a:off x="11777472" y="7315200"/>
            <a:ext cx="109728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선"/>
          <p:cNvCxnSpPr/>
          <p:nvPr/>
        </p:nvCxnSpPr>
        <p:spPr>
          <a:xfrm>
            <a:off x="11777472" y="7022592"/>
            <a:ext cx="109728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접점"/>
          <p:cNvSpPr/>
          <p:nvPr/>
        </p:nvSpPr>
        <p:spPr>
          <a:xfrm>
            <a:off x="11736324" y="6981444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2" name="선"/>
          <p:cNvCxnSpPr/>
          <p:nvPr/>
        </p:nvCxnSpPr>
        <p:spPr>
          <a:xfrm>
            <a:off x="11777472" y="7168896"/>
            <a:ext cx="109728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접점"/>
          <p:cNvSpPr/>
          <p:nvPr/>
        </p:nvSpPr>
        <p:spPr>
          <a:xfrm>
            <a:off x="11736324" y="7127748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접점"/>
          <p:cNvSpPr/>
          <p:nvPr/>
        </p:nvSpPr>
        <p:spPr>
          <a:xfrm>
            <a:off x="11736324" y="306324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5" name="선"/>
          <p:cNvCxnSpPr/>
          <p:nvPr/>
        </p:nvCxnSpPr>
        <p:spPr>
          <a:xfrm>
            <a:off x="11686032" y="4247388"/>
            <a:ext cx="0" cy="326898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선"/>
          <p:cNvCxnSpPr/>
          <p:nvPr/>
        </p:nvCxnSpPr>
        <p:spPr>
          <a:xfrm>
            <a:off x="11686032" y="7516368"/>
            <a:ext cx="201168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접점"/>
          <p:cNvSpPr/>
          <p:nvPr/>
        </p:nvSpPr>
        <p:spPr>
          <a:xfrm>
            <a:off x="11644884" y="420624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8" name="선"/>
          <p:cNvCxnSpPr/>
          <p:nvPr/>
        </p:nvCxnSpPr>
        <p:spPr>
          <a:xfrm>
            <a:off x="11430000" y="5390388"/>
            <a:ext cx="0" cy="2327148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선"/>
          <p:cNvCxnSpPr/>
          <p:nvPr/>
        </p:nvCxnSpPr>
        <p:spPr>
          <a:xfrm>
            <a:off x="11430000" y="7717536"/>
            <a:ext cx="45720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접점"/>
          <p:cNvSpPr/>
          <p:nvPr/>
        </p:nvSpPr>
        <p:spPr>
          <a:xfrm>
            <a:off x="11388852" y="534924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MUX 핀"/>
          <p:cNvSpPr txBox="1"/>
          <p:nvPr/>
        </p:nvSpPr>
        <p:spPr>
          <a:xfrm>
            <a:off x="11932920" y="693115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0 sw</a:t>
            </a:r>
          </a:p>
        </p:txBody>
      </p:sp>
      <p:sp>
        <p:nvSpPr>
          <p:cNvPr id="162" name="MUX 핀"/>
          <p:cNvSpPr txBox="1"/>
          <p:nvPr/>
        </p:nvSpPr>
        <p:spPr>
          <a:xfrm>
            <a:off x="11932920" y="707745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1 tm</a:t>
            </a:r>
          </a:p>
        </p:txBody>
      </p:sp>
      <p:sp>
        <p:nvSpPr>
          <p:cNvPr id="163" name="MUX 핀"/>
          <p:cNvSpPr txBox="1"/>
          <p:nvPr/>
        </p:nvSpPr>
        <p:spPr>
          <a:xfrm>
            <a:off x="11932920" y="722376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2 wt</a:t>
            </a:r>
          </a:p>
        </p:txBody>
      </p:sp>
      <p:sp>
        <p:nvSpPr>
          <p:cNvPr id="164" name="MUX 핀"/>
          <p:cNvSpPr txBox="1"/>
          <p:nvPr/>
        </p:nvSpPr>
        <p:spPr>
          <a:xfrm>
            <a:off x="11932920" y="742492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3 거리·상태</a:t>
            </a:r>
          </a:p>
        </p:txBody>
      </p:sp>
      <p:sp>
        <p:nvSpPr>
          <p:cNvPr id="165" name="MUX 핀"/>
          <p:cNvSpPr txBox="1"/>
          <p:nvPr/>
        </p:nvSpPr>
        <p:spPr>
          <a:xfrm>
            <a:off x="11932920" y="762609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4 온습도·상태</a:t>
            </a:r>
          </a:p>
        </p:txBody>
      </p:sp>
      <p:cxnSp>
        <p:nvCxnSpPr>
          <p:cNvPr id="167" name="선"/>
          <p:cNvCxnSpPr/>
          <p:nvPr/>
        </p:nvCxnSpPr>
        <p:spPr>
          <a:xfrm>
            <a:off x="12755880" y="7498079"/>
            <a:ext cx="45720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선"/>
          <p:cNvCxnSpPr/>
          <p:nvPr/>
        </p:nvCxnSpPr>
        <p:spPr>
          <a:xfrm>
            <a:off x="8869680" y="8046720"/>
            <a:ext cx="0" cy="201168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선"/>
          <p:cNvCxnSpPr/>
          <p:nvPr/>
        </p:nvCxnSpPr>
        <p:spPr>
          <a:xfrm>
            <a:off x="8869680" y="8247888"/>
            <a:ext cx="5001768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선"/>
          <p:cNvCxnSpPr/>
          <p:nvPr/>
        </p:nvCxnSpPr>
        <p:spPr>
          <a:xfrm flipV="1">
            <a:off x="13871448" y="7909560"/>
            <a:ext cx="0" cy="338328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라벨"/>
          <p:cNvSpPr txBox="1"/>
          <p:nvPr/>
        </p:nvSpPr>
        <p:spPr>
          <a:xfrm>
            <a:off x="9509760" y="8010144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send_sel</a:t>
            </a:r>
          </a:p>
        </p:txBody>
      </p:sp>
      <p:cxnSp>
        <p:nvCxnSpPr>
          <p:cNvPr id="172" name="선"/>
          <p:cNvCxnSpPr/>
          <p:nvPr/>
        </p:nvCxnSpPr>
        <p:spPr>
          <a:xfrm flipV="1">
            <a:off x="12481560" y="8071264"/>
            <a:ext cx="0" cy="176624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접점"/>
          <p:cNvSpPr/>
          <p:nvPr/>
        </p:nvSpPr>
        <p:spPr>
          <a:xfrm>
            <a:off x="12440412" y="820674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블록 uart_sender"/>
          <p:cNvSpPr/>
          <p:nvPr/>
        </p:nvSpPr>
        <p:spPr>
          <a:xfrm>
            <a:off x="13213080" y="7086600"/>
            <a:ext cx="1325880" cy="822960"/>
          </a:xfrm>
          <a:prstGeom prst="roundRect">
            <a:avLst>
              <a:gd name="adj" fmla="val 8888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uart_sender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숫자 → ASCII 한 줄</a:t>
            </a:r>
          </a:p>
        </p:txBody>
      </p:sp>
      <p:cxnSp>
        <p:nvCxnSpPr>
          <p:cNvPr id="175" name="선"/>
          <p:cNvCxnSpPr/>
          <p:nvPr/>
        </p:nvCxnSpPr>
        <p:spPr>
          <a:xfrm>
            <a:off x="14538960" y="7498079"/>
            <a:ext cx="228599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블록 fifo"/>
          <p:cNvSpPr/>
          <p:nvPr/>
        </p:nvSpPr>
        <p:spPr>
          <a:xfrm>
            <a:off x="14767559" y="7214616"/>
            <a:ext cx="822960" cy="566928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TX × 64</a:t>
            </a:r>
          </a:p>
        </p:txBody>
      </p:sp>
      <p:cxnSp>
        <p:nvCxnSpPr>
          <p:cNvPr id="177" name="선"/>
          <p:cNvCxnSpPr/>
          <p:nvPr/>
        </p:nvCxnSpPr>
        <p:spPr>
          <a:xfrm>
            <a:off x="15590520" y="7498079"/>
            <a:ext cx="22860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8" name="블록 uart_tx"/>
          <p:cNvSpPr/>
          <p:nvPr/>
        </p:nvSpPr>
        <p:spPr>
          <a:xfrm>
            <a:off x="15819120" y="7214616"/>
            <a:ext cx="868680" cy="566928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uart_tx</a:t>
            </a:r>
          </a:p>
        </p:txBody>
      </p:sp>
      <p:cxnSp>
        <p:nvCxnSpPr>
          <p:cNvPr id="179" name="선"/>
          <p:cNvCxnSpPr/>
          <p:nvPr/>
        </p:nvCxnSpPr>
        <p:spPr>
          <a:xfrm>
            <a:off x="16687800" y="7498079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0" name="태그 tx"/>
          <p:cNvSpPr/>
          <p:nvPr/>
        </p:nvSpPr>
        <p:spPr>
          <a:xfrm>
            <a:off x="16870680" y="7351775"/>
            <a:ext cx="822960" cy="292608"/>
          </a:xfrm>
          <a:prstGeom prst="homePlate">
            <a:avLst>
              <a:gd name="adj" fmla="val 24888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tx</a:t>
            </a:r>
          </a:p>
        </p:txBody>
      </p:sp>
      <p:sp>
        <p:nvSpPr>
          <p:cNvPr id="181" name="단계 1"/>
          <p:cNvSpPr/>
          <p:nvPr/>
        </p:nvSpPr>
        <p:spPr>
          <a:xfrm>
            <a:off x="6089904" y="6473952"/>
            <a:ext cx="347472" cy="347472"/>
          </a:xfrm>
          <a:prstGeom prst="ellipse">
            <a:avLst/>
          </a:prstGeom>
          <a:solidFill>
            <a:srgbClr val="2F855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82" name="단계 2"/>
          <p:cNvSpPr/>
          <p:nvPr/>
        </p:nvSpPr>
        <p:spPr>
          <a:xfrm>
            <a:off x="7589520" y="5596128"/>
            <a:ext cx="347472" cy="347472"/>
          </a:xfrm>
          <a:prstGeom prst="ellipse">
            <a:avLst/>
          </a:prstGeom>
          <a:solidFill>
            <a:srgbClr val="2F855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83" name="단계 3"/>
          <p:cNvSpPr/>
          <p:nvPr/>
        </p:nvSpPr>
        <p:spPr>
          <a:xfrm>
            <a:off x="3703320" y="2697480"/>
            <a:ext cx="347472" cy="347472"/>
          </a:xfrm>
          <a:prstGeom prst="ellipse">
            <a:avLst/>
          </a:prstGeom>
          <a:solidFill>
            <a:srgbClr val="2F855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4" name="단계 4"/>
          <p:cNvSpPr/>
          <p:nvPr/>
        </p:nvSpPr>
        <p:spPr>
          <a:xfrm>
            <a:off x="4983480" y="2450592"/>
            <a:ext cx="347472" cy="347472"/>
          </a:xfrm>
          <a:prstGeom prst="ellipse">
            <a:avLst/>
          </a:prstGeom>
          <a:solidFill>
            <a:srgbClr val="2F855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85" name="단계 5"/>
          <p:cNvSpPr/>
          <p:nvPr/>
        </p:nvSpPr>
        <p:spPr>
          <a:xfrm>
            <a:off x="8321040" y="2697480"/>
            <a:ext cx="347472" cy="347472"/>
          </a:xfrm>
          <a:prstGeom prst="ellipse">
            <a:avLst/>
          </a:prstGeom>
          <a:solidFill>
            <a:srgbClr val="2F855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86" name="단계 6"/>
          <p:cNvSpPr/>
          <p:nvPr/>
        </p:nvSpPr>
        <p:spPr>
          <a:xfrm>
            <a:off x="12984480" y="2377440"/>
            <a:ext cx="347472" cy="347472"/>
          </a:xfrm>
          <a:prstGeom prst="ellipse">
            <a:avLst/>
          </a:prstGeom>
          <a:solidFill>
            <a:srgbClr val="2F855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87" name="단계표 1"/>
          <p:cNvSpPr/>
          <p:nvPr/>
        </p:nvSpPr>
        <p:spPr>
          <a:xfrm>
            <a:off x="841248" y="8613648"/>
            <a:ext cx="329184" cy="329184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88" name="라벨"/>
          <p:cNvSpPr txBox="1"/>
          <p:nvPr/>
        </p:nvSpPr>
        <p:spPr>
          <a:xfrm>
            <a:off x="1252728" y="86045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디코더 : "/btn " + 1 글자 (R · L · U · D)</a:t>
            </a:r>
          </a:p>
        </p:txBody>
      </p:sp>
      <p:sp>
        <p:nvSpPr>
          <p:cNvPr id="189" name="단계표 2"/>
          <p:cNvSpPr/>
          <p:nvPr/>
        </p:nvSpPr>
        <p:spPr>
          <a:xfrm>
            <a:off x="6419088" y="8613648"/>
            <a:ext cx="329184" cy="329184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90" name="라벨"/>
          <p:cNvSpPr txBox="1"/>
          <p:nvPr/>
        </p:nvSpPr>
        <p:spPr>
          <a:xfrm>
            <a:off x="6830568" y="86045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컨트롤러 : uart_btn 1 clk 펄스 (물리 버튼 clk 엔 대기)</a:t>
            </a:r>
          </a:p>
        </p:txBody>
      </p:sp>
      <p:sp>
        <p:nvSpPr>
          <p:cNvPr id="191" name="단계표 3"/>
          <p:cNvSpPr/>
          <p:nvPr/>
        </p:nvSpPr>
        <p:spPr>
          <a:xfrm>
            <a:off x="11996928" y="8613648"/>
            <a:ext cx="329184" cy="329184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92" name="라벨"/>
          <p:cNvSpPr txBox="1"/>
          <p:nvPr/>
        </p:nvSpPr>
        <p:spPr>
          <a:xfrm>
            <a:off x="12408407" y="86045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OR : 물리 btn | uart_btn → 같은 버튼 tick</a:t>
            </a:r>
          </a:p>
        </p:txBody>
      </p:sp>
      <p:sp>
        <p:nvSpPr>
          <p:cNvPr id="193" name="단계표 4"/>
          <p:cNvSpPr/>
          <p:nvPr/>
        </p:nvSpPr>
        <p:spPr>
          <a:xfrm>
            <a:off x="841248" y="9070848"/>
            <a:ext cx="329184" cy="329184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4" name="라벨"/>
          <p:cNvSpPr txBox="1"/>
          <p:nvPr/>
        </p:nvSpPr>
        <p:spPr>
          <a:xfrm>
            <a:off x="1252728" y="90617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AND : mode_wts = 1 → WTS 만 통과 (거리 · 온습도 차단)</a:t>
            </a:r>
          </a:p>
        </p:txBody>
      </p:sp>
      <p:sp>
        <p:nvSpPr>
          <p:cNvPr id="195" name="단계표 5"/>
          <p:cNvSpPr/>
          <p:nvPr/>
        </p:nvSpPr>
        <p:spPr>
          <a:xfrm>
            <a:off x="6419088" y="9070848"/>
            <a:ext cx="329184" cy="329184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96" name="라벨"/>
          <p:cNvSpPr txBox="1"/>
          <p:nvPr/>
        </p:nvSpPr>
        <p:spPr>
          <a:xfrm>
            <a:off x="6830568" y="90617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wts_top : 스톱워치 R 시작 · 시계 커서 · 타이머 +1분</a:t>
            </a:r>
          </a:p>
        </p:txBody>
      </p:sp>
      <p:sp>
        <p:nvSpPr>
          <p:cNvPr id="197" name="단계표 6"/>
          <p:cNvSpPr/>
          <p:nvPr/>
        </p:nvSpPr>
        <p:spPr>
          <a:xfrm>
            <a:off x="11996928" y="9070848"/>
            <a:ext cx="329184" cy="329184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98" name="라벨"/>
          <p:cNvSpPr txBox="1"/>
          <p:nvPr/>
        </p:nvSpPr>
        <p:spPr>
          <a:xfrm>
            <a:off x="12408407" y="90617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FND MUX 0 번 (WTS) → FND 표시 · LED</a:t>
            </a:r>
          </a:p>
        </p:txBody>
      </p:sp>
      <p:sp>
        <p:nvSpPr>
          <p:cNvPr id="199" name="라벨 v2"/>
          <p:cNvSpPr txBox="1"/>
          <p:nvPr/>
        </p:nvSpPr>
        <p:spPr>
          <a:xfrm>
            <a:off x="841248" y="9582912"/>
            <a:ext cx="1536192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1E8E3E"/>
                </a:solidFill>
                <a:latin typeface="Malgun Gothic"/>
                <a:ea typeface="Malgun Gothic"/>
                <a:cs typeface="Malgun Gothic"/>
              </a:rPr>
              <a:t>v2</a:t>
            </a:r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  이 흐름은 v1 과 같음 · 바뀐 곳은 전송 MUX 입력 3 · 4 (거리·상태 · 온습도·상태) 뿐  →  /get · /auto (v2) 장 참고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라벨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WTS · SR04 · DHT11 · UART</a:t>
            </a:r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라벨"/>
          <p:cNvSpPr txBox="1"/>
          <p:nvPr/>
        </p:nvSpPr>
        <p:spPr>
          <a:xfrm>
            <a:off x="1042415" y="402336"/>
            <a:ext cx="91440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02  시스템 구조 · 명령별 흐름</a:t>
            </a:r>
          </a:p>
        </p:txBody>
      </p:sp>
      <p:sp>
        <p:nvSpPr>
          <p:cNvPr id="5" name="라벨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/btn 흐름 ② 거리 화면 — /btn R 측정 · /btn U 자동</a:t>
            </a:r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7" name="라벨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/mod dist 상태에서 R · U 만 SR04 로 · trig 펄스 → echo 폭 측정 → 0.1 cm 표시 · 막대 LED</a:t>
            </a:r>
          </a:p>
        </p:txBody>
      </p:sp>
      <p:sp>
        <p:nvSpPr>
          <p:cNvPr id="8" name="라벨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9" name="줄 WTS  스톱워치 · 시계 · 타이머"/>
          <p:cNvSpPr/>
          <p:nvPr/>
        </p:nvSpPr>
        <p:spPr>
          <a:xfrm>
            <a:off x="5806440" y="2487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A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라벨"/>
          <p:cNvSpPr txBox="1"/>
          <p:nvPr/>
        </p:nvSpPr>
        <p:spPr>
          <a:xfrm>
            <a:off x="5916168" y="2514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WTS  스톱워치 · 시계 · 타이머</a:t>
            </a:r>
          </a:p>
        </p:txBody>
      </p:sp>
      <p:sp>
        <p:nvSpPr>
          <p:cNvPr id="11" name="라벨"/>
          <p:cNvSpPr txBox="1"/>
          <p:nvPr/>
        </p:nvSpPr>
        <p:spPr>
          <a:xfrm>
            <a:off x="6245351" y="2514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버튼 차단 (mode = 0) · 진행 중 동작은 계속</a:t>
            </a:r>
          </a:p>
        </p:txBody>
      </p:sp>
      <p:sp>
        <p:nvSpPr>
          <p:cNvPr id="12" name="줄 SR04  초음파 거리"/>
          <p:cNvSpPr/>
          <p:nvPr/>
        </p:nvSpPr>
        <p:spPr>
          <a:xfrm>
            <a:off x="5806440" y="3630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라벨"/>
          <p:cNvSpPr txBox="1"/>
          <p:nvPr/>
        </p:nvSpPr>
        <p:spPr>
          <a:xfrm>
            <a:off x="5916168" y="3657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SR04  초음파 거리</a:t>
            </a:r>
          </a:p>
        </p:txBody>
      </p:sp>
      <p:sp>
        <p:nvSpPr>
          <p:cNvPr id="14" name="줄 DHT11  온습도"/>
          <p:cNvSpPr/>
          <p:nvPr/>
        </p:nvSpPr>
        <p:spPr>
          <a:xfrm>
            <a:off x="5806440" y="4773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A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라벨"/>
          <p:cNvSpPr txBox="1"/>
          <p:nvPr/>
        </p:nvSpPr>
        <p:spPr>
          <a:xfrm>
            <a:off x="5916168" y="4800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DHT11  온습도</a:t>
            </a:r>
          </a:p>
        </p:txBody>
      </p:sp>
      <p:sp>
        <p:nvSpPr>
          <p:cNvPr id="16" name="라벨"/>
          <p:cNvSpPr txBox="1"/>
          <p:nvPr/>
        </p:nvSpPr>
        <p:spPr>
          <a:xfrm>
            <a:off x="6245351" y="4800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버튼 차단 (mode = 0) · 진행 중 동작은 계속</a:t>
            </a:r>
          </a:p>
        </p:txBody>
      </p:sp>
      <p:sp>
        <p:nvSpPr>
          <p:cNvPr id="17" name="줄 UART  명령 수신 · 응답 전송  (uart_top)"/>
          <p:cNvSpPr/>
          <p:nvPr/>
        </p:nvSpPr>
        <p:spPr>
          <a:xfrm>
            <a:off x="1600200" y="6355080"/>
            <a:ext cx="15133320" cy="2011680"/>
          </a:xfrm>
          <a:prstGeom prst="roundRect">
            <a:avLst>
              <a:gd name="adj" fmla="val 3636"/>
            </a:avLst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라벨"/>
          <p:cNvSpPr txBox="1"/>
          <p:nvPr/>
        </p:nvSpPr>
        <p:spPr>
          <a:xfrm>
            <a:off x="1709928" y="6382512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UART  명령 수신 · 응답 전송  (uart_top)</a:t>
            </a:r>
          </a:p>
        </p:txBody>
      </p:sp>
      <p:sp>
        <p:nvSpPr>
          <p:cNvPr id="19" name="라벨"/>
          <p:cNvSpPr txBox="1"/>
          <p:nvPr/>
        </p:nvSpPr>
        <p:spPr>
          <a:xfrm>
            <a:off x="11137392" y="6382512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9600 bps · 8N1</a:t>
            </a:r>
          </a:p>
        </p:txBody>
      </p:sp>
      <p:sp>
        <p:nvSpPr>
          <p:cNvPr id="20" name="태그 clk"/>
          <p:cNvSpPr/>
          <p:nvPr/>
        </p:nvSpPr>
        <p:spPr>
          <a:xfrm>
            <a:off x="411480" y="21031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clk</a:t>
            </a:r>
          </a:p>
        </p:txBody>
      </p:sp>
      <p:cxnSp>
        <p:nvCxnSpPr>
          <p:cNvPr id="21" name="선"/>
          <p:cNvCxnSpPr/>
          <p:nvPr/>
        </p:nvCxnSpPr>
        <p:spPr>
          <a:xfrm>
            <a:off x="1417320" y="2249424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블록 clock_tick_generator"/>
          <p:cNvSpPr/>
          <p:nvPr/>
        </p:nvSpPr>
        <p:spPr>
          <a:xfrm>
            <a:off x="1737360" y="2057400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clock_tick_generator</a:t>
            </a:r>
          </a:p>
        </p:txBody>
      </p:sp>
      <p:cxnSp>
        <p:nvCxnSpPr>
          <p:cNvPr id="23" name="선"/>
          <p:cNvCxnSpPr/>
          <p:nvPr/>
        </p:nvCxnSpPr>
        <p:spPr>
          <a:xfrm>
            <a:off x="3429000" y="2249424"/>
            <a:ext cx="11567159" cy="0"/>
          </a:xfrm>
          <a:prstGeom prst="line">
            <a:avLst/>
          </a:prstGeom>
          <a:ln w="19050">
            <a:solidFill>
              <a:srgbClr val="4A556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선"/>
          <p:cNvCxnSpPr/>
          <p:nvPr/>
        </p:nvCxnSpPr>
        <p:spPr>
          <a:xfrm>
            <a:off x="14996159" y="2249424"/>
            <a:ext cx="0" cy="356616"/>
          </a:xfrm>
          <a:prstGeom prst="line">
            <a:avLst/>
          </a:prstGeom>
          <a:ln w="19050">
            <a:solidFill>
              <a:srgbClr val="4A556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라벨"/>
          <p:cNvSpPr txBox="1"/>
          <p:nvPr/>
        </p:nvSpPr>
        <p:spPr>
          <a:xfrm>
            <a:off x="3840480" y="2011680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4 kHz  →  디바운서 · FND 스캔</a:t>
            </a:r>
          </a:p>
        </p:txBody>
      </p:sp>
      <p:cxnSp>
        <p:nvCxnSpPr>
          <p:cNvPr id="26" name="선"/>
          <p:cNvCxnSpPr/>
          <p:nvPr/>
        </p:nvCxnSpPr>
        <p:spPr>
          <a:xfrm>
            <a:off x="2194560" y="2441448"/>
            <a:ext cx="0" cy="118872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태그 btn_R"/>
          <p:cNvSpPr/>
          <p:nvPr/>
        </p:nvSpPr>
        <p:spPr>
          <a:xfrm>
            <a:off x="411480" y="263347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btn_R</a:t>
            </a:r>
          </a:p>
        </p:txBody>
      </p:sp>
      <p:cxnSp>
        <p:nvCxnSpPr>
          <p:cNvPr id="28" name="선"/>
          <p:cNvCxnSpPr/>
          <p:nvPr/>
        </p:nvCxnSpPr>
        <p:spPr>
          <a:xfrm>
            <a:off x="1417320" y="277977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태그 btn_L"/>
          <p:cNvSpPr/>
          <p:nvPr/>
        </p:nvSpPr>
        <p:spPr>
          <a:xfrm>
            <a:off x="411480" y="299923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btn_L</a:t>
            </a:r>
          </a:p>
        </p:txBody>
      </p:sp>
      <p:cxnSp>
        <p:nvCxnSpPr>
          <p:cNvPr id="30" name="선"/>
          <p:cNvCxnSpPr/>
          <p:nvPr/>
        </p:nvCxnSpPr>
        <p:spPr>
          <a:xfrm>
            <a:off x="1417320" y="314553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태그 btn_U"/>
          <p:cNvSpPr/>
          <p:nvPr/>
        </p:nvSpPr>
        <p:spPr>
          <a:xfrm>
            <a:off x="411480" y="3364991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btn_U</a:t>
            </a:r>
          </a:p>
        </p:txBody>
      </p:sp>
      <p:cxnSp>
        <p:nvCxnSpPr>
          <p:cNvPr id="32" name="선"/>
          <p:cNvCxnSpPr/>
          <p:nvPr/>
        </p:nvCxnSpPr>
        <p:spPr>
          <a:xfrm>
            <a:off x="1417320" y="351129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태그 btn_D"/>
          <p:cNvSpPr/>
          <p:nvPr/>
        </p:nvSpPr>
        <p:spPr>
          <a:xfrm>
            <a:off x="411480" y="373075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btn_D</a:t>
            </a:r>
          </a:p>
        </p:txBody>
      </p:sp>
      <p:cxnSp>
        <p:nvCxnSpPr>
          <p:cNvPr id="34" name="선"/>
          <p:cNvCxnSpPr/>
          <p:nvPr/>
        </p:nvCxnSpPr>
        <p:spPr>
          <a:xfrm>
            <a:off x="1417320" y="387705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블록 btn_debounce&#10;×4"/>
          <p:cNvSpPr/>
          <p:nvPr/>
        </p:nvSpPr>
        <p:spPr>
          <a:xfrm>
            <a:off x="1737360" y="2560320"/>
            <a:ext cx="1371600" cy="1481328"/>
          </a:xfrm>
          <a:prstGeom prst="roundRect">
            <a:avLst>
              <a:gd name="adj" fmla="val 5333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btn_debounce</a:t>
            </a:r>
          </a:p>
          <a:p>
            <a:pPr algn="ctr"/>
            <a:r>
              <a:rPr sz="12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×4</a:t>
            </a:r>
          </a:p>
        </p:txBody>
      </p:sp>
      <p:cxnSp>
        <p:nvCxnSpPr>
          <p:cNvPr id="36" name="선"/>
          <p:cNvCxnSpPr/>
          <p:nvPr/>
        </p:nvCxnSpPr>
        <p:spPr>
          <a:xfrm>
            <a:off x="3108960" y="3163824"/>
            <a:ext cx="868679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라벨"/>
          <p:cNvSpPr txBox="1"/>
          <p:nvPr/>
        </p:nvSpPr>
        <p:spPr>
          <a:xfrm>
            <a:off x="3182112" y="2907792"/>
            <a:ext cx="8229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phy_btn</a:t>
            </a:r>
          </a:p>
        </p:txBody>
      </p:sp>
      <p:sp>
        <p:nvSpPr>
          <p:cNvPr id="38" name="게이트"/>
          <p:cNvSpPr/>
          <p:nvPr/>
        </p:nvSpPr>
        <p:spPr>
          <a:xfrm>
            <a:off x="3977639" y="3026664"/>
            <a:ext cx="548640" cy="548640"/>
          </a:xfrm>
          <a:prstGeom prst="flowChartDelay">
            <a:avLst/>
          </a:prstGeom>
          <a:solidFill>
            <a:srgbClr val="2B6CB0"/>
          </a:solidFill>
          <a:ln w="2222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≥1</a:t>
            </a:r>
          </a:p>
        </p:txBody>
      </p:sp>
      <p:cxnSp>
        <p:nvCxnSpPr>
          <p:cNvPr id="39" name="선"/>
          <p:cNvCxnSpPr/>
          <p:nvPr/>
        </p:nvCxnSpPr>
        <p:spPr>
          <a:xfrm>
            <a:off x="4526280" y="3300984"/>
            <a:ext cx="182880" cy="0"/>
          </a:xfrm>
          <a:prstGeom prst="line">
            <a:avLst/>
          </a:prstGeom>
          <a:ln w="31750">
            <a:solidFill>
              <a:srgbClr val="2B6C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선"/>
          <p:cNvCxnSpPr/>
          <p:nvPr/>
        </p:nvCxnSpPr>
        <p:spPr>
          <a:xfrm>
            <a:off x="4709160" y="2967228"/>
            <a:ext cx="0" cy="2285999"/>
          </a:xfrm>
          <a:prstGeom prst="line">
            <a:avLst/>
          </a:prstGeom>
          <a:ln w="31750">
            <a:solidFill>
              <a:srgbClr val="2B6C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접점"/>
          <p:cNvSpPr/>
          <p:nvPr/>
        </p:nvSpPr>
        <p:spPr>
          <a:xfrm>
            <a:off x="4668012" y="3259836"/>
            <a:ext cx="82296" cy="82296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선"/>
          <p:cNvCxnSpPr/>
          <p:nvPr/>
        </p:nvCxnSpPr>
        <p:spPr>
          <a:xfrm>
            <a:off x="3611880" y="4965192"/>
            <a:ext cx="1280160" cy="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선"/>
          <p:cNvCxnSpPr/>
          <p:nvPr/>
        </p:nvCxnSpPr>
        <p:spPr>
          <a:xfrm>
            <a:off x="4892040" y="3241548"/>
            <a:ext cx="0" cy="228600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접점"/>
          <p:cNvSpPr/>
          <p:nvPr/>
        </p:nvSpPr>
        <p:spPr>
          <a:xfrm>
            <a:off x="4850892" y="4924044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" name="선"/>
          <p:cNvCxnSpPr/>
          <p:nvPr/>
        </p:nvCxnSpPr>
        <p:spPr>
          <a:xfrm>
            <a:off x="4709160" y="2967228"/>
            <a:ext cx="36576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선"/>
          <p:cNvCxnSpPr/>
          <p:nvPr/>
        </p:nvCxnSpPr>
        <p:spPr>
          <a:xfrm>
            <a:off x="4892040" y="3241548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접점"/>
          <p:cNvSpPr/>
          <p:nvPr/>
        </p:nvSpPr>
        <p:spPr>
          <a:xfrm>
            <a:off x="4850892" y="3200400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게이트"/>
          <p:cNvSpPr/>
          <p:nvPr/>
        </p:nvSpPr>
        <p:spPr>
          <a:xfrm>
            <a:off x="5074920" y="2830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49" name="라벨"/>
          <p:cNvSpPr txBox="1"/>
          <p:nvPr/>
        </p:nvSpPr>
        <p:spPr>
          <a:xfrm>
            <a:off x="5029200" y="33878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mode_wts</a:t>
            </a:r>
          </a:p>
        </p:txBody>
      </p:sp>
      <p:cxnSp>
        <p:nvCxnSpPr>
          <p:cNvPr id="50" name="선"/>
          <p:cNvCxnSpPr/>
          <p:nvPr/>
        </p:nvCxnSpPr>
        <p:spPr>
          <a:xfrm>
            <a:off x="5623560" y="3104388"/>
            <a:ext cx="7315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라벨"/>
          <p:cNvSpPr txBox="1"/>
          <p:nvPr/>
        </p:nvSpPr>
        <p:spPr>
          <a:xfrm>
            <a:off x="5669280" y="2839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R·L·U·D</a:t>
            </a:r>
          </a:p>
        </p:txBody>
      </p:sp>
      <p:cxnSp>
        <p:nvCxnSpPr>
          <p:cNvPr id="52" name="선"/>
          <p:cNvCxnSpPr/>
          <p:nvPr/>
        </p:nvCxnSpPr>
        <p:spPr>
          <a:xfrm>
            <a:off x="4709160" y="4110228"/>
            <a:ext cx="365760" cy="0"/>
          </a:xfrm>
          <a:prstGeom prst="line">
            <a:avLst/>
          </a:prstGeom>
          <a:ln w="31750">
            <a:solidFill>
              <a:srgbClr val="2B6C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접점"/>
          <p:cNvSpPr/>
          <p:nvPr/>
        </p:nvSpPr>
        <p:spPr>
          <a:xfrm>
            <a:off x="4668012" y="4069080"/>
            <a:ext cx="82296" cy="82296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4" name="선"/>
          <p:cNvCxnSpPr/>
          <p:nvPr/>
        </p:nvCxnSpPr>
        <p:spPr>
          <a:xfrm>
            <a:off x="4892040" y="4384548"/>
            <a:ext cx="182880" cy="0"/>
          </a:xfrm>
          <a:prstGeom prst="line">
            <a:avLst/>
          </a:prstGeom>
          <a:ln w="31750">
            <a:solidFill>
              <a:srgbClr val="2B6C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접점"/>
          <p:cNvSpPr/>
          <p:nvPr/>
        </p:nvSpPr>
        <p:spPr>
          <a:xfrm>
            <a:off x="4850892" y="4343400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게이트"/>
          <p:cNvSpPr/>
          <p:nvPr/>
        </p:nvSpPr>
        <p:spPr>
          <a:xfrm>
            <a:off x="5074920" y="3973068"/>
            <a:ext cx="548640" cy="548640"/>
          </a:xfrm>
          <a:prstGeom prst="flowChartDelay">
            <a:avLst/>
          </a:prstGeom>
          <a:solidFill>
            <a:srgbClr val="2B6CB0"/>
          </a:solidFill>
          <a:ln w="2222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57" name="라벨"/>
          <p:cNvSpPr txBox="1"/>
          <p:nvPr/>
        </p:nvSpPr>
        <p:spPr>
          <a:xfrm>
            <a:off x="5029200" y="45308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mode_dist</a:t>
            </a:r>
          </a:p>
        </p:txBody>
      </p:sp>
      <p:cxnSp>
        <p:nvCxnSpPr>
          <p:cNvPr id="58" name="선"/>
          <p:cNvCxnSpPr/>
          <p:nvPr/>
        </p:nvCxnSpPr>
        <p:spPr>
          <a:xfrm>
            <a:off x="5623560" y="4247388"/>
            <a:ext cx="731520" cy="0"/>
          </a:xfrm>
          <a:prstGeom prst="line">
            <a:avLst/>
          </a:prstGeom>
          <a:ln w="31750">
            <a:solidFill>
              <a:srgbClr val="2B6C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라벨"/>
          <p:cNvSpPr txBox="1"/>
          <p:nvPr/>
        </p:nvSpPr>
        <p:spPr>
          <a:xfrm>
            <a:off x="5669280" y="3982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cxnSp>
        <p:nvCxnSpPr>
          <p:cNvPr id="60" name="선"/>
          <p:cNvCxnSpPr/>
          <p:nvPr/>
        </p:nvCxnSpPr>
        <p:spPr>
          <a:xfrm>
            <a:off x="4709160" y="5253227"/>
            <a:ext cx="36576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접점"/>
          <p:cNvSpPr/>
          <p:nvPr/>
        </p:nvSpPr>
        <p:spPr>
          <a:xfrm>
            <a:off x="4668012" y="5212079"/>
            <a:ext cx="82296" cy="82296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2" name="선"/>
          <p:cNvCxnSpPr/>
          <p:nvPr/>
        </p:nvCxnSpPr>
        <p:spPr>
          <a:xfrm>
            <a:off x="4892040" y="5527548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게이트"/>
          <p:cNvSpPr/>
          <p:nvPr/>
        </p:nvSpPr>
        <p:spPr>
          <a:xfrm>
            <a:off x="5074920" y="5116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64" name="라벨"/>
          <p:cNvSpPr txBox="1"/>
          <p:nvPr/>
        </p:nvSpPr>
        <p:spPr>
          <a:xfrm>
            <a:off x="5029200" y="5673851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mode_dht</a:t>
            </a:r>
          </a:p>
        </p:txBody>
      </p:sp>
      <p:cxnSp>
        <p:nvCxnSpPr>
          <p:cNvPr id="65" name="선"/>
          <p:cNvCxnSpPr/>
          <p:nvPr/>
        </p:nvCxnSpPr>
        <p:spPr>
          <a:xfrm>
            <a:off x="5623560" y="5390388"/>
            <a:ext cx="7315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라벨"/>
          <p:cNvSpPr txBox="1"/>
          <p:nvPr/>
        </p:nvSpPr>
        <p:spPr>
          <a:xfrm>
            <a:off x="5669280" y="5125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sp>
        <p:nvSpPr>
          <p:cNvPr id="67" name="모드 선택 칸"/>
          <p:cNvSpPr/>
          <p:nvPr/>
        </p:nvSpPr>
        <p:spPr>
          <a:xfrm>
            <a:off x="1600200" y="4160520"/>
            <a:ext cx="2103120" cy="1481328"/>
          </a:xfrm>
          <a:prstGeom prst="roundRect">
            <a:avLst>
              <a:gd name="adj" fmla="val 4938"/>
            </a:avLst>
          </a:prstGeom>
          <a:solidFill>
            <a:srgbClr val="FBFBFC"/>
          </a:solidFill>
          <a:ln w="12700">
            <a:solidFill>
              <a:srgbClr val="C8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라벨"/>
          <p:cNvSpPr txBox="1"/>
          <p:nvPr/>
        </p:nvSpPr>
        <p:spPr>
          <a:xfrm>
            <a:off x="1664208" y="417880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모드 선택</a:t>
            </a:r>
          </a:p>
        </p:txBody>
      </p:sp>
      <p:sp>
        <p:nvSpPr>
          <p:cNvPr id="69" name="태그 sw0 ~ sw6"/>
          <p:cNvSpPr/>
          <p:nvPr/>
        </p:nvSpPr>
        <p:spPr>
          <a:xfrm>
            <a:off x="411480" y="4498848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sw0 ~ sw6</a:t>
            </a:r>
          </a:p>
        </p:txBody>
      </p:sp>
      <p:cxnSp>
        <p:nvCxnSpPr>
          <p:cNvPr id="70" name="선"/>
          <p:cNvCxnSpPr/>
          <p:nvPr/>
        </p:nvCxnSpPr>
        <p:spPr>
          <a:xfrm>
            <a:off x="1417320" y="4645152"/>
            <a:ext cx="5486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MUX 모드"/>
          <p:cNvSpPr/>
          <p:nvPr/>
        </p:nvSpPr>
        <p:spPr>
          <a:xfrm>
            <a:off x="1965960" y="4480560"/>
            <a:ext cx="457200" cy="987552"/>
          </a:xfrm>
          <a:custGeom>
            <a:avLst/>
            <a:gdLst/>
            <a:ahLst/>
            <a:cxnLst/>
            <a:rect l="l" t="t" r="r" b="b"/>
            <a:pathLst>
              <a:path w="457200" h="987552">
                <a:moveTo>
                  <a:pt x="0" y="0"/>
                </a:moveTo>
                <a:lnTo>
                  <a:pt x="457200" y="109728"/>
                </a:lnTo>
                <a:lnTo>
                  <a:pt x="457200" y="877824"/>
                </a:lnTo>
                <a:lnTo>
                  <a:pt x="0" y="987552"/>
                </a:lnTo>
                <a:lnTo>
                  <a:pt x="0" y="0"/>
                </a:lnTo>
                <a:close/>
              </a:path>
            </a:pathLst>
          </a:cu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라벨"/>
          <p:cNvSpPr txBox="1"/>
          <p:nvPr/>
        </p:nvSpPr>
        <p:spPr>
          <a:xfrm>
            <a:off x="2020824" y="4526280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73" name="라벨"/>
          <p:cNvSpPr txBox="1"/>
          <p:nvPr/>
        </p:nvSpPr>
        <p:spPr>
          <a:xfrm>
            <a:off x="2020824" y="5093208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74" name="라벨"/>
          <p:cNvSpPr txBox="1"/>
          <p:nvPr/>
        </p:nvSpPr>
        <p:spPr>
          <a:xfrm>
            <a:off x="2423160" y="418795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2:1 × 7 bit</a:t>
            </a:r>
          </a:p>
        </p:txBody>
      </p:sp>
      <p:cxnSp>
        <p:nvCxnSpPr>
          <p:cNvPr id="75" name="선"/>
          <p:cNvCxnSpPr/>
          <p:nvPr/>
        </p:nvCxnSpPr>
        <p:spPr>
          <a:xfrm>
            <a:off x="2423160" y="4965192"/>
            <a:ext cx="27432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블록 모드&#10;디코드"/>
          <p:cNvSpPr/>
          <p:nvPr/>
        </p:nvSpPr>
        <p:spPr>
          <a:xfrm>
            <a:off x="2697480" y="4663440"/>
            <a:ext cx="914400" cy="603504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모드</a:t>
            </a:r>
          </a:p>
          <a:p>
            <a:pPr algn="ctr"/>
            <a:r>
              <a:rPr sz="11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디코드</a:t>
            </a:r>
          </a:p>
        </p:txBody>
      </p:sp>
      <p:sp>
        <p:nvSpPr>
          <p:cNvPr id="77" name="라벨"/>
          <p:cNvSpPr txBox="1"/>
          <p:nvPr/>
        </p:nvSpPr>
        <p:spPr>
          <a:xfrm>
            <a:off x="2331720" y="5340096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→ mode_* · disp_sel</a:t>
            </a:r>
          </a:p>
        </p:txBody>
      </p:sp>
      <p:sp>
        <p:nvSpPr>
          <p:cNvPr id="78" name="블록 wts_top"/>
          <p:cNvSpPr/>
          <p:nvPr/>
        </p:nvSpPr>
        <p:spPr>
          <a:xfrm>
            <a:off x="6355080" y="2761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wts_top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control_unit · datapath × 3</a:t>
            </a:r>
          </a:p>
        </p:txBody>
      </p:sp>
      <p:cxnSp>
        <p:nvCxnSpPr>
          <p:cNvPr id="79" name="선"/>
          <p:cNvCxnSpPr/>
          <p:nvPr/>
        </p:nvCxnSpPr>
        <p:spPr>
          <a:xfrm>
            <a:off x="8549640" y="3104388"/>
            <a:ext cx="3611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라벨"/>
          <p:cNvSpPr txBox="1"/>
          <p:nvPr/>
        </p:nvSpPr>
        <p:spPr>
          <a:xfrm>
            <a:off x="8686800" y="2839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disp  시 · 분 · 초 · 1/100</a:t>
            </a:r>
          </a:p>
        </p:txBody>
      </p:sp>
      <p:sp>
        <p:nvSpPr>
          <p:cNvPr id="81" name="라벨"/>
          <p:cNvSpPr txBox="1"/>
          <p:nvPr/>
        </p:nvSpPr>
        <p:spPr>
          <a:xfrm>
            <a:off x="8686800" y="3150108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← ctrl_bit[4:0]  (sw0 · sw1 · sw2 · sw3 · sw4)</a:t>
            </a:r>
          </a:p>
        </p:txBody>
      </p:sp>
      <p:sp>
        <p:nvSpPr>
          <p:cNvPr id="82" name="블록 sr04_top"/>
          <p:cNvSpPr/>
          <p:nvPr/>
        </p:nvSpPr>
        <p:spPr>
          <a:xfrm>
            <a:off x="6355080" y="3904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FFFFF"/>
          </a:solidFill>
          <a:ln w="285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sr04_top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core · mode_ctrl · led_bar</a:t>
            </a:r>
          </a:p>
        </p:txBody>
      </p:sp>
      <p:cxnSp>
        <p:nvCxnSpPr>
          <p:cNvPr id="83" name="선"/>
          <p:cNvCxnSpPr/>
          <p:nvPr/>
        </p:nvCxnSpPr>
        <p:spPr>
          <a:xfrm>
            <a:off x="8549640" y="4247388"/>
            <a:ext cx="3611880" cy="0"/>
          </a:xfrm>
          <a:prstGeom prst="line">
            <a:avLst/>
          </a:prstGeom>
          <a:ln w="31750">
            <a:solidFill>
              <a:srgbClr val="2B6C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라벨"/>
          <p:cNvSpPr txBox="1"/>
          <p:nvPr/>
        </p:nvSpPr>
        <p:spPr>
          <a:xfrm>
            <a:off x="8686800" y="3982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distance_x10 · err · status</a:t>
            </a:r>
          </a:p>
        </p:txBody>
      </p:sp>
      <p:sp>
        <p:nvSpPr>
          <p:cNvPr id="85" name="라벨"/>
          <p:cNvSpPr txBox="1"/>
          <p:nvPr/>
        </p:nvSpPr>
        <p:spPr>
          <a:xfrm>
            <a:off x="8686800" y="4293108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trig → JA1 · echo ← JA2 · sw15 = 거리 막대 LED</a:t>
            </a:r>
          </a:p>
        </p:txBody>
      </p:sp>
      <p:sp>
        <p:nvSpPr>
          <p:cNvPr id="86" name="블록 dht11_top"/>
          <p:cNvSpPr/>
          <p:nvPr/>
        </p:nvSpPr>
        <p:spPr>
          <a:xfrm>
            <a:off x="6355080" y="5047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dht11_top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core · controller · manager</a:t>
            </a:r>
          </a:p>
        </p:txBody>
      </p:sp>
      <p:cxnSp>
        <p:nvCxnSpPr>
          <p:cNvPr id="87" name="선"/>
          <p:cNvCxnSpPr/>
          <p:nvPr/>
        </p:nvCxnSpPr>
        <p:spPr>
          <a:xfrm>
            <a:off x="8549640" y="5390388"/>
            <a:ext cx="3611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라벨"/>
          <p:cNvSpPr txBox="1"/>
          <p:nvPr/>
        </p:nvSpPr>
        <p:spPr>
          <a:xfrm>
            <a:off x="8686800" y="5125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fnd_data · dashes · err</a:t>
            </a:r>
          </a:p>
        </p:txBody>
      </p:sp>
      <p:sp>
        <p:nvSpPr>
          <p:cNvPr id="89" name="라벨"/>
          <p:cNvSpPr txBox="1"/>
          <p:nvPr/>
        </p:nvSpPr>
        <p:spPr>
          <a:xfrm>
            <a:off x="8686800" y="5436107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dht11_io ↔ JXADC3 (M2)</a:t>
            </a:r>
          </a:p>
        </p:txBody>
      </p:sp>
      <p:sp>
        <p:nvSpPr>
          <p:cNvPr id="90" name="MUX FND"/>
          <p:cNvSpPr/>
          <p:nvPr/>
        </p:nvSpPr>
        <p:spPr>
          <a:xfrm>
            <a:off x="12161520" y="2606040"/>
            <a:ext cx="640080" cy="3108960"/>
          </a:xfrm>
          <a:custGeom>
            <a:avLst/>
            <a:gdLst/>
            <a:ahLst/>
            <a:cxnLst/>
            <a:rect l="l" t="t" r="r" b="b"/>
            <a:pathLst>
              <a:path w="640080" h="3108960">
                <a:moveTo>
                  <a:pt x="0" y="0"/>
                </a:moveTo>
                <a:lnTo>
                  <a:pt x="640080" y="228600"/>
                </a:lnTo>
                <a:lnTo>
                  <a:pt x="640080" y="2880360"/>
                </a:lnTo>
                <a:lnTo>
                  <a:pt x="0" y="3108960"/>
                </a:lnTo>
                <a:lnTo>
                  <a:pt x="0" y="0"/>
                </a:lnTo>
                <a:close/>
              </a:path>
            </a:pathLst>
          </a:custGeom>
          <a:solidFill>
            <a:srgbClr val="EBF4FF"/>
          </a:solidFill>
          <a:ln w="1905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라벨"/>
          <p:cNvSpPr txBox="1"/>
          <p:nvPr/>
        </p:nvSpPr>
        <p:spPr>
          <a:xfrm>
            <a:off x="12216384" y="298551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92" name="라벨"/>
          <p:cNvSpPr txBox="1"/>
          <p:nvPr/>
        </p:nvSpPr>
        <p:spPr>
          <a:xfrm>
            <a:off x="12216384" y="412851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3" name="라벨"/>
          <p:cNvSpPr txBox="1"/>
          <p:nvPr/>
        </p:nvSpPr>
        <p:spPr>
          <a:xfrm>
            <a:off x="12216384" y="527151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94" name="라벨"/>
          <p:cNvSpPr txBox="1"/>
          <p:nvPr/>
        </p:nvSpPr>
        <p:spPr>
          <a:xfrm>
            <a:off x="11978640" y="5742432"/>
            <a:ext cx="2011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FND MUX  3:1 × 25 bit</a:t>
            </a:r>
          </a:p>
        </p:txBody>
      </p:sp>
      <p:sp>
        <p:nvSpPr>
          <p:cNvPr id="95" name="라벨"/>
          <p:cNvSpPr txBox="1"/>
          <p:nvPr/>
        </p:nvSpPr>
        <p:spPr>
          <a:xfrm>
            <a:off x="11978640" y="5961888"/>
            <a:ext cx="2011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sel = disp_sel (2 bit)</a:t>
            </a:r>
          </a:p>
        </p:txBody>
      </p:sp>
      <p:cxnSp>
        <p:nvCxnSpPr>
          <p:cNvPr id="96" name="선"/>
          <p:cNvCxnSpPr/>
          <p:nvPr/>
        </p:nvCxnSpPr>
        <p:spPr>
          <a:xfrm>
            <a:off x="12801600" y="3017520"/>
            <a:ext cx="1280160" cy="0"/>
          </a:xfrm>
          <a:prstGeom prst="line">
            <a:avLst/>
          </a:prstGeom>
          <a:ln w="31750">
            <a:solidFill>
              <a:srgbClr val="2B6C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라벨"/>
          <p:cNvSpPr txBox="1"/>
          <p:nvPr/>
        </p:nvSpPr>
        <p:spPr>
          <a:xfrm>
            <a:off x="12874752" y="277063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fnd_data</a:t>
            </a:r>
          </a:p>
        </p:txBody>
      </p:sp>
      <p:sp>
        <p:nvSpPr>
          <p:cNvPr id="98" name="블록 FND&#10;컨트롤러"/>
          <p:cNvSpPr/>
          <p:nvPr/>
        </p:nvSpPr>
        <p:spPr>
          <a:xfrm>
            <a:off x="14081760" y="2606040"/>
            <a:ext cx="182880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285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FND</a:t>
            </a:r>
          </a:p>
          <a:p>
            <a:pPr algn="ctr"/>
            <a:r>
              <a:rPr sz="14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컨트롤러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SW2_FND_CONTROLLER</a:t>
            </a:r>
          </a:p>
        </p:txBody>
      </p:sp>
      <p:sp>
        <p:nvSpPr>
          <p:cNvPr id="99" name="태그 disp_sel"/>
          <p:cNvSpPr/>
          <p:nvPr/>
        </p:nvSpPr>
        <p:spPr>
          <a:xfrm>
            <a:off x="13167360" y="325526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100" name="태그 wt_cursor"/>
          <p:cNvSpPr/>
          <p:nvPr/>
        </p:nvSpPr>
        <p:spPr>
          <a:xfrm>
            <a:off x="13167360" y="354787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wt_cursor</a:t>
            </a:r>
          </a:p>
        </p:txBody>
      </p:sp>
      <p:sp>
        <p:nvSpPr>
          <p:cNvPr id="101" name="태그 set_sw2"/>
          <p:cNvSpPr/>
          <p:nvPr/>
        </p:nvSpPr>
        <p:spPr>
          <a:xfrm>
            <a:off x="13167360" y="384048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set_sw2</a:t>
            </a:r>
          </a:p>
        </p:txBody>
      </p:sp>
      <p:cxnSp>
        <p:nvCxnSpPr>
          <p:cNvPr id="102" name="선"/>
          <p:cNvCxnSpPr/>
          <p:nvPr/>
        </p:nvCxnSpPr>
        <p:spPr>
          <a:xfrm>
            <a:off x="15910559" y="3054096"/>
            <a:ext cx="411481" cy="0"/>
          </a:xfrm>
          <a:prstGeom prst="line">
            <a:avLst/>
          </a:prstGeom>
          <a:ln w="31750">
            <a:solidFill>
              <a:srgbClr val="2B6C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태그 fnd_com"/>
          <p:cNvSpPr/>
          <p:nvPr/>
        </p:nvSpPr>
        <p:spPr>
          <a:xfrm>
            <a:off x="16322040" y="29077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fnd_com</a:t>
            </a:r>
          </a:p>
        </p:txBody>
      </p:sp>
      <p:cxnSp>
        <p:nvCxnSpPr>
          <p:cNvPr id="104" name="선"/>
          <p:cNvCxnSpPr/>
          <p:nvPr/>
        </p:nvCxnSpPr>
        <p:spPr>
          <a:xfrm>
            <a:off x="15910559" y="3739896"/>
            <a:ext cx="411481" cy="0"/>
          </a:xfrm>
          <a:prstGeom prst="line">
            <a:avLst/>
          </a:prstGeom>
          <a:ln w="31750">
            <a:solidFill>
              <a:srgbClr val="2B6C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태그 fnd_font"/>
          <p:cNvSpPr/>
          <p:nvPr/>
        </p:nvSpPr>
        <p:spPr>
          <a:xfrm>
            <a:off x="16322040" y="35935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fnd_font</a:t>
            </a:r>
          </a:p>
        </p:txBody>
      </p:sp>
      <p:sp>
        <p:nvSpPr>
          <p:cNvPr id="106" name="블록 LED 로직"/>
          <p:cNvSpPr/>
          <p:nvPr/>
        </p:nvSpPr>
        <p:spPr>
          <a:xfrm>
            <a:off x="14081760" y="4343400"/>
            <a:ext cx="1828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85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 로직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led_output</a:t>
            </a:r>
          </a:p>
        </p:txBody>
      </p:sp>
      <p:sp>
        <p:nvSpPr>
          <p:cNvPr id="107" name="태그 disp_sel"/>
          <p:cNvSpPr/>
          <p:nvPr/>
        </p:nvSpPr>
        <p:spPr>
          <a:xfrm>
            <a:off x="13167360" y="4425696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108" name="태그 WTS 신호"/>
          <p:cNvSpPr/>
          <p:nvPr/>
        </p:nvSpPr>
        <p:spPr>
          <a:xfrm>
            <a:off x="13167360" y="471830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WTS 신호</a:t>
            </a:r>
          </a:p>
        </p:txBody>
      </p:sp>
      <p:sp>
        <p:nvSpPr>
          <p:cNvPr id="109" name="태그 sr04_led"/>
          <p:cNvSpPr/>
          <p:nvPr/>
        </p:nvSpPr>
        <p:spPr>
          <a:xfrm>
            <a:off x="13167360" y="501091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sr04_led</a:t>
            </a:r>
          </a:p>
        </p:txBody>
      </p:sp>
      <p:sp>
        <p:nvSpPr>
          <p:cNvPr id="110" name="태그 dht_led"/>
          <p:cNvSpPr/>
          <p:nvPr/>
        </p:nvSpPr>
        <p:spPr>
          <a:xfrm>
            <a:off x="13167360" y="530352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dht_led</a:t>
            </a:r>
          </a:p>
        </p:txBody>
      </p:sp>
      <p:cxnSp>
        <p:nvCxnSpPr>
          <p:cNvPr id="111" name="선"/>
          <p:cNvCxnSpPr/>
          <p:nvPr/>
        </p:nvCxnSpPr>
        <p:spPr>
          <a:xfrm>
            <a:off x="15910559" y="5029200"/>
            <a:ext cx="411481" cy="0"/>
          </a:xfrm>
          <a:prstGeom prst="line">
            <a:avLst/>
          </a:prstGeom>
          <a:ln w="31750">
            <a:solidFill>
              <a:srgbClr val="2B6C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태그 led[15:0]"/>
          <p:cNvSpPr/>
          <p:nvPr/>
        </p:nvSpPr>
        <p:spPr>
          <a:xfrm>
            <a:off x="16322040" y="4882896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led[15:0]</a:t>
            </a:r>
          </a:p>
        </p:txBody>
      </p:sp>
      <p:sp>
        <p:nvSpPr>
          <p:cNvPr id="113" name="태그 rx"/>
          <p:cNvSpPr/>
          <p:nvPr/>
        </p:nvSpPr>
        <p:spPr>
          <a:xfrm>
            <a:off x="411480" y="69037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rx</a:t>
            </a:r>
          </a:p>
        </p:txBody>
      </p:sp>
      <p:cxnSp>
        <p:nvCxnSpPr>
          <p:cNvPr id="114" name="선"/>
          <p:cNvCxnSpPr/>
          <p:nvPr/>
        </p:nvCxnSpPr>
        <p:spPr>
          <a:xfrm>
            <a:off x="1417320" y="7050024"/>
            <a:ext cx="365760" cy="0"/>
          </a:xfrm>
          <a:prstGeom prst="line">
            <a:avLst/>
          </a:prstGeom>
          <a:ln w="31750">
            <a:solidFill>
              <a:srgbClr val="2B6C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블록 uart_rx"/>
          <p:cNvSpPr/>
          <p:nvPr/>
        </p:nvSpPr>
        <p:spPr>
          <a:xfrm>
            <a:off x="1783080" y="6766560"/>
            <a:ext cx="118872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uart_rx</a:t>
            </a:r>
          </a:p>
        </p:txBody>
      </p:sp>
      <p:cxnSp>
        <p:nvCxnSpPr>
          <p:cNvPr id="116" name="선"/>
          <p:cNvCxnSpPr/>
          <p:nvPr/>
        </p:nvCxnSpPr>
        <p:spPr>
          <a:xfrm>
            <a:off x="2971800" y="7050024"/>
            <a:ext cx="274320" cy="0"/>
          </a:xfrm>
          <a:prstGeom prst="line">
            <a:avLst/>
          </a:prstGeom>
          <a:ln w="31750">
            <a:solidFill>
              <a:srgbClr val="2B6C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블록 fifo"/>
          <p:cNvSpPr/>
          <p:nvPr/>
        </p:nvSpPr>
        <p:spPr>
          <a:xfrm>
            <a:off x="3246120" y="6766560"/>
            <a:ext cx="91440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RX × 8</a:t>
            </a:r>
          </a:p>
        </p:txBody>
      </p:sp>
      <p:cxnSp>
        <p:nvCxnSpPr>
          <p:cNvPr id="118" name="선"/>
          <p:cNvCxnSpPr/>
          <p:nvPr/>
        </p:nvCxnSpPr>
        <p:spPr>
          <a:xfrm>
            <a:off x="4160520" y="7050024"/>
            <a:ext cx="274320" cy="0"/>
          </a:xfrm>
          <a:prstGeom prst="line">
            <a:avLst/>
          </a:prstGeom>
          <a:ln w="31750">
            <a:solidFill>
              <a:srgbClr val="2B6C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블록 ASCII_DECODER"/>
          <p:cNvSpPr/>
          <p:nvPr/>
        </p:nvSpPr>
        <p:spPr>
          <a:xfrm>
            <a:off x="4434840" y="6675120"/>
            <a:ext cx="18288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285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ASCII_DECODER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/명령 + 옵션 파싱</a:t>
            </a:r>
          </a:p>
        </p:txBody>
      </p:sp>
      <p:cxnSp>
        <p:nvCxnSpPr>
          <p:cNvPr id="120" name="선"/>
          <p:cNvCxnSpPr/>
          <p:nvPr/>
        </p:nvCxnSpPr>
        <p:spPr>
          <a:xfrm>
            <a:off x="6263640" y="7050024"/>
            <a:ext cx="502920" cy="0"/>
          </a:xfrm>
          <a:prstGeom prst="line">
            <a:avLst/>
          </a:prstGeom>
          <a:ln w="31750">
            <a:solidFill>
              <a:srgbClr val="2B6C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블록 baud_tick_gen"/>
          <p:cNvSpPr/>
          <p:nvPr/>
        </p:nvSpPr>
        <p:spPr>
          <a:xfrm>
            <a:off x="1783080" y="7680960"/>
            <a:ext cx="1188720" cy="5303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baud_tick_gen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9600 × 16</a:t>
            </a:r>
          </a:p>
        </p:txBody>
      </p:sp>
      <p:cxnSp>
        <p:nvCxnSpPr>
          <p:cNvPr id="122" name="선"/>
          <p:cNvCxnSpPr/>
          <p:nvPr/>
        </p:nvCxnSpPr>
        <p:spPr>
          <a:xfrm flipV="1">
            <a:off x="2377440" y="7333488"/>
            <a:ext cx="0" cy="347472"/>
          </a:xfrm>
          <a:prstGeom prst="line">
            <a:avLst/>
          </a:prstGeom>
          <a:ln w="31750">
            <a:solidFill>
              <a:srgbClr val="2B6C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라벨"/>
          <p:cNvSpPr txBox="1"/>
          <p:nvPr/>
        </p:nvSpPr>
        <p:spPr>
          <a:xfrm>
            <a:off x="3063240" y="782726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→ RX · TX 공용</a:t>
            </a:r>
          </a:p>
        </p:txBody>
      </p:sp>
      <p:sp>
        <p:nvSpPr>
          <p:cNvPr id="124" name="블록 UART_CONTROLLER"/>
          <p:cNvSpPr/>
          <p:nvPr/>
        </p:nvSpPr>
        <p:spPr>
          <a:xfrm>
            <a:off x="6766560" y="6675120"/>
            <a:ext cx="2377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85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UART_CONTROLLER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mode · auto · btn FSM</a:t>
            </a:r>
          </a:p>
        </p:txBody>
      </p:sp>
      <p:sp>
        <p:nvSpPr>
          <p:cNvPr id="125" name="태그 phy_btn"/>
          <p:cNvSpPr/>
          <p:nvPr/>
        </p:nvSpPr>
        <p:spPr>
          <a:xfrm>
            <a:off x="5870448" y="7498079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phy_btn</a:t>
            </a:r>
          </a:p>
        </p:txBody>
      </p:sp>
      <p:sp>
        <p:nvSpPr>
          <p:cNvPr id="126" name="라벨"/>
          <p:cNvSpPr txBox="1"/>
          <p:nvPr/>
        </p:nvSpPr>
        <p:spPr>
          <a:xfrm>
            <a:off x="3950208" y="750722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5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같은 clk 면 물리 먼저</a:t>
            </a:r>
          </a:p>
        </p:txBody>
      </p:sp>
      <p:cxnSp>
        <p:nvCxnSpPr>
          <p:cNvPr id="127" name="선"/>
          <p:cNvCxnSpPr/>
          <p:nvPr/>
        </p:nvCxnSpPr>
        <p:spPr>
          <a:xfrm flipV="1">
            <a:off x="6903720" y="6217920"/>
            <a:ext cx="0" cy="45720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선"/>
          <p:cNvCxnSpPr/>
          <p:nvPr/>
        </p:nvCxnSpPr>
        <p:spPr>
          <a:xfrm flipH="1">
            <a:off x="1691640" y="6217920"/>
            <a:ext cx="5212080" cy="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선"/>
          <p:cNvCxnSpPr/>
          <p:nvPr/>
        </p:nvCxnSpPr>
        <p:spPr>
          <a:xfrm flipV="1">
            <a:off x="1691640" y="5212080"/>
            <a:ext cx="0" cy="100584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선"/>
          <p:cNvCxnSpPr/>
          <p:nvPr/>
        </p:nvCxnSpPr>
        <p:spPr>
          <a:xfrm>
            <a:off x="1691640" y="5212080"/>
            <a:ext cx="27432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라벨"/>
          <p:cNvSpPr txBox="1"/>
          <p:nvPr/>
        </p:nvSpPr>
        <p:spPr>
          <a:xfrm>
            <a:off x="3931920" y="623620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module_control_bit[6:0]</a:t>
            </a:r>
          </a:p>
        </p:txBody>
      </p:sp>
      <p:cxnSp>
        <p:nvCxnSpPr>
          <p:cNvPr id="132" name="선"/>
          <p:cNvCxnSpPr/>
          <p:nvPr/>
        </p:nvCxnSpPr>
        <p:spPr>
          <a:xfrm flipV="1">
            <a:off x="7178040" y="6080760"/>
            <a:ext cx="0" cy="59436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선"/>
          <p:cNvCxnSpPr/>
          <p:nvPr/>
        </p:nvCxnSpPr>
        <p:spPr>
          <a:xfrm flipH="1">
            <a:off x="2194560" y="6080760"/>
            <a:ext cx="4983480" cy="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선"/>
          <p:cNvCxnSpPr/>
          <p:nvPr/>
        </p:nvCxnSpPr>
        <p:spPr>
          <a:xfrm flipV="1">
            <a:off x="2194560" y="5413248"/>
            <a:ext cx="0" cy="667512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라벨"/>
          <p:cNvSpPr txBox="1"/>
          <p:nvPr/>
        </p:nvSpPr>
        <p:spPr>
          <a:xfrm>
            <a:off x="2286000" y="5852160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uart_mode</a:t>
            </a:r>
          </a:p>
        </p:txBody>
      </p:sp>
      <p:cxnSp>
        <p:nvCxnSpPr>
          <p:cNvPr id="136" name="선"/>
          <p:cNvCxnSpPr/>
          <p:nvPr/>
        </p:nvCxnSpPr>
        <p:spPr>
          <a:xfrm flipV="1">
            <a:off x="7452360" y="5943600"/>
            <a:ext cx="0" cy="731520"/>
          </a:xfrm>
          <a:prstGeom prst="line">
            <a:avLst/>
          </a:prstGeom>
          <a:ln w="31750">
            <a:solidFill>
              <a:srgbClr val="2B6C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선"/>
          <p:cNvCxnSpPr/>
          <p:nvPr/>
        </p:nvCxnSpPr>
        <p:spPr>
          <a:xfrm flipH="1">
            <a:off x="3749039" y="5943600"/>
            <a:ext cx="3703321" cy="0"/>
          </a:xfrm>
          <a:prstGeom prst="line">
            <a:avLst/>
          </a:prstGeom>
          <a:ln w="31750">
            <a:solidFill>
              <a:srgbClr val="2B6C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선"/>
          <p:cNvCxnSpPr/>
          <p:nvPr/>
        </p:nvCxnSpPr>
        <p:spPr>
          <a:xfrm flipV="1">
            <a:off x="3749039" y="3438144"/>
            <a:ext cx="0" cy="2505456"/>
          </a:xfrm>
          <a:prstGeom prst="line">
            <a:avLst/>
          </a:prstGeom>
          <a:ln w="31750">
            <a:solidFill>
              <a:srgbClr val="2B6C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선"/>
          <p:cNvCxnSpPr/>
          <p:nvPr/>
        </p:nvCxnSpPr>
        <p:spPr>
          <a:xfrm>
            <a:off x="3749039" y="3438144"/>
            <a:ext cx="228600" cy="0"/>
          </a:xfrm>
          <a:prstGeom prst="line">
            <a:avLst/>
          </a:prstGeom>
          <a:ln w="31750">
            <a:solidFill>
              <a:srgbClr val="2B6C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라벨"/>
          <p:cNvSpPr txBox="1"/>
          <p:nvPr/>
        </p:nvSpPr>
        <p:spPr>
          <a:xfrm>
            <a:off x="3840480" y="3703320"/>
            <a:ext cx="8229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uart_btn</a:t>
            </a:r>
          </a:p>
        </p:txBody>
      </p:sp>
      <p:sp>
        <p:nvSpPr>
          <p:cNvPr id="141" name="블록 sender_tick"/>
          <p:cNvSpPr/>
          <p:nvPr/>
        </p:nvSpPr>
        <p:spPr>
          <a:xfrm>
            <a:off x="9555480" y="6967728"/>
            <a:ext cx="1371600" cy="566928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sender_tick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1 Hz · scan 0→4</a:t>
            </a:r>
          </a:p>
        </p:txBody>
      </p:sp>
      <p:cxnSp>
        <p:nvCxnSpPr>
          <p:cNvPr id="142" name="선"/>
          <p:cNvCxnSpPr/>
          <p:nvPr/>
        </p:nvCxnSpPr>
        <p:spPr>
          <a:xfrm flipH="1">
            <a:off x="9144000" y="7251192"/>
            <a:ext cx="4114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선"/>
          <p:cNvCxnSpPr/>
          <p:nvPr/>
        </p:nvCxnSpPr>
        <p:spPr>
          <a:xfrm>
            <a:off x="9144000" y="6784848"/>
            <a:ext cx="4727448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선"/>
          <p:cNvCxnSpPr/>
          <p:nvPr/>
        </p:nvCxnSpPr>
        <p:spPr>
          <a:xfrm>
            <a:off x="13871448" y="6784848"/>
            <a:ext cx="0" cy="301752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라벨"/>
          <p:cNvSpPr txBox="1"/>
          <p:nvPr/>
        </p:nvSpPr>
        <p:spPr>
          <a:xfrm>
            <a:off x="10241280" y="6547104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send_go</a:t>
            </a:r>
          </a:p>
        </p:txBody>
      </p:sp>
      <p:sp>
        <p:nvSpPr>
          <p:cNvPr id="146" name="MUX 전송"/>
          <p:cNvSpPr/>
          <p:nvPr/>
        </p:nvSpPr>
        <p:spPr>
          <a:xfrm>
            <a:off x="11887200" y="6903720"/>
            <a:ext cx="868680" cy="1280159"/>
          </a:xfrm>
          <a:custGeom>
            <a:avLst/>
            <a:gdLst/>
            <a:ahLst/>
            <a:cxnLst/>
            <a:rect l="l" t="t" r="r" b="b"/>
            <a:pathLst>
              <a:path w="868680" h="1280159">
                <a:moveTo>
                  <a:pt x="0" y="0"/>
                </a:moveTo>
                <a:lnTo>
                  <a:pt x="868680" y="164592"/>
                </a:lnTo>
                <a:lnTo>
                  <a:pt x="868680" y="1115568"/>
                </a:lnTo>
                <a:lnTo>
                  <a:pt x="0" y="1280159"/>
                </a:lnTo>
                <a:lnTo>
                  <a:pt x="0" y="0"/>
                </a:lnTo>
                <a:close/>
              </a:path>
            </a:pathLst>
          </a:cu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라벨"/>
          <p:cNvSpPr txBox="1"/>
          <p:nvPr/>
        </p:nvSpPr>
        <p:spPr>
          <a:xfrm>
            <a:off x="11841480" y="6528816"/>
            <a:ext cx="21945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전송 MUX  8:1 × 24 bit</a:t>
            </a:r>
          </a:p>
        </p:txBody>
      </p:sp>
      <p:cxnSp>
        <p:nvCxnSpPr>
          <p:cNvPr id="148" name="선"/>
          <p:cNvCxnSpPr/>
          <p:nvPr/>
        </p:nvCxnSpPr>
        <p:spPr>
          <a:xfrm>
            <a:off x="11777472" y="3104388"/>
            <a:ext cx="0" cy="4210812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선"/>
          <p:cNvCxnSpPr/>
          <p:nvPr/>
        </p:nvCxnSpPr>
        <p:spPr>
          <a:xfrm>
            <a:off x="11777472" y="7315200"/>
            <a:ext cx="109728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선"/>
          <p:cNvCxnSpPr/>
          <p:nvPr/>
        </p:nvCxnSpPr>
        <p:spPr>
          <a:xfrm>
            <a:off x="11777472" y="7022592"/>
            <a:ext cx="109728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접점"/>
          <p:cNvSpPr/>
          <p:nvPr/>
        </p:nvSpPr>
        <p:spPr>
          <a:xfrm>
            <a:off x="11736324" y="6981444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2" name="선"/>
          <p:cNvCxnSpPr/>
          <p:nvPr/>
        </p:nvCxnSpPr>
        <p:spPr>
          <a:xfrm>
            <a:off x="11777472" y="7168896"/>
            <a:ext cx="109728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접점"/>
          <p:cNvSpPr/>
          <p:nvPr/>
        </p:nvSpPr>
        <p:spPr>
          <a:xfrm>
            <a:off x="11736324" y="7127748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접점"/>
          <p:cNvSpPr/>
          <p:nvPr/>
        </p:nvSpPr>
        <p:spPr>
          <a:xfrm>
            <a:off x="11736324" y="306324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5" name="선"/>
          <p:cNvCxnSpPr/>
          <p:nvPr/>
        </p:nvCxnSpPr>
        <p:spPr>
          <a:xfrm>
            <a:off x="11686032" y="4247388"/>
            <a:ext cx="0" cy="326898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선"/>
          <p:cNvCxnSpPr/>
          <p:nvPr/>
        </p:nvCxnSpPr>
        <p:spPr>
          <a:xfrm>
            <a:off x="11686032" y="7516368"/>
            <a:ext cx="201168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접점"/>
          <p:cNvSpPr/>
          <p:nvPr/>
        </p:nvSpPr>
        <p:spPr>
          <a:xfrm>
            <a:off x="11644884" y="420624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8" name="선"/>
          <p:cNvCxnSpPr/>
          <p:nvPr/>
        </p:nvCxnSpPr>
        <p:spPr>
          <a:xfrm>
            <a:off x="11430000" y="5390388"/>
            <a:ext cx="0" cy="2327148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선"/>
          <p:cNvCxnSpPr/>
          <p:nvPr/>
        </p:nvCxnSpPr>
        <p:spPr>
          <a:xfrm>
            <a:off x="11430000" y="7717536"/>
            <a:ext cx="45720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접점"/>
          <p:cNvSpPr/>
          <p:nvPr/>
        </p:nvSpPr>
        <p:spPr>
          <a:xfrm>
            <a:off x="11388852" y="534924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MUX 핀"/>
          <p:cNvSpPr txBox="1"/>
          <p:nvPr/>
        </p:nvSpPr>
        <p:spPr>
          <a:xfrm>
            <a:off x="11932920" y="693115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0 sw</a:t>
            </a:r>
          </a:p>
        </p:txBody>
      </p:sp>
      <p:sp>
        <p:nvSpPr>
          <p:cNvPr id="162" name="MUX 핀"/>
          <p:cNvSpPr txBox="1"/>
          <p:nvPr/>
        </p:nvSpPr>
        <p:spPr>
          <a:xfrm>
            <a:off x="11932920" y="707745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1 tm</a:t>
            </a:r>
          </a:p>
        </p:txBody>
      </p:sp>
      <p:sp>
        <p:nvSpPr>
          <p:cNvPr id="163" name="MUX 핀"/>
          <p:cNvSpPr txBox="1"/>
          <p:nvPr/>
        </p:nvSpPr>
        <p:spPr>
          <a:xfrm>
            <a:off x="11932920" y="722376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2 wt</a:t>
            </a:r>
          </a:p>
        </p:txBody>
      </p:sp>
      <p:sp>
        <p:nvSpPr>
          <p:cNvPr id="164" name="MUX 핀"/>
          <p:cNvSpPr txBox="1"/>
          <p:nvPr/>
        </p:nvSpPr>
        <p:spPr>
          <a:xfrm>
            <a:off x="11932920" y="742492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3 거리·상태</a:t>
            </a:r>
          </a:p>
        </p:txBody>
      </p:sp>
      <p:sp>
        <p:nvSpPr>
          <p:cNvPr id="165" name="MUX 핀"/>
          <p:cNvSpPr txBox="1"/>
          <p:nvPr/>
        </p:nvSpPr>
        <p:spPr>
          <a:xfrm>
            <a:off x="11932920" y="762609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4 온습도·상태</a:t>
            </a:r>
          </a:p>
        </p:txBody>
      </p:sp>
      <p:cxnSp>
        <p:nvCxnSpPr>
          <p:cNvPr id="167" name="선"/>
          <p:cNvCxnSpPr/>
          <p:nvPr/>
        </p:nvCxnSpPr>
        <p:spPr>
          <a:xfrm>
            <a:off x="12755880" y="7498079"/>
            <a:ext cx="45720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선"/>
          <p:cNvCxnSpPr/>
          <p:nvPr/>
        </p:nvCxnSpPr>
        <p:spPr>
          <a:xfrm>
            <a:off x="8869680" y="8046720"/>
            <a:ext cx="0" cy="201168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선"/>
          <p:cNvCxnSpPr/>
          <p:nvPr/>
        </p:nvCxnSpPr>
        <p:spPr>
          <a:xfrm>
            <a:off x="8869680" y="8247888"/>
            <a:ext cx="5001768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선"/>
          <p:cNvCxnSpPr/>
          <p:nvPr/>
        </p:nvCxnSpPr>
        <p:spPr>
          <a:xfrm flipV="1">
            <a:off x="13871448" y="7909560"/>
            <a:ext cx="0" cy="338328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라벨"/>
          <p:cNvSpPr txBox="1"/>
          <p:nvPr/>
        </p:nvSpPr>
        <p:spPr>
          <a:xfrm>
            <a:off x="9509760" y="8010144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send_sel</a:t>
            </a:r>
          </a:p>
        </p:txBody>
      </p:sp>
      <p:cxnSp>
        <p:nvCxnSpPr>
          <p:cNvPr id="172" name="선"/>
          <p:cNvCxnSpPr/>
          <p:nvPr/>
        </p:nvCxnSpPr>
        <p:spPr>
          <a:xfrm flipV="1">
            <a:off x="12481560" y="8071264"/>
            <a:ext cx="0" cy="176624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접점"/>
          <p:cNvSpPr/>
          <p:nvPr/>
        </p:nvSpPr>
        <p:spPr>
          <a:xfrm>
            <a:off x="12440412" y="820674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블록 uart_sender"/>
          <p:cNvSpPr/>
          <p:nvPr/>
        </p:nvSpPr>
        <p:spPr>
          <a:xfrm>
            <a:off x="13213080" y="7086600"/>
            <a:ext cx="1325880" cy="822960"/>
          </a:xfrm>
          <a:prstGeom prst="roundRect">
            <a:avLst>
              <a:gd name="adj" fmla="val 8888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uart_sender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숫자 → ASCII 한 줄</a:t>
            </a:r>
          </a:p>
        </p:txBody>
      </p:sp>
      <p:cxnSp>
        <p:nvCxnSpPr>
          <p:cNvPr id="175" name="선"/>
          <p:cNvCxnSpPr/>
          <p:nvPr/>
        </p:nvCxnSpPr>
        <p:spPr>
          <a:xfrm>
            <a:off x="14538960" y="7498079"/>
            <a:ext cx="228599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블록 fifo"/>
          <p:cNvSpPr/>
          <p:nvPr/>
        </p:nvSpPr>
        <p:spPr>
          <a:xfrm>
            <a:off x="14767559" y="7214616"/>
            <a:ext cx="822960" cy="566928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TX × 64</a:t>
            </a:r>
          </a:p>
        </p:txBody>
      </p:sp>
      <p:cxnSp>
        <p:nvCxnSpPr>
          <p:cNvPr id="177" name="선"/>
          <p:cNvCxnSpPr/>
          <p:nvPr/>
        </p:nvCxnSpPr>
        <p:spPr>
          <a:xfrm>
            <a:off x="15590520" y="7498079"/>
            <a:ext cx="22860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8" name="블록 uart_tx"/>
          <p:cNvSpPr/>
          <p:nvPr/>
        </p:nvSpPr>
        <p:spPr>
          <a:xfrm>
            <a:off x="15819120" y="7214616"/>
            <a:ext cx="868680" cy="566928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uart_tx</a:t>
            </a:r>
          </a:p>
        </p:txBody>
      </p:sp>
      <p:cxnSp>
        <p:nvCxnSpPr>
          <p:cNvPr id="179" name="선"/>
          <p:cNvCxnSpPr/>
          <p:nvPr/>
        </p:nvCxnSpPr>
        <p:spPr>
          <a:xfrm>
            <a:off x="16687800" y="7498079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0" name="태그 tx"/>
          <p:cNvSpPr/>
          <p:nvPr/>
        </p:nvSpPr>
        <p:spPr>
          <a:xfrm>
            <a:off x="16870680" y="7351775"/>
            <a:ext cx="822960" cy="292608"/>
          </a:xfrm>
          <a:prstGeom prst="homePlate">
            <a:avLst>
              <a:gd name="adj" fmla="val 24888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tx</a:t>
            </a:r>
          </a:p>
        </p:txBody>
      </p:sp>
      <p:sp>
        <p:nvSpPr>
          <p:cNvPr id="181" name="단계 1"/>
          <p:cNvSpPr/>
          <p:nvPr/>
        </p:nvSpPr>
        <p:spPr>
          <a:xfrm>
            <a:off x="6089904" y="6473952"/>
            <a:ext cx="347472" cy="347472"/>
          </a:xfrm>
          <a:prstGeom prst="ellipse">
            <a:avLst/>
          </a:prstGeom>
          <a:solidFill>
            <a:srgbClr val="2B6CB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82" name="단계 2"/>
          <p:cNvSpPr/>
          <p:nvPr/>
        </p:nvSpPr>
        <p:spPr>
          <a:xfrm>
            <a:off x="7589520" y="5596128"/>
            <a:ext cx="347472" cy="347472"/>
          </a:xfrm>
          <a:prstGeom prst="ellipse">
            <a:avLst/>
          </a:prstGeom>
          <a:solidFill>
            <a:srgbClr val="2B6CB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83" name="단계 3"/>
          <p:cNvSpPr/>
          <p:nvPr/>
        </p:nvSpPr>
        <p:spPr>
          <a:xfrm>
            <a:off x="3703320" y="2697480"/>
            <a:ext cx="347472" cy="347472"/>
          </a:xfrm>
          <a:prstGeom prst="ellipse">
            <a:avLst/>
          </a:prstGeom>
          <a:solidFill>
            <a:srgbClr val="2B6CB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4" name="단계 4"/>
          <p:cNvSpPr/>
          <p:nvPr/>
        </p:nvSpPr>
        <p:spPr>
          <a:xfrm>
            <a:off x="4983480" y="3593592"/>
            <a:ext cx="347472" cy="347472"/>
          </a:xfrm>
          <a:prstGeom prst="ellipse">
            <a:avLst/>
          </a:prstGeom>
          <a:solidFill>
            <a:srgbClr val="2B6CB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85" name="단계 5"/>
          <p:cNvSpPr/>
          <p:nvPr/>
        </p:nvSpPr>
        <p:spPr>
          <a:xfrm>
            <a:off x="8321040" y="3840480"/>
            <a:ext cx="347472" cy="347472"/>
          </a:xfrm>
          <a:prstGeom prst="ellipse">
            <a:avLst/>
          </a:prstGeom>
          <a:solidFill>
            <a:srgbClr val="2B6CB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86" name="단계 6"/>
          <p:cNvSpPr/>
          <p:nvPr/>
        </p:nvSpPr>
        <p:spPr>
          <a:xfrm>
            <a:off x="12984480" y="2377440"/>
            <a:ext cx="347472" cy="347472"/>
          </a:xfrm>
          <a:prstGeom prst="ellipse">
            <a:avLst/>
          </a:prstGeom>
          <a:solidFill>
            <a:srgbClr val="2B6CB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87" name="단계표 1"/>
          <p:cNvSpPr/>
          <p:nvPr/>
        </p:nvSpPr>
        <p:spPr>
          <a:xfrm>
            <a:off x="841248" y="8613648"/>
            <a:ext cx="329184" cy="32918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88" name="라벨"/>
          <p:cNvSpPr txBox="1"/>
          <p:nvPr/>
        </p:nvSpPr>
        <p:spPr>
          <a:xfrm>
            <a:off x="1252728" y="86045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디코더 : "/btn R" 또는 "/btn U"</a:t>
            </a:r>
          </a:p>
        </p:txBody>
      </p:sp>
      <p:sp>
        <p:nvSpPr>
          <p:cNvPr id="189" name="단계표 2"/>
          <p:cNvSpPr/>
          <p:nvPr/>
        </p:nvSpPr>
        <p:spPr>
          <a:xfrm>
            <a:off x="6419088" y="8613648"/>
            <a:ext cx="329184" cy="32918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90" name="라벨"/>
          <p:cNvSpPr txBox="1"/>
          <p:nvPr/>
        </p:nvSpPr>
        <p:spPr>
          <a:xfrm>
            <a:off x="6830568" y="86045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컨트롤러 : uart_btn 1 clk 펄스 (물리 버튼 clk 엔 대기)</a:t>
            </a:r>
          </a:p>
        </p:txBody>
      </p:sp>
      <p:sp>
        <p:nvSpPr>
          <p:cNvPr id="191" name="단계표 3"/>
          <p:cNvSpPr/>
          <p:nvPr/>
        </p:nvSpPr>
        <p:spPr>
          <a:xfrm>
            <a:off x="11996928" y="8613648"/>
            <a:ext cx="329184" cy="32918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92" name="라벨"/>
          <p:cNvSpPr txBox="1"/>
          <p:nvPr/>
        </p:nvSpPr>
        <p:spPr>
          <a:xfrm>
            <a:off x="12408407" y="86045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OR : 물리 btn | uart_btn → 같은 버튼 tick</a:t>
            </a:r>
          </a:p>
        </p:txBody>
      </p:sp>
      <p:sp>
        <p:nvSpPr>
          <p:cNvPr id="193" name="단계표 4"/>
          <p:cNvSpPr/>
          <p:nvPr/>
        </p:nvSpPr>
        <p:spPr>
          <a:xfrm>
            <a:off x="841248" y="9070848"/>
            <a:ext cx="329184" cy="32918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4" name="라벨"/>
          <p:cNvSpPr txBox="1"/>
          <p:nvPr/>
        </p:nvSpPr>
        <p:spPr>
          <a:xfrm>
            <a:off x="1252728" y="90617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AND : mode_dist = 1 → SR04 만 통과</a:t>
            </a:r>
          </a:p>
        </p:txBody>
      </p:sp>
      <p:sp>
        <p:nvSpPr>
          <p:cNvPr id="195" name="단계표 5"/>
          <p:cNvSpPr/>
          <p:nvPr/>
        </p:nvSpPr>
        <p:spPr>
          <a:xfrm>
            <a:off x="6419088" y="9070848"/>
            <a:ext cx="329184" cy="32918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96" name="라벨"/>
          <p:cNvSpPr txBox="1"/>
          <p:nvPr/>
        </p:nvSpPr>
        <p:spPr>
          <a:xfrm>
            <a:off x="6830568" y="90617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sr04_top : R 1 회 측정 · U 자동 측정 (60 ms) 켜기/끄기</a:t>
            </a:r>
          </a:p>
        </p:txBody>
      </p:sp>
      <p:sp>
        <p:nvSpPr>
          <p:cNvPr id="197" name="단계표 6"/>
          <p:cNvSpPr/>
          <p:nvPr/>
        </p:nvSpPr>
        <p:spPr>
          <a:xfrm>
            <a:off x="11996928" y="9070848"/>
            <a:ext cx="329184" cy="32918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98" name="라벨"/>
          <p:cNvSpPr txBox="1"/>
          <p:nvPr/>
        </p:nvSpPr>
        <p:spPr>
          <a:xfrm>
            <a:off x="12408407" y="90617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FND MUX 1 번 → "352.7" / Err1~3 · LED 거리 막대</a:t>
            </a:r>
          </a:p>
        </p:txBody>
      </p:sp>
      <p:sp>
        <p:nvSpPr>
          <p:cNvPr id="199" name="라벨 v2"/>
          <p:cNvSpPr txBox="1"/>
          <p:nvPr/>
        </p:nvSpPr>
        <p:spPr>
          <a:xfrm>
            <a:off x="841248" y="9582912"/>
            <a:ext cx="1536192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1E8E3E"/>
                </a:solidFill>
                <a:latin typeface="Malgun Gothic"/>
                <a:ea typeface="Malgun Gothic"/>
                <a:cs typeface="Malgun Gothic"/>
              </a:rPr>
              <a:t>v2</a:t>
            </a:r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  이 흐름은 v1 과 같음 · 바뀐 곳은 전송 MUX 입력 3 · 4 (거리·상태 · 온습도·상태) 뿐  →  /get · /auto (v2) 장 참고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라벨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WTS · SR04 · DHT11 · UART</a:t>
            </a:r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라벨"/>
          <p:cNvSpPr txBox="1"/>
          <p:nvPr/>
        </p:nvSpPr>
        <p:spPr>
          <a:xfrm>
            <a:off x="1042415" y="402336"/>
            <a:ext cx="91440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02  시스템 구조 · 명령별 흐름</a:t>
            </a:r>
          </a:p>
        </p:txBody>
      </p:sp>
      <p:sp>
        <p:nvSpPr>
          <p:cNvPr id="5" name="라벨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/btn 흐름 ③ 온습도 화면 — /btn R 측정 · /btn U 자동</a:t>
            </a:r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7" name="라벨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/mod temp 상태에서 R · U 만 DHT11 로 · 단선 dht11_io 로 40 비트 수신 → 습도.온도 표시</a:t>
            </a:r>
          </a:p>
        </p:txBody>
      </p:sp>
      <p:sp>
        <p:nvSpPr>
          <p:cNvPr id="8" name="라벨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9" name="줄 WTS  스톱워치 · 시계 · 타이머"/>
          <p:cNvSpPr/>
          <p:nvPr/>
        </p:nvSpPr>
        <p:spPr>
          <a:xfrm>
            <a:off x="5806440" y="2487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A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라벨"/>
          <p:cNvSpPr txBox="1"/>
          <p:nvPr/>
        </p:nvSpPr>
        <p:spPr>
          <a:xfrm>
            <a:off x="5916168" y="2514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WTS  스톱워치 · 시계 · 타이머</a:t>
            </a:r>
          </a:p>
        </p:txBody>
      </p:sp>
      <p:sp>
        <p:nvSpPr>
          <p:cNvPr id="11" name="라벨"/>
          <p:cNvSpPr txBox="1"/>
          <p:nvPr/>
        </p:nvSpPr>
        <p:spPr>
          <a:xfrm>
            <a:off x="6245351" y="2514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버튼 차단 (mode = 0) · 진행 중 동작은 계속</a:t>
            </a:r>
          </a:p>
        </p:txBody>
      </p:sp>
      <p:sp>
        <p:nvSpPr>
          <p:cNvPr id="12" name="줄 SR04  초음파 거리"/>
          <p:cNvSpPr/>
          <p:nvPr/>
        </p:nvSpPr>
        <p:spPr>
          <a:xfrm>
            <a:off x="5806440" y="3630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A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라벨"/>
          <p:cNvSpPr txBox="1"/>
          <p:nvPr/>
        </p:nvSpPr>
        <p:spPr>
          <a:xfrm>
            <a:off x="5916168" y="3657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SR04  초음파 거리</a:t>
            </a:r>
          </a:p>
        </p:txBody>
      </p:sp>
      <p:sp>
        <p:nvSpPr>
          <p:cNvPr id="14" name="라벨"/>
          <p:cNvSpPr txBox="1"/>
          <p:nvPr/>
        </p:nvSpPr>
        <p:spPr>
          <a:xfrm>
            <a:off x="6245351" y="3657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버튼 차단 (mode = 0) · 진행 중 동작은 계속</a:t>
            </a:r>
          </a:p>
        </p:txBody>
      </p:sp>
      <p:sp>
        <p:nvSpPr>
          <p:cNvPr id="15" name="줄 DHT11  온습도"/>
          <p:cNvSpPr/>
          <p:nvPr/>
        </p:nvSpPr>
        <p:spPr>
          <a:xfrm>
            <a:off x="5806440" y="4773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라벨"/>
          <p:cNvSpPr txBox="1"/>
          <p:nvPr/>
        </p:nvSpPr>
        <p:spPr>
          <a:xfrm>
            <a:off x="5916168" y="4800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DHT11  온습도</a:t>
            </a:r>
          </a:p>
        </p:txBody>
      </p:sp>
      <p:sp>
        <p:nvSpPr>
          <p:cNvPr id="17" name="줄 UART  명령 수신 · 응답 전송  (uart_top)"/>
          <p:cNvSpPr/>
          <p:nvPr/>
        </p:nvSpPr>
        <p:spPr>
          <a:xfrm>
            <a:off x="1600200" y="6355080"/>
            <a:ext cx="15133320" cy="2011680"/>
          </a:xfrm>
          <a:prstGeom prst="roundRect">
            <a:avLst>
              <a:gd name="adj" fmla="val 3636"/>
            </a:avLst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라벨"/>
          <p:cNvSpPr txBox="1"/>
          <p:nvPr/>
        </p:nvSpPr>
        <p:spPr>
          <a:xfrm>
            <a:off x="1709928" y="6382512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UART  명령 수신 · 응답 전송  (uart_top)</a:t>
            </a:r>
          </a:p>
        </p:txBody>
      </p:sp>
      <p:sp>
        <p:nvSpPr>
          <p:cNvPr id="19" name="라벨"/>
          <p:cNvSpPr txBox="1"/>
          <p:nvPr/>
        </p:nvSpPr>
        <p:spPr>
          <a:xfrm>
            <a:off x="11137392" y="6382512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9600 bps · 8N1</a:t>
            </a:r>
          </a:p>
        </p:txBody>
      </p:sp>
      <p:sp>
        <p:nvSpPr>
          <p:cNvPr id="20" name="태그 clk"/>
          <p:cNvSpPr/>
          <p:nvPr/>
        </p:nvSpPr>
        <p:spPr>
          <a:xfrm>
            <a:off x="411480" y="21031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clk</a:t>
            </a:r>
          </a:p>
        </p:txBody>
      </p:sp>
      <p:cxnSp>
        <p:nvCxnSpPr>
          <p:cNvPr id="21" name="선"/>
          <p:cNvCxnSpPr/>
          <p:nvPr/>
        </p:nvCxnSpPr>
        <p:spPr>
          <a:xfrm>
            <a:off x="1417320" y="2249424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블록 clock_tick_generator"/>
          <p:cNvSpPr/>
          <p:nvPr/>
        </p:nvSpPr>
        <p:spPr>
          <a:xfrm>
            <a:off x="1737360" y="2057400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clock_tick_generator</a:t>
            </a:r>
          </a:p>
        </p:txBody>
      </p:sp>
      <p:cxnSp>
        <p:nvCxnSpPr>
          <p:cNvPr id="23" name="선"/>
          <p:cNvCxnSpPr/>
          <p:nvPr/>
        </p:nvCxnSpPr>
        <p:spPr>
          <a:xfrm>
            <a:off x="3429000" y="2249424"/>
            <a:ext cx="11567159" cy="0"/>
          </a:xfrm>
          <a:prstGeom prst="line">
            <a:avLst/>
          </a:prstGeom>
          <a:ln w="19050">
            <a:solidFill>
              <a:srgbClr val="4A556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선"/>
          <p:cNvCxnSpPr/>
          <p:nvPr/>
        </p:nvCxnSpPr>
        <p:spPr>
          <a:xfrm>
            <a:off x="14996159" y="2249424"/>
            <a:ext cx="0" cy="356616"/>
          </a:xfrm>
          <a:prstGeom prst="line">
            <a:avLst/>
          </a:prstGeom>
          <a:ln w="19050">
            <a:solidFill>
              <a:srgbClr val="4A556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라벨"/>
          <p:cNvSpPr txBox="1"/>
          <p:nvPr/>
        </p:nvSpPr>
        <p:spPr>
          <a:xfrm>
            <a:off x="3840480" y="2011680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4 kHz  →  디바운서 · FND 스캔</a:t>
            </a:r>
          </a:p>
        </p:txBody>
      </p:sp>
      <p:cxnSp>
        <p:nvCxnSpPr>
          <p:cNvPr id="26" name="선"/>
          <p:cNvCxnSpPr/>
          <p:nvPr/>
        </p:nvCxnSpPr>
        <p:spPr>
          <a:xfrm>
            <a:off x="2194560" y="2441448"/>
            <a:ext cx="0" cy="118872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태그 btn_R"/>
          <p:cNvSpPr/>
          <p:nvPr/>
        </p:nvSpPr>
        <p:spPr>
          <a:xfrm>
            <a:off x="411480" y="263347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btn_R</a:t>
            </a:r>
          </a:p>
        </p:txBody>
      </p:sp>
      <p:cxnSp>
        <p:nvCxnSpPr>
          <p:cNvPr id="28" name="선"/>
          <p:cNvCxnSpPr/>
          <p:nvPr/>
        </p:nvCxnSpPr>
        <p:spPr>
          <a:xfrm>
            <a:off x="1417320" y="277977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태그 btn_L"/>
          <p:cNvSpPr/>
          <p:nvPr/>
        </p:nvSpPr>
        <p:spPr>
          <a:xfrm>
            <a:off x="411480" y="299923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btn_L</a:t>
            </a:r>
          </a:p>
        </p:txBody>
      </p:sp>
      <p:cxnSp>
        <p:nvCxnSpPr>
          <p:cNvPr id="30" name="선"/>
          <p:cNvCxnSpPr/>
          <p:nvPr/>
        </p:nvCxnSpPr>
        <p:spPr>
          <a:xfrm>
            <a:off x="1417320" y="314553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태그 btn_U"/>
          <p:cNvSpPr/>
          <p:nvPr/>
        </p:nvSpPr>
        <p:spPr>
          <a:xfrm>
            <a:off x="411480" y="3364991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btn_U</a:t>
            </a:r>
          </a:p>
        </p:txBody>
      </p:sp>
      <p:cxnSp>
        <p:nvCxnSpPr>
          <p:cNvPr id="32" name="선"/>
          <p:cNvCxnSpPr/>
          <p:nvPr/>
        </p:nvCxnSpPr>
        <p:spPr>
          <a:xfrm>
            <a:off x="1417320" y="351129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태그 btn_D"/>
          <p:cNvSpPr/>
          <p:nvPr/>
        </p:nvSpPr>
        <p:spPr>
          <a:xfrm>
            <a:off x="411480" y="373075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btn_D</a:t>
            </a:r>
          </a:p>
        </p:txBody>
      </p:sp>
      <p:cxnSp>
        <p:nvCxnSpPr>
          <p:cNvPr id="34" name="선"/>
          <p:cNvCxnSpPr/>
          <p:nvPr/>
        </p:nvCxnSpPr>
        <p:spPr>
          <a:xfrm>
            <a:off x="1417320" y="387705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블록 btn_debounce&#10;×4"/>
          <p:cNvSpPr/>
          <p:nvPr/>
        </p:nvSpPr>
        <p:spPr>
          <a:xfrm>
            <a:off x="1737360" y="2560320"/>
            <a:ext cx="1371600" cy="1481328"/>
          </a:xfrm>
          <a:prstGeom prst="roundRect">
            <a:avLst>
              <a:gd name="adj" fmla="val 5333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btn_debounce</a:t>
            </a:r>
          </a:p>
          <a:p>
            <a:pPr algn="ctr"/>
            <a:r>
              <a:rPr sz="12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×4</a:t>
            </a:r>
          </a:p>
        </p:txBody>
      </p:sp>
      <p:cxnSp>
        <p:nvCxnSpPr>
          <p:cNvPr id="36" name="선"/>
          <p:cNvCxnSpPr/>
          <p:nvPr/>
        </p:nvCxnSpPr>
        <p:spPr>
          <a:xfrm>
            <a:off x="3108960" y="3163824"/>
            <a:ext cx="868679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라벨"/>
          <p:cNvSpPr txBox="1"/>
          <p:nvPr/>
        </p:nvSpPr>
        <p:spPr>
          <a:xfrm>
            <a:off x="3182112" y="2907792"/>
            <a:ext cx="8229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phy_btn</a:t>
            </a:r>
          </a:p>
        </p:txBody>
      </p:sp>
      <p:sp>
        <p:nvSpPr>
          <p:cNvPr id="38" name="게이트"/>
          <p:cNvSpPr/>
          <p:nvPr/>
        </p:nvSpPr>
        <p:spPr>
          <a:xfrm>
            <a:off x="3977639" y="3026664"/>
            <a:ext cx="548640" cy="548640"/>
          </a:xfrm>
          <a:prstGeom prst="flowChartDelay">
            <a:avLst/>
          </a:prstGeom>
          <a:solidFill>
            <a:srgbClr val="C05621"/>
          </a:solidFill>
          <a:ln w="22225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≥1</a:t>
            </a:r>
          </a:p>
        </p:txBody>
      </p:sp>
      <p:cxnSp>
        <p:nvCxnSpPr>
          <p:cNvPr id="39" name="선"/>
          <p:cNvCxnSpPr/>
          <p:nvPr/>
        </p:nvCxnSpPr>
        <p:spPr>
          <a:xfrm>
            <a:off x="4526280" y="3300984"/>
            <a:ext cx="182880" cy="0"/>
          </a:xfrm>
          <a:prstGeom prst="line">
            <a:avLst/>
          </a:prstGeom>
          <a:ln w="31750">
            <a:solidFill>
              <a:srgbClr val="C056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선"/>
          <p:cNvCxnSpPr/>
          <p:nvPr/>
        </p:nvCxnSpPr>
        <p:spPr>
          <a:xfrm>
            <a:off x="4709160" y="2967228"/>
            <a:ext cx="0" cy="2285999"/>
          </a:xfrm>
          <a:prstGeom prst="line">
            <a:avLst/>
          </a:prstGeom>
          <a:ln w="31750">
            <a:solidFill>
              <a:srgbClr val="C056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접점"/>
          <p:cNvSpPr/>
          <p:nvPr/>
        </p:nvSpPr>
        <p:spPr>
          <a:xfrm>
            <a:off x="4668012" y="3259836"/>
            <a:ext cx="82296" cy="82296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선"/>
          <p:cNvCxnSpPr/>
          <p:nvPr/>
        </p:nvCxnSpPr>
        <p:spPr>
          <a:xfrm>
            <a:off x="3611880" y="4965192"/>
            <a:ext cx="1280160" cy="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선"/>
          <p:cNvCxnSpPr/>
          <p:nvPr/>
        </p:nvCxnSpPr>
        <p:spPr>
          <a:xfrm>
            <a:off x="4892040" y="3241548"/>
            <a:ext cx="0" cy="228600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접점"/>
          <p:cNvSpPr/>
          <p:nvPr/>
        </p:nvSpPr>
        <p:spPr>
          <a:xfrm>
            <a:off x="4850892" y="4924044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" name="선"/>
          <p:cNvCxnSpPr/>
          <p:nvPr/>
        </p:nvCxnSpPr>
        <p:spPr>
          <a:xfrm>
            <a:off x="4709160" y="2967228"/>
            <a:ext cx="36576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선"/>
          <p:cNvCxnSpPr/>
          <p:nvPr/>
        </p:nvCxnSpPr>
        <p:spPr>
          <a:xfrm>
            <a:off x="4892040" y="3241548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접점"/>
          <p:cNvSpPr/>
          <p:nvPr/>
        </p:nvSpPr>
        <p:spPr>
          <a:xfrm>
            <a:off x="4850892" y="3200400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게이트"/>
          <p:cNvSpPr/>
          <p:nvPr/>
        </p:nvSpPr>
        <p:spPr>
          <a:xfrm>
            <a:off x="5074920" y="2830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49" name="라벨"/>
          <p:cNvSpPr txBox="1"/>
          <p:nvPr/>
        </p:nvSpPr>
        <p:spPr>
          <a:xfrm>
            <a:off x="5029200" y="33878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mode_wts</a:t>
            </a:r>
          </a:p>
        </p:txBody>
      </p:sp>
      <p:cxnSp>
        <p:nvCxnSpPr>
          <p:cNvPr id="50" name="선"/>
          <p:cNvCxnSpPr/>
          <p:nvPr/>
        </p:nvCxnSpPr>
        <p:spPr>
          <a:xfrm>
            <a:off x="5623560" y="3104388"/>
            <a:ext cx="7315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라벨"/>
          <p:cNvSpPr txBox="1"/>
          <p:nvPr/>
        </p:nvSpPr>
        <p:spPr>
          <a:xfrm>
            <a:off x="5669280" y="2839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R·L·U·D</a:t>
            </a:r>
          </a:p>
        </p:txBody>
      </p:sp>
      <p:cxnSp>
        <p:nvCxnSpPr>
          <p:cNvPr id="52" name="선"/>
          <p:cNvCxnSpPr/>
          <p:nvPr/>
        </p:nvCxnSpPr>
        <p:spPr>
          <a:xfrm>
            <a:off x="4709160" y="4110228"/>
            <a:ext cx="36576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접점"/>
          <p:cNvSpPr/>
          <p:nvPr/>
        </p:nvSpPr>
        <p:spPr>
          <a:xfrm>
            <a:off x="4668012" y="4069080"/>
            <a:ext cx="82296" cy="82296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4" name="선"/>
          <p:cNvCxnSpPr/>
          <p:nvPr/>
        </p:nvCxnSpPr>
        <p:spPr>
          <a:xfrm>
            <a:off x="4892040" y="4384548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접점"/>
          <p:cNvSpPr/>
          <p:nvPr/>
        </p:nvSpPr>
        <p:spPr>
          <a:xfrm>
            <a:off x="4850892" y="4343400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게이트"/>
          <p:cNvSpPr/>
          <p:nvPr/>
        </p:nvSpPr>
        <p:spPr>
          <a:xfrm>
            <a:off x="5074920" y="3973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57" name="라벨"/>
          <p:cNvSpPr txBox="1"/>
          <p:nvPr/>
        </p:nvSpPr>
        <p:spPr>
          <a:xfrm>
            <a:off x="5029200" y="45308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mode_dist</a:t>
            </a:r>
          </a:p>
        </p:txBody>
      </p:sp>
      <p:cxnSp>
        <p:nvCxnSpPr>
          <p:cNvPr id="58" name="선"/>
          <p:cNvCxnSpPr/>
          <p:nvPr/>
        </p:nvCxnSpPr>
        <p:spPr>
          <a:xfrm>
            <a:off x="5623560" y="4247388"/>
            <a:ext cx="7315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라벨"/>
          <p:cNvSpPr txBox="1"/>
          <p:nvPr/>
        </p:nvSpPr>
        <p:spPr>
          <a:xfrm>
            <a:off x="5669280" y="3982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cxnSp>
        <p:nvCxnSpPr>
          <p:cNvPr id="60" name="선"/>
          <p:cNvCxnSpPr/>
          <p:nvPr/>
        </p:nvCxnSpPr>
        <p:spPr>
          <a:xfrm>
            <a:off x="4709160" y="5253227"/>
            <a:ext cx="365760" cy="0"/>
          </a:xfrm>
          <a:prstGeom prst="line">
            <a:avLst/>
          </a:prstGeom>
          <a:ln w="31750">
            <a:solidFill>
              <a:srgbClr val="C056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접점"/>
          <p:cNvSpPr/>
          <p:nvPr/>
        </p:nvSpPr>
        <p:spPr>
          <a:xfrm>
            <a:off x="4668012" y="5212079"/>
            <a:ext cx="82296" cy="82296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2" name="선"/>
          <p:cNvCxnSpPr/>
          <p:nvPr/>
        </p:nvCxnSpPr>
        <p:spPr>
          <a:xfrm>
            <a:off x="4892040" y="5527548"/>
            <a:ext cx="182880" cy="0"/>
          </a:xfrm>
          <a:prstGeom prst="line">
            <a:avLst/>
          </a:prstGeom>
          <a:ln w="31750">
            <a:solidFill>
              <a:srgbClr val="C056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게이트"/>
          <p:cNvSpPr/>
          <p:nvPr/>
        </p:nvSpPr>
        <p:spPr>
          <a:xfrm>
            <a:off x="5074920" y="5116068"/>
            <a:ext cx="548640" cy="548640"/>
          </a:xfrm>
          <a:prstGeom prst="flowChartDelay">
            <a:avLst/>
          </a:prstGeom>
          <a:solidFill>
            <a:srgbClr val="C05621"/>
          </a:solidFill>
          <a:ln w="22225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64" name="라벨"/>
          <p:cNvSpPr txBox="1"/>
          <p:nvPr/>
        </p:nvSpPr>
        <p:spPr>
          <a:xfrm>
            <a:off x="5029200" y="5673851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mode_dht</a:t>
            </a:r>
          </a:p>
        </p:txBody>
      </p:sp>
      <p:cxnSp>
        <p:nvCxnSpPr>
          <p:cNvPr id="65" name="선"/>
          <p:cNvCxnSpPr/>
          <p:nvPr/>
        </p:nvCxnSpPr>
        <p:spPr>
          <a:xfrm>
            <a:off x="5623560" y="5390388"/>
            <a:ext cx="731520" cy="0"/>
          </a:xfrm>
          <a:prstGeom prst="line">
            <a:avLst/>
          </a:prstGeom>
          <a:ln w="31750">
            <a:solidFill>
              <a:srgbClr val="C056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라벨"/>
          <p:cNvSpPr txBox="1"/>
          <p:nvPr/>
        </p:nvSpPr>
        <p:spPr>
          <a:xfrm>
            <a:off x="5669280" y="5125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sp>
        <p:nvSpPr>
          <p:cNvPr id="67" name="모드 선택 칸"/>
          <p:cNvSpPr/>
          <p:nvPr/>
        </p:nvSpPr>
        <p:spPr>
          <a:xfrm>
            <a:off x="1600200" y="4160520"/>
            <a:ext cx="2103120" cy="1481328"/>
          </a:xfrm>
          <a:prstGeom prst="roundRect">
            <a:avLst>
              <a:gd name="adj" fmla="val 4938"/>
            </a:avLst>
          </a:prstGeom>
          <a:solidFill>
            <a:srgbClr val="FBFBFC"/>
          </a:solidFill>
          <a:ln w="12700">
            <a:solidFill>
              <a:srgbClr val="C8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라벨"/>
          <p:cNvSpPr txBox="1"/>
          <p:nvPr/>
        </p:nvSpPr>
        <p:spPr>
          <a:xfrm>
            <a:off x="1664208" y="417880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모드 선택</a:t>
            </a:r>
          </a:p>
        </p:txBody>
      </p:sp>
      <p:sp>
        <p:nvSpPr>
          <p:cNvPr id="69" name="태그 sw0 ~ sw6"/>
          <p:cNvSpPr/>
          <p:nvPr/>
        </p:nvSpPr>
        <p:spPr>
          <a:xfrm>
            <a:off x="411480" y="4498848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sw0 ~ sw6</a:t>
            </a:r>
          </a:p>
        </p:txBody>
      </p:sp>
      <p:cxnSp>
        <p:nvCxnSpPr>
          <p:cNvPr id="70" name="선"/>
          <p:cNvCxnSpPr/>
          <p:nvPr/>
        </p:nvCxnSpPr>
        <p:spPr>
          <a:xfrm>
            <a:off x="1417320" y="4645152"/>
            <a:ext cx="5486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MUX 모드"/>
          <p:cNvSpPr/>
          <p:nvPr/>
        </p:nvSpPr>
        <p:spPr>
          <a:xfrm>
            <a:off x="1965960" y="4480560"/>
            <a:ext cx="457200" cy="987552"/>
          </a:xfrm>
          <a:custGeom>
            <a:avLst/>
            <a:gdLst/>
            <a:ahLst/>
            <a:cxnLst/>
            <a:rect l="l" t="t" r="r" b="b"/>
            <a:pathLst>
              <a:path w="457200" h="987552">
                <a:moveTo>
                  <a:pt x="0" y="0"/>
                </a:moveTo>
                <a:lnTo>
                  <a:pt x="457200" y="109728"/>
                </a:lnTo>
                <a:lnTo>
                  <a:pt x="457200" y="877824"/>
                </a:lnTo>
                <a:lnTo>
                  <a:pt x="0" y="987552"/>
                </a:lnTo>
                <a:lnTo>
                  <a:pt x="0" y="0"/>
                </a:lnTo>
                <a:close/>
              </a:path>
            </a:pathLst>
          </a:cu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라벨"/>
          <p:cNvSpPr txBox="1"/>
          <p:nvPr/>
        </p:nvSpPr>
        <p:spPr>
          <a:xfrm>
            <a:off x="2020824" y="4526280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73" name="라벨"/>
          <p:cNvSpPr txBox="1"/>
          <p:nvPr/>
        </p:nvSpPr>
        <p:spPr>
          <a:xfrm>
            <a:off x="2020824" y="5093208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74" name="라벨"/>
          <p:cNvSpPr txBox="1"/>
          <p:nvPr/>
        </p:nvSpPr>
        <p:spPr>
          <a:xfrm>
            <a:off x="2423160" y="418795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2:1 × 7 bit</a:t>
            </a:r>
          </a:p>
        </p:txBody>
      </p:sp>
      <p:cxnSp>
        <p:nvCxnSpPr>
          <p:cNvPr id="75" name="선"/>
          <p:cNvCxnSpPr/>
          <p:nvPr/>
        </p:nvCxnSpPr>
        <p:spPr>
          <a:xfrm>
            <a:off x="2423160" y="4965192"/>
            <a:ext cx="27432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블록 모드&#10;디코드"/>
          <p:cNvSpPr/>
          <p:nvPr/>
        </p:nvSpPr>
        <p:spPr>
          <a:xfrm>
            <a:off x="2697480" y="4663440"/>
            <a:ext cx="914400" cy="603504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모드</a:t>
            </a:r>
          </a:p>
          <a:p>
            <a:pPr algn="ctr"/>
            <a:r>
              <a:rPr sz="11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디코드</a:t>
            </a:r>
          </a:p>
        </p:txBody>
      </p:sp>
      <p:sp>
        <p:nvSpPr>
          <p:cNvPr id="77" name="라벨"/>
          <p:cNvSpPr txBox="1"/>
          <p:nvPr/>
        </p:nvSpPr>
        <p:spPr>
          <a:xfrm>
            <a:off x="2331720" y="5340096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→ mode_* · disp_sel</a:t>
            </a:r>
          </a:p>
        </p:txBody>
      </p:sp>
      <p:sp>
        <p:nvSpPr>
          <p:cNvPr id="78" name="블록 wts_top"/>
          <p:cNvSpPr/>
          <p:nvPr/>
        </p:nvSpPr>
        <p:spPr>
          <a:xfrm>
            <a:off x="6355080" y="2761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wts_top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control_unit · datapath × 3</a:t>
            </a:r>
          </a:p>
        </p:txBody>
      </p:sp>
      <p:cxnSp>
        <p:nvCxnSpPr>
          <p:cNvPr id="79" name="선"/>
          <p:cNvCxnSpPr/>
          <p:nvPr/>
        </p:nvCxnSpPr>
        <p:spPr>
          <a:xfrm>
            <a:off x="8549640" y="3104388"/>
            <a:ext cx="3611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라벨"/>
          <p:cNvSpPr txBox="1"/>
          <p:nvPr/>
        </p:nvSpPr>
        <p:spPr>
          <a:xfrm>
            <a:off x="8686800" y="2839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disp  시 · 분 · 초 · 1/100</a:t>
            </a:r>
          </a:p>
        </p:txBody>
      </p:sp>
      <p:sp>
        <p:nvSpPr>
          <p:cNvPr id="81" name="라벨"/>
          <p:cNvSpPr txBox="1"/>
          <p:nvPr/>
        </p:nvSpPr>
        <p:spPr>
          <a:xfrm>
            <a:off x="8686800" y="3150108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← ctrl_bit[4:0]  (sw0 · sw1 · sw2 · sw3 · sw4)</a:t>
            </a:r>
          </a:p>
        </p:txBody>
      </p:sp>
      <p:sp>
        <p:nvSpPr>
          <p:cNvPr id="82" name="블록 sr04_top"/>
          <p:cNvSpPr/>
          <p:nvPr/>
        </p:nvSpPr>
        <p:spPr>
          <a:xfrm>
            <a:off x="6355080" y="3904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sr04_top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core · mode_ctrl · led_bar</a:t>
            </a:r>
          </a:p>
        </p:txBody>
      </p:sp>
      <p:cxnSp>
        <p:nvCxnSpPr>
          <p:cNvPr id="83" name="선"/>
          <p:cNvCxnSpPr/>
          <p:nvPr/>
        </p:nvCxnSpPr>
        <p:spPr>
          <a:xfrm>
            <a:off x="8549640" y="4247388"/>
            <a:ext cx="3611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라벨"/>
          <p:cNvSpPr txBox="1"/>
          <p:nvPr/>
        </p:nvSpPr>
        <p:spPr>
          <a:xfrm>
            <a:off x="8686800" y="3982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distance_x10 · err · status</a:t>
            </a:r>
          </a:p>
        </p:txBody>
      </p:sp>
      <p:sp>
        <p:nvSpPr>
          <p:cNvPr id="85" name="라벨"/>
          <p:cNvSpPr txBox="1"/>
          <p:nvPr/>
        </p:nvSpPr>
        <p:spPr>
          <a:xfrm>
            <a:off x="8686800" y="4293108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trig → JA1 · echo ← JA2 · sw15 = 거리 막대 LED</a:t>
            </a:r>
          </a:p>
        </p:txBody>
      </p:sp>
      <p:sp>
        <p:nvSpPr>
          <p:cNvPr id="86" name="블록 dht11_top"/>
          <p:cNvSpPr/>
          <p:nvPr/>
        </p:nvSpPr>
        <p:spPr>
          <a:xfrm>
            <a:off x="6355080" y="5047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FFFFF"/>
          </a:solidFill>
          <a:ln w="28575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dht11_top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core · controller · manager</a:t>
            </a:r>
          </a:p>
        </p:txBody>
      </p:sp>
      <p:cxnSp>
        <p:nvCxnSpPr>
          <p:cNvPr id="87" name="선"/>
          <p:cNvCxnSpPr/>
          <p:nvPr/>
        </p:nvCxnSpPr>
        <p:spPr>
          <a:xfrm>
            <a:off x="8549640" y="5390388"/>
            <a:ext cx="3611880" cy="0"/>
          </a:xfrm>
          <a:prstGeom prst="line">
            <a:avLst/>
          </a:prstGeom>
          <a:ln w="31750">
            <a:solidFill>
              <a:srgbClr val="C056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라벨"/>
          <p:cNvSpPr txBox="1"/>
          <p:nvPr/>
        </p:nvSpPr>
        <p:spPr>
          <a:xfrm>
            <a:off x="8686800" y="5125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fnd_data · dashes · err</a:t>
            </a:r>
          </a:p>
        </p:txBody>
      </p:sp>
      <p:sp>
        <p:nvSpPr>
          <p:cNvPr id="89" name="라벨"/>
          <p:cNvSpPr txBox="1"/>
          <p:nvPr/>
        </p:nvSpPr>
        <p:spPr>
          <a:xfrm>
            <a:off x="8686800" y="5436107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dht11_io ↔ JXADC3 (M2)</a:t>
            </a:r>
          </a:p>
        </p:txBody>
      </p:sp>
      <p:sp>
        <p:nvSpPr>
          <p:cNvPr id="90" name="MUX FND"/>
          <p:cNvSpPr/>
          <p:nvPr/>
        </p:nvSpPr>
        <p:spPr>
          <a:xfrm>
            <a:off x="12161520" y="2606040"/>
            <a:ext cx="640080" cy="3108960"/>
          </a:xfrm>
          <a:custGeom>
            <a:avLst/>
            <a:gdLst/>
            <a:ahLst/>
            <a:cxnLst/>
            <a:rect l="l" t="t" r="r" b="b"/>
            <a:pathLst>
              <a:path w="640080" h="3108960">
                <a:moveTo>
                  <a:pt x="0" y="0"/>
                </a:moveTo>
                <a:lnTo>
                  <a:pt x="640080" y="228600"/>
                </a:lnTo>
                <a:lnTo>
                  <a:pt x="640080" y="2880360"/>
                </a:lnTo>
                <a:lnTo>
                  <a:pt x="0" y="3108960"/>
                </a:lnTo>
                <a:lnTo>
                  <a:pt x="0" y="0"/>
                </a:lnTo>
                <a:close/>
              </a:path>
            </a:pathLst>
          </a:custGeom>
          <a:solidFill>
            <a:srgbClr val="FDF0E6"/>
          </a:solidFill>
          <a:ln w="19050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라벨"/>
          <p:cNvSpPr txBox="1"/>
          <p:nvPr/>
        </p:nvSpPr>
        <p:spPr>
          <a:xfrm>
            <a:off x="12216384" y="298551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92" name="라벨"/>
          <p:cNvSpPr txBox="1"/>
          <p:nvPr/>
        </p:nvSpPr>
        <p:spPr>
          <a:xfrm>
            <a:off x="12216384" y="412851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3" name="라벨"/>
          <p:cNvSpPr txBox="1"/>
          <p:nvPr/>
        </p:nvSpPr>
        <p:spPr>
          <a:xfrm>
            <a:off x="12216384" y="527151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94" name="라벨"/>
          <p:cNvSpPr txBox="1"/>
          <p:nvPr/>
        </p:nvSpPr>
        <p:spPr>
          <a:xfrm>
            <a:off x="11978640" y="5742432"/>
            <a:ext cx="2011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FND MUX  3:1 × 25 bit</a:t>
            </a:r>
          </a:p>
        </p:txBody>
      </p:sp>
      <p:sp>
        <p:nvSpPr>
          <p:cNvPr id="95" name="라벨"/>
          <p:cNvSpPr txBox="1"/>
          <p:nvPr/>
        </p:nvSpPr>
        <p:spPr>
          <a:xfrm>
            <a:off x="11978640" y="5961888"/>
            <a:ext cx="2011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sel = disp_sel (2 bit)</a:t>
            </a:r>
          </a:p>
        </p:txBody>
      </p:sp>
      <p:cxnSp>
        <p:nvCxnSpPr>
          <p:cNvPr id="96" name="선"/>
          <p:cNvCxnSpPr/>
          <p:nvPr/>
        </p:nvCxnSpPr>
        <p:spPr>
          <a:xfrm>
            <a:off x="12801600" y="3017520"/>
            <a:ext cx="1280160" cy="0"/>
          </a:xfrm>
          <a:prstGeom prst="line">
            <a:avLst/>
          </a:prstGeom>
          <a:ln w="31750">
            <a:solidFill>
              <a:srgbClr val="C056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라벨"/>
          <p:cNvSpPr txBox="1"/>
          <p:nvPr/>
        </p:nvSpPr>
        <p:spPr>
          <a:xfrm>
            <a:off x="12874752" y="277063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fnd_data</a:t>
            </a:r>
          </a:p>
        </p:txBody>
      </p:sp>
      <p:sp>
        <p:nvSpPr>
          <p:cNvPr id="98" name="블록 FND&#10;컨트롤러"/>
          <p:cNvSpPr/>
          <p:nvPr/>
        </p:nvSpPr>
        <p:spPr>
          <a:xfrm>
            <a:off x="14081760" y="2606040"/>
            <a:ext cx="182880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28575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FND</a:t>
            </a:r>
          </a:p>
          <a:p>
            <a:pPr algn="ctr"/>
            <a:r>
              <a:rPr sz="14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컨트롤러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SW2_FND_CONTROLLER</a:t>
            </a:r>
          </a:p>
        </p:txBody>
      </p:sp>
      <p:sp>
        <p:nvSpPr>
          <p:cNvPr id="99" name="태그 disp_sel"/>
          <p:cNvSpPr/>
          <p:nvPr/>
        </p:nvSpPr>
        <p:spPr>
          <a:xfrm>
            <a:off x="13167360" y="325526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100" name="태그 wt_cursor"/>
          <p:cNvSpPr/>
          <p:nvPr/>
        </p:nvSpPr>
        <p:spPr>
          <a:xfrm>
            <a:off x="13167360" y="354787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wt_cursor</a:t>
            </a:r>
          </a:p>
        </p:txBody>
      </p:sp>
      <p:sp>
        <p:nvSpPr>
          <p:cNvPr id="101" name="태그 set_sw2"/>
          <p:cNvSpPr/>
          <p:nvPr/>
        </p:nvSpPr>
        <p:spPr>
          <a:xfrm>
            <a:off x="13167360" y="384048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set_sw2</a:t>
            </a:r>
          </a:p>
        </p:txBody>
      </p:sp>
      <p:cxnSp>
        <p:nvCxnSpPr>
          <p:cNvPr id="102" name="선"/>
          <p:cNvCxnSpPr/>
          <p:nvPr/>
        </p:nvCxnSpPr>
        <p:spPr>
          <a:xfrm>
            <a:off x="15910559" y="3054096"/>
            <a:ext cx="411481" cy="0"/>
          </a:xfrm>
          <a:prstGeom prst="line">
            <a:avLst/>
          </a:prstGeom>
          <a:ln w="31750">
            <a:solidFill>
              <a:srgbClr val="C056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태그 fnd_com"/>
          <p:cNvSpPr/>
          <p:nvPr/>
        </p:nvSpPr>
        <p:spPr>
          <a:xfrm>
            <a:off x="16322040" y="29077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fnd_com</a:t>
            </a:r>
          </a:p>
        </p:txBody>
      </p:sp>
      <p:cxnSp>
        <p:nvCxnSpPr>
          <p:cNvPr id="104" name="선"/>
          <p:cNvCxnSpPr/>
          <p:nvPr/>
        </p:nvCxnSpPr>
        <p:spPr>
          <a:xfrm>
            <a:off x="15910559" y="3739896"/>
            <a:ext cx="411481" cy="0"/>
          </a:xfrm>
          <a:prstGeom prst="line">
            <a:avLst/>
          </a:prstGeom>
          <a:ln w="31750">
            <a:solidFill>
              <a:srgbClr val="C056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태그 fnd_font"/>
          <p:cNvSpPr/>
          <p:nvPr/>
        </p:nvSpPr>
        <p:spPr>
          <a:xfrm>
            <a:off x="16322040" y="35935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fnd_font</a:t>
            </a:r>
          </a:p>
        </p:txBody>
      </p:sp>
      <p:sp>
        <p:nvSpPr>
          <p:cNvPr id="106" name="블록 LED 로직"/>
          <p:cNvSpPr/>
          <p:nvPr/>
        </p:nvSpPr>
        <p:spPr>
          <a:xfrm>
            <a:off x="14081760" y="4343400"/>
            <a:ext cx="1828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8575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 로직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led_output</a:t>
            </a:r>
          </a:p>
        </p:txBody>
      </p:sp>
      <p:sp>
        <p:nvSpPr>
          <p:cNvPr id="107" name="태그 disp_sel"/>
          <p:cNvSpPr/>
          <p:nvPr/>
        </p:nvSpPr>
        <p:spPr>
          <a:xfrm>
            <a:off x="13167360" y="4425696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108" name="태그 WTS 신호"/>
          <p:cNvSpPr/>
          <p:nvPr/>
        </p:nvSpPr>
        <p:spPr>
          <a:xfrm>
            <a:off x="13167360" y="471830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WTS 신호</a:t>
            </a:r>
          </a:p>
        </p:txBody>
      </p:sp>
      <p:sp>
        <p:nvSpPr>
          <p:cNvPr id="109" name="태그 sr04_led"/>
          <p:cNvSpPr/>
          <p:nvPr/>
        </p:nvSpPr>
        <p:spPr>
          <a:xfrm>
            <a:off x="13167360" y="501091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sr04_led</a:t>
            </a:r>
          </a:p>
        </p:txBody>
      </p:sp>
      <p:sp>
        <p:nvSpPr>
          <p:cNvPr id="110" name="태그 dht_led"/>
          <p:cNvSpPr/>
          <p:nvPr/>
        </p:nvSpPr>
        <p:spPr>
          <a:xfrm>
            <a:off x="13167360" y="530352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dht_led</a:t>
            </a:r>
          </a:p>
        </p:txBody>
      </p:sp>
      <p:cxnSp>
        <p:nvCxnSpPr>
          <p:cNvPr id="111" name="선"/>
          <p:cNvCxnSpPr/>
          <p:nvPr/>
        </p:nvCxnSpPr>
        <p:spPr>
          <a:xfrm>
            <a:off x="15910559" y="5029200"/>
            <a:ext cx="411481" cy="0"/>
          </a:xfrm>
          <a:prstGeom prst="line">
            <a:avLst/>
          </a:prstGeom>
          <a:ln w="31750">
            <a:solidFill>
              <a:srgbClr val="C056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태그 led[15:0]"/>
          <p:cNvSpPr/>
          <p:nvPr/>
        </p:nvSpPr>
        <p:spPr>
          <a:xfrm>
            <a:off x="16322040" y="4882896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led[15:0]</a:t>
            </a:r>
          </a:p>
        </p:txBody>
      </p:sp>
      <p:sp>
        <p:nvSpPr>
          <p:cNvPr id="113" name="태그 rx"/>
          <p:cNvSpPr/>
          <p:nvPr/>
        </p:nvSpPr>
        <p:spPr>
          <a:xfrm>
            <a:off x="411480" y="69037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rx</a:t>
            </a:r>
          </a:p>
        </p:txBody>
      </p:sp>
      <p:cxnSp>
        <p:nvCxnSpPr>
          <p:cNvPr id="114" name="선"/>
          <p:cNvCxnSpPr/>
          <p:nvPr/>
        </p:nvCxnSpPr>
        <p:spPr>
          <a:xfrm>
            <a:off x="1417320" y="7050024"/>
            <a:ext cx="365760" cy="0"/>
          </a:xfrm>
          <a:prstGeom prst="line">
            <a:avLst/>
          </a:prstGeom>
          <a:ln w="31750">
            <a:solidFill>
              <a:srgbClr val="C056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블록 uart_rx"/>
          <p:cNvSpPr/>
          <p:nvPr/>
        </p:nvSpPr>
        <p:spPr>
          <a:xfrm>
            <a:off x="1783080" y="6766560"/>
            <a:ext cx="118872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uart_rx</a:t>
            </a:r>
          </a:p>
        </p:txBody>
      </p:sp>
      <p:cxnSp>
        <p:nvCxnSpPr>
          <p:cNvPr id="116" name="선"/>
          <p:cNvCxnSpPr/>
          <p:nvPr/>
        </p:nvCxnSpPr>
        <p:spPr>
          <a:xfrm>
            <a:off x="2971800" y="7050024"/>
            <a:ext cx="274320" cy="0"/>
          </a:xfrm>
          <a:prstGeom prst="line">
            <a:avLst/>
          </a:prstGeom>
          <a:ln w="31750">
            <a:solidFill>
              <a:srgbClr val="C056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블록 fifo"/>
          <p:cNvSpPr/>
          <p:nvPr/>
        </p:nvSpPr>
        <p:spPr>
          <a:xfrm>
            <a:off x="3246120" y="6766560"/>
            <a:ext cx="91440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RX × 8</a:t>
            </a:r>
          </a:p>
        </p:txBody>
      </p:sp>
      <p:cxnSp>
        <p:nvCxnSpPr>
          <p:cNvPr id="118" name="선"/>
          <p:cNvCxnSpPr/>
          <p:nvPr/>
        </p:nvCxnSpPr>
        <p:spPr>
          <a:xfrm>
            <a:off x="4160520" y="7050024"/>
            <a:ext cx="274320" cy="0"/>
          </a:xfrm>
          <a:prstGeom prst="line">
            <a:avLst/>
          </a:prstGeom>
          <a:ln w="31750">
            <a:solidFill>
              <a:srgbClr val="C056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블록 ASCII_DECODER"/>
          <p:cNvSpPr/>
          <p:nvPr/>
        </p:nvSpPr>
        <p:spPr>
          <a:xfrm>
            <a:off x="4434840" y="6675120"/>
            <a:ext cx="18288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28575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ASCII_DECODER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/명령 + 옵션 파싱</a:t>
            </a:r>
          </a:p>
        </p:txBody>
      </p:sp>
      <p:cxnSp>
        <p:nvCxnSpPr>
          <p:cNvPr id="120" name="선"/>
          <p:cNvCxnSpPr/>
          <p:nvPr/>
        </p:nvCxnSpPr>
        <p:spPr>
          <a:xfrm>
            <a:off x="6263640" y="7050024"/>
            <a:ext cx="502920" cy="0"/>
          </a:xfrm>
          <a:prstGeom prst="line">
            <a:avLst/>
          </a:prstGeom>
          <a:ln w="31750">
            <a:solidFill>
              <a:srgbClr val="C056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블록 baud_tick_gen"/>
          <p:cNvSpPr/>
          <p:nvPr/>
        </p:nvSpPr>
        <p:spPr>
          <a:xfrm>
            <a:off x="1783080" y="7680960"/>
            <a:ext cx="1188720" cy="5303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baud_tick_gen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9600 × 16</a:t>
            </a:r>
          </a:p>
        </p:txBody>
      </p:sp>
      <p:cxnSp>
        <p:nvCxnSpPr>
          <p:cNvPr id="122" name="선"/>
          <p:cNvCxnSpPr/>
          <p:nvPr/>
        </p:nvCxnSpPr>
        <p:spPr>
          <a:xfrm flipV="1">
            <a:off x="2377440" y="7333488"/>
            <a:ext cx="0" cy="347472"/>
          </a:xfrm>
          <a:prstGeom prst="line">
            <a:avLst/>
          </a:prstGeom>
          <a:ln w="31750">
            <a:solidFill>
              <a:srgbClr val="C056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라벨"/>
          <p:cNvSpPr txBox="1"/>
          <p:nvPr/>
        </p:nvSpPr>
        <p:spPr>
          <a:xfrm>
            <a:off x="3063240" y="782726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→ RX · TX 공용</a:t>
            </a:r>
          </a:p>
        </p:txBody>
      </p:sp>
      <p:sp>
        <p:nvSpPr>
          <p:cNvPr id="124" name="블록 UART_CONTROLLER"/>
          <p:cNvSpPr/>
          <p:nvPr/>
        </p:nvSpPr>
        <p:spPr>
          <a:xfrm>
            <a:off x="6766560" y="6675120"/>
            <a:ext cx="2377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8575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UART_CONTROLLER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mode · auto · btn FSM</a:t>
            </a:r>
          </a:p>
        </p:txBody>
      </p:sp>
      <p:sp>
        <p:nvSpPr>
          <p:cNvPr id="125" name="태그 phy_btn"/>
          <p:cNvSpPr/>
          <p:nvPr/>
        </p:nvSpPr>
        <p:spPr>
          <a:xfrm>
            <a:off x="5870448" y="7498079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phy_btn</a:t>
            </a:r>
          </a:p>
        </p:txBody>
      </p:sp>
      <p:sp>
        <p:nvSpPr>
          <p:cNvPr id="126" name="라벨"/>
          <p:cNvSpPr txBox="1"/>
          <p:nvPr/>
        </p:nvSpPr>
        <p:spPr>
          <a:xfrm>
            <a:off x="3950208" y="750722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5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같은 clk 면 물리 먼저</a:t>
            </a:r>
          </a:p>
        </p:txBody>
      </p:sp>
      <p:cxnSp>
        <p:nvCxnSpPr>
          <p:cNvPr id="127" name="선"/>
          <p:cNvCxnSpPr/>
          <p:nvPr/>
        </p:nvCxnSpPr>
        <p:spPr>
          <a:xfrm flipV="1">
            <a:off x="6903720" y="6217920"/>
            <a:ext cx="0" cy="45720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선"/>
          <p:cNvCxnSpPr/>
          <p:nvPr/>
        </p:nvCxnSpPr>
        <p:spPr>
          <a:xfrm flipH="1">
            <a:off x="1691640" y="6217920"/>
            <a:ext cx="5212080" cy="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선"/>
          <p:cNvCxnSpPr/>
          <p:nvPr/>
        </p:nvCxnSpPr>
        <p:spPr>
          <a:xfrm flipV="1">
            <a:off x="1691640" y="5212080"/>
            <a:ext cx="0" cy="100584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선"/>
          <p:cNvCxnSpPr/>
          <p:nvPr/>
        </p:nvCxnSpPr>
        <p:spPr>
          <a:xfrm>
            <a:off x="1691640" y="5212080"/>
            <a:ext cx="27432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라벨"/>
          <p:cNvSpPr txBox="1"/>
          <p:nvPr/>
        </p:nvSpPr>
        <p:spPr>
          <a:xfrm>
            <a:off x="3931920" y="623620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module_control_bit[6:0]</a:t>
            </a:r>
          </a:p>
        </p:txBody>
      </p:sp>
      <p:cxnSp>
        <p:nvCxnSpPr>
          <p:cNvPr id="132" name="선"/>
          <p:cNvCxnSpPr/>
          <p:nvPr/>
        </p:nvCxnSpPr>
        <p:spPr>
          <a:xfrm flipV="1">
            <a:off x="7178040" y="6080760"/>
            <a:ext cx="0" cy="59436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선"/>
          <p:cNvCxnSpPr/>
          <p:nvPr/>
        </p:nvCxnSpPr>
        <p:spPr>
          <a:xfrm flipH="1">
            <a:off x="2194560" y="6080760"/>
            <a:ext cx="4983480" cy="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선"/>
          <p:cNvCxnSpPr/>
          <p:nvPr/>
        </p:nvCxnSpPr>
        <p:spPr>
          <a:xfrm flipV="1">
            <a:off x="2194560" y="5413248"/>
            <a:ext cx="0" cy="667512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라벨"/>
          <p:cNvSpPr txBox="1"/>
          <p:nvPr/>
        </p:nvSpPr>
        <p:spPr>
          <a:xfrm>
            <a:off x="2286000" y="5852160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uart_mode</a:t>
            </a:r>
          </a:p>
        </p:txBody>
      </p:sp>
      <p:cxnSp>
        <p:nvCxnSpPr>
          <p:cNvPr id="136" name="선"/>
          <p:cNvCxnSpPr/>
          <p:nvPr/>
        </p:nvCxnSpPr>
        <p:spPr>
          <a:xfrm flipV="1">
            <a:off x="7452360" y="5943600"/>
            <a:ext cx="0" cy="731520"/>
          </a:xfrm>
          <a:prstGeom prst="line">
            <a:avLst/>
          </a:prstGeom>
          <a:ln w="31750">
            <a:solidFill>
              <a:srgbClr val="C056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선"/>
          <p:cNvCxnSpPr/>
          <p:nvPr/>
        </p:nvCxnSpPr>
        <p:spPr>
          <a:xfrm flipH="1">
            <a:off x="3749039" y="5943600"/>
            <a:ext cx="3703321" cy="0"/>
          </a:xfrm>
          <a:prstGeom prst="line">
            <a:avLst/>
          </a:prstGeom>
          <a:ln w="31750">
            <a:solidFill>
              <a:srgbClr val="C056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선"/>
          <p:cNvCxnSpPr/>
          <p:nvPr/>
        </p:nvCxnSpPr>
        <p:spPr>
          <a:xfrm flipV="1">
            <a:off x="3749039" y="3438144"/>
            <a:ext cx="0" cy="2505456"/>
          </a:xfrm>
          <a:prstGeom prst="line">
            <a:avLst/>
          </a:prstGeom>
          <a:ln w="31750">
            <a:solidFill>
              <a:srgbClr val="C056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선"/>
          <p:cNvCxnSpPr/>
          <p:nvPr/>
        </p:nvCxnSpPr>
        <p:spPr>
          <a:xfrm>
            <a:off x="3749039" y="3438144"/>
            <a:ext cx="228600" cy="0"/>
          </a:xfrm>
          <a:prstGeom prst="line">
            <a:avLst/>
          </a:prstGeom>
          <a:ln w="31750">
            <a:solidFill>
              <a:srgbClr val="C056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라벨"/>
          <p:cNvSpPr txBox="1"/>
          <p:nvPr/>
        </p:nvSpPr>
        <p:spPr>
          <a:xfrm>
            <a:off x="3840480" y="3703320"/>
            <a:ext cx="8229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uart_btn</a:t>
            </a:r>
          </a:p>
        </p:txBody>
      </p:sp>
      <p:sp>
        <p:nvSpPr>
          <p:cNvPr id="141" name="블록 sender_tick"/>
          <p:cNvSpPr/>
          <p:nvPr/>
        </p:nvSpPr>
        <p:spPr>
          <a:xfrm>
            <a:off x="9555480" y="6967728"/>
            <a:ext cx="1371600" cy="566928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sender_tick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1 Hz · scan 0→4</a:t>
            </a:r>
          </a:p>
        </p:txBody>
      </p:sp>
      <p:cxnSp>
        <p:nvCxnSpPr>
          <p:cNvPr id="142" name="선"/>
          <p:cNvCxnSpPr/>
          <p:nvPr/>
        </p:nvCxnSpPr>
        <p:spPr>
          <a:xfrm flipH="1">
            <a:off x="9144000" y="7251192"/>
            <a:ext cx="4114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선"/>
          <p:cNvCxnSpPr/>
          <p:nvPr/>
        </p:nvCxnSpPr>
        <p:spPr>
          <a:xfrm>
            <a:off x="9144000" y="6784848"/>
            <a:ext cx="4727448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선"/>
          <p:cNvCxnSpPr/>
          <p:nvPr/>
        </p:nvCxnSpPr>
        <p:spPr>
          <a:xfrm>
            <a:off x="13871448" y="6784848"/>
            <a:ext cx="0" cy="301752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라벨"/>
          <p:cNvSpPr txBox="1"/>
          <p:nvPr/>
        </p:nvSpPr>
        <p:spPr>
          <a:xfrm>
            <a:off x="10241280" y="6547104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send_go</a:t>
            </a:r>
          </a:p>
        </p:txBody>
      </p:sp>
      <p:sp>
        <p:nvSpPr>
          <p:cNvPr id="146" name="MUX 전송"/>
          <p:cNvSpPr/>
          <p:nvPr/>
        </p:nvSpPr>
        <p:spPr>
          <a:xfrm>
            <a:off x="11887200" y="6903720"/>
            <a:ext cx="868680" cy="1280159"/>
          </a:xfrm>
          <a:custGeom>
            <a:avLst/>
            <a:gdLst/>
            <a:ahLst/>
            <a:cxnLst/>
            <a:rect l="l" t="t" r="r" b="b"/>
            <a:pathLst>
              <a:path w="868680" h="1280159">
                <a:moveTo>
                  <a:pt x="0" y="0"/>
                </a:moveTo>
                <a:lnTo>
                  <a:pt x="868680" y="164592"/>
                </a:lnTo>
                <a:lnTo>
                  <a:pt x="868680" y="1115568"/>
                </a:lnTo>
                <a:lnTo>
                  <a:pt x="0" y="1280159"/>
                </a:lnTo>
                <a:lnTo>
                  <a:pt x="0" y="0"/>
                </a:lnTo>
                <a:close/>
              </a:path>
            </a:pathLst>
          </a:cu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라벨"/>
          <p:cNvSpPr txBox="1"/>
          <p:nvPr/>
        </p:nvSpPr>
        <p:spPr>
          <a:xfrm>
            <a:off x="11841480" y="6528816"/>
            <a:ext cx="21945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전송 MUX  8:1 × 24 bit</a:t>
            </a:r>
          </a:p>
        </p:txBody>
      </p:sp>
      <p:cxnSp>
        <p:nvCxnSpPr>
          <p:cNvPr id="148" name="선"/>
          <p:cNvCxnSpPr/>
          <p:nvPr/>
        </p:nvCxnSpPr>
        <p:spPr>
          <a:xfrm>
            <a:off x="11777472" y="3104388"/>
            <a:ext cx="0" cy="4210812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선"/>
          <p:cNvCxnSpPr/>
          <p:nvPr/>
        </p:nvCxnSpPr>
        <p:spPr>
          <a:xfrm>
            <a:off x="11777472" y="7315200"/>
            <a:ext cx="109728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선"/>
          <p:cNvCxnSpPr/>
          <p:nvPr/>
        </p:nvCxnSpPr>
        <p:spPr>
          <a:xfrm>
            <a:off x="11777472" y="7022592"/>
            <a:ext cx="109728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접점"/>
          <p:cNvSpPr/>
          <p:nvPr/>
        </p:nvSpPr>
        <p:spPr>
          <a:xfrm>
            <a:off x="11736324" y="6981444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2" name="선"/>
          <p:cNvCxnSpPr/>
          <p:nvPr/>
        </p:nvCxnSpPr>
        <p:spPr>
          <a:xfrm>
            <a:off x="11777472" y="7168896"/>
            <a:ext cx="109728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접점"/>
          <p:cNvSpPr/>
          <p:nvPr/>
        </p:nvSpPr>
        <p:spPr>
          <a:xfrm>
            <a:off x="11736324" y="7127748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접점"/>
          <p:cNvSpPr/>
          <p:nvPr/>
        </p:nvSpPr>
        <p:spPr>
          <a:xfrm>
            <a:off x="11736324" y="306324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5" name="선"/>
          <p:cNvCxnSpPr/>
          <p:nvPr/>
        </p:nvCxnSpPr>
        <p:spPr>
          <a:xfrm>
            <a:off x="11686032" y="4247388"/>
            <a:ext cx="0" cy="326898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선"/>
          <p:cNvCxnSpPr/>
          <p:nvPr/>
        </p:nvCxnSpPr>
        <p:spPr>
          <a:xfrm>
            <a:off x="11686032" y="7516368"/>
            <a:ext cx="201168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접점"/>
          <p:cNvSpPr/>
          <p:nvPr/>
        </p:nvSpPr>
        <p:spPr>
          <a:xfrm>
            <a:off x="11644884" y="420624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8" name="선"/>
          <p:cNvCxnSpPr/>
          <p:nvPr/>
        </p:nvCxnSpPr>
        <p:spPr>
          <a:xfrm>
            <a:off x="11430000" y="5390388"/>
            <a:ext cx="0" cy="2327148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선"/>
          <p:cNvCxnSpPr/>
          <p:nvPr/>
        </p:nvCxnSpPr>
        <p:spPr>
          <a:xfrm>
            <a:off x="11430000" y="7717536"/>
            <a:ext cx="45720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접점"/>
          <p:cNvSpPr/>
          <p:nvPr/>
        </p:nvSpPr>
        <p:spPr>
          <a:xfrm>
            <a:off x="11388852" y="534924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MUX 핀"/>
          <p:cNvSpPr txBox="1"/>
          <p:nvPr/>
        </p:nvSpPr>
        <p:spPr>
          <a:xfrm>
            <a:off x="11932920" y="693115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0 sw</a:t>
            </a:r>
          </a:p>
        </p:txBody>
      </p:sp>
      <p:sp>
        <p:nvSpPr>
          <p:cNvPr id="162" name="MUX 핀"/>
          <p:cNvSpPr txBox="1"/>
          <p:nvPr/>
        </p:nvSpPr>
        <p:spPr>
          <a:xfrm>
            <a:off x="11932920" y="707745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1 tm</a:t>
            </a:r>
          </a:p>
        </p:txBody>
      </p:sp>
      <p:sp>
        <p:nvSpPr>
          <p:cNvPr id="163" name="MUX 핀"/>
          <p:cNvSpPr txBox="1"/>
          <p:nvPr/>
        </p:nvSpPr>
        <p:spPr>
          <a:xfrm>
            <a:off x="11932920" y="722376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2 wt</a:t>
            </a:r>
          </a:p>
        </p:txBody>
      </p:sp>
      <p:sp>
        <p:nvSpPr>
          <p:cNvPr id="164" name="MUX 핀"/>
          <p:cNvSpPr txBox="1"/>
          <p:nvPr/>
        </p:nvSpPr>
        <p:spPr>
          <a:xfrm>
            <a:off x="11932920" y="742492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3 거리·상태</a:t>
            </a:r>
          </a:p>
        </p:txBody>
      </p:sp>
      <p:sp>
        <p:nvSpPr>
          <p:cNvPr id="165" name="MUX 핀"/>
          <p:cNvSpPr txBox="1"/>
          <p:nvPr/>
        </p:nvSpPr>
        <p:spPr>
          <a:xfrm>
            <a:off x="11932920" y="762609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4 온습도·상태</a:t>
            </a:r>
          </a:p>
        </p:txBody>
      </p:sp>
      <p:cxnSp>
        <p:nvCxnSpPr>
          <p:cNvPr id="167" name="선"/>
          <p:cNvCxnSpPr/>
          <p:nvPr/>
        </p:nvCxnSpPr>
        <p:spPr>
          <a:xfrm>
            <a:off x="12755880" y="7498079"/>
            <a:ext cx="45720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선"/>
          <p:cNvCxnSpPr/>
          <p:nvPr/>
        </p:nvCxnSpPr>
        <p:spPr>
          <a:xfrm>
            <a:off x="8869680" y="8046720"/>
            <a:ext cx="0" cy="201168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선"/>
          <p:cNvCxnSpPr/>
          <p:nvPr/>
        </p:nvCxnSpPr>
        <p:spPr>
          <a:xfrm>
            <a:off x="8869680" y="8247888"/>
            <a:ext cx="5001768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선"/>
          <p:cNvCxnSpPr/>
          <p:nvPr/>
        </p:nvCxnSpPr>
        <p:spPr>
          <a:xfrm flipV="1">
            <a:off x="13871448" y="7909560"/>
            <a:ext cx="0" cy="338328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라벨"/>
          <p:cNvSpPr txBox="1"/>
          <p:nvPr/>
        </p:nvSpPr>
        <p:spPr>
          <a:xfrm>
            <a:off x="9509760" y="8010144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send_sel</a:t>
            </a:r>
          </a:p>
        </p:txBody>
      </p:sp>
      <p:cxnSp>
        <p:nvCxnSpPr>
          <p:cNvPr id="172" name="선"/>
          <p:cNvCxnSpPr/>
          <p:nvPr/>
        </p:nvCxnSpPr>
        <p:spPr>
          <a:xfrm flipV="1">
            <a:off x="12481560" y="8071264"/>
            <a:ext cx="0" cy="176624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접점"/>
          <p:cNvSpPr/>
          <p:nvPr/>
        </p:nvSpPr>
        <p:spPr>
          <a:xfrm>
            <a:off x="12440412" y="820674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블록 uart_sender"/>
          <p:cNvSpPr/>
          <p:nvPr/>
        </p:nvSpPr>
        <p:spPr>
          <a:xfrm>
            <a:off x="13213080" y="7086600"/>
            <a:ext cx="1325880" cy="822960"/>
          </a:xfrm>
          <a:prstGeom prst="roundRect">
            <a:avLst>
              <a:gd name="adj" fmla="val 8888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uart_sender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숫자 → ASCII 한 줄</a:t>
            </a:r>
          </a:p>
        </p:txBody>
      </p:sp>
      <p:cxnSp>
        <p:nvCxnSpPr>
          <p:cNvPr id="175" name="선"/>
          <p:cNvCxnSpPr/>
          <p:nvPr/>
        </p:nvCxnSpPr>
        <p:spPr>
          <a:xfrm>
            <a:off x="14538960" y="7498079"/>
            <a:ext cx="228599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블록 fifo"/>
          <p:cNvSpPr/>
          <p:nvPr/>
        </p:nvSpPr>
        <p:spPr>
          <a:xfrm>
            <a:off x="14767559" y="7214616"/>
            <a:ext cx="822960" cy="566928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TX × 64</a:t>
            </a:r>
          </a:p>
        </p:txBody>
      </p:sp>
      <p:cxnSp>
        <p:nvCxnSpPr>
          <p:cNvPr id="177" name="선"/>
          <p:cNvCxnSpPr/>
          <p:nvPr/>
        </p:nvCxnSpPr>
        <p:spPr>
          <a:xfrm>
            <a:off x="15590520" y="7498079"/>
            <a:ext cx="22860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8" name="블록 uart_tx"/>
          <p:cNvSpPr/>
          <p:nvPr/>
        </p:nvSpPr>
        <p:spPr>
          <a:xfrm>
            <a:off x="15819120" y="7214616"/>
            <a:ext cx="868680" cy="566928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uart_tx</a:t>
            </a:r>
          </a:p>
        </p:txBody>
      </p:sp>
      <p:cxnSp>
        <p:nvCxnSpPr>
          <p:cNvPr id="179" name="선"/>
          <p:cNvCxnSpPr/>
          <p:nvPr/>
        </p:nvCxnSpPr>
        <p:spPr>
          <a:xfrm>
            <a:off x="16687800" y="7498079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0" name="태그 tx"/>
          <p:cNvSpPr/>
          <p:nvPr/>
        </p:nvSpPr>
        <p:spPr>
          <a:xfrm>
            <a:off x="16870680" y="7351775"/>
            <a:ext cx="822960" cy="292608"/>
          </a:xfrm>
          <a:prstGeom prst="homePlate">
            <a:avLst>
              <a:gd name="adj" fmla="val 24888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tx</a:t>
            </a:r>
          </a:p>
        </p:txBody>
      </p:sp>
      <p:sp>
        <p:nvSpPr>
          <p:cNvPr id="181" name="단계 1"/>
          <p:cNvSpPr/>
          <p:nvPr/>
        </p:nvSpPr>
        <p:spPr>
          <a:xfrm>
            <a:off x="6089904" y="6473952"/>
            <a:ext cx="347472" cy="347472"/>
          </a:xfrm>
          <a:prstGeom prst="ellipse">
            <a:avLst/>
          </a:prstGeom>
          <a:solidFill>
            <a:srgbClr val="C0562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82" name="단계 2"/>
          <p:cNvSpPr/>
          <p:nvPr/>
        </p:nvSpPr>
        <p:spPr>
          <a:xfrm>
            <a:off x="7589520" y="5596128"/>
            <a:ext cx="347472" cy="347472"/>
          </a:xfrm>
          <a:prstGeom prst="ellipse">
            <a:avLst/>
          </a:prstGeom>
          <a:solidFill>
            <a:srgbClr val="C0562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83" name="단계 3"/>
          <p:cNvSpPr/>
          <p:nvPr/>
        </p:nvSpPr>
        <p:spPr>
          <a:xfrm>
            <a:off x="3703320" y="2697480"/>
            <a:ext cx="347472" cy="347472"/>
          </a:xfrm>
          <a:prstGeom prst="ellipse">
            <a:avLst/>
          </a:prstGeom>
          <a:solidFill>
            <a:srgbClr val="C0562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4" name="단계 4"/>
          <p:cNvSpPr/>
          <p:nvPr/>
        </p:nvSpPr>
        <p:spPr>
          <a:xfrm>
            <a:off x="4983480" y="4736592"/>
            <a:ext cx="347472" cy="347472"/>
          </a:xfrm>
          <a:prstGeom prst="ellipse">
            <a:avLst/>
          </a:prstGeom>
          <a:solidFill>
            <a:srgbClr val="C0562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85" name="단계 5"/>
          <p:cNvSpPr/>
          <p:nvPr/>
        </p:nvSpPr>
        <p:spPr>
          <a:xfrm>
            <a:off x="8321040" y="4983480"/>
            <a:ext cx="347472" cy="347472"/>
          </a:xfrm>
          <a:prstGeom prst="ellipse">
            <a:avLst/>
          </a:prstGeom>
          <a:solidFill>
            <a:srgbClr val="C0562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86" name="단계 6"/>
          <p:cNvSpPr/>
          <p:nvPr/>
        </p:nvSpPr>
        <p:spPr>
          <a:xfrm>
            <a:off x="12984480" y="2377440"/>
            <a:ext cx="347472" cy="347472"/>
          </a:xfrm>
          <a:prstGeom prst="ellipse">
            <a:avLst/>
          </a:prstGeom>
          <a:solidFill>
            <a:srgbClr val="C0562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87" name="단계표 1"/>
          <p:cNvSpPr/>
          <p:nvPr/>
        </p:nvSpPr>
        <p:spPr>
          <a:xfrm>
            <a:off x="841248" y="8613648"/>
            <a:ext cx="329184" cy="329184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88" name="라벨"/>
          <p:cNvSpPr txBox="1"/>
          <p:nvPr/>
        </p:nvSpPr>
        <p:spPr>
          <a:xfrm>
            <a:off x="1252728" y="86045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디코더 : "/btn R" 또는 "/btn U"</a:t>
            </a:r>
          </a:p>
        </p:txBody>
      </p:sp>
      <p:sp>
        <p:nvSpPr>
          <p:cNvPr id="189" name="단계표 2"/>
          <p:cNvSpPr/>
          <p:nvPr/>
        </p:nvSpPr>
        <p:spPr>
          <a:xfrm>
            <a:off x="6419088" y="8613648"/>
            <a:ext cx="329184" cy="329184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90" name="라벨"/>
          <p:cNvSpPr txBox="1"/>
          <p:nvPr/>
        </p:nvSpPr>
        <p:spPr>
          <a:xfrm>
            <a:off x="6830568" y="86045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컨트롤러 : uart_btn 1 clk 펄스 (물리 버튼 clk 엔 대기)</a:t>
            </a:r>
          </a:p>
        </p:txBody>
      </p:sp>
      <p:sp>
        <p:nvSpPr>
          <p:cNvPr id="191" name="단계표 3"/>
          <p:cNvSpPr/>
          <p:nvPr/>
        </p:nvSpPr>
        <p:spPr>
          <a:xfrm>
            <a:off x="11996928" y="8613648"/>
            <a:ext cx="329184" cy="329184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92" name="라벨"/>
          <p:cNvSpPr txBox="1"/>
          <p:nvPr/>
        </p:nvSpPr>
        <p:spPr>
          <a:xfrm>
            <a:off x="12408407" y="86045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OR : 물리 btn | uart_btn → 같은 버튼 tick</a:t>
            </a:r>
          </a:p>
        </p:txBody>
      </p:sp>
      <p:sp>
        <p:nvSpPr>
          <p:cNvPr id="193" name="단계표 4"/>
          <p:cNvSpPr/>
          <p:nvPr/>
        </p:nvSpPr>
        <p:spPr>
          <a:xfrm>
            <a:off x="841248" y="9070848"/>
            <a:ext cx="329184" cy="329184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4" name="라벨"/>
          <p:cNvSpPr txBox="1"/>
          <p:nvPr/>
        </p:nvSpPr>
        <p:spPr>
          <a:xfrm>
            <a:off x="1252728" y="90617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AND : mode_dht = 1 → DHT11 만 통과</a:t>
            </a:r>
          </a:p>
        </p:txBody>
      </p:sp>
      <p:sp>
        <p:nvSpPr>
          <p:cNvPr id="195" name="단계표 5"/>
          <p:cNvSpPr/>
          <p:nvPr/>
        </p:nvSpPr>
        <p:spPr>
          <a:xfrm>
            <a:off x="6419088" y="9070848"/>
            <a:ext cx="329184" cy="329184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96" name="라벨"/>
          <p:cNvSpPr txBox="1"/>
          <p:nvPr/>
        </p:nvSpPr>
        <p:spPr>
          <a:xfrm>
            <a:off x="6830568" y="90617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dht11_top : R 1 회 측정 · U 자동 측정 (2 s) 켜기/끄기</a:t>
            </a:r>
          </a:p>
        </p:txBody>
      </p:sp>
      <p:sp>
        <p:nvSpPr>
          <p:cNvPr id="197" name="단계표 6"/>
          <p:cNvSpPr/>
          <p:nvPr/>
        </p:nvSpPr>
        <p:spPr>
          <a:xfrm>
            <a:off x="11996928" y="9070848"/>
            <a:ext cx="329184" cy="329184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98" name="라벨"/>
          <p:cNvSpPr txBox="1"/>
          <p:nvPr/>
        </p:nvSpPr>
        <p:spPr>
          <a:xfrm>
            <a:off x="12408407" y="90617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FND MUX 2 번 → "55.24" / ---- / Err · LED 상태</a:t>
            </a:r>
          </a:p>
        </p:txBody>
      </p:sp>
      <p:sp>
        <p:nvSpPr>
          <p:cNvPr id="199" name="라벨 v2"/>
          <p:cNvSpPr txBox="1"/>
          <p:nvPr/>
        </p:nvSpPr>
        <p:spPr>
          <a:xfrm>
            <a:off x="841248" y="9582912"/>
            <a:ext cx="1536192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1E8E3E"/>
                </a:solidFill>
                <a:latin typeface="Malgun Gothic"/>
                <a:ea typeface="Malgun Gothic"/>
                <a:cs typeface="Malgun Gothic"/>
              </a:rPr>
              <a:t>v2</a:t>
            </a:r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  이 흐름은 v1 과 같음 · 바뀐 곳은 전송 MUX 입력 3 · 4 (거리·상태 · 온습도·상태) 뿐  →  /get · /auto (v2) 장 참고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라벨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WTS · SR04 · DHT11 · UART</a:t>
            </a:r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라벨"/>
          <p:cNvSpPr txBox="1"/>
          <p:nvPr/>
        </p:nvSpPr>
        <p:spPr>
          <a:xfrm>
            <a:off x="1042415" y="402336"/>
            <a:ext cx="91440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02  시스템 구조 · 명령별 흐름  ·  v2</a:t>
            </a:r>
          </a:p>
        </p:txBody>
      </p:sp>
      <p:sp>
        <p:nvSpPr>
          <p:cNvPr id="5" name="라벨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/get 흐름 — 지금 화면 값 1 회 전송  (v2)</a:t>
            </a:r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7" name="라벨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전송 MUX 에 상태 비트를 같이 실음 (24 비트의 빈 윗비트) → sender 가 상태를 보고 Err N · --%--C 글자</a:t>
            </a:r>
          </a:p>
        </p:txBody>
      </p:sp>
      <p:sp>
        <p:nvSpPr>
          <p:cNvPr id="8" name="라벨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13</a:t>
            </a:r>
          </a:p>
        </p:txBody>
      </p:sp>
      <p:sp>
        <p:nvSpPr>
          <p:cNvPr id="9" name="줄 WTS  스톱워치 · 시계 · 타이머"/>
          <p:cNvSpPr/>
          <p:nvPr/>
        </p:nvSpPr>
        <p:spPr>
          <a:xfrm>
            <a:off x="5806440" y="2487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라벨"/>
          <p:cNvSpPr txBox="1"/>
          <p:nvPr/>
        </p:nvSpPr>
        <p:spPr>
          <a:xfrm>
            <a:off x="5916168" y="2514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WTS  스톱워치 · 시계 · 타이머</a:t>
            </a:r>
          </a:p>
        </p:txBody>
      </p:sp>
      <p:sp>
        <p:nvSpPr>
          <p:cNvPr id="11" name="줄 SR04  초음파 거리"/>
          <p:cNvSpPr/>
          <p:nvPr/>
        </p:nvSpPr>
        <p:spPr>
          <a:xfrm>
            <a:off x="5806440" y="3630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라벨"/>
          <p:cNvSpPr txBox="1"/>
          <p:nvPr/>
        </p:nvSpPr>
        <p:spPr>
          <a:xfrm>
            <a:off x="5916168" y="3657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SR04  초음파 거리</a:t>
            </a:r>
          </a:p>
        </p:txBody>
      </p:sp>
      <p:sp>
        <p:nvSpPr>
          <p:cNvPr id="13" name="줄 DHT11  온습도"/>
          <p:cNvSpPr/>
          <p:nvPr/>
        </p:nvSpPr>
        <p:spPr>
          <a:xfrm>
            <a:off x="5806440" y="4773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라벨"/>
          <p:cNvSpPr txBox="1"/>
          <p:nvPr/>
        </p:nvSpPr>
        <p:spPr>
          <a:xfrm>
            <a:off x="5916168" y="4800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DHT11  온습도</a:t>
            </a:r>
          </a:p>
        </p:txBody>
      </p:sp>
      <p:sp>
        <p:nvSpPr>
          <p:cNvPr id="15" name="줄 UART  명령 수신 · 응답 전송  (uart_top)"/>
          <p:cNvSpPr/>
          <p:nvPr/>
        </p:nvSpPr>
        <p:spPr>
          <a:xfrm>
            <a:off x="1600200" y="6355080"/>
            <a:ext cx="15133320" cy="2011680"/>
          </a:xfrm>
          <a:prstGeom prst="roundRect">
            <a:avLst>
              <a:gd name="adj" fmla="val 3636"/>
            </a:avLst>
          </a:prstGeom>
          <a:solidFill>
            <a:srgbClr val="E6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라벨"/>
          <p:cNvSpPr txBox="1"/>
          <p:nvPr/>
        </p:nvSpPr>
        <p:spPr>
          <a:xfrm>
            <a:off x="1709928" y="6382512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UART  명령 수신 · 응답 전송  (uart_top)</a:t>
            </a:r>
          </a:p>
        </p:txBody>
      </p:sp>
      <p:sp>
        <p:nvSpPr>
          <p:cNvPr id="17" name="라벨"/>
          <p:cNvSpPr txBox="1"/>
          <p:nvPr/>
        </p:nvSpPr>
        <p:spPr>
          <a:xfrm>
            <a:off x="11137392" y="6382512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9600 bps · 8N1</a:t>
            </a:r>
          </a:p>
        </p:txBody>
      </p:sp>
      <p:sp>
        <p:nvSpPr>
          <p:cNvPr id="18" name="태그 clk"/>
          <p:cNvSpPr/>
          <p:nvPr/>
        </p:nvSpPr>
        <p:spPr>
          <a:xfrm>
            <a:off x="411480" y="21031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clk</a:t>
            </a:r>
          </a:p>
        </p:txBody>
      </p:sp>
      <p:cxnSp>
        <p:nvCxnSpPr>
          <p:cNvPr id="19" name="선"/>
          <p:cNvCxnSpPr/>
          <p:nvPr/>
        </p:nvCxnSpPr>
        <p:spPr>
          <a:xfrm>
            <a:off x="1417320" y="2249424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블록 clock_tick_generator"/>
          <p:cNvSpPr/>
          <p:nvPr/>
        </p:nvSpPr>
        <p:spPr>
          <a:xfrm>
            <a:off x="1737360" y="2057400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clock_tick_generator</a:t>
            </a:r>
          </a:p>
        </p:txBody>
      </p:sp>
      <p:cxnSp>
        <p:nvCxnSpPr>
          <p:cNvPr id="21" name="선"/>
          <p:cNvCxnSpPr/>
          <p:nvPr/>
        </p:nvCxnSpPr>
        <p:spPr>
          <a:xfrm>
            <a:off x="3429000" y="2249424"/>
            <a:ext cx="11567159" cy="0"/>
          </a:xfrm>
          <a:prstGeom prst="line">
            <a:avLst/>
          </a:prstGeom>
          <a:ln w="19050">
            <a:solidFill>
              <a:srgbClr val="4A556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선"/>
          <p:cNvCxnSpPr/>
          <p:nvPr/>
        </p:nvCxnSpPr>
        <p:spPr>
          <a:xfrm>
            <a:off x="14996159" y="2249424"/>
            <a:ext cx="0" cy="356616"/>
          </a:xfrm>
          <a:prstGeom prst="line">
            <a:avLst/>
          </a:prstGeom>
          <a:ln w="19050">
            <a:solidFill>
              <a:srgbClr val="4A556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라벨"/>
          <p:cNvSpPr txBox="1"/>
          <p:nvPr/>
        </p:nvSpPr>
        <p:spPr>
          <a:xfrm>
            <a:off x="3840480" y="2011680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4 kHz  →  디바운서 · FND 스캔</a:t>
            </a:r>
          </a:p>
        </p:txBody>
      </p:sp>
      <p:cxnSp>
        <p:nvCxnSpPr>
          <p:cNvPr id="24" name="선"/>
          <p:cNvCxnSpPr/>
          <p:nvPr/>
        </p:nvCxnSpPr>
        <p:spPr>
          <a:xfrm>
            <a:off x="2194560" y="2441448"/>
            <a:ext cx="0" cy="118872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태그 btn_R"/>
          <p:cNvSpPr/>
          <p:nvPr/>
        </p:nvSpPr>
        <p:spPr>
          <a:xfrm>
            <a:off x="411480" y="263347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btn_R</a:t>
            </a:r>
          </a:p>
        </p:txBody>
      </p:sp>
      <p:cxnSp>
        <p:nvCxnSpPr>
          <p:cNvPr id="26" name="선"/>
          <p:cNvCxnSpPr/>
          <p:nvPr/>
        </p:nvCxnSpPr>
        <p:spPr>
          <a:xfrm>
            <a:off x="1417320" y="2779776"/>
            <a:ext cx="3200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태그 btn_L"/>
          <p:cNvSpPr/>
          <p:nvPr/>
        </p:nvSpPr>
        <p:spPr>
          <a:xfrm>
            <a:off x="411480" y="299923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btn_L</a:t>
            </a:r>
          </a:p>
        </p:txBody>
      </p:sp>
      <p:cxnSp>
        <p:nvCxnSpPr>
          <p:cNvPr id="28" name="선"/>
          <p:cNvCxnSpPr/>
          <p:nvPr/>
        </p:nvCxnSpPr>
        <p:spPr>
          <a:xfrm>
            <a:off x="1417320" y="3145536"/>
            <a:ext cx="3200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태그 btn_U"/>
          <p:cNvSpPr/>
          <p:nvPr/>
        </p:nvSpPr>
        <p:spPr>
          <a:xfrm>
            <a:off x="411480" y="3364991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btn_U</a:t>
            </a:r>
          </a:p>
        </p:txBody>
      </p:sp>
      <p:cxnSp>
        <p:nvCxnSpPr>
          <p:cNvPr id="30" name="선"/>
          <p:cNvCxnSpPr/>
          <p:nvPr/>
        </p:nvCxnSpPr>
        <p:spPr>
          <a:xfrm>
            <a:off x="1417320" y="3511296"/>
            <a:ext cx="3200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태그 btn_D"/>
          <p:cNvSpPr/>
          <p:nvPr/>
        </p:nvSpPr>
        <p:spPr>
          <a:xfrm>
            <a:off x="411480" y="373075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btn_D</a:t>
            </a:r>
          </a:p>
        </p:txBody>
      </p:sp>
      <p:cxnSp>
        <p:nvCxnSpPr>
          <p:cNvPr id="32" name="선"/>
          <p:cNvCxnSpPr/>
          <p:nvPr/>
        </p:nvCxnSpPr>
        <p:spPr>
          <a:xfrm>
            <a:off x="1417320" y="3877056"/>
            <a:ext cx="3200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블록 btn_debounce&#10;×4"/>
          <p:cNvSpPr/>
          <p:nvPr/>
        </p:nvSpPr>
        <p:spPr>
          <a:xfrm>
            <a:off x="1737360" y="2560320"/>
            <a:ext cx="1371600" cy="1481328"/>
          </a:xfrm>
          <a:prstGeom prst="roundRect">
            <a:avLst>
              <a:gd name="adj" fmla="val 5333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btn_debounce</a:t>
            </a:r>
          </a:p>
          <a:p>
            <a:pPr algn="ctr"/>
            <a:r>
              <a:rPr sz="12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×4</a:t>
            </a:r>
          </a:p>
        </p:txBody>
      </p:sp>
      <p:cxnSp>
        <p:nvCxnSpPr>
          <p:cNvPr id="34" name="선"/>
          <p:cNvCxnSpPr/>
          <p:nvPr/>
        </p:nvCxnSpPr>
        <p:spPr>
          <a:xfrm>
            <a:off x="3108960" y="3163824"/>
            <a:ext cx="868679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라벨"/>
          <p:cNvSpPr txBox="1"/>
          <p:nvPr/>
        </p:nvSpPr>
        <p:spPr>
          <a:xfrm>
            <a:off x="3182112" y="2907792"/>
            <a:ext cx="8229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phy_btn</a:t>
            </a:r>
          </a:p>
        </p:txBody>
      </p:sp>
      <p:sp>
        <p:nvSpPr>
          <p:cNvPr id="36" name="게이트"/>
          <p:cNvSpPr/>
          <p:nvPr/>
        </p:nvSpPr>
        <p:spPr>
          <a:xfrm>
            <a:off x="3977639" y="3026664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≥1</a:t>
            </a:r>
          </a:p>
        </p:txBody>
      </p:sp>
      <p:cxnSp>
        <p:nvCxnSpPr>
          <p:cNvPr id="37" name="선"/>
          <p:cNvCxnSpPr/>
          <p:nvPr/>
        </p:nvCxnSpPr>
        <p:spPr>
          <a:xfrm>
            <a:off x="4526280" y="3300984"/>
            <a:ext cx="182880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선"/>
          <p:cNvCxnSpPr/>
          <p:nvPr/>
        </p:nvCxnSpPr>
        <p:spPr>
          <a:xfrm>
            <a:off x="4709160" y="2967228"/>
            <a:ext cx="0" cy="2285999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접점"/>
          <p:cNvSpPr/>
          <p:nvPr/>
        </p:nvSpPr>
        <p:spPr>
          <a:xfrm>
            <a:off x="4668012" y="3259836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선"/>
          <p:cNvCxnSpPr/>
          <p:nvPr/>
        </p:nvCxnSpPr>
        <p:spPr>
          <a:xfrm>
            <a:off x="3611880" y="4965192"/>
            <a:ext cx="1280160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선"/>
          <p:cNvCxnSpPr/>
          <p:nvPr/>
        </p:nvCxnSpPr>
        <p:spPr>
          <a:xfrm>
            <a:off x="4892040" y="3241548"/>
            <a:ext cx="0" cy="228600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접점"/>
          <p:cNvSpPr/>
          <p:nvPr/>
        </p:nvSpPr>
        <p:spPr>
          <a:xfrm>
            <a:off x="4850892" y="4924044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3" name="선"/>
          <p:cNvCxnSpPr/>
          <p:nvPr/>
        </p:nvCxnSpPr>
        <p:spPr>
          <a:xfrm>
            <a:off x="4709160" y="2967228"/>
            <a:ext cx="36576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선"/>
          <p:cNvCxnSpPr/>
          <p:nvPr/>
        </p:nvCxnSpPr>
        <p:spPr>
          <a:xfrm>
            <a:off x="4892040" y="3241548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접점"/>
          <p:cNvSpPr/>
          <p:nvPr/>
        </p:nvSpPr>
        <p:spPr>
          <a:xfrm>
            <a:off x="4850892" y="320040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게이트"/>
          <p:cNvSpPr/>
          <p:nvPr/>
        </p:nvSpPr>
        <p:spPr>
          <a:xfrm>
            <a:off x="5074920" y="2830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47" name="라벨"/>
          <p:cNvSpPr txBox="1"/>
          <p:nvPr/>
        </p:nvSpPr>
        <p:spPr>
          <a:xfrm>
            <a:off x="5029200" y="33878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mode_wts</a:t>
            </a:r>
          </a:p>
        </p:txBody>
      </p:sp>
      <p:cxnSp>
        <p:nvCxnSpPr>
          <p:cNvPr id="48" name="선"/>
          <p:cNvCxnSpPr/>
          <p:nvPr/>
        </p:nvCxnSpPr>
        <p:spPr>
          <a:xfrm>
            <a:off x="5623560" y="3104388"/>
            <a:ext cx="7315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라벨"/>
          <p:cNvSpPr txBox="1"/>
          <p:nvPr/>
        </p:nvSpPr>
        <p:spPr>
          <a:xfrm>
            <a:off x="5669280" y="2839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R·L·U·D</a:t>
            </a:r>
          </a:p>
        </p:txBody>
      </p:sp>
      <p:cxnSp>
        <p:nvCxnSpPr>
          <p:cNvPr id="50" name="선"/>
          <p:cNvCxnSpPr/>
          <p:nvPr/>
        </p:nvCxnSpPr>
        <p:spPr>
          <a:xfrm>
            <a:off x="4709160" y="4110228"/>
            <a:ext cx="36576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접점"/>
          <p:cNvSpPr/>
          <p:nvPr/>
        </p:nvSpPr>
        <p:spPr>
          <a:xfrm>
            <a:off x="4668012" y="406908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2" name="선"/>
          <p:cNvCxnSpPr/>
          <p:nvPr/>
        </p:nvCxnSpPr>
        <p:spPr>
          <a:xfrm>
            <a:off x="4892040" y="4384548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접점"/>
          <p:cNvSpPr/>
          <p:nvPr/>
        </p:nvSpPr>
        <p:spPr>
          <a:xfrm>
            <a:off x="4850892" y="434340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게이트"/>
          <p:cNvSpPr/>
          <p:nvPr/>
        </p:nvSpPr>
        <p:spPr>
          <a:xfrm>
            <a:off x="5074920" y="3973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55" name="라벨"/>
          <p:cNvSpPr txBox="1"/>
          <p:nvPr/>
        </p:nvSpPr>
        <p:spPr>
          <a:xfrm>
            <a:off x="5029200" y="45308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mode_dist</a:t>
            </a:r>
          </a:p>
        </p:txBody>
      </p:sp>
      <p:cxnSp>
        <p:nvCxnSpPr>
          <p:cNvPr id="56" name="선"/>
          <p:cNvCxnSpPr/>
          <p:nvPr/>
        </p:nvCxnSpPr>
        <p:spPr>
          <a:xfrm>
            <a:off x="5623560" y="4247388"/>
            <a:ext cx="7315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라벨"/>
          <p:cNvSpPr txBox="1"/>
          <p:nvPr/>
        </p:nvSpPr>
        <p:spPr>
          <a:xfrm>
            <a:off x="5669280" y="3982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cxnSp>
        <p:nvCxnSpPr>
          <p:cNvPr id="58" name="선"/>
          <p:cNvCxnSpPr/>
          <p:nvPr/>
        </p:nvCxnSpPr>
        <p:spPr>
          <a:xfrm>
            <a:off x="4709160" y="5253227"/>
            <a:ext cx="36576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접점"/>
          <p:cNvSpPr/>
          <p:nvPr/>
        </p:nvSpPr>
        <p:spPr>
          <a:xfrm>
            <a:off x="4668012" y="5212079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0" name="선"/>
          <p:cNvCxnSpPr/>
          <p:nvPr/>
        </p:nvCxnSpPr>
        <p:spPr>
          <a:xfrm>
            <a:off x="4892040" y="5527548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게이트"/>
          <p:cNvSpPr/>
          <p:nvPr/>
        </p:nvSpPr>
        <p:spPr>
          <a:xfrm>
            <a:off x="5074920" y="5116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62" name="라벨"/>
          <p:cNvSpPr txBox="1"/>
          <p:nvPr/>
        </p:nvSpPr>
        <p:spPr>
          <a:xfrm>
            <a:off x="5029200" y="5673851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mode_dht</a:t>
            </a:r>
          </a:p>
        </p:txBody>
      </p:sp>
      <p:cxnSp>
        <p:nvCxnSpPr>
          <p:cNvPr id="63" name="선"/>
          <p:cNvCxnSpPr/>
          <p:nvPr/>
        </p:nvCxnSpPr>
        <p:spPr>
          <a:xfrm>
            <a:off x="5623560" y="5390388"/>
            <a:ext cx="7315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라벨"/>
          <p:cNvSpPr txBox="1"/>
          <p:nvPr/>
        </p:nvSpPr>
        <p:spPr>
          <a:xfrm>
            <a:off x="5669280" y="5125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sp>
        <p:nvSpPr>
          <p:cNvPr id="65" name="모드 선택 칸"/>
          <p:cNvSpPr/>
          <p:nvPr/>
        </p:nvSpPr>
        <p:spPr>
          <a:xfrm>
            <a:off x="1600200" y="4160520"/>
            <a:ext cx="2103120" cy="1481328"/>
          </a:xfrm>
          <a:prstGeom prst="roundRect">
            <a:avLst>
              <a:gd name="adj" fmla="val 4938"/>
            </a:avLst>
          </a:prstGeom>
          <a:solidFill>
            <a:srgbClr val="FBFBFC"/>
          </a:solidFill>
          <a:ln w="12700">
            <a:solidFill>
              <a:srgbClr val="C8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라벨"/>
          <p:cNvSpPr txBox="1"/>
          <p:nvPr/>
        </p:nvSpPr>
        <p:spPr>
          <a:xfrm>
            <a:off x="1664208" y="417880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모드 선택</a:t>
            </a:r>
          </a:p>
        </p:txBody>
      </p:sp>
      <p:sp>
        <p:nvSpPr>
          <p:cNvPr id="67" name="태그 sw0 ~ sw6"/>
          <p:cNvSpPr/>
          <p:nvPr/>
        </p:nvSpPr>
        <p:spPr>
          <a:xfrm>
            <a:off x="411480" y="4498848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sw0 ~ sw6</a:t>
            </a:r>
          </a:p>
        </p:txBody>
      </p:sp>
      <p:cxnSp>
        <p:nvCxnSpPr>
          <p:cNvPr id="68" name="선"/>
          <p:cNvCxnSpPr/>
          <p:nvPr/>
        </p:nvCxnSpPr>
        <p:spPr>
          <a:xfrm>
            <a:off x="1417320" y="4645152"/>
            <a:ext cx="5486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MUX 모드"/>
          <p:cNvSpPr/>
          <p:nvPr/>
        </p:nvSpPr>
        <p:spPr>
          <a:xfrm>
            <a:off x="1965960" y="4480560"/>
            <a:ext cx="457200" cy="987552"/>
          </a:xfrm>
          <a:custGeom>
            <a:avLst/>
            <a:gdLst/>
            <a:ahLst/>
            <a:cxnLst/>
            <a:rect l="l" t="t" r="r" b="b"/>
            <a:pathLst>
              <a:path w="457200" h="987552">
                <a:moveTo>
                  <a:pt x="0" y="0"/>
                </a:moveTo>
                <a:lnTo>
                  <a:pt x="457200" y="109728"/>
                </a:lnTo>
                <a:lnTo>
                  <a:pt x="457200" y="877824"/>
                </a:lnTo>
                <a:lnTo>
                  <a:pt x="0" y="987552"/>
                </a:lnTo>
                <a:lnTo>
                  <a:pt x="0" y="0"/>
                </a:lnTo>
                <a:close/>
              </a:path>
            </a:pathLst>
          </a:cu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라벨"/>
          <p:cNvSpPr txBox="1"/>
          <p:nvPr/>
        </p:nvSpPr>
        <p:spPr>
          <a:xfrm>
            <a:off x="2020824" y="4526280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71" name="라벨"/>
          <p:cNvSpPr txBox="1"/>
          <p:nvPr/>
        </p:nvSpPr>
        <p:spPr>
          <a:xfrm>
            <a:off x="2020824" y="5093208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72" name="라벨"/>
          <p:cNvSpPr txBox="1"/>
          <p:nvPr/>
        </p:nvSpPr>
        <p:spPr>
          <a:xfrm>
            <a:off x="2423160" y="418795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2:1 × 7 bit</a:t>
            </a:r>
          </a:p>
        </p:txBody>
      </p:sp>
      <p:cxnSp>
        <p:nvCxnSpPr>
          <p:cNvPr id="73" name="선"/>
          <p:cNvCxnSpPr/>
          <p:nvPr/>
        </p:nvCxnSpPr>
        <p:spPr>
          <a:xfrm>
            <a:off x="2423160" y="4965192"/>
            <a:ext cx="2743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블록 모드&#10;디코드"/>
          <p:cNvSpPr/>
          <p:nvPr/>
        </p:nvSpPr>
        <p:spPr>
          <a:xfrm>
            <a:off x="2697480" y="4663440"/>
            <a:ext cx="914400" cy="603504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모드</a:t>
            </a:r>
          </a:p>
          <a:p>
            <a:pPr algn="ctr"/>
            <a:r>
              <a:rPr sz="11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디코드</a:t>
            </a:r>
          </a:p>
        </p:txBody>
      </p:sp>
      <p:sp>
        <p:nvSpPr>
          <p:cNvPr id="75" name="라벨"/>
          <p:cNvSpPr txBox="1"/>
          <p:nvPr/>
        </p:nvSpPr>
        <p:spPr>
          <a:xfrm>
            <a:off x="2331720" y="5340096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→ mode_* · disp_sel</a:t>
            </a:r>
          </a:p>
        </p:txBody>
      </p:sp>
      <p:sp>
        <p:nvSpPr>
          <p:cNvPr id="76" name="블록 wts_top"/>
          <p:cNvSpPr/>
          <p:nvPr/>
        </p:nvSpPr>
        <p:spPr>
          <a:xfrm>
            <a:off x="6355080" y="2761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wts_top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control_unit · datapath × 3</a:t>
            </a:r>
          </a:p>
        </p:txBody>
      </p:sp>
      <p:cxnSp>
        <p:nvCxnSpPr>
          <p:cNvPr id="77" name="선"/>
          <p:cNvCxnSpPr/>
          <p:nvPr/>
        </p:nvCxnSpPr>
        <p:spPr>
          <a:xfrm>
            <a:off x="8549640" y="3104388"/>
            <a:ext cx="361188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라벨"/>
          <p:cNvSpPr txBox="1"/>
          <p:nvPr/>
        </p:nvSpPr>
        <p:spPr>
          <a:xfrm>
            <a:off x="8686800" y="2839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disp  시 · 분 · 초 · 1/100</a:t>
            </a:r>
          </a:p>
        </p:txBody>
      </p:sp>
      <p:sp>
        <p:nvSpPr>
          <p:cNvPr id="79" name="라벨"/>
          <p:cNvSpPr txBox="1"/>
          <p:nvPr/>
        </p:nvSpPr>
        <p:spPr>
          <a:xfrm>
            <a:off x="8686800" y="3150108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← ctrl_bit[4:0]  (sw0 · sw1 · sw2 · sw3 · sw4)</a:t>
            </a:r>
          </a:p>
        </p:txBody>
      </p:sp>
      <p:sp>
        <p:nvSpPr>
          <p:cNvPr id="80" name="블록 sr04_top"/>
          <p:cNvSpPr/>
          <p:nvPr/>
        </p:nvSpPr>
        <p:spPr>
          <a:xfrm>
            <a:off x="6355080" y="3904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sr04_top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core · mode_ctrl · led_bar</a:t>
            </a:r>
          </a:p>
        </p:txBody>
      </p:sp>
      <p:cxnSp>
        <p:nvCxnSpPr>
          <p:cNvPr id="81" name="선"/>
          <p:cNvCxnSpPr/>
          <p:nvPr/>
        </p:nvCxnSpPr>
        <p:spPr>
          <a:xfrm>
            <a:off x="8549640" y="4247388"/>
            <a:ext cx="361188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라벨"/>
          <p:cNvSpPr txBox="1"/>
          <p:nvPr/>
        </p:nvSpPr>
        <p:spPr>
          <a:xfrm>
            <a:off x="8686800" y="3982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distance_x10 · err · status</a:t>
            </a:r>
          </a:p>
        </p:txBody>
      </p:sp>
      <p:sp>
        <p:nvSpPr>
          <p:cNvPr id="83" name="라벨"/>
          <p:cNvSpPr txBox="1"/>
          <p:nvPr/>
        </p:nvSpPr>
        <p:spPr>
          <a:xfrm>
            <a:off x="8686800" y="4293108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trig → JA1 · echo ← JA2 · sw15 = 거리 막대 LED</a:t>
            </a:r>
          </a:p>
        </p:txBody>
      </p:sp>
      <p:sp>
        <p:nvSpPr>
          <p:cNvPr id="84" name="블록 dht11_top"/>
          <p:cNvSpPr/>
          <p:nvPr/>
        </p:nvSpPr>
        <p:spPr>
          <a:xfrm>
            <a:off x="6355080" y="5047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dht11_top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core · controller · manager</a:t>
            </a:r>
          </a:p>
        </p:txBody>
      </p:sp>
      <p:cxnSp>
        <p:nvCxnSpPr>
          <p:cNvPr id="85" name="선"/>
          <p:cNvCxnSpPr/>
          <p:nvPr/>
        </p:nvCxnSpPr>
        <p:spPr>
          <a:xfrm>
            <a:off x="8549640" y="5390388"/>
            <a:ext cx="361188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라벨"/>
          <p:cNvSpPr txBox="1"/>
          <p:nvPr/>
        </p:nvSpPr>
        <p:spPr>
          <a:xfrm>
            <a:off x="8686800" y="5125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fnd_data · dashes · err</a:t>
            </a:r>
          </a:p>
        </p:txBody>
      </p:sp>
      <p:sp>
        <p:nvSpPr>
          <p:cNvPr id="87" name="라벨"/>
          <p:cNvSpPr txBox="1"/>
          <p:nvPr/>
        </p:nvSpPr>
        <p:spPr>
          <a:xfrm>
            <a:off x="8686800" y="5436107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dht11_io ↔ JXADC3 (M2)</a:t>
            </a:r>
          </a:p>
        </p:txBody>
      </p:sp>
      <p:sp>
        <p:nvSpPr>
          <p:cNvPr id="88" name="MUX FND"/>
          <p:cNvSpPr/>
          <p:nvPr/>
        </p:nvSpPr>
        <p:spPr>
          <a:xfrm>
            <a:off x="12161520" y="2606040"/>
            <a:ext cx="640080" cy="3108960"/>
          </a:xfrm>
          <a:custGeom>
            <a:avLst/>
            <a:gdLst/>
            <a:ahLst/>
            <a:cxnLst/>
            <a:rect l="l" t="t" r="r" b="b"/>
            <a:pathLst>
              <a:path w="640080" h="3108960">
                <a:moveTo>
                  <a:pt x="0" y="0"/>
                </a:moveTo>
                <a:lnTo>
                  <a:pt x="640080" y="228600"/>
                </a:lnTo>
                <a:lnTo>
                  <a:pt x="640080" y="2880360"/>
                </a:lnTo>
                <a:lnTo>
                  <a:pt x="0" y="3108960"/>
                </a:lnTo>
                <a:lnTo>
                  <a:pt x="0" y="0"/>
                </a:lnTo>
                <a:close/>
              </a:path>
            </a:pathLst>
          </a:cu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라벨"/>
          <p:cNvSpPr txBox="1"/>
          <p:nvPr/>
        </p:nvSpPr>
        <p:spPr>
          <a:xfrm>
            <a:off x="12216384" y="298551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90" name="라벨"/>
          <p:cNvSpPr txBox="1"/>
          <p:nvPr/>
        </p:nvSpPr>
        <p:spPr>
          <a:xfrm>
            <a:off x="12216384" y="412851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1" name="라벨"/>
          <p:cNvSpPr txBox="1"/>
          <p:nvPr/>
        </p:nvSpPr>
        <p:spPr>
          <a:xfrm>
            <a:off x="12216384" y="527151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92" name="라벨"/>
          <p:cNvSpPr txBox="1"/>
          <p:nvPr/>
        </p:nvSpPr>
        <p:spPr>
          <a:xfrm>
            <a:off x="11978640" y="5742432"/>
            <a:ext cx="2011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FND MUX  3:1 × 25 bit</a:t>
            </a:r>
          </a:p>
        </p:txBody>
      </p:sp>
      <p:sp>
        <p:nvSpPr>
          <p:cNvPr id="93" name="라벨"/>
          <p:cNvSpPr txBox="1"/>
          <p:nvPr/>
        </p:nvSpPr>
        <p:spPr>
          <a:xfrm>
            <a:off x="11978640" y="5961888"/>
            <a:ext cx="2011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sel = disp_sel (2 bit)</a:t>
            </a:r>
          </a:p>
        </p:txBody>
      </p:sp>
      <p:cxnSp>
        <p:nvCxnSpPr>
          <p:cNvPr id="94" name="선"/>
          <p:cNvCxnSpPr/>
          <p:nvPr/>
        </p:nvCxnSpPr>
        <p:spPr>
          <a:xfrm>
            <a:off x="12801600" y="3017520"/>
            <a:ext cx="128016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라벨"/>
          <p:cNvSpPr txBox="1"/>
          <p:nvPr/>
        </p:nvSpPr>
        <p:spPr>
          <a:xfrm>
            <a:off x="12874752" y="277063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fnd_data</a:t>
            </a:r>
          </a:p>
        </p:txBody>
      </p:sp>
      <p:sp>
        <p:nvSpPr>
          <p:cNvPr id="96" name="블록 FND&#10;컨트롤러"/>
          <p:cNvSpPr/>
          <p:nvPr/>
        </p:nvSpPr>
        <p:spPr>
          <a:xfrm>
            <a:off x="14081760" y="2606040"/>
            <a:ext cx="1828800" cy="1508760"/>
          </a:xfrm>
          <a:prstGeom prst="roundRect">
            <a:avLst>
              <a:gd name="adj" fmla="val 4848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FND</a:t>
            </a:r>
          </a:p>
          <a:p>
            <a:pPr algn="ctr"/>
            <a:r>
              <a:rPr sz="14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컨트롤러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SW2_FND_CONTROLLER</a:t>
            </a:r>
          </a:p>
        </p:txBody>
      </p:sp>
      <p:sp>
        <p:nvSpPr>
          <p:cNvPr id="97" name="태그 disp_sel"/>
          <p:cNvSpPr/>
          <p:nvPr/>
        </p:nvSpPr>
        <p:spPr>
          <a:xfrm>
            <a:off x="13167360" y="325526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98" name="태그 wt_cursor"/>
          <p:cNvSpPr/>
          <p:nvPr/>
        </p:nvSpPr>
        <p:spPr>
          <a:xfrm>
            <a:off x="13167360" y="354787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wt_cursor</a:t>
            </a:r>
          </a:p>
        </p:txBody>
      </p:sp>
      <p:sp>
        <p:nvSpPr>
          <p:cNvPr id="99" name="태그 set_sw2"/>
          <p:cNvSpPr/>
          <p:nvPr/>
        </p:nvSpPr>
        <p:spPr>
          <a:xfrm>
            <a:off x="13167360" y="384048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set_sw2</a:t>
            </a:r>
          </a:p>
        </p:txBody>
      </p:sp>
      <p:cxnSp>
        <p:nvCxnSpPr>
          <p:cNvPr id="100" name="선"/>
          <p:cNvCxnSpPr/>
          <p:nvPr/>
        </p:nvCxnSpPr>
        <p:spPr>
          <a:xfrm>
            <a:off x="15910559" y="3054096"/>
            <a:ext cx="411481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태그 fnd_com"/>
          <p:cNvSpPr/>
          <p:nvPr/>
        </p:nvSpPr>
        <p:spPr>
          <a:xfrm>
            <a:off x="16322040" y="29077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fnd_com</a:t>
            </a:r>
          </a:p>
        </p:txBody>
      </p:sp>
      <p:cxnSp>
        <p:nvCxnSpPr>
          <p:cNvPr id="102" name="선"/>
          <p:cNvCxnSpPr/>
          <p:nvPr/>
        </p:nvCxnSpPr>
        <p:spPr>
          <a:xfrm>
            <a:off x="15910559" y="3739896"/>
            <a:ext cx="411481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태그 fnd_font"/>
          <p:cNvSpPr/>
          <p:nvPr/>
        </p:nvSpPr>
        <p:spPr>
          <a:xfrm>
            <a:off x="16322040" y="35935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fnd_font</a:t>
            </a:r>
          </a:p>
        </p:txBody>
      </p:sp>
      <p:sp>
        <p:nvSpPr>
          <p:cNvPr id="104" name="블록 LED 로직"/>
          <p:cNvSpPr/>
          <p:nvPr/>
        </p:nvSpPr>
        <p:spPr>
          <a:xfrm>
            <a:off x="14081760" y="4343400"/>
            <a:ext cx="1828800" cy="1371600"/>
          </a:xfrm>
          <a:prstGeom prst="roundRect">
            <a:avLst>
              <a:gd name="adj" fmla="val 5333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 로직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led_output</a:t>
            </a:r>
          </a:p>
        </p:txBody>
      </p:sp>
      <p:sp>
        <p:nvSpPr>
          <p:cNvPr id="105" name="태그 disp_sel"/>
          <p:cNvSpPr/>
          <p:nvPr/>
        </p:nvSpPr>
        <p:spPr>
          <a:xfrm>
            <a:off x="13167360" y="4425696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106" name="태그 WTS 신호"/>
          <p:cNvSpPr/>
          <p:nvPr/>
        </p:nvSpPr>
        <p:spPr>
          <a:xfrm>
            <a:off x="13167360" y="471830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WTS 신호</a:t>
            </a:r>
          </a:p>
        </p:txBody>
      </p:sp>
      <p:sp>
        <p:nvSpPr>
          <p:cNvPr id="107" name="태그 sr04_led"/>
          <p:cNvSpPr/>
          <p:nvPr/>
        </p:nvSpPr>
        <p:spPr>
          <a:xfrm>
            <a:off x="13167360" y="501091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sr04_led</a:t>
            </a:r>
          </a:p>
        </p:txBody>
      </p:sp>
      <p:sp>
        <p:nvSpPr>
          <p:cNvPr id="108" name="태그 dht_led"/>
          <p:cNvSpPr/>
          <p:nvPr/>
        </p:nvSpPr>
        <p:spPr>
          <a:xfrm>
            <a:off x="13167360" y="530352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dht_led</a:t>
            </a:r>
          </a:p>
        </p:txBody>
      </p:sp>
      <p:cxnSp>
        <p:nvCxnSpPr>
          <p:cNvPr id="109" name="선"/>
          <p:cNvCxnSpPr/>
          <p:nvPr/>
        </p:nvCxnSpPr>
        <p:spPr>
          <a:xfrm>
            <a:off x="15910559" y="5029200"/>
            <a:ext cx="411481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태그 led[15:0]"/>
          <p:cNvSpPr/>
          <p:nvPr/>
        </p:nvSpPr>
        <p:spPr>
          <a:xfrm>
            <a:off x="16322040" y="4882896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led[15:0]</a:t>
            </a:r>
          </a:p>
        </p:txBody>
      </p:sp>
      <p:sp>
        <p:nvSpPr>
          <p:cNvPr id="111" name="태그 rx"/>
          <p:cNvSpPr/>
          <p:nvPr/>
        </p:nvSpPr>
        <p:spPr>
          <a:xfrm>
            <a:off x="411480" y="69037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rx</a:t>
            </a:r>
          </a:p>
        </p:txBody>
      </p:sp>
      <p:cxnSp>
        <p:nvCxnSpPr>
          <p:cNvPr id="112" name="선"/>
          <p:cNvCxnSpPr/>
          <p:nvPr/>
        </p:nvCxnSpPr>
        <p:spPr>
          <a:xfrm>
            <a:off x="1417320" y="7050024"/>
            <a:ext cx="36576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블록 uart_rx"/>
          <p:cNvSpPr/>
          <p:nvPr/>
        </p:nvSpPr>
        <p:spPr>
          <a:xfrm>
            <a:off x="1783080" y="6766560"/>
            <a:ext cx="118872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uart_rx</a:t>
            </a:r>
          </a:p>
        </p:txBody>
      </p:sp>
      <p:cxnSp>
        <p:nvCxnSpPr>
          <p:cNvPr id="114" name="선"/>
          <p:cNvCxnSpPr/>
          <p:nvPr/>
        </p:nvCxnSpPr>
        <p:spPr>
          <a:xfrm>
            <a:off x="2971800" y="7050024"/>
            <a:ext cx="27432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블록 fifo"/>
          <p:cNvSpPr/>
          <p:nvPr/>
        </p:nvSpPr>
        <p:spPr>
          <a:xfrm>
            <a:off x="3246120" y="6766560"/>
            <a:ext cx="91440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RX × 8</a:t>
            </a:r>
          </a:p>
        </p:txBody>
      </p:sp>
      <p:cxnSp>
        <p:nvCxnSpPr>
          <p:cNvPr id="116" name="선"/>
          <p:cNvCxnSpPr/>
          <p:nvPr/>
        </p:nvCxnSpPr>
        <p:spPr>
          <a:xfrm>
            <a:off x="4160520" y="7050024"/>
            <a:ext cx="27432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블록 ASCII_DECODER"/>
          <p:cNvSpPr/>
          <p:nvPr/>
        </p:nvSpPr>
        <p:spPr>
          <a:xfrm>
            <a:off x="4434840" y="6675120"/>
            <a:ext cx="18288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ASCII_DECODER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/명령 + 옵션 파싱</a:t>
            </a:r>
          </a:p>
        </p:txBody>
      </p:sp>
      <p:cxnSp>
        <p:nvCxnSpPr>
          <p:cNvPr id="118" name="선"/>
          <p:cNvCxnSpPr/>
          <p:nvPr/>
        </p:nvCxnSpPr>
        <p:spPr>
          <a:xfrm>
            <a:off x="6263640" y="7050024"/>
            <a:ext cx="50292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블록 baud_tick_gen"/>
          <p:cNvSpPr/>
          <p:nvPr/>
        </p:nvSpPr>
        <p:spPr>
          <a:xfrm>
            <a:off x="1783080" y="7680960"/>
            <a:ext cx="1188720" cy="5303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baud_tick_gen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9600 × 16</a:t>
            </a:r>
          </a:p>
        </p:txBody>
      </p:sp>
      <p:cxnSp>
        <p:nvCxnSpPr>
          <p:cNvPr id="120" name="선"/>
          <p:cNvCxnSpPr/>
          <p:nvPr/>
        </p:nvCxnSpPr>
        <p:spPr>
          <a:xfrm flipV="1">
            <a:off x="2377440" y="7333488"/>
            <a:ext cx="0" cy="347472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라벨"/>
          <p:cNvSpPr txBox="1"/>
          <p:nvPr/>
        </p:nvSpPr>
        <p:spPr>
          <a:xfrm>
            <a:off x="3063240" y="782726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→ RX · TX 공용</a:t>
            </a:r>
          </a:p>
        </p:txBody>
      </p:sp>
      <p:sp>
        <p:nvSpPr>
          <p:cNvPr id="122" name="블록 UART_CONTROLLER"/>
          <p:cNvSpPr/>
          <p:nvPr/>
        </p:nvSpPr>
        <p:spPr>
          <a:xfrm>
            <a:off x="6766560" y="6675120"/>
            <a:ext cx="2377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UART_CONTROLLER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mode · auto · btn FSM</a:t>
            </a:r>
          </a:p>
        </p:txBody>
      </p:sp>
      <p:sp>
        <p:nvSpPr>
          <p:cNvPr id="123" name="태그 phy_btn"/>
          <p:cNvSpPr/>
          <p:nvPr/>
        </p:nvSpPr>
        <p:spPr>
          <a:xfrm>
            <a:off x="5870448" y="7498079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phy_btn</a:t>
            </a:r>
          </a:p>
        </p:txBody>
      </p:sp>
      <p:sp>
        <p:nvSpPr>
          <p:cNvPr id="124" name="라벨"/>
          <p:cNvSpPr txBox="1"/>
          <p:nvPr/>
        </p:nvSpPr>
        <p:spPr>
          <a:xfrm>
            <a:off x="3950208" y="750722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같은 clk 면 물리 먼저</a:t>
            </a:r>
          </a:p>
        </p:txBody>
      </p:sp>
      <p:cxnSp>
        <p:nvCxnSpPr>
          <p:cNvPr id="125" name="선"/>
          <p:cNvCxnSpPr/>
          <p:nvPr/>
        </p:nvCxnSpPr>
        <p:spPr>
          <a:xfrm flipV="1">
            <a:off x="6903720" y="6217920"/>
            <a:ext cx="0" cy="45720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선"/>
          <p:cNvCxnSpPr/>
          <p:nvPr/>
        </p:nvCxnSpPr>
        <p:spPr>
          <a:xfrm flipH="1">
            <a:off x="1691640" y="6217920"/>
            <a:ext cx="5212080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선"/>
          <p:cNvCxnSpPr/>
          <p:nvPr/>
        </p:nvCxnSpPr>
        <p:spPr>
          <a:xfrm flipV="1">
            <a:off x="1691640" y="5212080"/>
            <a:ext cx="0" cy="100584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선"/>
          <p:cNvCxnSpPr/>
          <p:nvPr/>
        </p:nvCxnSpPr>
        <p:spPr>
          <a:xfrm>
            <a:off x="1691640" y="5212080"/>
            <a:ext cx="2743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라벨"/>
          <p:cNvSpPr txBox="1"/>
          <p:nvPr/>
        </p:nvSpPr>
        <p:spPr>
          <a:xfrm>
            <a:off x="3931920" y="623620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module_control_bit[6:0]</a:t>
            </a:r>
          </a:p>
        </p:txBody>
      </p:sp>
      <p:cxnSp>
        <p:nvCxnSpPr>
          <p:cNvPr id="130" name="선"/>
          <p:cNvCxnSpPr/>
          <p:nvPr/>
        </p:nvCxnSpPr>
        <p:spPr>
          <a:xfrm flipV="1">
            <a:off x="7178040" y="6080760"/>
            <a:ext cx="0" cy="59436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선"/>
          <p:cNvCxnSpPr/>
          <p:nvPr/>
        </p:nvCxnSpPr>
        <p:spPr>
          <a:xfrm flipH="1">
            <a:off x="2194560" y="6080760"/>
            <a:ext cx="4983480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선"/>
          <p:cNvCxnSpPr/>
          <p:nvPr/>
        </p:nvCxnSpPr>
        <p:spPr>
          <a:xfrm flipV="1">
            <a:off x="2194560" y="5413248"/>
            <a:ext cx="0" cy="667512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라벨"/>
          <p:cNvSpPr txBox="1"/>
          <p:nvPr/>
        </p:nvSpPr>
        <p:spPr>
          <a:xfrm>
            <a:off x="2286000" y="5852160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uart_mode</a:t>
            </a:r>
          </a:p>
        </p:txBody>
      </p:sp>
      <p:cxnSp>
        <p:nvCxnSpPr>
          <p:cNvPr id="134" name="선"/>
          <p:cNvCxnSpPr/>
          <p:nvPr/>
        </p:nvCxnSpPr>
        <p:spPr>
          <a:xfrm flipV="1">
            <a:off x="7452360" y="5943600"/>
            <a:ext cx="0" cy="73152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선"/>
          <p:cNvCxnSpPr/>
          <p:nvPr/>
        </p:nvCxnSpPr>
        <p:spPr>
          <a:xfrm flipH="1">
            <a:off x="3749039" y="5943600"/>
            <a:ext cx="3703321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선"/>
          <p:cNvCxnSpPr/>
          <p:nvPr/>
        </p:nvCxnSpPr>
        <p:spPr>
          <a:xfrm flipV="1">
            <a:off x="3749039" y="3438144"/>
            <a:ext cx="0" cy="2505456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선"/>
          <p:cNvCxnSpPr/>
          <p:nvPr/>
        </p:nvCxnSpPr>
        <p:spPr>
          <a:xfrm>
            <a:off x="3749039" y="3438144"/>
            <a:ext cx="22860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라벨"/>
          <p:cNvSpPr txBox="1"/>
          <p:nvPr/>
        </p:nvSpPr>
        <p:spPr>
          <a:xfrm>
            <a:off x="3840480" y="3703320"/>
            <a:ext cx="8229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uart_btn</a:t>
            </a:r>
          </a:p>
        </p:txBody>
      </p:sp>
      <p:sp>
        <p:nvSpPr>
          <p:cNvPr id="139" name="블록 sender_tick"/>
          <p:cNvSpPr/>
          <p:nvPr/>
        </p:nvSpPr>
        <p:spPr>
          <a:xfrm>
            <a:off x="9555480" y="6967728"/>
            <a:ext cx="1371600" cy="566928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sender_tick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1 Hz · scan 0→4</a:t>
            </a:r>
          </a:p>
        </p:txBody>
      </p:sp>
      <p:cxnSp>
        <p:nvCxnSpPr>
          <p:cNvPr id="140" name="선"/>
          <p:cNvCxnSpPr/>
          <p:nvPr/>
        </p:nvCxnSpPr>
        <p:spPr>
          <a:xfrm flipH="1">
            <a:off x="9144000" y="7251192"/>
            <a:ext cx="4114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선"/>
          <p:cNvCxnSpPr/>
          <p:nvPr/>
        </p:nvCxnSpPr>
        <p:spPr>
          <a:xfrm>
            <a:off x="9144000" y="6784848"/>
            <a:ext cx="4727448" cy="0"/>
          </a:xfrm>
          <a:prstGeom prst="line">
            <a:avLst/>
          </a:prstGeom>
          <a:ln w="317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선"/>
          <p:cNvCxnSpPr/>
          <p:nvPr/>
        </p:nvCxnSpPr>
        <p:spPr>
          <a:xfrm>
            <a:off x="13871448" y="6784848"/>
            <a:ext cx="0" cy="301752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라벨"/>
          <p:cNvSpPr txBox="1"/>
          <p:nvPr/>
        </p:nvSpPr>
        <p:spPr>
          <a:xfrm>
            <a:off x="10241280" y="6547104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send_go</a:t>
            </a:r>
          </a:p>
        </p:txBody>
      </p:sp>
      <p:sp>
        <p:nvSpPr>
          <p:cNvPr id="144" name="MUX 전송"/>
          <p:cNvSpPr/>
          <p:nvPr/>
        </p:nvSpPr>
        <p:spPr>
          <a:xfrm>
            <a:off x="11887200" y="6903720"/>
            <a:ext cx="868680" cy="1280159"/>
          </a:xfrm>
          <a:custGeom>
            <a:avLst/>
            <a:gdLst/>
            <a:ahLst/>
            <a:cxnLst/>
            <a:rect l="l" t="t" r="r" b="b"/>
            <a:pathLst>
              <a:path w="868680" h="1280159">
                <a:moveTo>
                  <a:pt x="0" y="0"/>
                </a:moveTo>
                <a:lnTo>
                  <a:pt x="868680" y="164592"/>
                </a:lnTo>
                <a:lnTo>
                  <a:pt x="868680" y="1115568"/>
                </a:lnTo>
                <a:lnTo>
                  <a:pt x="0" y="1280159"/>
                </a:lnTo>
                <a:lnTo>
                  <a:pt x="0" y="0"/>
                </a:lnTo>
                <a:close/>
              </a:path>
            </a:pathLst>
          </a:custGeom>
          <a:solidFill>
            <a:srgbClr val="E6F4F3"/>
          </a:solidFill>
          <a:ln w="1905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라벨"/>
          <p:cNvSpPr txBox="1"/>
          <p:nvPr/>
        </p:nvSpPr>
        <p:spPr>
          <a:xfrm>
            <a:off x="11841480" y="6528816"/>
            <a:ext cx="21945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전송 MUX  8:1 × 24 bit</a:t>
            </a:r>
          </a:p>
        </p:txBody>
      </p:sp>
      <p:cxnSp>
        <p:nvCxnSpPr>
          <p:cNvPr id="146" name="선"/>
          <p:cNvCxnSpPr/>
          <p:nvPr/>
        </p:nvCxnSpPr>
        <p:spPr>
          <a:xfrm>
            <a:off x="11777472" y="3104388"/>
            <a:ext cx="0" cy="4210812"/>
          </a:xfrm>
          <a:prstGeom prst="line">
            <a:avLst/>
          </a:prstGeom>
          <a:ln w="317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선"/>
          <p:cNvCxnSpPr/>
          <p:nvPr/>
        </p:nvCxnSpPr>
        <p:spPr>
          <a:xfrm>
            <a:off x="11777472" y="7315200"/>
            <a:ext cx="109728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선"/>
          <p:cNvCxnSpPr/>
          <p:nvPr/>
        </p:nvCxnSpPr>
        <p:spPr>
          <a:xfrm>
            <a:off x="11777472" y="7022592"/>
            <a:ext cx="109728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접점"/>
          <p:cNvSpPr/>
          <p:nvPr/>
        </p:nvSpPr>
        <p:spPr>
          <a:xfrm>
            <a:off x="11736324" y="6981444"/>
            <a:ext cx="82296" cy="82296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0" name="선"/>
          <p:cNvCxnSpPr/>
          <p:nvPr/>
        </p:nvCxnSpPr>
        <p:spPr>
          <a:xfrm>
            <a:off x="11777472" y="7168896"/>
            <a:ext cx="109728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접점"/>
          <p:cNvSpPr/>
          <p:nvPr/>
        </p:nvSpPr>
        <p:spPr>
          <a:xfrm>
            <a:off x="11736324" y="7127748"/>
            <a:ext cx="82296" cy="82296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접점"/>
          <p:cNvSpPr/>
          <p:nvPr/>
        </p:nvSpPr>
        <p:spPr>
          <a:xfrm>
            <a:off x="11736324" y="3063240"/>
            <a:ext cx="82296" cy="82296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3" name="선"/>
          <p:cNvCxnSpPr/>
          <p:nvPr/>
        </p:nvCxnSpPr>
        <p:spPr>
          <a:xfrm>
            <a:off x="11686032" y="4247388"/>
            <a:ext cx="0" cy="3268980"/>
          </a:xfrm>
          <a:prstGeom prst="line">
            <a:avLst/>
          </a:prstGeom>
          <a:ln w="317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선"/>
          <p:cNvCxnSpPr/>
          <p:nvPr/>
        </p:nvCxnSpPr>
        <p:spPr>
          <a:xfrm>
            <a:off x="11686032" y="7516368"/>
            <a:ext cx="201168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접점"/>
          <p:cNvSpPr/>
          <p:nvPr/>
        </p:nvSpPr>
        <p:spPr>
          <a:xfrm>
            <a:off x="11644884" y="4206240"/>
            <a:ext cx="82296" cy="82296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6" name="선"/>
          <p:cNvCxnSpPr/>
          <p:nvPr/>
        </p:nvCxnSpPr>
        <p:spPr>
          <a:xfrm>
            <a:off x="11430000" y="5390388"/>
            <a:ext cx="0" cy="2327148"/>
          </a:xfrm>
          <a:prstGeom prst="line">
            <a:avLst/>
          </a:prstGeom>
          <a:ln w="317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선"/>
          <p:cNvCxnSpPr/>
          <p:nvPr/>
        </p:nvCxnSpPr>
        <p:spPr>
          <a:xfrm>
            <a:off x="11430000" y="7717536"/>
            <a:ext cx="45720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접점"/>
          <p:cNvSpPr/>
          <p:nvPr/>
        </p:nvSpPr>
        <p:spPr>
          <a:xfrm>
            <a:off x="11388852" y="5349240"/>
            <a:ext cx="82296" cy="82296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MUX 핀"/>
          <p:cNvSpPr txBox="1"/>
          <p:nvPr/>
        </p:nvSpPr>
        <p:spPr>
          <a:xfrm>
            <a:off x="11932920" y="693115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0 sw</a:t>
            </a:r>
          </a:p>
        </p:txBody>
      </p:sp>
      <p:sp>
        <p:nvSpPr>
          <p:cNvPr id="160" name="MUX 핀"/>
          <p:cNvSpPr txBox="1"/>
          <p:nvPr/>
        </p:nvSpPr>
        <p:spPr>
          <a:xfrm>
            <a:off x="11932920" y="707745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1 tm</a:t>
            </a:r>
          </a:p>
        </p:txBody>
      </p:sp>
      <p:sp>
        <p:nvSpPr>
          <p:cNvPr id="161" name="MUX 핀"/>
          <p:cNvSpPr txBox="1"/>
          <p:nvPr/>
        </p:nvSpPr>
        <p:spPr>
          <a:xfrm>
            <a:off x="11932920" y="722376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2 wt</a:t>
            </a:r>
          </a:p>
        </p:txBody>
      </p:sp>
      <p:sp>
        <p:nvSpPr>
          <p:cNvPr id="162" name="MUX 핀"/>
          <p:cNvSpPr txBox="1"/>
          <p:nvPr/>
        </p:nvSpPr>
        <p:spPr>
          <a:xfrm>
            <a:off x="11932920" y="742492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3 거리</a:t>
            </a:r>
            <a:r>
              <a:rPr sz="850" b="1">
                <a:solidFill>
                  <a:srgbClr val="1E8E3E"/>
                </a:solidFill>
                <a:latin typeface="Malgun Gothic"/>
                <a:ea typeface="Malgun Gothic"/>
                <a:cs typeface="Malgun Gothic"/>
              </a:rPr>
              <a:t>·상태</a:t>
            </a:r>
          </a:p>
        </p:txBody>
      </p:sp>
      <p:sp>
        <p:nvSpPr>
          <p:cNvPr id="163" name="MUX 핀"/>
          <p:cNvSpPr txBox="1"/>
          <p:nvPr/>
        </p:nvSpPr>
        <p:spPr>
          <a:xfrm>
            <a:off x="11932920" y="762609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4 온습도</a:t>
            </a:r>
            <a:r>
              <a:rPr sz="850" b="1">
                <a:solidFill>
                  <a:srgbClr val="1E8E3E"/>
                </a:solidFill>
                <a:latin typeface="Malgun Gothic"/>
                <a:ea typeface="Malgun Gothic"/>
                <a:cs typeface="Malgun Gothic"/>
              </a:rPr>
              <a:t>·상태</a:t>
            </a:r>
          </a:p>
        </p:txBody>
      </p:sp>
      <p:cxnSp>
        <p:nvCxnSpPr>
          <p:cNvPr id="165" name="선"/>
          <p:cNvCxnSpPr/>
          <p:nvPr/>
        </p:nvCxnSpPr>
        <p:spPr>
          <a:xfrm>
            <a:off x="12755880" y="7498079"/>
            <a:ext cx="45720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선"/>
          <p:cNvCxnSpPr/>
          <p:nvPr/>
        </p:nvCxnSpPr>
        <p:spPr>
          <a:xfrm>
            <a:off x="8869680" y="8046720"/>
            <a:ext cx="0" cy="201168"/>
          </a:xfrm>
          <a:prstGeom prst="line">
            <a:avLst/>
          </a:prstGeom>
          <a:ln w="317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선"/>
          <p:cNvCxnSpPr/>
          <p:nvPr/>
        </p:nvCxnSpPr>
        <p:spPr>
          <a:xfrm>
            <a:off x="8869680" y="8247888"/>
            <a:ext cx="5001768" cy="0"/>
          </a:xfrm>
          <a:prstGeom prst="line">
            <a:avLst/>
          </a:prstGeom>
          <a:ln w="317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선"/>
          <p:cNvCxnSpPr/>
          <p:nvPr/>
        </p:nvCxnSpPr>
        <p:spPr>
          <a:xfrm flipV="1">
            <a:off x="13871448" y="7909560"/>
            <a:ext cx="0" cy="338328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라벨"/>
          <p:cNvSpPr txBox="1"/>
          <p:nvPr/>
        </p:nvSpPr>
        <p:spPr>
          <a:xfrm>
            <a:off x="9509760" y="8010144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send_sel</a:t>
            </a:r>
          </a:p>
        </p:txBody>
      </p:sp>
      <p:cxnSp>
        <p:nvCxnSpPr>
          <p:cNvPr id="170" name="선"/>
          <p:cNvCxnSpPr/>
          <p:nvPr/>
        </p:nvCxnSpPr>
        <p:spPr>
          <a:xfrm flipV="1">
            <a:off x="12481560" y="8071264"/>
            <a:ext cx="0" cy="176624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접점"/>
          <p:cNvSpPr/>
          <p:nvPr/>
        </p:nvSpPr>
        <p:spPr>
          <a:xfrm>
            <a:off x="12440412" y="8206740"/>
            <a:ext cx="82296" cy="82296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2" name="블록 uart_sender"/>
          <p:cNvSpPr/>
          <p:nvPr/>
        </p:nvSpPr>
        <p:spPr>
          <a:xfrm>
            <a:off x="13213080" y="7086600"/>
            <a:ext cx="1325880" cy="822960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uart_sender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숫자 → ASCII 한 줄</a:t>
            </a:r>
          </a:p>
        </p:txBody>
      </p:sp>
      <p:cxnSp>
        <p:nvCxnSpPr>
          <p:cNvPr id="173" name="선"/>
          <p:cNvCxnSpPr/>
          <p:nvPr/>
        </p:nvCxnSpPr>
        <p:spPr>
          <a:xfrm>
            <a:off x="14538960" y="7498079"/>
            <a:ext cx="228599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블록 fifo"/>
          <p:cNvSpPr/>
          <p:nvPr/>
        </p:nvSpPr>
        <p:spPr>
          <a:xfrm>
            <a:off x="14767559" y="7214616"/>
            <a:ext cx="82296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TX × 64</a:t>
            </a:r>
          </a:p>
        </p:txBody>
      </p:sp>
      <p:cxnSp>
        <p:nvCxnSpPr>
          <p:cNvPr id="175" name="선"/>
          <p:cNvCxnSpPr/>
          <p:nvPr/>
        </p:nvCxnSpPr>
        <p:spPr>
          <a:xfrm>
            <a:off x="15590520" y="7498079"/>
            <a:ext cx="22860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블록 uart_tx"/>
          <p:cNvSpPr/>
          <p:nvPr/>
        </p:nvSpPr>
        <p:spPr>
          <a:xfrm>
            <a:off x="15819120" y="7214616"/>
            <a:ext cx="86868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uart_tx</a:t>
            </a:r>
          </a:p>
        </p:txBody>
      </p:sp>
      <p:cxnSp>
        <p:nvCxnSpPr>
          <p:cNvPr id="177" name="선"/>
          <p:cNvCxnSpPr/>
          <p:nvPr/>
        </p:nvCxnSpPr>
        <p:spPr>
          <a:xfrm>
            <a:off x="16687800" y="7498079"/>
            <a:ext cx="18288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8" name="태그 tx"/>
          <p:cNvSpPr/>
          <p:nvPr/>
        </p:nvSpPr>
        <p:spPr>
          <a:xfrm>
            <a:off x="16870680" y="7351775"/>
            <a:ext cx="822960" cy="292608"/>
          </a:xfrm>
          <a:prstGeom prst="homePlate">
            <a:avLst>
              <a:gd name="adj" fmla="val 24888"/>
            </a:avLst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tx</a:t>
            </a:r>
          </a:p>
        </p:txBody>
      </p:sp>
      <p:sp>
        <p:nvSpPr>
          <p:cNvPr id="179" name="라벨 v2"/>
          <p:cNvSpPr txBox="1"/>
          <p:nvPr/>
        </p:nvSpPr>
        <p:spPr>
          <a:xfrm>
            <a:off x="8366760" y="3657600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00" b="1">
                <a:solidFill>
                  <a:srgbClr val="1E8E3E"/>
                </a:solidFill>
                <a:latin typeface="Malgun Gothic"/>
                <a:ea typeface="Malgun Gothic"/>
                <a:cs typeface="Malgun Gothic"/>
              </a:rPr>
              <a:t>상태 → FND MUX + 전송 MUX</a:t>
            </a:r>
          </a:p>
        </p:txBody>
      </p:sp>
      <p:sp>
        <p:nvSpPr>
          <p:cNvPr id="180" name="라벨 v2"/>
          <p:cNvSpPr txBox="1"/>
          <p:nvPr/>
        </p:nvSpPr>
        <p:spPr>
          <a:xfrm>
            <a:off x="8366760" y="4800600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00" b="1">
                <a:solidFill>
                  <a:srgbClr val="1E8E3E"/>
                </a:solidFill>
                <a:latin typeface="Malgun Gothic"/>
                <a:ea typeface="Malgun Gothic"/>
                <a:cs typeface="Malgun Gothic"/>
              </a:rPr>
              <a:t>상태 → FND MUX + 전송 MUX</a:t>
            </a:r>
          </a:p>
        </p:txBody>
      </p:sp>
      <p:sp>
        <p:nvSpPr>
          <p:cNvPr id="181" name="단계 1"/>
          <p:cNvSpPr/>
          <p:nvPr/>
        </p:nvSpPr>
        <p:spPr>
          <a:xfrm>
            <a:off x="6089904" y="6473952"/>
            <a:ext cx="347472" cy="347472"/>
          </a:xfrm>
          <a:prstGeom prst="ellipse">
            <a:avLst/>
          </a:prstGeom>
          <a:solidFill>
            <a:srgbClr val="2C7A7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82" name="단계 2"/>
          <p:cNvSpPr/>
          <p:nvPr/>
        </p:nvSpPr>
        <p:spPr>
          <a:xfrm>
            <a:off x="8503920" y="8229600"/>
            <a:ext cx="347472" cy="347472"/>
          </a:xfrm>
          <a:prstGeom prst="ellipse">
            <a:avLst/>
          </a:prstGeom>
          <a:solidFill>
            <a:srgbClr val="2C7A7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83" name="단계 3"/>
          <p:cNvSpPr/>
          <p:nvPr/>
        </p:nvSpPr>
        <p:spPr>
          <a:xfrm>
            <a:off x="11027664" y="7827264"/>
            <a:ext cx="347472" cy="347472"/>
          </a:xfrm>
          <a:prstGeom prst="ellipse">
            <a:avLst/>
          </a:prstGeom>
          <a:solidFill>
            <a:srgbClr val="2C7A7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4" name="단계 4"/>
          <p:cNvSpPr/>
          <p:nvPr/>
        </p:nvSpPr>
        <p:spPr>
          <a:xfrm>
            <a:off x="13972032" y="6400800"/>
            <a:ext cx="347472" cy="347472"/>
          </a:xfrm>
          <a:prstGeom prst="ellipse">
            <a:avLst/>
          </a:prstGeom>
          <a:solidFill>
            <a:srgbClr val="2C7A7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85" name="단계 5"/>
          <p:cNvSpPr/>
          <p:nvPr/>
        </p:nvSpPr>
        <p:spPr>
          <a:xfrm>
            <a:off x="13533120" y="7882127"/>
            <a:ext cx="347472" cy="347472"/>
          </a:xfrm>
          <a:prstGeom prst="ellipse">
            <a:avLst/>
          </a:prstGeom>
          <a:solidFill>
            <a:srgbClr val="2C7A7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86" name="단계 6"/>
          <p:cNvSpPr/>
          <p:nvPr/>
        </p:nvSpPr>
        <p:spPr>
          <a:xfrm>
            <a:off x="16733520" y="6903720"/>
            <a:ext cx="347472" cy="347472"/>
          </a:xfrm>
          <a:prstGeom prst="ellipse">
            <a:avLst/>
          </a:prstGeom>
          <a:solidFill>
            <a:srgbClr val="2C7A7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87" name="단계표 1"/>
          <p:cNvSpPr/>
          <p:nvPr/>
        </p:nvSpPr>
        <p:spPr>
          <a:xfrm>
            <a:off x="841248" y="8613648"/>
            <a:ext cx="329184" cy="329184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88" name="라벨"/>
          <p:cNvSpPr txBox="1"/>
          <p:nvPr/>
        </p:nvSpPr>
        <p:spPr>
          <a:xfrm>
            <a:off x="1252728" y="86045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디코더 : "/get " + Enter</a:t>
            </a:r>
          </a:p>
        </p:txBody>
      </p:sp>
      <p:sp>
        <p:nvSpPr>
          <p:cNvPr id="189" name="단계표 2"/>
          <p:cNvSpPr/>
          <p:nvPr/>
        </p:nvSpPr>
        <p:spPr>
          <a:xfrm>
            <a:off x="6419088" y="8613648"/>
            <a:ext cx="329184" cy="329184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90" name="라벨"/>
          <p:cNvSpPr txBox="1"/>
          <p:nvPr/>
        </p:nvSpPr>
        <p:spPr>
          <a:xfrm>
            <a:off x="6830568" y="86045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컨트롤러 : /mod 모드 → send_sel (온습도 4 · 거리 3 · …)</a:t>
            </a:r>
          </a:p>
        </p:txBody>
      </p:sp>
      <p:sp>
        <p:nvSpPr>
          <p:cNvPr id="191" name="단계표 3"/>
          <p:cNvSpPr/>
          <p:nvPr/>
        </p:nvSpPr>
        <p:spPr>
          <a:xfrm>
            <a:off x="11996928" y="8613648"/>
            <a:ext cx="329184" cy="329184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92" name="라벨"/>
          <p:cNvSpPr txBox="1"/>
          <p:nvPr/>
        </p:nvSpPr>
        <p:spPr>
          <a:xfrm>
            <a:off x="12408407" y="86045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전송 MUX : *_time · 거리·상태 · 온습도·상태</a:t>
            </a:r>
          </a:p>
        </p:txBody>
      </p:sp>
      <p:sp>
        <p:nvSpPr>
          <p:cNvPr id="193" name="단계표 4"/>
          <p:cNvSpPr/>
          <p:nvPr/>
        </p:nvSpPr>
        <p:spPr>
          <a:xfrm>
            <a:off x="841248" y="9070848"/>
            <a:ext cx="329184" cy="329184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4" name="라벨"/>
          <p:cNvSpPr txBox="1"/>
          <p:nvPr/>
        </p:nvSpPr>
        <p:spPr>
          <a:xfrm>
            <a:off x="1252728" y="90617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send_go 1 펄스 → sender 가 그 순간 값 캡처</a:t>
            </a:r>
          </a:p>
        </p:txBody>
      </p:sp>
      <p:sp>
        <p:nvSpPr>
          <p:cNvPr id="195" name="단계표 5"/>
          <p:cNvSpPr/>
          <p:nvPr/>
        </p:nvSpPr>
        <p:spPr>
          <a:xfrm>
            <a:off x="6419088" y="9070848"/>
            <a:ext cx="329184" cy="329184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96" name="라벨"/>
          <p:cNvSpPr txBox="1"/>
          <p:nvPr/>
        </p:nvSpPr>
        <p:spPr>
          <a:xfrm>
            <a:off x="6830568" y="9061704"/>
            <a:ext cx="516636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sender : "045cm" · "55%24C"</a:t>
            </a:r>
            <a:r>
              <a:rPr sz="1350" b="1">
                <a:solidFill>
                  <a:srgbClr val="1E8E3E"/>
                </a:solidFill>
                <a:latin typeface="Malgun Gothic"/>
                <a:ea typeface="Malgun Gothic"/>
                <a:cs typeface="Malgun Gothic"/>
              </a:rPr>
              <a:t> + "Err 2" · "--%--C"</a:t>
            </a:r>
          </a:p>
        </p:txBody>
      </p:sp>
      <p:sp>
        <p:nvSpPr>
          <p:cNvPr id="197" name="단계표 6"/>
          <p:cNvSpPr/>
          <p:nvPr/>
        </p:nvSpPr>
        <p:spPr>
          <a:xfrm>
            <a:off x="11996928" y="9070848"/>
            <a:ext cx="329184" cy="329184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98" name="라벨"/>
          <p:cNvSpPr txBox="1"/>
          <p:nvPr/>
        </p:nvSpPr>
        <p:spPr>
          <a:xfrm>
            <a:off x="12408407" y="90617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FIFO_TX → uart_tx → tx · /auto 중엔 /get 무시</a:t>
            </a:r>
          </a:p>
        </p:txBody>
      </p:sp>
      <p:sp>
        <p:nvSpPr>
          <p:cNvPr id="199" name="라벨 v2"/>
          <p:cNvSpPr txBox="1"/>
          <p:nvPr/>
        </p:nvSpPr>
        <p:spPr>
          <a:xfrm>
            <a:off x="841248" y="9582912"/>
            <a:ext cx="1536192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1E8E3E"/>
                </a:solidFill>
                <a:latin typeface="Malgun Gothic"/>
                <a:ea typeface="Malgun Gothic"/>
                <a:cs typeface="Malgun Gothic"/>
              </a:rPr>
              <a:t>v2</a:t>
            </a:r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  전송 MUX 3 = {13'd0, 상태, 거리} · 4 = {4'd0, err, dashes, 상태, 습도, 온도}  →  PC 도 Err 1 · Err 2 · Err 3 · --%--C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라벨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WTS · SR04 · DHT11 · UART</a:t>
            </a:r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라벨"/>
          <p:cNvSpPr txBox="1"/>
          <p:nvPr/>
        </p:nvSpPr>
        <p:spPr>
          <a:xfrm>
            <a:off x="1042415" y="402336"/>
            <a:ext cx="91440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02  시스템 구조 · 명령별 흐름  ·  v2</a:t>
            </a:r>
          </a:p>
        </p:txBody>
      </p:sp>
      <p:sp>
        <p:nvSpPr>
          <p:cNvPr id="5" name="라벨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/auto 흐름 — 1 초마다 자동 전송  (v2)</a:t>
            </a:r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7" name="라벨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컨트롤러가 AUTO 상태로 1 Hz tick 을 켬 · 매 tick 마다 정해진 (all 이면 0→4 순환) 데이터를 한 줄씩 TX</a:t>
            </a:r>
          </a:p>
        </p:txBody>
      </p:sp>
      <p:sp>
        <p:nvSpPr>
          <p:cNvPr id="8" name="라벨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14</a:t>
            </a:r>
          </a:p>
        </p:txBody>
      </p:sp>
      <p:sp>
        <p:nvSpPr>
          <p:cNvPr id="9" name="줄 WTS  스톱워치 · 시계 · 타이머"/>
          <p:cNvSpPr/>
          <p:nvPr/>
        </p:nvSpPr>
        <p:spPr>
          <a:xfrm>
            <a:off x="5806440" y="2487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라벨"/>
          <p:cNvSpPr txBox="1"/>
          <p:nvPr/>
        </p:nvSpPr>
        <p:spPr>
          <a:xfrm>
            <a:off x="5916168" y="2514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WTS  스톱워치 · 시계 · 타이머</a:t>
            </a:r>
          </a:p>
        </p:txBody>
      </p:sp>
      <p:sp>
        <p:nvSpPr>
          <p:cNvPr id="11" name="줄 SR04  초음파 거리"/>
          <p:cNvSpPr/>
          <p:nvPr/>
        </p:nvSpPr>
        <p:spPr>
          <a:xfrm>
            <a:off x="5806440" y="3630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라벨"/>
          <p:cNvSpPr txBox="1"/>
          <p:nvPr/>
        </p:nvSpPr>
        <p:spPr>
          <a:xfrm>
            <a:off x="5916168" y="3657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SR04  초음파 거리</a:t>
            </a:r>
          </a:p>
        </p:txBody>
      </p:sp>
      <p:sp>
        <p:nvSpPr>
          <p:cNvPr id="13" name="줄 DHT11  온습도"/>
          <p:cNvSpPr/>
          <p:nvPr/>
        </p:nvSpPr>
        <p:spPr>
          <a:xfrm>
            <a:off x="5806440" y="4773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라벨"/>
          <p:cNvSpPr txBox="1"/>
          <p:nvPr/>
        </p:nvSpPr>
        <p:spPr>
          <a:xfrm>
            <a:off x="5916168" y="4800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DHT11  온습도</a:t>
            </a:r>
          </a:p>
        </p:txBody>
      </p:sp>
      <p:sp>
        <p:nvSpPr>
          <p:cNvPr id="15" name="줄 UART  명령 수신 · 응답 전송  (uart_top)"/>
          <p:cNvSpPr/>
          <p:nvPr/>
        </p:nvSpPr>
        <p:spPr>
          <a:xfrm>
            <a:off x="1600200" y="6355080"/>
            <a:ext cx="15133320" cy="2011680"/>
          </a:xfrm>
          <a:prstGeom prst="roundRect">
            <a:avLst>
              <a:gd name="adj" fmla="val 3636"/>
            </a:avLst>
          </a:prstGeom>
          <a:solidFill>
            <a:srgbClr val="E6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라벨"/>
          <p:cNvSpPr txBox="1"/>
          <p:nvPr/>
        </p:nvSpPr>
        <p:spPr>
          <a:xfrm>
            <a:off x="1709928" y="6382512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UART  명령 수신 · 응답 전송  (uart_top)</a:t>
            </a:r>
          </a:p>
        </p:txBody>
      </p:sp>
      <p:sp>
        <p:nvSpPr>
          <p:cNvPr id="17" name="라벨"/>
          <p:cNvSpPr txBox="1"/>
          <p:nvPr/>
        </p:nvSpPr>
        <p:spPr>
          <a:xfrm>
            <a:off x="11137392" y="6382512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9600 bps · 8N1</a:t>
            </a:r>
          </a:p>
        </p:txBody>
      </p:sp>
      <p:sp>
        <p:nvSpPr>
          <p:cNvPr id="18" name="태그 clk"/>
          <p:cNvSpPr/>
          <p:nvPr/>
        </p:nvSpPr>
        <p:spPr>
          <a:xfrm>
            <a:off x="411480" y="21031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clk</a:t>
            </a:r>
          </a:p>
        </p:txBody>
      </p:sp>
      <p:cxnSp>
        <p:nvCxnSpPr>
          <p:cNvPr id="19" name="선"/>
          <p:cNvCxnSpPr/>
          <p:nvPr/>
        </p:nvCxnSpPr>
        <p:spPr>
          <a:xfrm>
            <a:off x="1417320" y="2249424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블록 clock_tick_generator"/>
          <p:cNvSpPr/>
          <p:nvPr/>
        </p:nvSpPr>
        <p:spPr>
          <a:xfrm>
            <a:off x="1737360" y="2057400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clock_tick_generator</a:t>
            </a:r>
          </a:p>
        </p:txBody>
      </p:sp>
      <p:cxnSp>
        <p:nvCxnSpPr>
          <p:cNvPr id="21" name="선"/>
          <p:cNvCxnSpPr/>
          <p:nvPr/>
        </p:nvCxnSpPr>
        <p:spPr>
          <a:xfrm>
            <a:off x="3429000" y="2249424"/>
            <a:ext cx="11567159" cy="0"/>
          </a:xfrm>
          <a:prstGeom prst="line">
            <a:avLst/>
          </a:prstGeom>
          <a:ln w="19050">
            <a:solidFill>
              <a:srgbClr val="4A556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선"/>
          <p:cNvCxnSpPr/>
          <p:nvPr/>
        </p:nvCxnSpPr>
        <p:spPr>
          <a:xfrm>
            <a:off x="14996159" y="2249424"/>
            <a:ext cx="0" cy="356616"/>
          </a:xfrm>
          <a:prstGeom prst="line">
            <a:avLst/>
          </a:prstGeom>
          <a:ln w="19050">
            <a:solidFill>
              <a:srgbClr val="4A556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라벨"/>
          <p:cNvSpPr txBox="1"/>
          <p:nvPr/>
        </p:nvSpPr>
        <p:spPr>
          <a:xfrm>
            <a:off x="3840480" y="2011680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4 kHz  →  디바운서 · FND 스캔</a:t>
            </a:r>
          </a:p>
        </p:txBody>
      </p:sp>
      <p:cxnSp>
        <p:nvCxnSpPr>
          <p:cNvPr id="24" name="선"/>
          <p:cNvCxnSpPr/>
          <p:nvPr/>
        </p:nvCxnSpPr>
        <p:spPr>
          <a:xfrm>
            <a:off x="2194560" y="2441448"/>
            <a:ext cx="0" cy="118872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태그 btn_R"/>
          <p:cNvSpPr/>
          <p:nvPr/>
        </p:nvSpPr>
        <p:spPr>
          <a:xfrm>
            <a:off x="411480" y="263347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btn_R</a:t>
            </a:r>
          </a:p>
        </p:txBody>
      </p:sp>
      <p:cxnSp>
        <p:nvCxnSpPr>
          <p:cNvPr id="26" name="선"/>
          <p:cNvCxnSpPr/>
          <p:nvPr/>
        </p:nvCxnSpPr>
        <p:spPr>
          <a:xfrm>
            <a:off x="1417320" y="2779776"/>
            <a:ext cx="3200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태그 btn_L"/>
          <p:cNvSpPr/>
          <p:nvPr/>
        </p:nvSpPr>
        <p:spPr>
          <a:xfrm>
            <a:off x="411480" y="299923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btn_L</a:t>
            </a:r>
          </a:p>
        </p:txBody>
      </p:sp>
      <p:cxnSp>
        <p:nvCxnSpPr>
          <p:cNvPr id="28" name="선"/>
          <p:cNvCxnSpPr/>
          <p:nvPr/>
        </p:nvCxnSpPr>
        <p:spPr>
          <a:xfrm>
            <a:off x="1417320" y="3145536"/>
            <a:ext cx="3200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태그 btn_U"/>
          <p:cNvSpPr/>
          <p:nvPr/>
        </p:nvSpPr>
        <p:spPr>
          <a:xfrm>
            <a:off x="411480" y="3364991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btn_U</a:t>
            </a:r>
          </a:p>
        </p:txBody>
      </p:sp>
      <p:cxnSp>
        <p:nvCxnSpPr>
          <p:cNvPr id="30" name="선"/>
          <p:cNvCxnSpPr/>
          <p:nvPr/>
        </p:nvCxnSpPr>
        <p:spPr>
          <a:xfrm>
            <a:off x="1417320" y="3511296"/>
            <a:ext cx="3200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태그 btn_D"/>
          <p:cNvSpPr/>
          <p:nvPr/>
        </p:nvSpPr>
        <p:spPr>
          <a:xfrm>
            <a:off x="411480" y="373075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btn_D</a:t>
            </a:r>
          </a:p>
        </p:txBody>
      </p:sp>
      <p:cxnSp>
        <p:nvCxnSpPr>
          <p:cNvPr id="32" name="선"/>
          <p:cNvCxnSpPr/>
          <p:nvPr/>
        </p:nvCxnSpPr>
        <p:spPr>
          <a:xfrm>
            <a:off x="1417320" y="3877056"/>
            <a:ext cx="3200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블록 btn_debounce&#10;×4"/>
          <p:cNvSpPr/>
          <p:nvPr/>
        </p:nvSpPr>
        <p:spPr>
          <a:xfrm>
            <a:off x="1737360" y="2560320"/>
            <a:ext cx="1371600" cy="1481328"/>
          </a:xfrm>
          <a:prstGeom prst="roundRect">
            <a:avLst>
              <a:gd name="adj" fmla="val 5333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btn_debounce</a:t>
            </a:r>
          </a:p>
          <a:p>
            <a:pPr algn="ctr"/>
            <a:r>
              <a:rPr sz="12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×4</a:t>
            </a:r>
          </a:p>
        </p:txBody>
      </p:sp>
      <p:cxnSp>
        <p:nvCxnSpPr>
          <p:cNvPr id="34" name="선"/>
          <p:cNvCxnSpPr/>
          <p:nvPr/>
        </p:nvCxnSpPr>
        <p:spPr>
          <a:xfrm>
            <a:off x="3108960" y="3163824"/>
            <a:ext cx="868679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라벨"/>
          <p:cNvSpPr txBox="1"/>
          <p:nvPr/>
        </p:nvSpPr>
        <p:spPr>
          <a:xfrm>
            <a:off x="3182112" y="2907792"/>
            <a:ext cx="8229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phy_btn</a:t>
            </a:r>
          </a:p>
        </p:txBody>
      </p:sp>
      <p:sp>
        <p:nvSpPr>
          <p:cNvPr id="36" name="게이트"/>
          <p:cNvSpPr/>
          <p:nvPr/>
        </p:nvSpPr>
        <p:spPr>
          <a:xfrm>
            <a:off x="3977639" y="3026664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≥1</a:t>
            </a:r>
          </a:p>
        </p:txBody>
      </p:sp>
      <p:cxnSp>
        <p:nvCxnSpPr>
          <p:cNvPr id="37" name="선"/>
          <p:cNvCxnSpPr/>
          <p:nvPr/>
        </p:nvCxnSpPr>
        <p:spPr>
          <a:xfrm>
            <a:off x="4526280" y="3300984"/>
            <a:ext cx="182880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선"/>
          <p:cNvCxnSpPr/>
          <p:nvPr/>
        </p:nvCxnSpPr>
        <p:spPr>
          <a:xfrm>
            <a:off x="4709160" y="2967228"/>
            <a:ext cx="0" cy="2285999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접점"/>
          <p:cNvSpPr/>
          <p:nvPr/>
        </p:nvSpPr>
        <p:spPr>
          <a:xfrm>
            <a:off x="4668012" y="3259836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선"/>
          <p:cNvCxnSpPr/>
          <p:nvPr/>
        </p:nvCxnSpPr>
        <p:spPr>
          <a:xfrm>
            <a:off x="3611880" y="4965192"/>
            <a:ext cx="1280160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선"/>
          <p:cNvCxnSpPr/>
          <p:nvPr/>
        </p:nvCxnSpPr>
        <p:spPr>
          <a:xfrm>
            <a:off x="4892040" y="3241548"/>
            <a:ext cx="0" cy="228600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접점"/>
          <p:cNvSpPr/>
          <p:nvPr/>
        </p:nvSpPr>
        <p:spPr>
          <a:xfrm>
            <a:off x="4850892" y="4924044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3" name="선"/>
          <p:cNvCxnSpPr/>
          <p:nvPr/>
        </p:nvCxnSpPr>
        <p:spPr>
          <a:xfrm>
            <a:off x="4709160" y="2967228"/>
            <a:ext cx="36576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선"/>
          <p:cNvCxnSpPr/>
          <p:nvPr/>
        </p:nvCxnSpPr>
        <p:spPr>
          <a:xfrm>
            <a:off x="4892040" y="3241548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접점"/>
          <p:cNvSpPr/>
          <p:nvPr/>
        </p:nvSpPr>
        <p:spPr>
          <a:xfrm>
            <a:off x="4850892" y="320040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게이트"/>
          <p:cNvSpPr/>
          <p:nvPr/>
        </p:nvSpPr>
        <p:spPr>
          <a:xfrm>
            <a:off x="5074920" y="2830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47" name="라벨"/>
          <p:cNvSpPr txBox="1"/>
          <p:nvPr/>
        </p:nvSpPr>
        <p:spPr>
          <a:xfrm>
            <a:off x="5029200" y="33878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mode_wts</a:t>
            </a:r>
          </a:p>
        </p:txBody>
      </p:sp>
      <p:cxnSp>
        <p:nvCxnSpPr>
          <p:cNvPr id="48" name="선"/>
          <p:cNvCxnSpPr/>
          <p:nvPr/>
        </p:nvCxnSpPr>
        <p:spPr>
          <a:xfrm>
            <a:off x="5623560" y="3104388"/>
            <a:ext cx="7315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라벨"/>
          <p:cNvSpPr txBox="1"/>
          <p:nvPr/>
        </p:nvSpPr>
        <p:spPr>
          <a:xfrm>
            <a:off x="5669280" y="2839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R·L·U·D</a:t>
            </a:r>
          </a:p>
        </p:txBody>
      </p:sp>
      <p:cxnSp>
        <p:nvCxnSpPr>
          <p:cNvPr id="50" name="선"/>
          <p:cNvCxnSpPr/>
          <p:nvPr/>
        </p:nvCxnSpPr>
        <p:spPr>
          <a:xfrm>
            <a:off x="4709160" y="4110228"/>
            <a:ext cx="36576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접점"/>
          <p:cNvSpPr/>
          <p:nvPr/>
        </p:nvSpPr>
        <p:spPr>
          <a:xfrm>
            <a:off x="4668012" y="406908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2" name="선"/>
          <p:cNvCxnSpPr/>
          <p:nvPr/>
        </p:nvCxnSpPr>
        <p:spPr>
          <a:xfrm>
            <a:off x="4892040" y="4384548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접점"/>
          <p:cNvSpPr/>
          <p:nvPr/>
        </p:nvSpPr>
        <p:spPr>
          <a:xfrm>
            <a:off x="4850892" y="434340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게이트"/>
          <p:cNvSpPr/>
          <p:nvPr/>
        </p:nvSpPr>
        <p:spPr>
          <a:xfrm>
            <a:off x="5074920" y="3973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55" name="라벨"/>
          <p:cNvSpPr txBox="1"/>
          <p:nvPr/>
        </p:nvSpPr>
        <p:spPr>
          <a:xfrm>
            <a:off x="5029200" y="45308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mode_dist</a:t>
            </a:r>
          </a:p>
        </p:txBody>
      </p:sp>
      <p:cxnSp>
        <p:nvCxnSpPr>
          <p:cNvPr id="56" name="선"/>
          <p:cNvCxnSpPr/>
          <p:nvPr/>
        </p:nvCxnSpPr>
        <p:spPr>
          <a:xfrm>
            <a:off x="5623560" y="4247388"/>
            <a:ext cx="7315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라벨"/>
          <p:cNvSpPr txBox="1"/>
          <p:nvPr/>
        </p:nvSpPr>
        <p:spPr>
          <a:xfrm>
            <a:off x="5669280" y="3982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cxnSp>
        <p:nvCxnSpPr>
          <p:cNvPr id="58" name="선"/>
          <p:cNvCxnSpPr/>
          <p:nvPr/>
        </p:nvCxnSpPr>
        <p:spPr>
          <a:xfrm>
            <a:off x="4709160" y="5253227"/>
            <a:ext cx="36576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접점"/>
          <p:cNvSpPr/>
          <p:nvPr/>
        </p:nvSpPr>
        <p:spPr>
          <a:xfrm>
            <a:off x="4668012" y="5212079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0" name="선"/>
          <p:cNvCxnSpPr/>
          <p:nvPr/>
        </p:nvCxnSpPr>
        <p:spPr>
          <a:xfrm>
            <a:off x="4892040" y="5527548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게이트"/>
          <p:cNvSpPr/>
          <p:nvPr/>
        </p:nvSpPr>
        <p:spPr>
          <a:xfrm>
            <a:off x="5074920" y="5116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62" name="라벨"/>
          <p:cNvSpPr txBox="1"/>
          <p:nvPr/>
        </p:nvSpPr>
        <p:spPr>
          <a:xfrm>
            <a:off x="5029200" y="5673851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mode_dht</a:t>
            </a:r>
          </a:p>
        </p:txBody>
      </p:sp>
      <p:cxnSp>
        <p:nvCxnSpPr>
          <p:cNvPr id="63" name="선"/>
          <p:cNvCxnSpPr/>
          <p:nvPr/>
        </p:nvCxnSpPr>
        <p:spPr>
          <a:xfrm>
            <a:off x="5623560" y="5390388"/>
            <a:ext cx="7315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라벨"/>
          <p:cNvSpPr txBox="1"/>
          <p:nvPr/>
        </p:nvSpPr>
        <p:spPr>
          <a:xfrm>
            <a:off x="5669280" y="5125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sp>
        <p:nvSpPr>
          <p:cNvPr id="65" name="모드 선택 칸"/>
          <p:cNvSpPr/>
          <p:nvPr/>
        </p:nvSpPr>
        <p:spPr>
          <a:xfrm>
            <a:off x="1600200" y="4160520"/>
            <a:ext cx="2103120" cy="1481328"/>
          </a:xfrm>
          <a:prstGeom prst="roundRect">
            <a:avLst>
              <a:gd name="adj" fmla="val 4938"/>
            </a:avLst>
          </a:prstGeom>
          <a:solidFill>
            <a:srgbClr val="FBFBFC"/>
          </a:solidFill>
          <a:ln w="12700">
            <a:solidFill>
              <a:srgbClr val="C8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라벨"/>
          <p:cNvSpPr txBox="1"/>
          <p:nvPr/>
        </p:nvSpPr>
        <p:spPr>
          <a:xfrm>
            <a:off x="1664208" y="417880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모드 선택</a:t>
            </a:r>
          </a:p>
        </p:txBody>
      </p:sp>
      <p:sp>
        <p:nvSpPr>
          <p:cNvPr id="67" name="태그 sw0 ~ sw6"/>
          <p:cNvSpPr/>
          <p:nvPr/>
        </p:nvSpPr>
        <p:spPr>
          <a:xfrm>
            <a:off x="411480" y="4498848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sw0 ~ sw6</a:t>
            </a:r>
          </a:p>
        </p:txBody>
      </p:sp>
      <p:cxnSp>
        <p:nvCxnSpPr>
          <p:cNvPr id="68" name="선"/>
          <p:cNvCxnSpPr/>
          <p:nvPr/>
        </p:nvCxnSpPr>
        <p:spPr>
          <a:xfrm>
            <a:off x="1417320" y="4645152"/>
            <a:ext cx="5486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MUX 모드"/>
          <p:cNvSpPr/>
          <p:nvPr/>
        </p:nvSpPr>
        <p:spPr>
          <a:xfrm>
            <a:off x="1965960" y="4480560"/>
            <a:ext cx="457200" cy="987552"/>
          </a:xfrm>
          <a:custGeom>
            <a:avLst/>
            <a:gdLst/>
            <a:ahLst/>
            <a:cxnLst/>
            <a:rect l="l" t="t" r="r" b="b"/>
            <a:pathLst>
              <a:path w="457200" h="987552">
                <a:moveTo>
                  <a:pt x="0" y="0"/>
                </a:moveTo>
                <a:lnTo>
                  <a:pt x="457200" y="109728"/>
                </a:lnTo>
                <a:lnTo>
                  <a:pt x="457200" y="877824"/>
                </a:lnTo>
                <a:lnTo>
                  <a:pt x="0" y="987552"/>
                </a:lnTo>
                <a:lnTo>
                  <a:pt x="0" y="0"/>
                </a:lnTo>
                <a:close/>
              </a:path>
            </a:pathLst>
          </a:cu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라벨"/>
          <p:cNvSpPr txBox="1"/>
          <p:nvPr/>
        </p:nvSpPr>
        <p:spPr>
          <a:xfrm>
            <a:off x="2020824" y="4526280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71" name="라벨"/>
          <p:cNvSpPr txBox="1"/>
          <p:nvPr/>
        </p:nvSpPr>
        <p:spPr>
          <a:xfrm>
            <a:off x="2020824" y="5093208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72" name="라벨"/>
          <p:cNvSpPr txBox="1"/>
          <p:nvPr/>
        </p:nvSpPr>
        <p:spPr>
          <a:xfrm>
            <a:off x="2423160" y="418795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2:1 × 7 bit</a:t>
            </a:r>
          </a:p>
        </p:txBody>
      </p:sp>
      <p:cxnSp>
        <p:nvCxnSpPr>
          <p:cNvPr id="73" name="선"/>
          <p:cNvCxnSpPr/>
          <p:nvPr/>
        </p:nvCxnSpPr>
        <p:spPr>
          <a:xfrm>
            <a:off x="2423160" y="4965192"/>
            <a:ext cx="2743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블록 모드&#10;디코드"/>
          <p:cNvSpPr/>
          <p:nvPr/>
        </p:nvSpPr>
        <p:spPr>
          <a:xfrm>
            <a:off x="2697480" y="4663440"/>
            <a:ext cx="914400" cy="603504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모드</a:t>
            </a:r>
          </a:p>
          <a:p>
            <a:pPr algn="ctr"/>
            <a:r>
              <a:rPr sz="11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디코드</a:t>
            </a:r>
          </a:p>
        </p:txBody>
      </p:sp>
      <p:sp>
        <p:nvSpPr>
          <p:cNvPr id="75" name="라벨"/>
          <p:cNvSpPr txBox="1"/>
          <p:nvPr/>
        </p:nvSpPr>
        <p:spPr>
          <a:xfrm>
            <a:off x="2331720" y="5340096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→ mode_* · disp_sel</a:t>
            </a:r>
          </a:p>
        </p:txBody>
      </p:sp>
      <p:sp>
        <p:nvSpPr>
          <p:cNvPr id="76" name="블록 wts_top"/>
          <p:cNvSpPr/>
          <p:nvPr/>
        </p:nvSpPr>
        <p:spPr>
          <a:xfrm>
            <a:off x="6355080" y="2761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wts_top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control_unit · datapath × 3</a:t>
            </a:r>
          </a:p>
        </p:txBody>
      </p:sp>
      <p:cxnSp>
        <p:nvCxnSpPr>
          <p:cNvPr id="77" name="선"/>
          <p:cNvCxnSpPr/>
          <p:nvPr/>
        </p:nvCxnSpPr>
        <p:spPr>
          <a:xfrm>
            <a:off x="8549640" y="3104388"/>
            <a:ext cx="361188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라벨"/>
          <p:cNvSpPr txBox="1"/>
          <p:nvPr/>
        </p:nvSpPr>
        <p:spPr>
          <a:xfrm>
            <a:off x="8686800" y="2839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disp  시 · 분 · 초 · 1/100</a:t>
            </a:r>
          </a:p>
        </p:txBody>
      </p:sp>
      <p:sp>
        <p:nvSpPr>
          <p:cNvPr id="79" name="라벨"/>
          <p:cNvSpPr txBox="1"/>
          <p:nvPr/>
        </p:nvSpPr>
        <p:spPr>
          <a:xfrm>
            <a:off x="8686800" y="3150108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← ctrl_bit[4:0]  (sw0 · sw1 · sw2 · sw3 · sw4)</a:t>
            </a:r>
          </a:p>
        </p:txBody>
      </p:sp>
      <p:sp>
        <p:nvSpPr>
          <p:cNvPr id="80" name="블록 sr04_top"/>
          <p:cNvSpPr/>
          <p:nvPr/>
        </p:nvSpPr>
        <p:spPr>
          <a:xfrm>
            <a:off x="6355080" y="3904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sr04_top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core · mode_ctrl · led_bar</a:t>
            </a:r>
          </a:p>
        </p:txBody>
      </p:sp>
      <p:cxnSp>
        <p:nvCxnSpPr>
          <p:cNvPr id="81" name="선"/>
          <p:cNvCxnSpPr/>
          <p:nvPr/>
        </p:nvCxnSpPr>
        <p:spPr>
          <a:xfrm>
            <a:off x="8549640" y="4247388"/>
            <a:ext cx="361188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라벨"/>
          <p:cNvSpPr txBox="1"/>
          <p:nvPr/>
        </p:nvSpPr>
        <p:spPr>
          <a:xfrm>
            <a:off x="8686800" y="3982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distance_x10 · err · status</a:t>
            </a:r>
          </a:p>
        </p:txBody>
      </p:sp>
      <p:sp>
        <p:nvSpPr>
          <p:cNvPr id="83" name="라벨"/>
          <p:cNvSpPr txBox="1"/>
          <p:nvPr/>
        </p:nvSpPr>
        <p:spPr>
          <a:xfrm>
            <a:off x="8686800" y="4293108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trig → JA1 · echo ← JA2 · sw15 = 거리 막대 LED</a:t>
            </a:r>
          </a:p>
        </p:txBody>
      </p:sp>
      <p:sp>
        <p:nvSpPr>
          <p:cNvPr id="84" name="블록 dht11_top"/>
          <p:cNvSpPr/>
          <p:nvPr/>
        </p:nvSpPr>
        <p:spPr>
          <a:xfrm>
            <a:off x="6355080" y="5047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dht11_top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core · controller · manager</a:t>
            </a:r>
          </a:p>
        </p:txBody>
      </p:sp>
      <p:cxnSp>
        <p:nvCxnSpPr>
          <p:cNvPr id="85" name="선"/>
          <p:cNvCxnSpPr/>
          <p:nvPr/>
        </p:nvCxnSpPr>
        <p:spPr>
          <a:xfrm>
            <a:off x="8549640" y="5390388"/>
            <a:ext cx="361188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라벨"/>
          <p:cNvSpPr txBox="1"/>
          <p:nvPr/>
        </p:nvSpPr>
        <p:spPr>
          <a:xfrm>
            <a:off x="8686800" y="5125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fnd_data · dashes · err</a:t>
            </a:r>
          </a:p>
        </p:txBody>
      </p:sp>
      <p:sp>
        <p:nvSpPr>
          <p:cNvPr id="87" name="라벨"/>
          <p:cNvSpPr txBox="1"/>
          <p:nvPr/>
        </p:nvSpPr>
        <p:spPr>
          <a:xfrm>
            <a:off x="8686800" y="5436107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dht11_io ↔ JXADC3 (M2)</a:t>
            </a:r>
          </a:p>
        </p:txBody>
      </p:sp>
      <p:sp>
        <p:nvSpPr>
          <p:cNvPr id="88" name="MUX FND"/>
          <p:cNvSpPr/>
          <p:nvPr/>
        </p:nvSpPr>
        <p:spPr>
          <a:xfrm>
            <a:off x="12161520" y="2606040"/>
            <a:ext cx="640080" cy="3108960"/>
          </a:xfrm>
          <a:custGeom>
            <a:avLst/>
            <a:gdLst/>
            <a:ahLst/>
            <a:cxnLst/>
            <a:rect l="l" t="t" r="r" b="b"/>
            <a:pathLst>
              <a:path w="640080" h="3108960">
                <a:moveTo>
                  <a:pt x="0" y="0"/>
                </a:moveTo>
                <a:lnTo>
                  <a:pt x="640080" y="228600"/>
                </a:lnTo>
                <a:lnTo>
                  <a:pt x="640080" y="2880360"/>
                </a:lnTo>
                <a:lnTo>
                  <a:pt x="0" y="3108960"/>
                </a:lnTo>
                <a:lnTo>
                  <a:pt x="0" y="0"/>
                </a:lnTo>
                <a:close/>
              </a:path>
            </a:pathLst>
          </a:cu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라벨"/>
          <p:cNvSpPr txBox="1"/>
          <p:nvPr/>
        </p:nvSpPr>
        <p:spPr>
          <a:xfrm>
            <a:off x="12216384" y="298551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90" name="라벨"/>
          <p:cNvSpPr txBox="1"/>
          <p:nvPr/>
        </p:nvSpPr>
        <p:spPr>
          <a:xfrm>
            <a:off x="12216384" y="412851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1" name="라벨"/>
          <p:cNvSpPr txBox="1"/>
          <p:nvPr/>
        </p:nvSpPr>
        <p:spPr>
          <a:xfrm>
            <a:off x="12216384" y="527151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92" name="라벨"/>
          <p:cNvSpPr txBox="1"/>
          <p:nvPr/>
        </p:nvSpPr>
        <p:spPr>
          <a:xfrm>
            <a:off x="11978640" y="5742432"/>
            <a:ext cx="2011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FND MUX  3:1 × 25 bit</a:t>
            </a:r>
          </a:p>
        </p:txBody>
      </p:sp>
      <p:sp>
        <p:nvSpPr>
          <p:cNvPr id="93" name="라벨"/>
          <p:cNvSpPr txBox="1"/>
          <p:nvPr/>
        </p:nvSpPr>
        <p:spPr>
          <a:xfrm>
            <a:off x="11978640" y="5961888"/>
            <a:ext cx="2011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sel = disp_sel (2 bit)</a:t>
            </a:r>
          </a:p>
        </p:txBody>
      </p:sp>
      <p:cxnSp>
        <p:nvCxnSpPr>
          <p:cNvPr id="94" name="선"/>
          <p:cNvCxnSpPr/>
          <p:nvPr/>
        </p:nvCxnSpPr>
        <p:spPr>
          <a:xfrm>
            <a:off x="12801600" y="3017520"/>
            <a:ext cx="128016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라벨"/>
          <p:cNvSpPr txBox="1"/>
          <p:nvPr/>
        </p:nvSpPr>
        <p:spPr>
          <a:xfrm>
            <a:off x="12874752" y="277063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fnd_data</a:t>
            </a:r>
          </a:p>
        </p:txBody>
      </p:sp>
      <p:sp>
        <p:nvSpPr>
          <p:cNvPr id="96" name="블록 FND&#10;컨트롤러"/>
          <p:cNvSpPr/>
          <p:nvPr/>
        </p:nvSpPr>
        <p:spPr>
          <a:xfrm>
            <a:off x="14081760" y="2606040"/>
            <a:ext cx="1828800" cy="1508760"/>
          </a:xfrm>
          <a:prstGeom prst="roundRect">
            <a:avLst>
              <a:gd name="adj" fmla="val 4848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FND</a:t>
            </a:r>
          </a:p>
          <a:p>
            <a:pPr algn="ctr"/>
            <a:r>
              <a:rPr sz="14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컨트롤러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SW2_FND_CONTROLLER</a:t>
            </a:r>
          </a:p>
        </p:txBody>
      </p:sp>
      <p:sp>
        <p:nvSpPr>
          <p:cNvPr id="97" name="태그 disp_sel"/>
          <p:cNvSpPr/>
          <p:nvPr/>
        </p:nvSpPr>
        <p:spPr>
          <a:xfrm>
            <a:off x="13167360" y="325526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98" name="태그 wt_cursor"/>
          <p:cNvSpPr/>
          <p:nvPr/>
        </p:nvSpPr>
        <p:spPr>
          <a:xfrm>
            <a:off x="13167360" y="354787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wt_cursor</a:t>
            </a:r>
          </a:p>
        </p:txBody>
      </p:sp>
      <p:sp>
        <p:nvSpPr>
          <p:cNvPr id="99" name="태그 set_sw2"/>
          <p:cNvSpPr/>
          <p:nvPr/>
        </p:nvSpPr>
        <p:spPr>
          <a:xfrm>
            <a:off x="13167360" y="384048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set_sw2</a:t>
            </a:r>
          </a:p>
        </p:txBody>
      </p:sp>
      <p:cxnSp>
        <p:nvCxnSpPr>
          <p:cNvPr id="100" name="선"/>
          <p:cNvCxnSpPr/>
          <p:nvPr/>
        </p:nvCxnSpPr>
        <p:spPr>
          <a:xfrm>
            <a:off x="15910559" y="3054096"/>
            <a:ext cx="411481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태그 fnd_com"/>
          <p:cNvSpPr/>
          <p:nvPr/>
        </p:nvSpPr>
        <p:spPr>
          <a:xfrm>
            <a:off x="16322040" y="29077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fnd_com</a:t>
            </a:r>
          </a:p>
        </p:txBody>
      </p:sp>
      <p:cxnSp>
        <p:nvCxnSpPr>
          <p:cNvPr id="102" name="선"/>
          <p:cNvCxnSpPr/>
          <p:nvPr/>
        </p:nvCxnSpPr>
        <p:spPr>
          <a:xfrm>
            <a:off x="15910559" y="3739896"/>
            <a:ext cx="411481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태그 fnd_font"/>
          <p:cNvSpPr/>
          <p:nvPr/>
        </p:nvSpPr>
        <p:spPr>
          <a:xfrm>
            <a:off x="16322040" y="35935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fnd_font</a:t>
            </a:r>
          </a:p>
        </p:txBody>
      </p:sp>
      <p:sp>
        <p:nvSpPr>
          <p:cNvPr id="104" name="블록 LED 로직"/>
          <p:cNvSpPr/>
          <p:nvPr/>
        </p:nvSpPr>
        <p:spPr>
          <a:xfrm>
            <a:off x="14081760" y="4343400"/>
            <a:ext cx="1828800" cy="1371600"/>
          </a:xfrm>
          <a:prstGeom prst="roundRect">
            <a:avLst>
              <a:gd name="adj" fmla="val 5333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 로직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led_output</a:t>
            </a:r>
          </a:p>
        </p:txBody>
      </p:sp>
      <p:sp>
        <p:nvSpPr>
          <p:cNvPr id="105" name="태그 disp_sel"/>
          <p:cNvSpPr/>
          <p:nvPr/>
        </p:nvSpPr>
        <p:spPr>
          <a:xfrm>
            <a:off x="13167360" y="4425696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106" name="태그 WTS 신호"/>
          <p:cNvSpPr/>
          <p:nvPr/>
        </p:nvSpPr>
        <p:spPr>
          <a:xfrm>
            <a:off x="13167360" y="471830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WTS 신호</a:t>
            </a:r>
          </a:p>
        </p:txBody>
      </p:sp>
      <p:sp>
        <p:nvSpPr>
          <p:cNvPr id="107" name="태그 sr04_led"/>
          <p:cNvSpPr/>
          <p:nvPr/>
        </p:nvSpPr>
        <p:spPr>
          <a:xfrm>
            <a:off x="13167360" y="501091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sr04_led</a:t>
            </a:r>
          </a:p>
        </p:txBody>
      </p:sp>
      <p:sp>
        <p:nvSpPr>
          <p:cNvPr id="108" name="태그 dht_led"/>
          <p:cNvSpPr/>
          <p:nvPr/>
        </p:nvSpPr>
        <p:spPr>
          <a:xfrm>
            <a:off x="13167360" y="530352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dht_led</a:t>
            </a:r>
          </a:p>
        </p:txBody>
      </p:sp>
      <p:cxnSp>
        <p:nvCxnSpPr>
          <p:cNvPr id="109" name="선"/>
          <p:cNvCxnSpPr/>
          <p:nvPr/>
        </p:nvCxnSpPr>
        <p:spPr>
          <a:xfrm>
            <a:off x="15910559" y="5029200"/>
            <a:ext cx="411481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태그 led[15:0]"/>
          <p:cNvSpPr/>
          <p:nvPr/>
        </p:nvSpPr>
        <p:spPr>
          <a:xfrm>
            <a:off x="16322040" y="4882896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led[15:0]</a:t>
            </a:r>
          </a:p>
        </p:txBody>
      </p:sp>
      <p:sp>
        <p:nvSpPr>
          <p:cNvPr id="111" name="태그 rx"/>
          <p:cNvSpPr/>
          <p:nvPr/>
        </p:nvSpPr>
        <p:spPr>
          <a:xfrm>
            <a:off x="411480" y="69037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rx</a:t>
            </a:r>
          </a:p>
        </p:txBody>
      </p:sp>
      <p:cxnSp>
        <p:nvCxnSpPr>
          <p:cNvPr id="112" name="선"/>
          <p:cNvCxnSpPr/>
          <p:nvPr/>
        </p:nvCxnSpPr>
        <p:spPr>
          <a:xfrm>
            <a:off x="1417320" y="7050024"/>
            <a:ext cx="36576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블록 uart_rx"/>
          <p:cNvSpPr/>
          <p:nvPr/>
        </p:nvSpPr>
        <p:spPr>
          <a:xfrm>
            <a:off x="1783080" y="6766560"/>
            <a:ext cx="118872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uart_rx</a:t>
            </a:r>
          </a:p>
        </p:txBody>
      </p:sp>
      <p:cxnSp>
        <p:nvCxnSpPr>
          <p:cNvPr id="114" name="선"/>
          <p:cNvCxnSpPr/>
          <p:nvPr/>
        </p:nvCxnSpPr>
        <p:spPr>
          <a:xfrm>
            <a:off x="2971800" y="7050024"/>
            <a:ext cx="27432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블록 fifo"/>
          <p:cNvSpPr/>
          <p:nvPr/>
        </p:nvSpPr>
        <p:spPr>
          <a:xfrm>
            <a:off x="3246120" y="6766560"/>
            <a:ext cx="91440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RX × 8</a:t>
            </a:r>
          </a:p>
        </p:txBody>
      </p:sp>
      <p:cxnSp>
        <p:nvCxnSpPr>
          <p:cNvPr id="116" name="선"/>
          <p:cNvCxnSpPr/>
          <p:nvPr/>
        </p:nvCxnSpPr>
        <p:spPr>
          <a:xfrm>
            <a:off x="4160520" y="7050024"/>
            <a:ext cx="27432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블록 ASCII_DECODER"/>
          <p:cNvSpPr/>
          <p:nvPr/>
        </p:nvSpPr>
        <p:spPr>
          <a:xfrm>
            <a:off x="4434840" y="6675120"/>
            <a:ext cx="18288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ASCII_DECODER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/명령 + 옵션 파싱</a:t>
            </a:r>
          </a:p>
        </p:txBody>
      </p:sp>
      <p:cxnSp>
        <p:nvCxnSpPr>
          <p:cNvPr id="118" name="선"/>
          <p:cNvCxnSpPr/>
          <p:nvPr/>
        </p:nvCxnSpPr>
        <p:spPr>
          <a:xfrm>
            <a:off x="6263640" y="7050024"/>
            <a:ext cx="50292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블록 baud_tick_gen"/>
          <p:cNvSpPr/>
          <p:nvPr/>
        </p:nvSpPr>
        <p:spPr>
          <a:xfrm>
            <a:off x="1783080" y="7680960"/>
            <a:ext cx="1188720" cy="5303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baud_tick_gen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9600 × 16</a:t>
            </a:r>
          </a:p>
        </p:txBody>
      </p:sp>
      <p:cxnSp>
        <p:nvCxnSpPr>
          <p:cNvPr id="120" name="선"/>
          <p:cNvCxnSpPr/>
          <p:nvPr/>
        </p:nvCxnSpPr>
        <p:spPr>
          <a:xfrm flipV="1">
            <a:off x="2377440" y="7333488"/>
            <a:ext cx="0" cy="347472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라벨"/>
          <p:cNvSpPr txBox="1"/>
          <p:nvPr/>
        </p:nvSpPr>
        <p:spPr>
          <a:xfrm>
            <a:off x="3063240" y="782726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→ RX · TX 공용</a:t>
            </a:r>
          </a:p>
        </p:txBody>
      </p:sp>
      <p:sp>
        <p:nvSpPr>
          <p:cNvPr id="122" name="블록 UART_CONTROLLER"/>
          <p:cNvSpPr/>
          <p:nvPr/>
        </p:nvSpPr>
        <p:spPr>
          <a:xfrm>
            <a:off x="6766560" y="6675120"/>
            <a:ext cx="2377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UART_CONTROLLER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mode · auto · btn FSM</a:t>
            </a:r>
          </a:p>
        </p:txBody>
      </p:sp>
      <p:sp>
        <p:nvSpPr>
          <p:cNvPr id="123" name="태그 phy_btn"/>
          <p:cNvSpPr/>
          <p:nvPr/>
        </p:nvSpPr>
        <p:spPr>
          <a:xfrm>
            <a:off x="5870448" y="7498079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phy_btn</a:t>
            </a:r>
          </a:p>
        </p:txBody>
      </p:sp>
      <p:sp>
        <p:nvSpPr>
          <p:cNvPr id="124" name="라벨"/>
          <p:cNvSpPr txBox="1"/>
          <p:nvPr/>
        </p:nvSpPr>
        <p:spPr>
          <a:xfrm>
            <a:off x="3950208" y="750722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같은 clk 면 물리 먼저</a:t>
            </a:r>
          </a:p>
        </p:txBody>
      </p:sp>
      <p:cxnSp>
        <p:nvCxnSpPr>
          <p:cNvPr id="125" name="선"/>
          <p:cNvCxnSpPr/>
          <p:nvPr/>
        </p:nvCxnSpPr>
        <p:spPr>
          <a:xfrm flipV="1">
            <a:off x="6903720" y="6217920"/>
            <a:ext cx="0" cy="45720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선"/>
          <p:cNvCxnSpPr/>
          <p:nvPr/>
        </p:nvCxnSpPr>
        <p:spPr>
          <a:xfrm flipH="1">
            <a:off x="1691640" y="6217920"/>
            <a:ext cx="5212080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선"/>
          <p:cNvCxnSpPr/>
          <p:nvPr/>
        </p:nvCxnSpPr>
        <p:spPr>
          <a:xfrm flipV="1">
            <a:off x="1691640" y="5212080"/>
            <a:ext cx="0" cy="100584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선"/>
          <p:cNvCxnSpPr/>
          <p:nvPr/>
        </p:nvCxnSpPr>
        <p:spPr>
          <a:xfrm>
            <a:off x="1691640" y="5212080"/>
            <a:ext cx="2743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라벨"/>
          <p:cNvSpPr txBox="1"/>
          <p:nvPr/>
        </p:nvSpPr>
        <p:spPr>
          <a:xfrm>
            <a:off x="3931920" y="623620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module_control_bit[6:0]</a:t>
            </a:r>
          </a:p>
        </p:txBody>
      </p:sp>
      <p:cxnSp>
        <p:nvCxnSpPr>
          <p:cNvPr id="130" name="선"/>
          <p:cNvCxnSpPr/>
          <p:nvPr/>
        </p:nvCxnSpPr>
        <p:spPr>
          <a:xfrm flipV="1">
            <a:off x="7178040" y="6080760"/>
            <a:ext cx="0" cy="59436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선"/>
          <p:cNvCxnSpPr/>
          <p:nvPr/>
        </p:nvCxnSpPr>
        <p:spPr>
          <a:xfrm flipH="1">
            <a:off x="2194560" y="6080760"/>
            <a:ext cx="4983480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선"/>
          <p:cNvCxnSpPr/>
          <p:nvPr/>
        </p:nvCxnSpPr>
        <p:spPr>
          <a:xfrm flipV="1">
            <a:off x="2194560" y="5413248"/>
            <a:ext cx="0" cy="667512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라벨"/>
          <p:cNvSpPr txBox="1"/>
          <p:nvPr/>
        </p:nvSpPr>
        <p:spPr>
          <a:xfrm>
            <a:off x="2286000" y="5852160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uart_mode</a:t>
            </a:r>
          </a:p>
        </p:txBody>
      </p:sp>
      <p:cxnSp>
        <p:nvCxnSpPr>
          <p:cNvPr id="134" name="선"/>
          <p:cNvCxnSpPr/>
          <p:nvPr/>
        </p:nvCxnSpPr>
        <p:spPr>
          <a:xfrm flipV="1">
            <a:off x="7452360" y="5943600"/>
            <a:ext cx="0" cy="73152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선"/>
          <p:cNvCxnSpPr/>
          <p:nvPr/>
        </p:nvCxnSpPr>
        <p:spPr>
          <a:xfrm flipH="1">
            <a:off x="3749039" y="5943600"/>
            <a:ext cx="3703321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선"/>
          <p:cNvCxnSpPr/>
          <p:nvPr/>
        </p:nvCxnSpPr>
        <p:spPr>
          <a:xfrm flipV="1">
            <a:off x="3749039" y="3438144"/>
            <a:ext cx="0" cy="2505456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선"/>
          <p:cNvCxnSpPr/>
          <p:nvPr/>
        </p:nvCxnSpPr>
        <p:spPr>
          <a:xfrm>
            <a:off x="3749039" y="3438144"/>
            <a:ext cx="22860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라벨"/>
          <p:cNvSpPr txBox="1"/>
          <p:nvPr/>
        </p:nvSpPr>
        <p:spPr>
          <a:xfrm>
            <a:off x="3840480" y="3703320"/>
            <a:ext cx="8229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uart_btn</a:t>
            </a:r>
          </a:p>
        </p:txBody>
      </p:sp>
      <p:sp>
        <p:nvSpPr>
          <p:cNvPr id="139" name="블록 sender_tick"/>
          <p:cNvSpPr/>
          <p:nvPr/>
        </p:nvSpPr>
        <p:spPr>
          <a:xfrm>
            <a:off x="9555480" y="6967728"/>
            <a:ext cx="137160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sender_tick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1 Hz · scan 0→4</a:t>
            </a:r>
          </a:p>
        </p:txBody>
      </p:sp>
      <p:cxnSp>
        <p:nvCxnSpPr>
          <p:cNvPr id="140" name="선"/>
          <p:cNvCxnSpPr/>
          <p:nvPr/>
        </p:nvCxnSpPr>
        <p:spPr>
          <a:xfrm flipH="1">
            <a:off x="9144000" y="7251192"/>
            <a:ext cx="41148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선"/>
          <p:cNvCxnSpPr/>
          <p:nvPr/>
        </p:nvCxnSpPr>
        <p:spPr>
          <a:xfrm>
            <a:off x="9144000" y="6784848"/>
            <a:ext cx="4727448" cy="0"/>
          </a:xfrm>
          <a:prstGeom prst="line">
            <a:avLst/>
          </a:prstGeom>
          <a:ln w="317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선"/>
          <p:cNvCxnSpPr/>
          <p:nvPr/>
        </p:nvCxnSpPr>
        <p:spPr>
          <a:xfrm>
            <a:off x="13871448" y="6784848"/>
            <a:ext cx="0" cy="301752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라벨"/>
          <p:cNvSpPr txBox="1"/>
          <p:nvPr/>
        </p:nvSpPr>
        <p:spPr>
          <a:xfrm>
            <a:off x="10241280" y="6547104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send_go</a:t>
            </a:r>
          </a:p>
        </p:txBody>
      </p:sp>
      <p:sp>
        <p:nvSpPr>
          <p:cNvPr id="144" name="MUX 전송"/>
          <p:cNvSpPr/>
          <p:nvPr/>
        </p:nvSpPr>
        <p:spPr>
          <a:xfrm>
            <a:off x="11887200" y="6903720"/>
            <a:ext cx="868680" cy="1280159"/>
          </a:xfrm>
          <a:custGeom>
            <a:avLst/>
            <a:gdLst/>
            <a:ahLst/>
            <a:cxnLst/>
            <a:rect l="l" t="t" r="r" b="b"/>
            <a:pathLst>
              <a:path w="868680" h="1280159">
                <a:moveTo>
                  <a:pt x="0" y="0"/>
                </a:moveTo>
                <a:lnTo>
                  <a:pt x="868680" y="164592"/>
                </a:lnTo>
                <a:lnTo>
                  <a:pt x="868680" y="1115568"/>
                </a:lnTo>
                <a:lnTo>
                  <a:pt x="0" y="1280159"/>
                </a:lnTo>
                <a:lnTo>
                  <a:pt x="0" y="0"/>
                </a:lnTo>
                <a:close/>
              </a:path>
            </a:pathLst>
          </a:custGeom>
          <a:solidFill>
            <a:srgbClr val="E6F4F3"/>
          </a:solidFill>
          <a:ln w="1905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라벨"/>
          <p:cNvSpPr txBox="1"/>
          <p:nvPr/>
        </p:nvSpPr>
        <p:spPr>
          <a:xfrm>
            <a:off x="11841480" y="6528816"/>
            <a:ext cx="21945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전송 MUX  8:1 × 24 bit</a:t>
            </a:r>
          </a:p>
        </p:txBody>
      </p:sp>
      <p:cxnSp>
        <p:nvCxnSpPr>
          <p:cNvPr id="146" name="선"/>
          <p:cNvCxnSpPr/>
          <p:nvPr/>
        </p:nvCxnSpPr>
        <p:spPr>
          <a:xfrm>
            <a:off x="11777472" y="3104388"/>
            <a:ext cx="0" cy="4210812"/>
          </a:xfrm>
          <a:prstGeom prst="line">
            <a:avLst/>
          </a:prstGeom>
          <a:ln w="317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선"/>
          <p:cNvCxnSpPr/>
          <p:nvPr/>
        </p:nvCxnSpPr>
        <p:spPr>
          <a:xfrm>
            <a:off x="11777472" y="7315200"/>
            <a:ext cx="109728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선"/>
          <p:cNvCxnSpPr/>
          <p:nvPr/>
        </p:nvCxnSpPr>
        <p:spPr>
          <a:xfrm>
            <a:off x="11777472" y="7022592"/>
            <a:ext cx="109728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접점"/>
          <p:cNvSpPr/>
          <p:nvPr/>
        </p:nvSpPr>
        <p:spPr>
          <a:xfrm>
            <a:off x="11736324" y="6981444"/>
            <a:ext cx="82296" cy="82296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0" name="선"/>
          <p:cNvCxnSpPr/>
          <p:nvPr/>
        </p:nvCxnSpPr>
        <p:spPr>
          <a:xfrm>
            <a:off x="11777472" y="7168896"/>
            <a:ext cx="109728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접점"/>
          <p:cNvSpPr/>
          <p:nvPr/>
        </p:nvSpPr>
        <p:spPr>
          <a:xfrm>
            <a:off x="11736324" y="7127748"/>
            <a:ext cx="82296" cy="82296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접점"/>
          <p:cNvSpPr/>
          <p:nvPr/>
        </p:nvSpPr>
        <p:spPr>
          <a:xfrm>
            <a:off x="11736324" y="3063240"/>
            <a:ext cx="82296" cy="82296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3" name="선"/>
          <p:cNvCxnSpPr/>
          <p:nvPr/>
        </p:nvCxnSpPr>
        <p:spPr>
          <a:xfrm>
            <a:off x="11686032" y="4247388"/>
            <a:ext cx="0" cy="3268980"/>
          </a:xfrm>
          <a:prstGeom prst="line">
            <a:avLst/>
          </a:prstGeom>
          <a:ln w="317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선"/>
          <p:cNvCxnSpPr/>
          <p:nvPr/>
        </p:nvCxnSpPr>
        <p:spPr>
          <a:xfrm>
            <a:off x="11686032" y="7516368"/>
            <a:ext cx="201168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접점"/>
          <p:cNvSpPr/>
          <p:nvPr/>
        </p:nvSpPr>
        <p:spPr>
          <a:xfrm>
            <a:off x="11644884" y="4206240"/>
            <a:ext cx="82296" cy="82296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6" name="선"/>
          <p:cNvCxnSpPr/>
          <p:nvPr/>
        </p:nvCxnSpPr>
        <p:spPr>
          <a:xfrm>
            <a:off x="11430000" y="5390388"/>
            <a:ext cx="0" cy="2327148"/>
          </a:xfrm>
          <a:prstGeom prst="line">
            <a:avLst/>
          </a:prstGeom>
          <a:ln w="317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선"/>
          <p:cNvCxnSpPr/>
          <p:nvPr/>
        </p:nvCxnSpPr>
        <p:spPr>
          <a:xfrm>
            <a:off x="11430000" y="7717536"/>
            <a:ext cx="45720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접점"/>
          <p:cNvSpPr/>
          <p:nvPr/>
        </p:nvSpPr>
        <p:spPr>
          <a:xfrm>
            <a:off x="11388852" y="5349240"/>
            <a:ext cx="82296" cy="82296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MUX 핀"/>
          <p:cNvSpPr txBox="1"/>
          <p:nvPr/>
        </p:nvSpPr>
        <p:spPr>
          <a:xfrm>
            <a:off x="11932920" y="693115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0 sw</a:t>
            </a:r>
          </a:p>
        </p:txBody>
      </p:sp>
      <p:sp>
        <p:nvSpPr>
          <p:cNvPr id="160" name="MUX 핀"/>
          <p:cNvSpPr txBox="1"/>
          <p:nvPr/>
        </p:nvSpPr>
        <p:spPr>
          <a:xfrm>
            <a:off x="11932920" y="707745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1 tm</a:t>
            </a:r>
          </a:p>
        </p:txBody>
      </p:sp>
      <p:sp>
        <p:nvSpPr>
          <p:cNvPr id="161" name="MUX 핀"/>
          <p:cNvSpPr txBox="1"/>
          <p:nvPr/>
        </p:nvSpPr>
        <p:spPr>
          <a:xfrm>
            <a:off x="11932920" y="722376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2 wt</a:t>
            </a:r>
          </a:p>
        </p:txBody>
      </p:sp>
      <p:sp>
        <p:nvSpPr>
          <p:cNvPr id="162" name="MUX 핀"/>
          <p:cNvSpPr txBox="1"/>
          <p:nvPr/>
        </p:nvSpPr>
        <p:spPr>
          <a:xfrm>
            <a:off x="11932920" y="742492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3 거리</a:t>
            </a:r>
            <a:r>
              <a:rPr sz="850" b="1">
                <a:solidFill>
                  <a:srgbClr val="1E8E3E"/>
                </a:solidFill>
                <a:latin typeface="Malgun Gothic"/>
                <a:ea typeface="Malgun Gothic"/>
                <a:cs typeface="Malgun Gothic"/>
              </a:rPr>
              <a:t>·상태</a:t>
            </a:r>
          </a:p>
        </p:txBody>
      </p:sp>
      <p:sp>
        <p:nvSpPr>
          <p:cNvPr id="163" name="MUX 핀"/>
          <p:cNvSpPr txBox="1"/>
          <p:nvPr/>
        </p:nvSpPr>
        <p:spPr>
          <a:xfrm>
            <a:off x="11932920" y="762609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4 온습도</a:t>
            </a:r>
            <a:r>
              <a:rPr sz="850" b="1">
                <a:solidFill>
                  <a:srgbClr val="1E8E3E"/>
                </a:solidFill>
                <a:latin typeface="Malgun Gothic"/>
                <a:ea typeface="Malgun Gothic"/>
                <a:cs typeface="Malgun Gothic"/>
              </a:rPr>
              <a:t>·상태</a:t>
            </a:r>
          </a:p>
        </p:txBody>
      </p:sp>
      <p:cxnSp>
        <p:nvCxnSpPr>
          <p:cNvPr id="165" name="선"/>
          <p:cNvCxnSpPr/>
          <p:nvPr/>
        </p:nvCxnSpPr>
        <p:spPr>
          <a:xfrm>
            <a:off x="12755880" y="7498079"/>
            <a:ext cx="45720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선"/>
          <p:cNvCxnSpPr/>
          <p:nvPr/>
        </p:nvCxnSpPr>
        <p:spPr>
          <a:xfrm>
            <a:off x="8869680" y="8046720"/>
            <a:ext cx="0" cy="201168"/>
          </a:xfrm>
          <a:prstGeom prst="line">
            <a:avLst/>
          </a:prstGeom>
          <a:ln w="317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선"/>
          <p:cNvCxnSpPr/>
          <p:nvPr/>
        </p:nvCxnSpPr>
        <p:spPr>
          <a:xfrm>
            <a:off x="8869680" y="8247888"/>
            <a:ext cx="5001768" cy="0"/>
          </a:xfrm>
          <a:prstGeom prst="line">
            <a:avLst/>
          </a:prstGeom>
          <a:ln w="317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선"/>
          <p:cNvCxnSpPr/>
          <p:nvPr/>
        </p:nvCxnSpPr>
        <p:spPr>
          <a:xfrm flipV="1">
            <a:off x="13871448" y="7909560"/>
            <a:ext cx="0" cy="338328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라벨"/>
          <p:cNvSpPr txBox="1"/>
          <p:nvPr/>
        </p:nvSpPr>
        <p:spPr>
          <a:xfrm>
            <a:off x="9509760" y="8010144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send_sel</a:t>
            </a:r>
          </a:p>
        </p:txBody>
      </p:sp>
      <p:cxnSp>
        <p:nvCxnSpPr>
          <p:cNvPr id="170" name="선"/>
          <p:cNvCxnSpPr/>
          <p:nvPr/>
        </p:nvCxnSpPr>
        <p:spPr>
          <a:xfrm flipV="1">
            <a:off x="12481560" y="8071264"/>
            <a:ext cx="0" cy="176624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접점"/>
          <p:cNvSpPr/>
          <p:nvPr/>
        </p:nvSpPr>
        <p:spPr>
          <a:xfrm>
            <a:off x="12440412" y="8206740"/>
            <a:ext cx="82296" cy="82296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2" name="블록 uart_sender"/>
          <p:cNvSpPr/>
          <p:nvPr/>
        </p:nvSpPr>
        <p:spPr>
          <a:xfrm>
            <a:off x="13213080" y="7086600"/>
            <a:ext cx="1325880" cy="822960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uart_sender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숫자 → ASCII 한 줄</a:t>
            </a:r>
          </a:p>
        </p:txBody>
      </p:sp>
      <p:cxnSp>
        <p:nvCxnSpPr>
          <p:cNvPr id="173" name="선"/>
          <p:cNvCxnSpPr/>
          <p:nvPr/>
        </p:nvCxnSpPr>
        <p:spPr>
          <a:xfrm>
            <a:off x="14538960" y="7498079"/>
            <a:ext cx="228599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블록 fifo"/>
          <p:cNvSpPr/>
          <p:nvPr/>
        </p:nvSpPr>
        <p:spPr>
          <a:xfrm>
            <a:off x="14767559" y="7214616"/>
            <a:ext cx="82296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TX × 64</a:t>
            </a:r>
          </a:p>
        </p:txBody>
      </p:sp>
      <p:cxnSp>
        <p:nvCxnSpPr>
          <p:cNvPr id="175" name="선"/>
          <p:cNvCxnSpPr/>
          <p:nvPr/>
        </p:nvCxnSpPr>
        <p:spPr>
          <a:xfrm>
            <a:off x="15590520" y="7498079"/>
            <a:ext cx="22860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블록 uart_tx"/>
          <p:cNvSpPr/>
          <p:nvPr/>
        </p:nvSpPr>
        <p:spPr>
          <a:xfrm>
            <a:off x="15819120" y="7214616"/>
            <a:ext cx="86868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uart_tx</a:t>
            </a:r>
          </a:p>
        </p:txBody>
      </p:sp>
      <p:cxnSp>
        <p:nvCxnSpPr>
          <p:cNvPr id="177" name="선"/>
          <p:cNvCxnSpPr/>
          <p:nvPr/>
        </p:nvCxnSpPr>
        <p:spPr>
          <a:xfrm>
            <a:off x="16687800" y="7498079"/>
            <a:ext cx="18288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8" name="태그 tx"/>
          <p:cNvSpPr/>
          <p:nvPr/>
        </p:nvSpPr>
        <p:spPr>
          <a:xfrm>
            <a:off x="16870680" y="7351775"/>
            <a:ext cx="822960" cy="292608"/>
          </a:xfrm>
          <a:prstGeom prst="homePlate">
            <a:avLst>
              <a:gd name="adj" fmla="val 24888"/>
            </a:avLst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tx</a:t>
            </a:r>
          </a:p>
        </p:txBody>
      </p:sp>
      <p:sp>
        <p:nvSpPr>
          <p:cNvPr id="179" name="라벨 v2"/>
          <p:cNvSpPr txBox="1"/>
          <p:nvPr/>
        </p:nvSpPr>
        <p:spPr>
          <a:xfrm>
            <a:off x="8366760" y="3657600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00" b="1">
                <a:solidFill>
                  <a:srgbClr val="1E8E3E"/>
                </a:solidFill>
                <a:latin typeface="Malgun Gothic"/>
                <a:ea typeface="Malgun Gothic"/>
                <a:cs typeface="Malgun Gothic"/>
              </a:rPr>
              <a:t>상태 → FND MUX + 전송 MUX</a:t>
            </a:r>
          </a:p>
        </p:txBody>
      </p:sp>
      <p:sp>
        <p:nvSpPr>
          <p:cNvPr id="180" name="라벨 v2"/>
          <p:cNvSpPr txBox="1"/>
          <p:nvPr/>
        </p:nvSpPr>
        <p:spPr>
          <a:xfrm>
            <a:off x="8366760" y="4800600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00" b="1">
                <a:solidFill>
                  <a:srgbClr val="1E8E3E"/>
                </a:solidFill>
                <a:latin typeface="Malgun Gothic"/>
                <a:ea typeface="Malgun Gothic"/>
                <a:cs typeface="Malgun Gothic"/>
              </a:rPr>
              <a:t>상태 → FND MUX + 전송 MUX</a:t>
            </a:r>
          </a:p>
        </p:txBody>
      </p:sp>
      <p:sp>
        <p:nvSpPr>
          <p:cNvPr id="181" name="단계 1"/>
          <p:cNvSpPr/>
          <p:nvPr/>
        </p:nvSpPr>
        <p:spPr>
          <a:xfrm>
            <a:off x="6089904" y="6473952"/>
            <a:ext cx="347472" cy="347472"/>
          </a:xfrm>
          <a:prstGeom prst="ellipse">
            <a:avLst/>
          </a:prstGeom>
          <a:solidFill>
            <a:srgbClr val="2C7A7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82" name="단계 2"/>
          <p:cNvSpPr/>
          <p:nvPr/>
        </p:nvSpPr>
        <p:spPr>
          <a:xfrm>
            <a:off x="6400800" y="7818120"/>
            <a:ext cx="347472" cy="347472"/>
          </a:xfrm>
          <a:prstGeom prst="ellipse">
            <a:avLst/>
          </a:prstGeom>
          <a:solidFill>
            <a:srgbClr val="2C7A7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83" name="단계 3"/>
          <p:cNvSpPr/>
          <p:nvPr/>
        </p:nvSpPr>
        <p:spPr>
          <a:xfrm>
            <a:off x="9646920" y="7607808"/>
            <a:ext cx="347472" cy="347472"/>
          </a:xfrm>
          <a:prstGeom prst="ellipse">
            <a:avLst/>
          </a:prstGeom>
          <a:solidFill>
            <a:srgbClr val="2C7A7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4" name="단계 4"/>
          <p:cNvSpPr/>
          <p:nvPr/>
        </p:nvSpPr>
        <p:spPr>
          <a:xfrm>
            <a:off x="11027664" y="7827264"/>
            <a:ext cx="347472" cy="347472"/>
          </a:xfrm>
          <a:prstGeom prst="ellipse">
            <a:avLst/>
          </a:prstGeom>
          <a:solidFill>
            <a:srgbClr val="2C7A7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85" name="단계 5"/>
          <p:cNvSpPr/>
          <p:nvPr/>
        </p:nvSpPr>
        <p:spPr>
          <a:xfrm>
            <a:off x="13533120" y="7882127"/>
            <a:ext cx="347472" cy="347472"/>
          </a:xfrm>
          <a:prstGeom prst="ellipse">
            <a:avLst/>
          </a:prstGeom>
          <a:solidFill>
            <a:srgbClr val="2C7A7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86" name="단계 6"/>
          <p:cNvSpPr/>
          <p:nvPr/>
        </p:nvSpPr>
        <p:spPr>
          <a:xfrm>
            <a:off x="16733520" y="6903720"/>
            <a:ext cx="347472" cy="347472"/>
          </a:xfrm>
          <a:prstGeom prst="ellipse">
            <a:avLst/>
          </a:prstGeom>
          <a:solidFill>
            <a:srgbClr val="2C7A7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87" name="단계표 1"/>
          <p:cNvSpPr/>
          <p:nvPr/>
        </p:nvSpPr>
        <p:spPr>
          <a:xfrm>
            <a:off x="841248" y="8613648"/>
            <a:ext cx="329184" cy="329184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88" name="라벨"/>
          <p:cNvSpPr txBox="1"/>
          <p:nvPr/>
        </p:nvSpPr>
        <p:spPr>
          <a:xfrm>
            <a:off x="1252728" y="86045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디코더 : "/auto " + 3 글자 (_sw _tm _wh dis tem all off)</a:t>
            </a:r>
          </a:p>
        </p:txBody>
      </p:sp>
      <p:sp>
        <p:nvSpPr>
          <p:cNvPr id="189" name="단계표 2"/>
          <p:cNvSpPr/>
          <p:nvPr/>
        </p:nvSpPr>
        <p:spPr>
          <a:xfrm>
            <a:off x="6419088" y="8613648"/>
            <a:ext cx="329184" cy="329184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90" name="라벨"/>
          <p:cNvSpPr txBox="1"/>
          <p:nvPr/>
        </p:nvSpPr>
        <p:spPr>
          <a:xfrm>
            <a:off x="6830568" y="86045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컨트롤러 : AUTO 상태 · sender_tick 켜기</a:t>
            </a:r>
          </a:p>
        </p:txBody>
      </p:sp>
      <p:sp>
        <p:nvSpPr>
          <p:cNvPr id="191" name="단계표 3"/>
          <p:cNvSpPr/>
          <p:nvPr/>
        </p:nvSpPr>
        <p:spPr>
          <a:xfrm>
            <a:off x="11996928" y="8613648"/>
            <a:ext cx="329184" cy="329184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92" name="라벨"/>
          <p:cNvSpPr txBox="1"/>
          <p:nvPr/>
        </p:nvSpPr>
        <p:spPr>
          <a:xfrm>
            <a:off x="12408407" y="86045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1 Hz 마다 send_sel · all = 0→1→2→3→4 순환</a:t>
            </a:r>
          </a:p>
        </p:txBody>
      </p:sp>
      <p:sp>
        <p:nvSpPr>
          <p:cNvPr id="193" name="단계표 4"/>
          <p:cNvSpPr/>
          <p:nvPr/>
        </p:nvSpPr>
        <p:spPr>
          <a:xfrm>
            <a:off x="841248" y="9070848"/>
            <a:ext cx="329184" cy="329184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4" name="라벨"/>
          <p:cNvSpPr txBox="1"/>
          <p:nvPr/>
        </p:nvSpPr>
        <p:spPr>
          <a:xfrm>
            <a:off x="1252728" y="90617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전송 MUX (상태 비트 포함) → sender (busy 면 저장 후 이어서)</a:t>
            </a:r>
          </a:p>
        </p:txBody>
      </p:sp>
      <p:sp>
        <p:nvSpPr>
          <p:cNvPr id="195" name="단계표 5"/>
          <p:cNvSpPr/>
          <p:nvPr/>
        </p:nvSpPr>
        <p:spPr>
          <a:xfrm>
            <a:off x="6419088" y="9070848"/>
            <a:ext cx="329184" cy="329184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96" name="라벨"/>
          <p:cNvSpPr txBox="1"/>
          <p:nvPr/>
        </p:nvSpPr>
        <p:spPr>
          <a:xfrm>
            <a:off x="6830568" y="90617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FIFO_TX → uart_tx → tx 한 줄씩</a:t>
            </a:r>
          </a:p>
        </p:txBody>
      </p:sp>
      <p:sp>
        <p:nvSpPr>
          <p:cNvPr id="197" name="단계표 6"/>
          <p:cNvSpPr/>
          <p:nvPr/>
        </p:nvSpPr>
        <p:spPr>
          <a:xfrm>
            <a:off x="11996928" y="9070848"/>
            <a:ext cx="329184" cy="329184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98" name="라벨"/>
          <p:cNvSpPr txBox="1"/>
          <p:nvPr/>
        </p:nvSpPr>
        <p:spPr>
          <a:xfrm>
            <a:off x="12408407" y="90617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/auto off → 멈춤 · FND 화면은 그대로 (/mod 와 별개)</a:t>
            </a:r>
          </a:p>
        </p:txBody>
      </p:sp>
      <p:sp>
        <p:nvSpPr>
          <p:cNvPr id="199" name="라벨 v2"/>
          <p:cNvSpPr txBox="1"/>
          <p:nvPr/>
        </p:nvSpPr>
        <p:spPr>
          <a:xfrm>
            <a:off x="841248" y="9582912"/>
            <a:ext cx="1536192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1E8E3E"/>
                </a:solidFill>
                <a:latin typeface="Malgun Gothic"/>
                <a:ea typeface="Malgun Gothic"/>
                <a:cs typeface="Malgun Gothic"/>
              </a:rPr>
              <a:t>v2</a:t>
            </a:r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  /auto dis · tem · all 의 거리 · 온습도 줄도 /get 과 같은 길  →  오류면 Err N · 측정 전이면 --%--C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라벨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WTS · SR04 · DHT11 · UART</a:t>
            </a:r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라벨"/>
          <p:cNvSpPr txBox="1"/>
          <p:nvPr/>
        </p:nvSpPr>
        <p:spPr>
          <a:xfrm>
            <a:off x="1042415" y="402336"/>
            <a:ext cx="91440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02  시스템 구조 · 명령별 흐름</a:t>
            </a:r>
          </a:p>
        </p:txBody>
      </p:sp>
      <p:sp>
        <p:nvSpPr>
          <p:cNvPr id="5" name="라벨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/set · /off 흐름 — 시계 시간 설정 · 12 / 24 시간</a:t>
            </a:r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7" name="라벨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/set 은 모드 비트 bit2 (set_sw2) · bit3 (hour24_sw3) 만 바꿈 · 값 변경은 /btn 으로 · /mod 받은 뒤에만 동작</a:t>
            </a:r>
          </a:p>
        </p:txBody>
      </p:sp>
      <p:sp>
        <p:nvSpPr>
          <p:cNvPr id="8" name="라벨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09</a:t>
            </a:r>
          </a:p>
        </p:txBody>
      </p:sp>
      <p:sp>
        <p:nvSpPr>
          <p:cNvPr id="9" name="줄 WTS  스톱워치 · 시계 · 타이머"/>
          <p:cNvSpPr/>
          <p:nvPr/>
        </p:nvSpPr>
        <p:spPr>
          <a:xfrm>
            <a:off x="5806440" y="2487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E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라벨"/>
          <p:cNvSpPr txBox="1"/>
          <p:nvPr/>
        </p:nvSpPr>
        <p:spPr>
          <a:xfrm>
            <a:off x="5916168" y="2514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WTS  스톱워치 · 시계 · 타이머</a:t>
            </a:r>
          </a:p>
        </p:txBody>
      </p:sp>
      <p:sp>
        <p:nvSpPr>
          <p:cNvPr id="11" name="줄 SR04  초음파 거리"/>
          <p:cNvSpPr/>
          <p:nvPr/>
        </p:nvSpPr>
        <p:spPr>
          <a:xfrm>
            <a:off x="5806440" y="3630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A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라벨"/>
          <p:cNvSpPr txBox="1"/>
          <p:nvPr/>
        </p:nvSpPr>
        <p:spPr>
          <a:xfrm>
            <a:off x="5916168" y="3657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SR04  초음파 거리</a:t>
            </a:r>
          </a:p>
        </p:txBody>
      </p:sp>
      <p:sp>
        <p:nvSpPr>
          <p:cNvPr id="13" name="줄 DHT11  온습도"/>
          <p:cNvSpPr/>
          <p:nvPr/>
        </p:nvSpPr>
        <p:spPr>
          <a:xfrm>
            <a:off x="5806440" y="4773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A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라벨"/>
          <p:cNvSpPr txBox="1"/>
          <p:nvPr/>
        </p:nvSpPr>
        <p:spPr>
          <a:xfrm>
            <a:off x="5916168" y="4800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DHT11  온습도</a:t>
            </a:r>
          </a:p>
        </p:txBody>
      </p:sp>
      <p:sp>
        <p:nvSpPr>
          <p:cNvPr id="15" name="줄 UART  명령 수신 · 응답 전송  (uart_top)"/>
          <p:cNvSpPr/>
          <p:nvPr/>
        </p:nvSpPr>
        <p:spPr>
          <a:xfrm>
            <a:off x="1600200" y="6355080"/>
            <a:ext cx="15133320" cy="2011680"/>
          </a:xfrm>
          <a:prstGeom prst="roundRect">
            <a:avLst>
              <a:gd name="adj" fmla="val 3636"/>
            </a:avLst>
          </a:prstGeom>
          <a:solidFill>
            <a:srgbClr val="E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라벨"/>
          <p:cNvSpPr txBox="1"/>
          <p:nvPr/>
        </p:nvSpPr>
        <p:spPr>
          <a:xfrm>
            <a:off x="1709928" y="6382512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UART  명령 수신 · 응답 전송  (uart_top)</a:t>
            </a:r>
          </a:p>
        </p:txBody>
      </p:sp>
      <p:sp>
        <p:nvSpPr>
          <p:cNvPr id="17" name="라벨"/>
          <p:cNvSpPr txBox="1"/>
          <p:nvPr/>
        </p:nvSpPr>
        <p:spPr>
          <a:xfrm>
            <a:off x="11137392" y="6382512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9600 bps · 8N1</a:t>
            </a:r>
          </a:p>
        </p:txBody>
      </p:sp>
      <p:sp>
        <p:nvSpPr>
          <p:cNvPr id="18" name="태그 clk"/>
          <p:cNvSpPr/>
          <p:nvPr/>
        </p:nvSpPr>
        <p:spPr>
          <a:xfrm>
            <a:off x="411480" y="21031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clk</a:t>
            </a:r>
          </a:p>
        </p:txBody>
      </p:sp>
      <p:cxnSp>
        <p:nvCxnSpPr>
          <p:cNvPr id="19" name="선"/>
          <p:cNvCxnSpPr/>
          <p:nvPr/>
        </p:nvCxnSpPr>
        <p:spPr>
          <a:xfrm>
            <a:off x="1417320" y="2249424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블록 clock_tick_generator"/>
          <p:cNvSpPr/>
          <p:nvPr/>
        </p:nvSpPr>
        <p:spPr>
          <a:xfrm>
            <a:off x="1737360" y="2057400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clock_tick_generator</a:t>
            </a:r>
          </a:p>
        </p:txBody>
      </p:sp>
      <p:cxnSp>
        <p:nvCxnSpPr>
          <p:cNvPr id="21" name="선"/>
          <p:cNvCxnSpPr/>
          <p:nvPr/>
        </p:nvCxnSpPr>
        <p:spPr>
          <a:xfrm>
            <a:off x="3429000" y="2249424"/>
            <a:ext cx="11567159" cy="0"/>
          </a:xfrm>
          <a:prstGeom prst="line">
            <a:avLst/>
          </a:prstGeom>
          <a:ln w="19050">
            <a:solidFill>
              <a:srgbClr val="4A556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선"/>
          <p:cNvCxnSpPr/>
          <p:nvPr/>
        </p:nvCxnSpPr>
        <p:spPr>
          <a:xfrm>
            <a:off x="14996159" y="2249424"/>
            <a:ext cx="0" cy="356616"/>
          </a:xfrm>
          <a:prstGeom prst="line">
            <a:avLst/>
          </a:prstGeom>
          <a:ln w="19050">
            <a:solidFill>
              <a:srgbClr val="4A556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라벨"/>
          <p:cNvSpPr txBox="1"/>
          <p:nvPr/>
        </p:nvSpPr>
        <p:spPr>
          <a:xfrm>
            <a:off x="3840480" y="2011680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4 kHz  →  디바운서 · FND 스캔</a:t>
            </a:r>
          </a:p>
        </p:txBody>
      </p:sp>
      <p:cxnSp>
        <p:nvCxnSpPr>
          <p:cNvPr id="24" name="선"/>
          <p:cNvCxnSpPr/>
          <p:nvPr/>
        </p:nvCxnSpPr>
        <p:spPr>
          <a:xfrm>
            <a:off x="2194560" y="2441448"/>
            <a:ext cx="0" cy="118872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태그 btn_R"/>
          <p:cNvSpPr/>
          <p:nvPr/>
        </p:nvSpPr>
        <p:spPr>
          <a:xfrm>
            <a:off x="411480" y="263347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btn_R</a:t>
            </a:r>
          </a:p>
        </p:txBody>
      </p:sp>
      <p:cxnSp>
        <p:nvCxnSpPr>
          <p:cNvPr id="26" name="선"/>
          <p:cNvCxnSpPr/>
          <p:nvPr/>
        </p:nvCxnSpPr>
        <p:spPr>
          <a:xfrm>
            <a:off x="1417320" y="277977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태그 btn_L"/>
          <p:cNvSpPr/>
          <p:nvPr/>
        </p:nvSpPr>
        <p:spPr>
          <a:xfrm>
            <a:off x="411480" y="299923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btn_L</a:t>
            </a:r>
          </a:p>
        </p:txBody>
      </p:sp>
      <p:cxnSp>
        <p:nvCxnSpPr>
          <p:cNvPr id="28" name="선"/>
          <p:cNvCxnSpPr/>
          <p:nvPr/>
        </p:nvCxnSpPr>
        <p:spPr>
          <a:xfrm>
            <a:off x="1417320" y="314553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태그 btn_U"/>
          <p:cNvSpPr/>
          <p:nvPr/>
        </p:nvSpPr>
        <p:spPr>
          <a:xfrm>
            <a:off x="411480" y="3364991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btn_U</a:t>
            </a:r>
          </a:p>
        </p:txBody>
      </p:sp>
      <p:cxnSp>
        <p:nvCxnSpPr>
          <p:cNvPr id="30" name="선"/>
          <p:cNvCxnSpPr/>
          <p:nvPr/>
        </p:nvCxnSpPr>
        <p:spPr>
          <a:xfrm>
            <a:off x="1417320" y="351129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태그 btn_D"/>
          <p:cNvSpPr/>
          <p:nvPr/>
        </p:nvSpPr>
        <p:spPr>
          <a:xfrm>
            <a:off x="411480" y="373075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btn_D</a:t>
            </a:r>
          </a:p>
        </p:txBody>
      </p:sp>
      <p:cxnSp>
        <p:nvCxnSpPr>
          <p:cNvPr id="32" name="선"/>
          <p:cNvCxnSpPr/>
          <p:nvPr/>
        </p:nvCxnSpPr>
        <p:spPr>
          <a:xfrm>
            <a:off x="1417320" y="387705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블록 btn_debounce&#10;×4"/>
          <p:cNvSpPr/>
          <p:nvPr/>
        </p:nvSpPr>
        <p:spPr>
          <a:xfrm>
            <a:off x="1737360" y="2560320"/>
            <a:ext cx="1371600" cy="1481328"/>
          </a:xfrm>
          <a:prstGeom prst="roundRect">
            <a:avLst>
              <a:gd name="adj" fmla="val 5333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btn_debounce</a:t>
            </a:r>
          </a:p>
          <a:p>
            <a:pPr algn="ctr"/>
            <a:r>
              <a:rPr sz="12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×4</a:t>
            </a:r>
          </a:p>
        </p:txBody>
      </p:sp>
      <p:cxnSp>
        <p:nvCxnSpPr>
          <p:cNvPr id="34" name="선"/>
          <p:cNvCxnSpPr/>
          <p:nvPr/>
        </p:nvCxnSpPr>
        <p:spPr>
          <a:xfrm>
            <a:off x="3108960" y="3163824"/>
            <a:ext cx="868679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라벨"/>
          <p:cNvSpPr txBox="1"/>
          <p:nvPr/>
        </p:nvSpPr>
        <p:spPr>
          <a:xfrm>
            <a:off x="3182112" y="2907792"/>
            <a:ext cx="8229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phy_btn</a:t>
            </a:r>
          </a:p>
        </p:txBody>
      </p:sp>
      <p:sp>
        <p:nvSpPr>
          <p:cNvPr id="36" name="게이트"/>
          <p:cNvSpPr/>
          <p:nvPr/>
        </p:nvSpPr>
        <p:spPr>
          <a:xfrm>
            <a:off x="3977639" y="3026664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≥1</a:t>
            </a:r>
          </a:p>
        </p:txBody>
      </p:sp>
      <p:cxnSp>
        <p:nvCxnSpPr>
          <p:cNvPr id="37" name="선"/>
          <p:cNvCxnSpPr/>
          <p:nvPr/>
        </p:nvCxnSpPr>
        <p:spPr>
          <a:xfrm>
            <a:off x="4526280" y="3300984"/>
            <a:ext cx="182880" cy="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선"/>
          <p:cNvCxnSpPr/>
          <p:nvPr/>
        </p:nvCxnSpPr>
        <p:spPr>
          <a:xfrm>
            <a:off x="4709160" y="2967228"/>
            <a:ext cx="0" cy="2285999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접점"/>
          <p:cNvSpPr/>
          <p:nvPr/>
        </p:nvSpPr>
        <p:spPr>
          <a:xfrm>
            <a:off x="4668012" y="3259836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선"/>
          <p:cNvCxnSpPr/>
          <p:nvPr/>
        </p:nvCxnSpPr>
        <p:spPr>
          <a:xfrm>
            <a:off x="3611880" y="4965192"/>
            <a:ext cx="1280160" cy="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선"/>
          <p:cNvCxnSpPr/>
          <p:nvPr/>
        </p:nvCxnSpPr>
        <p:spPr>
          <a:xfrm>
            <a:off x="4892040" y="3241548"/>
            <a:ext cx="0" cy="228600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접점"/>
          <p:cNvSpPr/>
          <p:nvPr/>
        </p:nvSpPr>
        <p:spPr>
          <a:xfrm>
            <a:off x="4850892" y="4924044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3" name="선"/>
          <p:cNvCxnSpPr/>
          <p:nvPr/>
        </p:nvCxnSpPr>
        <p:spPr>
          <a:xfrm>
            <a:off x="4709160" y="2967228"/>
            <a:ext cx="36576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선"/>
          <p:cNvCxnSpPr/>
          <p:nvPr/>
        </p:nvCxnSpPr>
        <p:spPr>
          <a:xfrm>
            <a:off x="4892040" y="3241548"/>
            <a:ext cx="18288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접점"/>
          <p:cNvSpPr/>
          <p:nvPr/>
        </p:nvSpPr>
        <p:spPr>
          <a:xfrm>
            <a:off x="4850892" y="3200400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게이트"/>
          <p:cNvSpPr/>
          <p:nvPr/>
        </p:nvSpPr>
        <p:spPr>
          <a:xfrm>
            <a:off x="5074920" y="2830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47" name="라벨"/>
          <p:cNvSpPr txBox="1"/>
          <p:nvPr/>
        </p:nvSpPr>
        <p:spPr>
          <a:xfrm>
            <a:off x="5029200" y="33878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mode_wts</a:t>
            </a:r>
          </a:p>
        </p:txBody>
      </p:sp>
      <p:cxnSp>
        <p:nvCxnSpPr>
          <p:cNvPr id="48" name="선"/>
          <p:cNvCxnSpPr/>
          <p:nvPr/>
        </p:nvCxnSpPr>
        <p:spPr>
          <a:xfrm>
            <a:off x="5623560" y="3104388"/>
            <a:ext cx="73152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라벨"/>
          <p:cNvSpPr txBox="1"/>
          <p:nvPr/>
        </p:nvSpPr>
        <p:spPr>
          <a:xfrm>
            <a:off x="5669280" y="2839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R·L·U·D</a:t>
            </a:r>
          </a:p>
        </p:txBody>
      </p:sp>
      <p:cxnSp>
        <p:nvCxnSpPr>
          <p:cNvPr id="50" name="선"/>
          <p:cNvCxnSpPr/>
          <p:nvPr/>
        </p:nvCxnSpPr>
        <p:spPr>
          <a:xfrm>
            <a:off x="4709160" y="4110228"/>
            <a:ext cx="36576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접점"/>
          <p:cNvSpPr/>
          <p:nvPr/>
        </p:nvSpPr>
        <p:spPr>
          <a:xfrm>
            <a:off x="4668012" y="4069080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2" name="선"/>
          <p:cNvCxnSpPr/>
          <p:nvPr/>
        </p:nvCxnSpPr>
        <p:spPr>
          <a:xfrm>
            <a:off x="4892040" y="4384548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접점"/>
          <p:cNvSpPr/>
          <p:nvPr/>
        </p:nvSpPr>
        <p:spPr>
          <a:xfrm>
            <a:off x="4850892" y="4343400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게이트"/>
          <p:cNvSpPr/>
          <p:nvPr/>
        </p:nvSpPr>
        <p:spPr>
          <a:xfrm>
            <a:off x="5074920" y="3973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55" name="라벨"/>
          <p:cNvSpPr txBox="1"/>
          <p:nvPr/>
        </p:nvSpPr>
        <p:spPr>
          <a:xfrm>
            <a:off x="5029200" y="45308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mode_dist</a:t>
            </a:r>
          </a:p>
        </p:txBody>
      </p:sp>
      <p:cxnSp>
        <p:nvCxnSpPr>
          <p:cNvPr id="56" name="선"/>
          <p:cNvCxnSpPr/>
          <p:nvPr/>
        </p:nvCxnSpPr>
        <p:spPr>
          <a:xfrm>
            <a:off x="5623560" y="4247388"/>
            <a:ext cx="7315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라벨"/>
          <p:cNvSpPr txBox="1"/>
          <p:nvPr/>
        </p:nvSpPr>
        <p:spPr>
          <a:xfrm>
            <a:off x="5669280" y="3982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cxnSp>
        <p:nvCxnSpPr>
          <p:cNvPr id="58" name="선"/>
          <p:cNvCxnSpPr/>
          <p:nvPr/>
        </p:nvCxnSpPr>
        <p:spPr>
          <a:xfrm>
            <a:off x="4709160" y="5253227"/>
            <a:ext cx="36576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접점"/>
          <p:cNvSpPr/>
          <p:nvPr/>
        </p:nvSpPr>
        <p:spPr>
          <a:xfrm>
            <a:off x="4668012" y="5212079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0" name="선"/>
          <p:cNvCxnSpPr/>
          <p:nvPr/>
        </p:nvCxnSpPr>
        <p:spPr>
          <a:xfrm>
            <a:off x="4892040" y="5527548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게이트"/>
          <p:cNvSpPr/>
          <p:nvPr/>
        </p:nvSpPr>
        <p:spPr>
          <a:xfrm>
            <a:off x="5074920" y="5116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62" name="라벨"/>
          <p:cNvSpPr txBox="1"/>
          <p:nvPr/>
        </p:nvSpPr>
        <p:spPr>
          <a:xfrm>
            <a:off x="5029200" y="5673851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mode_dht</a:t>
            </a:r>
          </a:p>
        </p:txBody>
      </p:sp>
      <p:cxnSp>
        <p:nvCxnSpPr>
          <p:cNvPr id="63" name="선"/>
          <p:cNvCxnSpPr/>
          <p:nvPr/>
        </p:nvCxnSpPr>
        <p:spPr>
          <a:xfrm>
            <a:off x="5623560" y="5390388"/>
            <a:ext cx="7315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라벨"/>
          <p:cNvSpPr txBox="1"/>
          <p:nvPr/>
        </p:nvSpPr>
        <p:spPr>
          <a:xfrm>
            <a:off x="5669280" y="5125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sp>
        <p:nvSpPr>
          <p:cNvPr id="65" name="모드 선택 칸"/>
          <p:cNvSpPr/>
          <p:nvPr/>
        </p:nvSpPr>
        <p:spPr>
          <a:xfrm>
            <a:off x="1600200" y="4160520"/>
            <a:ext cx="2103120" cy="1481328"/>
          </a:xfrm>
          <a:prstGeom prst="roundRect">
            <a:avLst>
              <a:gd name="adj" fmla="val 4938"/>
            </a:avLst>
          </a:prstGeom>
          <a:solidFill>
            <a:srgbClr val="FBFBFC"/>
          </a:solidFill>
          <a:ln w="12700">
            <a:solidFill>
              <a:srgbClr val="C8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라벨"/>
          <p:cNvSpPr txBox="1"/>
          <p:nvPr/>
        </p:nvSpPr>
        <p:spPr>
          <a:xfrm>
            <a:off x="1664208" y="417880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모드 선택</a:t>
            </a:r>
          </a:p>
        </p:txBody>
      </p:sp>
      <p:sp>
        <p:nvSpPr>
          <p:cNvPr id="67" name="태그 sw0 ~ sw6"/>
          <p:cNvSpPr/>
          <p:nvPr/>
        </p:nvSpPr>
        <p:spPr>
          <a:xfrm>
            <a:off x="411480" y="4498848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sw0 ~ sw6</a:t>
            </a:r>
          </a:p>
        </p:txBody>
      </p:sp>
      <p:cxnSp>
        <p:nvCxnSpPr>
          <p:cNvPr id="68" name="선"/>
          <p:cNvCxnSpPr/>
          <p:nvPr/>
        </p:nvCxnSpPr>
        <p:spPr>
          <a:xfrm>
            <a:off x="1417320" y="4645152"/>
            <a:ext cx="5486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MUX 모드"/>
          <p:cNvSpPr/>
          <p:nvPr/>
        </p:nvSpPr>
        <p:spPr>
          <a:xfrm>
            <a:off x="1965960" y="4480560"/>
            <a:ext cx="457200" cy="987552"/>
          </a:xfrm>
          <a:custGeom>
            <a:avLst/>
            <a:gdLst/>
            <a:ahLst/>
            <a:cxnLst/>
            <a:rect l="l" t="t" r="r" b="b"/>
            <a:pathLst>
              <a:path w="457200" h="987552">
                <a:moveTo>
                  <a:pt x="0" y="0"/>
                </a:moveTo>
                <a:lnTo>
                  <a:pt x="457200" y="109728"/>
                </a:lnTo>
                <a:lnTo>
                  <a:pt x="457200" y="877824"/>
                </a:lnTo>
                <a:lnTo>
                  <a:pt x="0" y="987552"/>
                </a:lnTo>
                <a:lnTo>
                  <a:pt x="0" y="0"/>
                </a:lnTo>
                <a:close/>
              </a:path>
            </a:pathLst>
          </a:custGeom>
          <a:solidFill>
            <a:srgbClr val="EDF6F0"/>
          </a:solidFill>
          <a:ln w="1905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라벨"/>
          <p:cNvSpPr txBox="1"/>
          <p:nvPr/>
        </p:nvSpPr>
        <p:spPr>
          <a:xfrm>
            <a:off x="2020824" y="4526280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71" name="라벨"/>
          <p:cNvSpPr txBox="1"/>
          <p:nvPr/>
        </p:nvSpPr>
        <p:spPr>
          <a:xfrm>
            <a:off x="2020824" y="5093208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72" name="라벨"/>
          <p:cNvSpPr txBox="1"/>
          <p:nvPr/>
        </p:nvSpPr>
        <p:spPr>
          <a:xfrm>
            <a:off x="2423160" y="418795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2:1 × 7 bit</a:t>
            </a:r>
          </a:p>
        </p:txBody>
      </p:sp>
      <p:cxnSp>
        <p:nvCxnSpPr>
          <p:cNvPr id="73" name="선"/>
          <p:cNvCxnSpPr/>
          <p:nvPr/>
        </p:nvCxnSpPr>
        <p:spPr>
          <a:xfrm>
            <a:off x="2423160" y="4965192"/>
            <a:ext cx="27432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블록 모드&#10;디코드"/>
          <p:cNvSpPr/>
          <p:nvPr/>
        </p:nvSpPr>
        <p:spPr>
          <a:xfrm>
            <a:off x="2697480" y="4663440"/>
            <a:ext cx="914400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모드</a:t>
            </a:r>
          </a:p>
          <a:p>
            <a:pPr algn="ctr"/>
            <a:r>
              <a:rPr sz="11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디코드</a:t>
            </a:r>
          </a:p>
        </p:txBody>
      </p:sp>
      <p:sp>
        <p:nvSpPr>
          <p:cNvPr id="75" name="라벨"/>
          <p:cNvSpPr txBox="1"/>
          <p:nvPr/>
        </p:nvSpPr>
        <p:spPr>
          <a:xfrm>
            <a:off x="2331720" y="5340096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5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→ mode_* · disp_sel</a:t>
            </a:r>
          </a:p>
        </p:txBody>
      </p:sp>
      <p:sp>
        <p:nvSpPr>
          <p:cNvPr id="76" name="블록 wts_top"/>
          <p:cNvSpPr/>
          <p:nvPr/>
        </p:nvSpPr>
        <p:spPr>
          <a:xfrm>
            <a:off x="6355080" y="2761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FFFFF"/>
          </a:solidFill>
          <a:ln w="285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wts_top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control_unit · datapath × 3</a:t>
            </a:r>
          </a:p>
        </p:txBody>
      </p:sp>
      <p:cxnSp>
        <p:nvCxnSpPr>
          <p:cNvPr id="77" name="선"/>
          <p:cNvCxnSpPr/>
          <p:nvPr/>
        </p:nvCxnSpPr>
        <p:spPr>
          <a:xfrm>
            <a:off x="8549640" y="3104388"/>
            <a:ext cx="361188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라벨"/>
          <p:cNvSpPr txBox="1"/>
          <p:nvPr/>
        </p:nvSpPr>
        <p:spPr>
          <a:xfrm>
            <a:off x="8686800" y="2839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disp  시 · 분 · 초 · 1/100</a:t>
            </a:r>
          </a:p>
        </p:txBody>
      </p:sp>
      <p:sp>
        <p:nvSpPr>
          <p:cNvPr id="79" name="라벨"/>
          <p:cNvSpPr txBox="1"/>
          <p:nvPr/>
        </p:nvSpPr>
        <p:spPr>
          <a:xfrm>
            <a:off x="8686800" y="3150108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← ctrl_bit[4:0]  (sw0 · sw1 · sw2 · sw3 · sw4)</a:t>
            </a:r>
          </a:p>
        </p:txBody>
      </p:sp>
      <p:sp>
        <p:nvSpPr>
          <p:cNvPr id="80" name="블록 sr04_top"/>
          <p:cNvSpPr/>
          <p:nvPr/>
        </p:nvSpPr>
        <p:spPr>
          <a:xfrm>
            <a:off x="6355080" y="3904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sr04_top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core · mode_ctrl · led_bar</a:t>
            </a:r>
          </a:p>
        </p:txBody>
      </p:sp>
      <p:cxnSp>
        <p:nvCxnSpPr>
          <p:cNvPr id="81" name="선"/>
          <p:cNvCxnSpPr/>
          <p:nvPr/>
        </p:nvCxnSpPr>
        <p:spPr>
          <a:xfrm>
            <a:off x="8549640" y="4247388"/>
            <a:ext cx="3611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라벨"/>
          <p:cNvSpPr txBox="1"/>
          <p:nvPr/>
        </p:nvSpPr>
        <p:spPr>
          <a:xfrm>
            <a:off x="8686800" y="3982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distance_x10 · err · status</a:t>
            </a:r>
          </a:p>
        </p:txBody>
      </p:sp>
      <p:sp>
        <p:nvSpPr>
          <p:cNvPr id="83" name="라벨"/>
          <p:cNvSpPr txBox="1"/>
          <p:nvPr/>
        </p:nvSpPr>
        <p:spPr>
          <a:xfrm>
            <a:off x="8686800" y="4293108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trig → JA1 · echo ← JA2 · sw15 = 거리 막대 LED</a:t>
            </a:r>
          </a:p>
        </p:txBody>
      </p:sp>
      <p:sp>
        <p:nvSpPr>
          <p:cNvPr id="84" name="블록 dht11_top"/>
          <p:cNvSpPr/>
          <p:nvPr/>
        </p:nvSpPr>
        <p:spPr>
          <a:xfrm>
            <a:off x="6355080" y="5047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dht11_top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core · controller · manager</a:t>
            </a:r>
          </a:p>
        </p:txBody>
      </p:sp>
      <p:cxnSp>
        <p:nvCxnSpPr>
          <p:cNvPr id="85" name="선"/>
          <p:cNvCxnSpPr/>
          <p:nvPr/>
        </p:nvCxnSpPr>
        <p:spPr>
          <a:xfrm>
            <a:off x="8549640" y="5390388"/>
            <a:ext cx="3611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라벨"/>
          <p:cNvSpPr txBox="1"/>
          <p:nvPr/>
        </p:nvSpPr>
        <p:spPr>
          <a:xfrm>
            <a:off x="8686800" y="5125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fnd_data · dashes · err</a:t>
            </a:r>
          </a:p>
        </p:txBody>
      </p:sp>
      <p:sp>
        <p:nvSpPr>
          <p:cNvPr id="87" name="라벨"/>
          <p:cNvSpPr txBox="1"/>
          <p:nvPr/>
        </p:nvSpPr>
        <p:spPr>
          <a:xfrm>
            <a:off x="8686800" y="5436107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dht11_io ↔ JXADC3 (M2)</a:t>
            </a:r>
          </a:p>
        </p:txBody>
      </p:sp>
      <p:sp>
        <p:nvSpPr>
          <p:cNvPr id="88" name="MUX FND"/>
          <p:cNvSpPr/>
          <p:nvPr/>
        </p:nvSpPr>
        <p:spPr>
          <a:xfrm>
            <a:off x="12161520" y="2606040"/>
            <a:ext cx="640080" cy="3108960"/>
          </a:xfrm>
          <a:custGeom>
            <a:avLst/>
            <a:gdLst/>
            <a:ahLst/>
            <a:cxnLst/>
            <a:rect l="l" t="t" r="r" b="b"/>
            <a:pathLst>
              <a:path w="640080" h="3108960">
                <a:moveTo>
                  <a:pt x="0" y="0"/>
                </a:moveTo>
                <a:lnTo>
                  <a:pt x="640080" y="228600"/>
                </a:lnTo>
                <a:lnTo>
                  <a:pt x="640080" y="2880360"/>
                </a:lnTo>
                <a:lnTo>
                  <a:pt x="0" y="3108960"/>
                </a:lnTo>
                <a:lnTo>
                  <a:pt x="0" y="0"/>
                </a:lnTo>
                <a:close/>
              </a:path>
            </a:pathLst>
          </a:custGeom>
          <a:solidFill>
            <a:srgbClr val="EDF6F0"/>
          </a:solidFill>
          <a:ln w="1905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라벨"/>
          <p:cNvSpPr txBox="1"/>
          <p:nvPr/>
        </p:nvSpPr>
        <p:spPr>
          <a:xfrm>
            <a:off x="12216384" y="298551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90" name="라벨"/>
          <p:cNvSpPr txBox="1"/>
          <p:nvPr/>
        </p:nvSpPr>
        <p:spPr>
          <a:xfrm>
            <a:off x="12216384" y="412851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1" name="라벨"/>
          <p:cNvSpPr txBox="1"/>
          <p:nvPr/>
        </p:nvSpPr>
        <p:spPr>
          <a:xfrm>
            <a:off x="12216384" y="527151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92" name="라벨"/>
          <p:cNvSpPr txBox="1"/>
          <p:nvPr/>
        </p:nvSpPr>
        <p:spPr>
          <a:xfrm>
            <a:off x="11978640" y="5742432"/>
            <a:ext cx="2011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FND MUX  3:1 × 25 bit</a:t>
            </a:r>
          </a:p>
        </p:txBody>
      </p:sp>
      <p:sp>
        <p:nvSpPr>
          <p:cNvPr id="93" name="라벨"/>
          <p:cNvSpPr txBox="1"/>
          <p:nvPr/>
        </p:nvSpPr>
        <p:spPr>
          <a:xfrm>
            <a:off x="11978640" y="5961888"/>
            <a:ext cx="2011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sel = disp_sel (2 bit)</a:t>
            </a:r>
          </a:p>
        </p:txBody>
      </p:sp>
      <p:cxnSp>
        <p:nvCxnSpPr>
          <p:cNvPr id="94" name="선"/>
          <p:cNvCxnSpPr/>
          <p:nvPr/>
        </p:nvCxnSpPr>
        <p:spPr>
          <a:xfrm>
            <a:off x="12801600" y="3017520"/>
            <a:ext cx="128016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라벨"/>
          <p:cNvSpPr txBox="1"/>
          <p:nvPr/>
        </p:nvSpPr>
        <p:spPr>
          <a:xfrm>
            <a:off x="12874752" y="277063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fnd_data</a:t>
            </a:r>
          </a:p>
        </p:txBody>
      </p:sp>
      <p:sp>
        <p:nvSpPr>
          <p:cNvPr id="96" name="블록 FND&#10;컨트롤러"/>
          <p:cNvSpPr/>
          <p:nvPr/>
        </p:nvSpPr>
        <p:spPr>
          <a:xfrm>
            <a:off x="14081760" y="2606040"/>
            <a:ext cx="182880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285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FND</a:t>
            </a:r>
          </a:p>
          <a:p>
            <a:pPr algn="ctr"/>
            <a:r>
              <a:rPr sz="14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컨트롤러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SW2_FND_CONTROLLER</a:t>
            </a:r>
          </a:p>
        </p:txBody>
      </p:sp>
      <p:sp>
        <p:nvSpPr>
          <p:cNvPr id="97" name="태그 disp_sel"/>
          <p:cNvSpPr/>
          <p:nvPr/>
        </p:nvSpPr>
        <p:spPr>
          <a:xfrm>
            <a:off x="13167360" y="325526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98" name="태그 wt_cursor"/>
          <p:cNvSpPr/>
          <p:nvPr/>
        </p:nvSpPr>
        <p:spPr>
          <a:xfrm>
            <a:off x="13167360" y="354787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wt_cursor</a:t>
            </a:r>
          </a:p>
        </p:txBody>
      </p:sp>
      <p:sp>
        <p:nvSpPr>
          <p:cNvPr id="99" name="태그 set_sw2"/>
          <p:cNvSpPr/>
          <p:nvPr/>
        </p:nvSpPr>
        <p:spPr>
          <a:xfrm>
            <a:off x="13167360" y="384048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set_sw2</a:t>
            </a:r>
          </a:p>
        </p:txBody>
      </p:sp>
      <p:cxnSp>
        <p:nvCxnSpPr>
          <p:cNvPr id="100" name="선"/>
          <p:cNvCxnSpPr/>
          <p:nvPr/>
        </p:nvCxnSpPr>
        <p:spPr>
          <a:xfrm>
            <a:off x="15910559" y="3054096"/>
            <a:ext cx="411481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태그 fnd_com"/>
          <p:cNvSpPr/>
          <p:nvPr/>
        </p:nvSpPr>
        <p:spPr>
          <a:xfrm>
            <a:off x="16322040" y="29077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fnd_com</a:t>
            </a:r>
          </a:p>
        </p:txBody>
      </p:sp>
      <p:cxnSp>
        <p:nvCxnSpPr>
          <p:cNvPr id="102" name="선"/>
          <p:cNvCxnSpPr/>
          <p:nvPr/>
        </p:nvCxnSpPr>
        <p:spPr>
          <a:xfrm>
            <a:off x="15910559" y="3739896"/>
            <a:ext cx="411481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태그 fnd_font"/>
          <p:cNvSpPr/>
          <p:nvPr/>
        </p:nvSpPr>
        <p:spPr>
          <a:xfrm>
            <a:off x="16322040" y="35935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fnd_font</a:t>
            </a:r>
          </a:p>
        </p:txBody>
      </p:sp>
      <p:sp>
        <p:nvSpPr>
          <p:cNvPr id="104" name="블록 LED 로직"/>
          <p:cNvSpPr/>
          <p:nvPr/>
        </p:nvSpPr>
        <p:spPr>
          <a:xfrm>
            <a:off x="14081760" y="4343400"/>
            <a:ext cx="1828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85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 로직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led_output</a:t>
            </a:r>
          </a:p>
        </p:txBody>
      </p:sp>
      <p:sp>
        <p:nvSpPr>
          <p:cNvPr id="105" name="태그 disp_sel"/>
          <p:cNvSpPr/>
          <p:nvPr/>
        </p:nvSpPr>
        <p:spPr>
          <a:xfrm>
            <a:off x="13167360" y="4425696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106" name="태그 WTS 신호"/>
          <p:cNvSpPr/>
          <p:nvPr/>
        </p:nvSpPr>
        <p:spPr>
          <a:xfrm>
            <a:off x="13167360" y="471830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WTS 신호</a:t>
            </a:r>
          </a:p>
        </p:txBody>
      </p:sp>
      <p:sp>
        <p:nvSpPr>
          <p:cNvPr id="107" name="태그 sr04_led"/>
          <p:cNvSpPr/>
          <p:nvPr/>
        </p:nvSpPr>
        <p:spPr>
          <a:xfrm>
            <a:off x="13167360" y="501091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sr04_led</a:t>
            </a:r>
          </a:p>
        </p:txBody>
      </p:sp>
      <p:sp>
        <p:nvSpPr>
          <p:cNvPr id="108" name="태그 dht_led"/>
          <p:cNvSpPr/>
          <p:nvPr/>
        </p:nvSpPr>
        <p:spPr>
          <a:xfrm>
            <a:off x="13167360" y="530352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dht_led</a:t>
            </a:r>
          </a:p>
        </p:txBody>
      </p:sp>
      <p:cxnSp>
        <p:nvCxnSpPr>
          <p:cNvPr id="109" name="선"/>
          <p:cNvCxnSpPr/>
          <p:nvPr/>
        </p:nvCxnSpPr>
        <p:spPr>
          <a:xfrm>
            <a:off x="15910559" y="5029200"/>
            <a:ext cx="411481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태그 led[15:0]"/>
          <p:cNvSpPr/>
          <p:nvPr/>
        </p:nvSpPr>
        <p:spPr>
          <a:xfrm>
            <a:off x="16322040" y="4882896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led[15:0]</a:t>
            </a:r>
          </a:p>
        </p:txBody>
      </p:sp>
      <p:sp>
        <p:nvSpPr>
          <p:cNvPr id="111" name="태그 rx"/>
          <p:cNvSpPr/>
          <p:nvPr/>
        </p:nvSpPr>
        <p:spPr>
          <a:xfrm>
            <a:off x="411480" y="69037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rx</a:t>
            </a:r>
          </a:p>
        </p:txBody>
      </p:sp>
      <p:cxnSp>
        <p:nvCxnSpPr>
          <p:cNvPr id="112" name="선"/>
          <p:cNvCxnSpPr/>
          <p:nvPr/>
        </p:nvCxnSpPr>
        <p:spPr>
          <a:xfrm>
            <a:off x="1417320" y="7050024"/>
            <a:ext cx="36576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블록 uart_rx"/>
          <p:cNvSpPr/>
          <p:nvPr/>
        </p:nvSpPr>
        <p:spPr>
          <a:xfrm>
            <a:off x="1783080" y="6766560"/>
            <a:ext cx="118872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uart_rx</a:t>
            </a:r>
          </a:p>
        </p:txBody>
      </p:sp>
      <p:cxnSp>
        <p:nvCxnSpPr>
          <p:cNvPr id="114" name="선"/>
          <p:cNvCxnSpPr/>
          <p:nvPr/>
        </p:nvCxnSpPr>
        <p:spPr>
          <a:xfrm>
            <a:off x="2971800" y="7050024"/>
            <a:ext cx="27432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블록 fifo"/>
          <p:cNvSpPr/>
          <p:nvPr/>
        </p:nvSpPr>
        <p:spPr>
          <a:xfrm>
            <a:off x="3246120" y="6766560"/>
            <a:ext cx="91440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RX × 8</a:t>
            </a:r>
          </a:p>
        </p:txBody>
      </p:sp>
      <p:cxnSp>
        <p:nvCxnSpPr>
          <p:cNvPr id="116" name="선"/>
          <p:cNvCxnSpPr/>
          <p:nvPr/>
        </p:nvCxnSpPr>
        <p:spPr>
          <a:xfrm>
            <a:off x="4160520" y="7050024"/>
            <a:ext cx="27432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블록 ASCII_DECODER"/>
          <p:cNvSpPr/>
          <p:nvPr/>
        </p:nvSpPr>
        <p:spPr>
          <a:xfrm>
            <a:off x="4434840" y="6675120"/>
            <a:ext cx="18288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285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ASCII_DECODER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/명령 + 옵션 파싱</a:t>
            </a:r>
          </a:p>
        </p:txBody>
      </p:sp>
      <p:cxnSp>
        <p:nvCxnSpPr>
          <p:cNvPr id="118" name="선"/>
          <p:cNvCxnSpPr/>
          <p:nvPr/>
        </p:nvCxnSpPr>
        <p:spPr>
          <a:xfrm>
            <a:off x="6263640" y="7050024"/>
            <a:ext cx="50292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블록 baud_tick_gen"/>
          <p:cNvSpPr/>
          <p:nvPr/>
        </p:nvSpPr>
        <p:spPr>
          <a:xfrm>
            <a:off x="1783080" y="7680960"/>
            <a:ext cx="1188720" cy="5303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baud_tick_gen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9600 × 16</a:t>
            </a:r>
          </a:p>
        </p:txBody>
      </p:sp>
      <p:cxnSp>
        <p:nvCxnSpPr>
          <p:cNvPr id="120" name="선"/>
          <p:cNvCxnSpPr/>
          <p:nvPr/>
        </p:nvCxnSpPr>
        <p:spPr>
          <a:xfrm flipV="1">
            <a:off x="2377440" y="7333488"/>
            <a:ext cx="0" cy="347472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라벨"/>
          <p:cNvSpPr txBox="1"/>
          <p:nvPr/>
        </p:nvSpPr>
        <p:spPr>
          <a:xfrm>
            <a:off x="3063240" y="782726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→ RX · TX 공용</a:t>
            </a:r>
          </a:p>
        </p:txBody>
      </p:sp>
      <p:sp>
        <p:nvSpPr>
          <p:cNvPr id="122" name="블록 UART_CONTROLLER"/>
          <p:cNvSpPr/>
          <p:nvPr/>
        </p:nvSpPr>
        <p:spPr>
          <a:xfrm>
            <a:off x="6766560" y="6675120"/>
            <a:ext cx="2377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85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UART_CONTROLLER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mode · auto · btn FSM</a:t>
            </a:r>
          </a:p>
        </p:txBody>
      </p:sp>
      <p:sp>
        <p:nvSpPr>
          <p:cNvPr id="123" name="태그 phy_btn"/>
          <p:cNvSpPr/>
          <p:nvPr/>
        </p:nvSpPr>
        <p:spPr>
          <a:xfrm>
            <a:off x="5870448" y="7498079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phy_btn</a:t>
            </a:r>
          </a:p>
        </p:txBody>
      </p:sp>
      <p:sp>
        <p:nvSpPr>
          <p:cNvPr id="124" name="라벨"/>
          <p:cNvSpPr txBox="1"/>
          <p:nvPr/>
        </p:nvSpPr>
        <p:spPr>
          <a:xfrm>
            <a:off x="3950208" y="750722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같은 clk 면 물리 먼저</a:t>
            </a:r>
          </a:p>
        </p:txBody>
      </p:sp>
      <p:cxnSp>
        <p:nvCxnSpPr>
          <p:cNvPr id="125" name="선"/>
          <p:cNvCxnSpPr/>
          <p:nvPr/>
        </p:nvCxnSpPr>
        <p:spPr>
          <a:xfrm flipV="1">
            <a:off x="6903720" y="6217920"/>
            <a:ext cx="0" cy="457200"/>
          </a:xfrm>
          <a:prstGeom prst="line">
            <a:avLst/>
          </a:prstGeom>
          <a:ln w="31750">
            <a:solidFill>
              <a:srgbClr val="2F8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선"/>
          <p:cNvCxnSpPr/>
          <p:nvPr/>
        </p:nvCxnSpPr>
        <p:spPr>
          <a:xfrm flipH="1">
            <a:off x="1691640" y="6217920"/>
            <a:ext cx="5212080" cy="0"/>
          </a:xfrm>
          <a:prstGeom prst="line">
            <a:avLst/>
          </a:prstGeom>
          <a:ln w="31750">
            <a:solidFill>
              <a:srgbClr val="2F8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선"/>
          <p:cNvCxnSpPr/>
          <p:nvPr/>
        </p:nvCxnSpPr>
        <p:spPr>
          <a:xfrm flipV="1">
            <a:off x="1691640" y="5212080"/>
            <a:ext cx="0" cy="1005840"/>
          </a:xfrm>
          <a:prstGeom prst="line">
            <a:avLst/>
          </a:prstGeom>
          <a:ln w="31750">
            <a:solidFill>
              <a:srgbClr val="2F8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선"/>
          <p:cNvCxnSpPr/>
          <p:nvPr/>
        </p:nvCxnSpPr>
        <p:spPr>
          <a:xfrm>
            <a:off x="1691640" y="5212080"/>
            <a:ext cx="27432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라벨"/>
          <p:cNvSpPr txBox="1"/>
          <p:nvPr/>
        </p:nvSpPr>
        <p:spPr>
          <a:xfrm>
            <a:off x="3931920" y="623620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module_control_bit[6:0]</a:t>
            </a:r>
          </a:p>
        </p:txBody>
      </p:sp>
      <p:cxnSp>
        <p:nvCxnSpPr>
          <p:cNvPr id="130" name="선"/>
          <p:cNvCxnSpPr/>
          <p:nvPr/>
        </p:nvCxnSpPr>
        <p:spPr>
          <a:xfrm flipV="1">
            <a:off x="7178040" y="6080760"/>
            <a:ext cx="0" cy="594360"/>
          </a:xfrm>
          <a:prstGeom prst="line">
            <a:avLst/>
          </a:prstGeom>
          <a:ln w="31750">
            <a:solidFill>
              <a:srgbClr val="2F8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선"/>
          <p:cNvCxnSpPr/>
          <p:nvPr/>
        </p:nvCxnSpPr>
        <p:spPr>
          <a:xfrm flipH="1">
            <a:off x="2194560" y="6080760"/>
            <a:ext cx="4983480" cy="0"/>
          </a:xfrm>
          <a:prstGeom prst="line">
            <a:avLst/>
          </a:prstGeom>
          <a:ln w="31750">
            <a:solidFill>
              <a:srgbClr val="2F8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선"/>
          <p:cNvCxnSpPr/>
          <p:nvPr/>
        </p:nvCxnSpPr>
        <p:spPr>
          <a:xfrm flipV="1">
            <a:off x="2194560" y="5413248"/>
            <a:ext cx="0" cy="667512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라벨"/>
          <p:cNvSpPr txBox="1"/>
          <p:nvPr/>
        </p:nvSpPr>
        <p:spPr>
          <a:xfrm>
            <a:off x="2286000" y="5852160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uart_mode</a:t>
            </a:r>
          </a:p>
        </p:txBody>
      </p:sp>
      <p:cxnSp>
        <p:nvCxnSpPr>
          <p:cNvPr id="134" name="선"/>
          <p:cNvCxnSpPr/>
          <p:nvPr/>
        </p:nvCxnSpPr>
        <p:spPr>
          <a:xfrm flipV="1">
            <a:off x="7452360" y="5943600"/>
            <a:ext cx="0" cy="73152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선"/>
          <p:cNvCxnSpPr/>
          <p:nvPr/>
        </p:nvCxnSpPr>
        <p:spPr>
          <a:xfrm flipH="1">
            <a:off x="3749039" y="5943600"/>
            <a:ext cx="3703321" cy="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선"/>
          <p:cNvCxnSpPr/>
          <p:nvPr/>
        </p:nvCxnSpPr>
        <p:spPr>
          <a:xfrm flipV="1">
            <a:off x="3749039" y="3438144"/>
            <a:ext cx="0" cy="2505456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선"/>
          <p:cNvCxnSpPr/>
          <p:nvPr/>
        </p:nvCxnSpPr>
        <p:spPr>
          <a:xfrm>
            <a:off x="3749039" y="3438144"/>
            <a:ext cx="22860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라벨"/>
          <p:cNvSpPr txBox="1"/>
          <p:nvPr/>
        </p:nvSpPr>
        <p:spPr>
          <a:xfrm>
            <a:off x="3840480" y="3703320"/>
            <a:ext cx="8229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uart_btn</a:t>
            </a:r>
          </a:p>
        </p:txBody>
      </p:sp>
      <p:sp>
        <p:nvSpPr>
          <p:cNvPr id="139" name="블록 sender_tick"/>
          <p:cNvSpPr/>
          <p:nvPr/>
        </p:nvSpPr>
        <p:spPr>
          <a:xfrm>
            <a:off x="9555480" y="6967728"/>
            <a:ext cx="1371600" cy="566928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sender_tick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1 Hz · scan 0→4</a:t>
            </a:r>
          </a:p>
        </p:txBody>
      </p:sp>
      <p:cxnSp>
        <p:nvCxnSpPr>
          <p:cNvPr id="140" name="선"/>
          <p:cNvCxnSpPr/>
          <p:nvPr/>
        </p:nvCxnSpPr>
        <p:spPr>
          <a:xfrm flipH="1">
            <a:off x="9144000" y="7251192"/>
            <a:ext cx="4114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선"/>
          <p:cNvCxnSpPr/>
          <p:nvPr/>
        </p:nvCxnSpPr>
        <p:spPr>
          <a:xfrm>
            <a:off x="9144000" y="6784848"/>
            <a:ext cx="4727448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선"/>
          <p:cNvCxnSpPr/>
          <p:nvPr/>
        </p:nvCxnSpPr>
        <p:spPr>
          <a:xfrm>
            <a:off x="13871448" y="6784848"/>
            <a:ext cx="0" cy="301752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라벨"/>
          <p:cNvSpPr txBox="1"/>
          <p:nvPr/>
        </p:nvSpPr>
        <p:spPr>
          <a:xfrm>
            <a:off x="10241280" y="6547104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send_go</a:t>
            </a:r>
          </a:p>
        </p:txBody>
      </p:sp>
      <p:sp>
        <p:nvSpPr>
          <p:cNvPr id="144" name="MUX 전송"/>
          <p:cNvSpPr/>
          <p:nvPr/>
        </p:nvSpPr>
        <p:spPr>
          <a:xfrm>
            <a:off x="11887200" y="6903720"/>
            <a:ext cx="868680" cy="1280159"/>
          </a:xfrm>
          <a:custGeom>
            <a:avLst/>
            <a:gdLst/>
            <a:ahLst/>
            <a:cxnLst/>
            <a:rect l="l" t="t" r="r" b="b"/>
            <a:pathLst>
              <a:path w="868680" h="1280159">
                <a:moveTo>
                  <a:pt x="0" y="0"/>
                </a:moveTo>
                <a:lnTo>
                  <a:pt x="868680" y="164592"/>
                </a:lnTo>
                <a:lnTo>
                  <a:pt x="868680" y="1115568"/>
                </a:lnTo>
                <a:lnTo>
                  <a:pt x="0" y="1280159"/>
                </a:lnTo>
                <a:lnTo>
                  <a:pt x="0" y="0"/>
                </a:lnTo>
                <a:close/>
              </a:path>
            </a:pathLst>
          </a:cu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라벨"/>
          <p:cNvSpPr txBox="1"/>
          <p:nvPr/>
        </p:nvSpPr>
        <p:spPr>
          <a:xfrm>
            <a:off x="11841480" y="6528816"/>
            <a:ext cx="21945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전송 MUX  8:1 × 24 bit</a:t>
            </a:r>
          </a:p>
        </p:txBody>
      </p:sp>
      <p:cxnSp>
        <p:nvCxnSpPr>
          <p:cNvPr id="146" name="선"/>
          <p:cNvCxnSpPr/>
          <p:nvPr/>
        </p:nvCxnSpPr>
        <p:spPr>
          <a:xfrm>
            <a:off x="11777472" y="3104388"/>
            <a:ext cx="0" cy="4210812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선"/>
          <p:cNvCxnSpPr/>
          <p:nvPr/>
        </p:nvCxnSpPr>
        <p:spPr>
          <a:xfrm>
            <a:off x="11777472" y="7315200"/>
            <a:ext cx="109728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선"/>
          <p:cNvCxnSpPr/>
          <p:nvPr/>
        </p:nvCxnSpPr>
        <p:spPr>
          <a:xfrm>
            <a:off x="11777472" y="7022592"/>
            <a:ext cx="109728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접점"/>
          <p:cNvSpPr/>
          <p:nvPr/>
        </p:nvSpPr>
        <p:spPr>
          <a:xfrm>
            <a:off x="11736324" y="6981444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0" name="선"/>
          <p:cNvCxnSpPr/>
          <p:nvPr/>
        </p:nvCxnSpPr>
        <p:spPr>
          <a:xfrm>
            <a:off x="11777472" y="7168896"/>
            <a:ext cx="109728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접점"/>
          <p:cNvSpPr/>
          <p:nvPr/>
        </p:nvSpPr>
        <p:spPr>
          <a:xfrm>
            <a:off x="11736324" y="7127748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접점"/>
          <p:cNvSpPr/>
          <p:nvPr/>
        </p:nvSpPr>
        <p:spPr>
          <a:xfrm>
            <a:off x="11736324" y="306324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3" name="선"/>
          <p:cNvCxnSpPr/>
          <p:nvPr/>
        </p:nvCxnSpPr>
        <p:spPr>
          <a:xfrm>
            <a:off x="11686032" y="4247388"/>
            <a:ext cx="0" cy="326898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선"/>
          <p:cNvCxnSpPr/>
          <p:nvPr/>
        </p:nvCxnSpPr>
        <p:spPr>
          <a:xfrm>
            <a:off x="11686032" y="7516368"/>
            <a:ext cx="201168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접점"/>
          <p:cNvSpPr/>
          <p:nvPr/>
        </p:nvSpPr>
        <p:spPr>
          <a:xfrm>
            <a:off x="11644884" y="420624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6" name="선"/>
          <p:cNvCxnSpPr/>
          <p:nvPr/>
        </p:nvCxnSpPr>
        <p:spPr>
          <a:xfrm>
            <a:off x="11430000" y="5390388"/>
            <a:ext cx="0" cy="2327148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선"/>
          <p:cNvCxnSpPr/>
          <p:nvPr/>
        </p:nvCxnSpPr>
        <p:spPr>
          <a:xfrm>
            <a:off x="11430000" y="7717536"/>
            <a:ext cx="45720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접점"/>
          <p:cNvSpPr/>
          <p:nvPr/>
        </p:nvSpPr>
        <p:spPr>
          <a:xfrm>
            <a:off x="11388852" y="534924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MUX 핀"/>
          <p:cNvSpPr txBox="1"/>
          <p:nvPr/>
        </p:nvSpPr>
        <p:spPr>
          <a:xfrm>
            <a:off x="11932920" y="693115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0 sw</a:t>
            </a:r>
          </a:p>
        </p:txBody>
      </p:sp>
      <p:sp>
        <p:nvSpPr>
          <p:cNvPr id="160" name="MUX 핀"/>
          <p:cNvSpPr txBox="1"/>
          <p:nvPr/>
        </p:nvSpPr>
        <p:spPr>
          <a:xfrm>
            <a:off x="11932920" y="707745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1 tm</a:t>
            </a:r>
          </a:p>
        </p:txBody>
      </p:sp>
      <p:sp>
        <p:nvSpPr>
          <p:cNvPr id="161" name="MUX 핀"/>
          <p:cNvSpPr txBox="1"/>
          <p:nvPr/>
        </p:nvSpPr>
        <p:spPr>
          <a:xfrm>
            <a:off x="11932920" y="722376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2 wt</a:t>
            </a:r>
          </a:p>
        </p:txBody>
      </p:sp>
      <p:sp>
        <p:nvSpPr>
          <p:cNvPr id="162" name="MUX 핀"/>
          <p:cNvSpPr txBox="1"/>
          <p:nvPr/>
        </p:nvSpPr>
        <p:spPr>
          <a:xfrm>
            <a:off x="11932920" y="742492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3 거리</a:t>
            </a:r>
          </a:p>
        </p:txBody>
      </p:sp>
      <p:sp>
        <p:nvSpPr>
          <p:cNvPr id="163" name="MUX 핀"/>
          <p:cNvSpPr txBox="1"/>
          <p:nvPr/>
        </p:nvSpPr>
        <p:spPr>
          <a:xfrm>
            <a:off x="11932920" y="762609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4 온습도</a:t>
            </a:r>
          </a:p>
        </p:txBody>
      </p:sp>
      <p:cxnSp>
        <p:nvCxnSpPr>
          <p:cNvPr id="165" name="선"/>
          <p:cNvCxnSpPr/>
          <p:nvPr/>
        </p:nvCxnSpPr>
        <p:spPr>
          <a:xfrm>
            <a:off x="12755880" y="7498079"/>
            <a:ext cx="45720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선"/>
          <p:cNvCxnSpPr/>
          <p:nvPr/>
        </p:nvCxnSpPr>
        <p:spPr>
          <a:xfrm>
            <a:off x="8869680" y="8046720"/>
            <a:ext cx="0" cy="201168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선"/>
          <p:cNvCxnSpPr/>
          <p:nvPr/>
        </p:nvCxnSpPr>
        <p:spPr>
          <a:xfrm>
            <a:off x="8869680" y="8247888"/>
            <a:ext cx="5001768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선"/>
          <p:cNvCxnSpPr/>
          <p:nvPr/>
        </p:nvCxnSpPr>
        <p:spPr>
          <a:xfrm flipV="1">
            <a:off x="13871448" y="7909560"/>
            <a:ext cx="0" cy="338328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라벨"/>
          <p:cNvSpPr txBox="1"/>
          <p:nvPr/>
        </p:nvSpPr>
        <p:spPr>
          <a:xfrm>
            <a:off x="9509760" y="8010144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send_sel</a:t>
            </a:r>
          </a:p>
        </p:txBody>
      </p:sp>
      <p:cxnSp>
        <p:nvCxnSpPr>
          <p:cNvPr id="170" name="선"/>
          <p:cNvCxnSpPr/>
          <p:nvPr/>
        </p:nvCxnSpPr>
        <p:spPr>
          <a:xfrm flipV="1">
            <a:off x="12481560" y="8071264"/>
            <a:ext cx="0" cy="176624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접점"/>
          <p:cNvSpPr/>
          <p:nvPr/>
        </p:nvSpPr>
        <p:spPr>
          <a:xfrm>
            <a:off x="12440412" y="820674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2" name="블록 uart_sender"/>
          <p:cNvSpPr/>
          <p:nvPr/>
        </p:nvSpPr>
        <p:spPr>
          <a:xfrm>
            <a:off x="13213080" y="7086600"/>
            <a:ext cx="1325880" cy="822960"/>
          </a:xfrm>
          <a:prstGeom prst="roundRect">
            <a:avLst>
              <a:gd name="adj" fmla="val 8888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uart_sender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숫자 → ASCII 한 줄</a:t>
            </a:r>
          </a:p>
        </p:txBody>
      </p:sp>
      <p:cxnSp>
        <p:nvCxnSpPr>
          <p:cNvPr id="173" name="선"/>
          <p:cNvCxnSpPr/>
          <p:nvPr/>
        </p:nvCxnSpPr>
        <p:spPr>
          <a:xfrm>
            <a:off x="14538960" y="7498079"/>
            <a:ext cx="228599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블록 fifo"/>
          <p:cNvSpPr/>
          <p:nvPr/>
        </p:nvSpPr>
        <p:spPr>
          <a:xfrm>
            <a:off x="14767559" y="7214616"/>
            <a:ext cx="822960" cy="566928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TX × 64</a:t>
            </a:r>
          </a:p>
        </p:txBody>
      </p:sp>
      <p:cxnSp>
        <p:nvCxnSpPr>
          <p:cNvPr id="175" name="선"/>
          <p:cNvCxnSpPr/>
          <p:nvPr/>
        </p:nvCxnSpPr>
        <p:spPr>
          <a:xfrm>
            <a:off x="15590520" y="7498079"/>
            <a:ext cx="22860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블록 uart_tx"/>
          <p:cNvSpPr/>
          <p:nvPr/>
        </p:nvSpPr>
        <p:spPr>
          <a:xfrm>
            <a:off x="15819120" y="7214616"/>
            <a:ext cx="868680" cy="566928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uart_tx</a:t>
            </a:r>
          </a:p>
        </p:txBody>
      </p:sp>
      <p:cxnSp>
        <p:nvCxnSpPr>
          <p:cNvPr id="177" name="선"/>
          <p:cNvCxnSpPr/>
          <p:nvPr/>
        </p:nvCxnSpPr>
        <p:spPr>
          <a:xfrm>
            <a:off x="16687800" y="7498079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8" name="태그 tx"/>
          <p:cNvSpPr/>
          <p:nvPr/>
        </p:nvSpPr>
        <p:spPr>
          <a:xfrm>
            <a:off x="16870680" y="7351775"/>
            <a:ext cx="822960" cy="292608"/>
          </a:xfrm>
          <a:prstGeom prst="homePlate">
            <a:avLst>
              <a:gd name="adj" fmla="val 24888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tx</a:t>
            </a:r>
          </a:p>
        </p:txBody>
      </p:sp>
      <p:sp>
        <p:nvSpPr>
          <p:cNvPr id="179" name="단계 1"/>
          <p:cNvSpPr/>
          <p:nvPr/>
        </p:nvSpPr>
        <p:spPr>
          <a:xfrm>
            <a:off x="6089904" y="6473952"/>
            <a:ext cx="347472" cy="347472"/>
          </a:xfrm>
          <a:prstGeom prst="ellipse">
            <a:avLst/>
          </a:prstGeom>
          <a:solidFill>
            <a:srgbClr val="2F855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80" name="단계 2"/>
          <p:cNvSpPr/>
          <p:nvPr/>
        </p:nvSpPr>
        <p:spPr>
          <a:xfrm>
            <a:off x="6400800" y="7818120"/>
            <a:ext cx="347472" cy="347472"/>
          </a:xfrm>
          <a:prstGeom prst="ellipse">
            <a:avLst/>
          </a:prstGeom>
          <a:solidFill>
            <a:srgbClr val="2F855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81" name="단계 3"/>
          <p:cNvSpPr/>
          <p:nvPr/>
        </p:nvSpPr>
        <p:spPr>
          <a:xfrm>
            <a:off x="1188720" y="5532120"/>
            <a:ext cx="347472" cy="347472"/>
          </a:xfrm>
          <a:prstGeom prst="ellipse">
            <a:avLst/>
          </a:prstGeom>
          <a:solidFill>
            <a:srgbClr val="2F855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2" name="단계 4"/>
          <p:cNvSpPr/>
          <p:nvPr/>
        </p:nvSpPr>
        <p:spPr>
          <a:xfrm>
            <a:off x="8321040" y="3246120"/>
            <a:ext cx="347472" cy="347472"/>
          </a:xfrm>
          <a:prstGeom prst="ellipse">
            <a:avLst/>
          </a:prstGeom>
          <a:solidFill>
            <a:srgbClr val="2F855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83" name="단계 5"/>
          <p:cNvSpPr/>
          <p:nvPr/>
        </p:nvSpPr>
        <p:spPr>
          <a:xfrm>
            <a:off x="4983480" y="2450592"/>
            <a:ext cx="347472" cy="347472"/>
          </a:xfrm>
          <a:prstGeom prst="ellipse">
            <a:avLst/>
          </a:prstGeom>
          <a:solidFill>
            <a:srgbClr val="2F855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84" name="단계 6"/>
          <p:cNvSpPr/>
          <p:nvPr/>
        </p:nvSpPr>
        <p:spPr>
          <a:xfrm>
            <a:off x="12984480" y="2377440"/>
            <a:ext cx="347472" cy="347472"/>
          </a:xfrm>
          <a:prstGeom prst="ellipse">
            <a:avLst/>
          </a:prstGeom>
          <a:solidFill>
            <a:srgbClr val="2F855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85" name="단계표 1"/>
          <p:cNvSpPr/>
          <p:nvPr/>
        </p:nvSpPr>
        <p:spPr>
          <a:xfrm>
            <a:off x="841248" y="8613648"/>
            <a:ext cx="329184" cy="329184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86" name="라벨"/>
          <p:cNvSpPr txBox="1"/>
          <p:nvPr/>
        </p:nvSpPr>
        <p:spPr>
          <a:xfrm>
            <a:off x="1252728" y="86045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디코더 : "/set w_hm" · "/set 24h⏎" · "/off w_h"</a:t>
            </a:r>
          </a:p>
        </p:txBody>
      </p:sp>
      <p:sp>
        <p:nvSpPr>
          <p:cNvPr id="187" name="단계표 2"/>
          <p:cNvSpPr/>
          <p:nvPr/>
        </p:nvSpPr>
        <p:spPr>
          <a:xfrm>
            <a:off x="6419088" y="8613648"/>
            <a:ext cx="329184" cy="329184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88" name="라벨"/>
          <p:cNvSpPr txBox="1"/>
          <p:nvPr/>
        </p:nvSpPr>
        <p:spPr>
          <a:xfrm>
            <a:off x="6830568" y="86045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/set w_hm → bit2 = 1 (w_hm 화면일 때만) · /off → 0</a:t>
            </a:r>
          </a:p>
        </p:txBody>
      </p:sp>
      <p:sp>
        <p:nvSpPr>
          <p:cNvPr id="189" name="단계표 3"/>
          <p:cNvSpPr/>
          <p:nvPr/>
        </p:nvSpPr>
        <p:spPr>
          <a:xfrm>
            <a:off x="11996928" y="8613648"/>
            <a:ext cx="329184" cy="329184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90" name="라벨"/>
          <p:cNvSpPr txBox="1"/>
          <p:nvPr/>
        </p:nvSpPr>
        <p:spPr>
          <a:xfrm>
            <a:off x="12408407" y="86045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/set 24h · 12h → bit3 · /mod 를 바꿔도 유지</a:t>
            </a:r>
          </a:p>
        </p:txBody>
      </p:sp>
      <p:sp>
        <p:nvSpPr>
          <p:cNvPr id="191" name="단계표 4"/>
          <p:cNvSpPr/>
          <p:nvPr/>
        </p:nvSpPr>
        <p:spPr>
          <a:xfrm>
            <a:off x="841248" y="9070848"/>
            <a:ext cx="329184" cy="329184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2" name="라벨"/>
          <p:cNvSpPr txBox="1"/>
          <p:nvPr/>
        </p:nvSpPr>
        <p:spPr>
          <a:xfrm>
            <a:off x="1252728" y="90617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ctrl_bit → wts_top 시계 설정 모드 · 12/24 변환</a:t>
            </a:r>
          </a:p>
        </p:txBody>
      </p:sp>
      <p:sp>
        <p:nvSpPr>
          <p:cNvPr id="193" name="단계표 5"/>
          <p:cNvSpPr/>
          <p:nvPr/>
        </p:nvSpPr>
        <p:spPr>
          <a:xfrm>
            <a:off x="6419088" y="9070848"/>
            <a:ext cx="329184" cy="329184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94" name="라벨"/>
          <p:cNvSpPr txBox="1"/>
          <p:nvPr/>
        </p:nvSpPr>
        <p:spPr>
          <a:xfrm>
            <a:off x="6830568" y="90617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/btn L · R 커서 · U · D ± (버튼 흐름은 /btn ① 과 같음)</a:t>
            </a:r>
          </a:p>
        </p:txBody>
      </p:sp>
      <p:sp>
        <p:nvSpPr>
          <p:cNvPr id="195" name="단계표 6"/>
          <p:cNvSpPr/>
          <p:nvPr/>
        </p:nvSpPr>
        <p:spPr>
          <a:xfrm>
            <a:off x="11996928" y="9070848"/>
            <a:ext cx="329184" cy="329184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96" name="라벨"/>
          <p:cNvSpPr txBox="1"/>
          <p:nvPr/>
        </p:nvSpPr>
        <p:spPr>
          <a:xfrm>
            <a:off x="12408407" y="90617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FND : 커서 자리 0.5 s 점멸 · LD15 오후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라벨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WTS · SR04 · DHT11 · UART</a:t>
            </a:r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라벨"/>
          <p:cNvSpPr txBox="1"/>
          <p:nvPr/>
        </p:nvSpPr>
        <p:spPr>
          <a:xfrm>
            <a:off x="1042415" y="402336"/>
            <a:ext cx="91440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02  시스템 구조 · 명령별 흐름</a:t>
            </a:r>
          </a:p>
        </p:txBody>
      </p:sp>
      <p:sp>
        <p:nvSpPr>
          <p:cNvPr id="5" name="라벨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오류 흐름 — 형식이 틀리면 ERROR 응답</a:t>
            </a:r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7" name="라벨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디코더가 틀린 글자에서 바로 버리고 o_error · 컨트롤러는 ERROR 를 get / auto 보다 먼저 보냄</a:t>
            </a:r>
          </a:p>
        </p:txBody>
      </p:sp>
      <p:sp>
        <p:nvSpPr>
          <p:cNvPr id="8" name="라벨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9" name="줄 WTS  스톱워치 · 시계 · 타이머"/>
          <p:cNvSpPr/>
          <p:nvPr/>
        </p:nvSpPr>
        <p:spPr>
          <a:xfrm>
            <a:off x="5806440" y="2487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라벨"/>
          <p:cNvSpPr txBox="1"/>
          <p:nvPr/>
        </p:nvSpPr>
        <p:spPr>
          <a:xfrm>
            <a:off x="5916168" y="2514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WTS  스톱워치 · 시계 · 타이머</a:t>
            </a:r>
          </a:p>
        </p:txBody>
      </p:sp>
      <p:sp>
        <p:nvSpPr>
          <p:cNvPr id="11" name="줄 SR04  초음파 거리"/>
          <p:cNvSpPr/>
          <p:nvPr/>
        </p:nvSpPr>
        <p:spPr>
          <a:xfrm>
            <a:off x="5806440" y="3630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라벨"/>
          <p:cNvSpPr txBox="1"/>
          <p:nvPr/>
        </p:nvSpPr>
        <p:spPr>
          <a:xfrm>
            <a:off x="5916168" y="3657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SR04  초음파 거리</a:t>
            </a:r>
          </a:p>
        </p:txBody>
      </p:sp>
      <p:sp>
        <p:nvSpPr>
          <p:cNvPr id="13" name="줄 DHT11  온습도"/>
          <p:cNvSpPr/>
          <p:nvPr/>
        </p:nvSpPr>
        <p:spPr>
          <a:xfrm>
            <a:off x="5806440" y="4773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라벨"/>
          <p:cNvSpPr txBox="1"/>
          <p:nvPr/>
        </p:nvSpPr>
        <p:spPr>
          <a:xfrm>
            <a:off x="5916168" y="4800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DHT11  온습도</a:t>
            </a:r>
          </a:p>
        </p:txBody>
      </p:sp>
      <p:sp>
        <p:nvSpPr>
          <p:cNvPr id="15" name="줄 UART  명령 수신 · 응답 전송  (uart_top)"/>
          <p:cNvSpPr/>
          <p:nvPr/>
        </p:nvSpPr>
        <p:spPr>
          <a:xfrm>
            <a:off x="1600200" y="6355080"/>
            <a:ext cx="15133320" cy="2011680"/>
          </a:xfrm>
          <a:prstGeom prst="roundRect">
            <a:avLst>
              <a:gd name="adj" fmla="val 3636"/>
            </a:avLst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라벨"/>
          <p:cNvSpPr txBox="1"/>
          <p:nvPr/>
        </p:nvSpPr>
        <p:spPr>
          <a:xfrm>
            <a:off x="1709928" y="6382512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C53030"/>
                </a:solidFill>
                <a:latin typeface="Malgun Gothic"/>
                <a:ea typeface="Malgun Gothic"/>
                <a:cs typeface="Malgun Gothic"/>
              </a:rPr>
              <a:t>UART  명령 수신 · 응답 전송  (uart_top)</a:t>
            </a:r>
          </a:p>
        </p:txBody>
      </p:sp>
      <p:sp>
        <p:nvSpPr>
          <p:cNvPr id="17" name="라벨"/>
          <p:cNvSpPr txBox="1"/>
          <p:nvPr/>
        </p:nvSpPr>
        <p:spPr>
          <a:xfrm>
            <a:off x="11137392" y="6382512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1">
                <a:solidFill>
                  <a:srgbClr val="C53030"/>
                </a:solidFill>
                <a:latin typeface="Malgun Gothic"/>
                <a:ea typeface="Malgun Gothic"/>
                <a:cs typeface="Malgun Gothic"/>
              </a:rPr>
              <a:t>9600 bps · 8N1</a:t>
            </a:r>
          </a:p>
        </p:txBody>
      </p:sp>
      <p:sp>
        <p:nvSpPr>
          <p:cNvPr id="18" name="태그 clk"/>
          <p:cNvSpPr/>
          <p:nvPr/>
        </p:nvSpPr>
        <p:spPr>
          <a:xfrm>
            <a:off x="411480" y="21031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clk</a:t>
            </a:r>
          </a:p>
        </p:txBody>
      </p:sp>
      <p:cxnSp>
        <p:nvCxnSpPr>
          <p:cNvPr id="19" name="선"/>
          <p:cNvCxnSpPr/>
          <p:nvPr/>
        </p:nvCxnSpPr>
        <p:spPr>
          <a:xfrm>
            <a:off x="1417320" y="2249424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블록 clock_tick_generator"/>
          <p:cNvSpPr/>
          <p:nvPr/>
        </p:nvSpPr>
        <p:spPr>
          <a:xfrm>
            <a:off x="1737360" y="2057400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clock_tick_generator</a:t>
            </a:r>
          </a:p>
        </p:txBody>
      </p:sp>
      <p:cxnSp>
        <p:nvCxnSpPr>
          <p:cNvPr id="21" name="선"/>
          <p:cNvCxnSpPr/>
          <p:nvPr/>
        </p:nvCxnSpPr>
        <p:spPr>
          <a:xfrm>
            <a:off x="3429000" y="2249424"/>
            <a:ext cx="11567159" cy="0"/>
          </a:xfrm>
          <a:prstGeom prst="line">
            <a:avLst/>
          </a:prstGeom>
          <a:ln w="19050">
            <a:solidFill>
              <a:srgbClr val="4A556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선"/>
          <p:cNvCxnSpPr/>
          <p:nvPr/>
        </p:nvCxnSpPr>
        <p:spPr>
          <a:xfrm>
            <a:off x="14996159" y="2249424"/>
            <a:ext cx="0" cy="356616"/>
          </a:xfrm>
          <a:prstGeom prst="line">
            <a:avLst/>
          </a:prstGeom>
          <a:ln w="19050">
            <a:solidFill>
              <a:srgbClr val="4A556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라벨"/>
          <p:cNvSpPr txBox="1"/>
          <p:nvPr/>
        </p:nvSpPr>
        <p:spPr>
          <a:xfrm>
            <a:off x="3840480" y="2011680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4 kHz  →  디바운서 · FND 스캔</a:t>
            </a:r>
          </a:p>
        </p:txBody>
      </p:sp>
      <p:cxnSp>
        <p:nvCxnSpPr>
          <p:cNvPr id="24" name="선"/>
          <p:cNvCxnSpPr/>
          <p:nvPr/>
        </p:nvCxnSpPr>
        <p:spPr>
          <a:xfrm>
            <a:off x="2194560" y="2441448"/>
            <a:ext cx="0" cy="118872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태그 btn_R"/>
          <p:cNvSpPr/>
          <p:nvPr/>
        </p:nvSpPr>
        <p:spPr>
          <a:xfrm>
            <a:off x="411480" y="263347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btn_R</a:t>
            </a:r>
          </a:p>
        </p:txBody>
      </p:sp>
      <p:cxnSp>
        <p:nvCxnSpPr>
          <p:cNvPr id="26" name="선"/>
          <p:cNvCxnSpPr/>
          <p:nvPr/>
        </p:nvCxnSpPr>
        <p:spPr>
          <a:xfrm>
            <a:off x="1417320" y="2779776"/>
            <a:ext cx="3200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태그 btn_L"/>
          <p:cNvSpPr/>
          <p:nvPr/>
        </p:nvSpPr>
        <p:spPr>
          <a:xfrm>
            <a:off x="411480" y="299923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btn_L</a:t>
            </a:r>
          </a:p>
        </p:txBody>
      </p:sp>
      <p:cxnSp>
        <p:nvCxnSpPr>
          <p:cNvPr id="28" name="선"/>
          <p:cNvCxnSpPr/>
          <p:nvPr/>
        </p:nvCxnSpPr>
        <p:spPr>
          <a:xfrm>
            <a:off x="1417320" y="3145536"/>
            <a:ext cx="3200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태그 btn_U"/>
          <p:cNvSpPr/>
          <p:nvPr/>
        </p:nvSpPr>
        <p:spPr>
          <a:xfrm>
            <a:off x="411480" y="3364991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btn_U</a:t>
            </a:r>
          </a:p>
        </p:txBody>
      </p:sp>
      <p:cxnSp>
        <p:nvCxnSpPr>
          <p:cNvPr id="30" name="선"/>
          <p:cNvCxnSpPr/>
          <p:nvPr/>
        </p:nvCxnSpPr>
        <p:spPr>
          <a:xfrm>
            <a:off x="1417320" y="3511296"/>
            <a:ext cx="3200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태그 btn_D"/>
          <p:cNvSpPr/>
          <p:nvPr/>
        </p:nvSpPr>
        <p:spPr>
          <a:xfrm>
            <a:off x="411480" y="373075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btn_D</a:t>
            </a:r>
          </a:p>
        </p:txBody>
      </p:sp>
      <p:cxnSp>
        <p:nvCxnSpPr>
          <p:cNvPr id="32" name="선"/>
          <p:cNvCxnSpPr/>
          <p:nvPr/>
        </p:nvCxnSpPr>
        <p:spPr>
          <a:xfrm>
            <a:off x="1417320" y="3877056"/>
            <a:ext cx="3200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블록 btn_debounce&#10;×4"/>
          <p:cNvSpPr/>
          <p:nvPr/>
        </p:nvSpPr>
        <p:spPr>
          <a:xfrm>
            <a:off x="1737360" y="2560320"/>
            <a:ext cx="1371600" cy="1481328"/>
          </a:xfrm>
          <a:prstGeom prst="roundRect">
            <a:avLst>
              <a:gd name="adj" fmla="val 5333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btn_debounce</a:t>
            </a:r>
          </a:p>
          <a:p>
            <a:pPr algn="ctr"/>
            <a:r>
              <a:rPr sz="12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×4</a:t>
            </a:r>
          </a:p>
        </p:txBody>
      </p:sp>
      <p:cxnSp>
        <p:nvCxnSpPr>
          <p:cNvPr id="34" name="선"/>
          <p:cNvCxnSpPr/>
          <p:nvPr/>
        </p:nvCxnSpPr>
        <p:spPr>
          <a:xfrm>
            <a:off x="3108960" y="3163824"/>
            <a:ext cx="868679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라벨"/>
          <p:cNvSpPr txBox="1"/>
          <p:nvPr/>
        </p:nvSpPr>
        <p:spPr>
          <a:xfrm>
            <a:off x="3182112" y="2907792"/>
            <a:ext cx="8229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phy_btn</a:t>
            </a:r>
          </a:p>
        </p:txBody>
      </p:sp>
      <p:sp>
        <p:nvSpPr>
          <p:cNvPr id="36" name="게이트"/>
          <p:cNvSpPr/>
          <p:nvPr/>
        </p:nvSpPr>
        <p:spPr>
          <a:xfrm>
            <a:off x="3977639" y="3026664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≥1</a:t>
            </a:r>
          </a:p>
        </p:txBody>
      </p:sp>
      <p:cxnSp>
        <p:nvCxnSpPr>
          <p:cNvPr id="37" name="선"/>
          <p:cNvCxnSpPr/>
          <p:nvPr/>
        </p:nvCxnSpPr>
        <p:spPr>
          <a:xfrm>
            <a:off x="4526280" y="3300984"/>
            <a:ext cx="182880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선"/>
          <p:cNvCxnSpPr/>
          <p:nvPr/>
        </p:nvCxnSpPr>
        <p:spPr>
          <a:xfrm>
            <a:off x="4709160" y="2967228"/>
            <a:ext cx="0" cy="2285999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접점"/>
          <p:cNvSpPr/>
          <p:nvPr/>
        </p:nvSpPr>
        <p:spPr>
          <a:xfrm>
            <a:off x="4668012" y="3259836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선"/>
          <p:cNvCxnSpPr/>
          <p:nvPr/>
        </p:nvCxnSpPr>
        <p:spPr>
          <a:xfrm>
            <a:off x="3611880" y="4965192"/>
            <a:ext cx="1280160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선"/>
          <p:cNvCxnSpPr/>
          <p:nvPr/>
        </p:nvCxnSpPr>
        <p:spPr>
          <a:xfrm>
            <a:off x="4892040" y="3241548"/>
            <a:ext cx="0" cy="228600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접점"/>
          <p:cNvSpPr/>
          <p:nvPr/>
        </p:nvSpPr>
        <p:spPr>
          <a:xfrm>
            <a:off x="4850892" y="4924044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3" name="선"/>
          <p:cNvCxnSpPr/>
          <p:nvPr/>
        </p:nvCxnSpPr>
        <p:spPr>
          <a:xfrm>
            <a:off x="4709160" y="2967228"/>
            <a:ext cx="36576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선"/>
          <p:cNvCxnSpPr/>
          <p:nvPr/>
        </p:nvCxnSpPr>
        <p:spPr>
          <a:xfrm>
            <a:off x="4892040" y="3241548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접점"/>
          <p:cNvSpPr/>
          <p:nvPr/>
        </p:nvSpPr>
        <p:spPr>
          <a:xfrm>
            <a:off x="4850892" y="320040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게이트"/>
          <p:cNvSpPr/>
          <p:nvPr/>
        </p:nvSpPr>
        <p:spPr>
          <a:xfrm>
            <a:off x="5074920" y="2830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47" name="라벨"/>
          <p:cNvSpPr txBox="1"/>
          <p:nvPr/>
        </p:nvSpPr>
        <p:spPr>
          <a:xfrm>
            <a:off x="5029200" y="33878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mode_wts</a:t>
            </a:r>
          </a:p>
        </p:txBody>
      </p:sp>
      <p:cxnSp>
        <p:nvCxnSpPr>
          <p:cNvPr id="48" name="선"/>
          <p:cNvCxnSpPr/>
          <p:nvPr/>
        </p:nvCxnSpPr>
        <p:spPr>
          <a:xfrm>
            <a:off x="5623560" y="3104388"/>
            <a:ext cx="7315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라벨"/>
          <p:cNvSpPr txBox="1"/>
          <p:nvPr/>
        </p:nvSpPr>
        <p:spPr>
          <a:xfrm>
            <a:off x="5669280" y="2839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R·L·U·D</a:t>
            </a:r>
          </a:p>
        </p:txBody>
      </p:sp>
      <p:cxnSp>
        <p:nvCxnSpPr>
          <p:cNvPr id="50" name="선"/>
          <p:cNvCxnSpPr/>
          <p:nvPr/>
        </p:nvCxnSpPr>
        <p:spPr>
          <a:xfrm>
            <a:off x="4709160" y="4110228"/>
            <a:ext cx="36576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접점"/>
          <p:cNvSpPr/>
          <p:nvPr/>
        </p:nvSpPr>
        <p:spPr>
          <a:xfrm>
            <a:off x="4668012" y="406908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2" name="선"/>
          <p:cNvCxnSpPr/>
          <p:nvPr/>
        </p:nvCxnSpPr>
        <p:spPr>
          <a:xfrm>
            <a:off x="4892040" y="4384548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접점"/>
          <p:cNvSpPr/>
          <p:nvPr/>
        </p:nvSpPr>
        <p:spPr>
          <a:xfrm>
            <a:off x="4850892" y="434340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게이트"/>
          <p:cNvSpPr/>
          <p:nvPr/>
        </p:nvSpPr>
        <p:spPr>
          <a:xfrm>
            <a:off x="5074920" y="3973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55" name="라벨"/>
          <p:cNvSpPr txBox="1"/>
          <p:nvPr/>
        </p:nvSpPr>
        <p:spPr>
          <a:xfrm>
            <a:off x="5029200" y="45308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mode_dist</a:t>
            </a:r>
          </a:p>
        </p:txBody>
      </p:sp>
      <p:cxnSp>
        <p:nvCxnSpPr>
          <p:cNvPr id="56" name="선"/>
          <p:cNvCxnSpPr/>
          <p:nvPr/>
        </p:nvCxnSpPr>
        <p:spPr>
          <a:xfrm>
            <a:off x="5623560" y="4247388"/>
            <a:ext cx="7315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라벨"/>
          <p:cNvSpPr txBox="1"/>
          <p:nvPr/>
        </p:nvSpPr>
        <p:spPr>
          <a:xfrm>
            <a:off x="5669280" y="3982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cxnSp>
        <p:nvCxnSpPr>
          <p:cNvPr id="58" name="선"/>
          <p:cNvCxnSpPr/>
          <p:nvPr/>
        </p:nvCxnSpPr>
        <p:spPr>
          <a:xfrm>
            <a:off x="4709160" y="5253227"/>
            <a:ext cx="36576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접점"/>
          <p:cNvSpPr/>
          <p:nvPr/>
        </p:nvSpPr>
        <p:spPr>
          <a:xfrm>
            <a:off x="4668012" y="5212079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0" name="선"/>
          <p:cNvCxnSpPr/>
          <p:nvPr/>
        </p:nvCxnSpPr>
        <p:spPr>
          <a:xfrm>
            <a:off x="4892040" y="5527548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게이트"/>
          <p:cNvSpPr/>
          <p:nvPr/>
        </p:nvSpPr>
        <p:spPr>
          <a:xfrm>
            <a:off x="5074920" y="5116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62" name="라벨"/>
          <p:cNvSpPr txBox="1"/>
          <p:nvPr/>
        </p:nvSpPr>
        <p:spPr>
          <a:xfrm>
            <a:off x="5029200" y="5673851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mode_dht</a:t>
            </a:r>
          </a:p>
        </p:txBody>
      </p:sp>
      <p:cxnSp>
        <p:nvCxnSpPr>
          <p:cNvPr id="63" name="선"/>
          <p:cNvCxnSpPr/>
          <p:nvPr/>
        </p:nvCxnSpPr>
        <p:spPr>
          <a:xfrm>
            <a:off x="5623560" y="5390388"/>
            <a:ext cx="7315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라벨"/>
          <p:cNvSpPr txBox="1"/>
          <p:nvPr/>
        </p:nvSpPr>
        <p:spPr>
          <a:xfrm>
            <a:off x="5669280" y="5125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sp>
        <p:nvSpPr>
          <p:cNvPr id="65" name="모드 선택 칸"/>
          <p:cNvSpPr/>
          <p:nvPr/>
        </p:nvSpPr>
        <p:spPr>
          <a:xfrm>
            <a:off x="1600200" y="4160520"/>
            <a:ext cx="2103120" cy="1481328"/>
          </a:xfrm>
          <a:prstGeom prst="roundRect">
            <a:avLst>
              <a:gd name="adj" fmla="val 4938"/>
            </a:avLst>
          </a:prstGeom>
          <a:solidFill>
            <a:srgbClr val="FBFBFC"/>
          </a:solidFill>
          <a:ln w="12700">
            <a:solidFill>
              <a:srgbClr val="C8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라벨"/>
          <p:cNvSpPr txBox="1"/>
          <p:nvPr/>
        </p:nvSpPr>
        <p:spPr>
          <a:xfrm>
            <a:off x="1664208" y="417880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모드 선택</a:t>
            </a:r>
          </a:p>
        </p:txBody>
      </p:sp>
      <p:sp>
        <p:nvSpPr>
          <p:cNvPr id="67" name="태그 sw0 ~ sw6"/>
          <p:cNvSpPr/>
          <p:nvPr/>
        </p:nvSpPr>
        <p:spPr>
          <a:xfrm>
            <a:off x="411480" y="4498848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sw0 ~ sw6</a:t>
            </a:r>
          </a:p>
        </p:txBody>
      </p:sp>
      <p:cxnSp>
        <p:nvCxnSpPr>
          <p:cNvPr id="68" name="선"/>
          <p:cNvCxnSpPr/>
          <p:nvPr/>
        </p:nvCxnSpPr>
        <p:spPr>
          <a:xfrm>
            <a:off x="1417320" y="4645152"/>
            <a:ext cx="5486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MUX 모드"/>
          <p:cNvSpPr/>
          <p:nvPr/>
        </p:nvSpPr>
        <p:spPr>
          <a:xfrm>
            <a:off x="1965960" y="4480560"/>
            <a:ext cx="457200" cy="987552"/>
          </a:xfrm>
          <a:custGeom>
            <a:avLst/>
            <a:gdLst/>
            <a:ahLst/>
            <a:cxnLst/>
            <a:rect l="l" t="t" r="r" b="b"/>
            <a:pathLst>
              <a:path w="457200" h="987552">
                <a:moveTo>
                  <a:pt x="0" y="0"/>
                </a:moveTo>
                <a:lnTo>
                  <a:pt x="457200" y="109728"/>
                </a:lnTo>
                <a:lnTo>
                  <a:pt x="457200" y="877824"/>
                </a:lnTo>
                <a:lnTo>
                  <a:pt x="0" y="987552"/>
                </a:lnTo>
                <a:lnTo>
                  <a:pt x="0" y="0"/>
                </a:lnTo>
                <a:close/>
              </a:path>
            </a:pathLst>
          </a:cu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라벨"/>
          <p:cNvSpPr txBox="1"/>
          <p:nvPr/>
        </p:nvSpPr>
        <p:spPr>
          <a:xfrm>
            <a:off x="2020824" y="4526280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71" name="라벨"/>
          <p:cNvSpPr txBox="1"/>
          <p:nvPr/>
        </p:nvSpPr>
        <p:spPr>
          <a:xfrm>
            <a:off x="2020824" y="5093208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72" name="라벨"/>
          <p:cNvSpPr txBox="1"/>
          <p:nvPr/>
        </p:nvSpPr>
        <p:spPr>
          <a:xfrm>
            <a:off x="2423160" y="418795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2:1 × 7 bit</a:t>
            </a:r>
          </a:p>
        </p:txBody>
      </p:sp>
      <p:cxnSp>
        <p:nvCxnSpPr>
          <p:cNvPr id="73" name="선"/>
          <p:cNvCxnSpPr/>
          <p:nvPr/>
        </p:nvCxnSpPr>
        <p:spPr>
          <a:xfrm>
            <a:off x="2423160" y="4965192"/>
            <a:ext cx="2743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블록 모드&#10;디코드"/>
          <p:cNvSpPr/>
          <p:nvPr/>
        </p:nvSpPr>
        <p:spPr>
          <a:xfrm>
            <a:off x="2697480" y="4663440"/>
            <a:ext cx="914400" cy="603504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모드</a:t>
            </a:r>
          </a:p>
          <a:p>
            <a:pPr algn="ctr"/>
            <a:r>
              <a:rPr sz="11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디코드</a:t>
            </a:r>
          </a:p>
        </p:txBody>
      </p:sp>
      <p:sp>
        <p:nvSpPr>
          <p:cNvPr id="75" name="라벨"/>
          <p:cNvSpPr txBox="1"/>
          <p:nvPr/>
        </p:nvSpPr>
        <p:spPr>
          <a:xfrm>
            <a:off x="2331720" y="5340096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→ mode_* · disp_sel</a:t>
            </a:r>
          </a:p>
        </p:txBody>
      </p:sp>
      <p:sp>
        <p:nvSpPr>
          <p:cNvPr id="76" name="블록 wts_top"/>
          <p:cNvSpPr/>
          <p:nvPr/>
        </p:nvSpPr>
        <p:spPr>
          <a:xfrm>
            <a:off x="6355080" y="2761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wts_top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control_unit · datapath × 3</a:t>
            </a:r>
          </a:p>
        </p:txBody>
      </p:sp>
      <p:cxnSp>
        <p:nvCxnSpPr>
          <p:cNvPr id="77" name="선"/>
          <p:cNvCxnSpPr/>
          <p:nvPr/>
        </p:nvCxnSpPr>
        <p:spPr>
          <a:xfrm>
            <a:off x="8549640" y="3104388"/>
            <a:ext cx="361188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라벨"/>
          <p:cNvSpPr txBox="1"/>
          <p:nvPr/>
        </p:nvSpPr>
        <p:spPr>
          <a:xfrm>
            <a:off x="8686800" y="2839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disp  시 · 분 · 초 · 1/100</a:t>
            </a:r>
          </a:p>
        </p:txBody>
      </p:sp>
      <p:sp>
        <p:nvSpPr>
          <p:cNvPr id="79" name="라벨"/>
          <p:cNvSpPr txBox="1"/>
          <p:nvPr/>
        </p:nvSpPr>
        <p:spPr>
          <a:xfrm>
            <a:off x="8686800" y="3150108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← ctrl_bit[4:0]  (sw0 · sw1 · sw2 · sw3 · sw4)</a:t>
            </a:r>
          </a:p>
        </p:txBody>
      </p:sp>
      <p:sp>
        <p:nvSpPr>
          <p:cNvPr id="80" name="블록 sr04_top"/>
          <p:cNvSpPr/>
          <p:nvPr/>
        </p:nvSpPr>
        <p:spPr>
          <a:xfrm>
            <a:off x="6355080" y="3904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sr04_top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core · mode_ctrl · led_bar</a:t>
            </a:r>
          </a:p>
        </p:txBody>
      </p:sp>
      <p:cxnSp>
        <p:nvCxnSpPr>
          <p:cNvPr id="81" name="선"/>
          <p:cNvCxnSpPr/>
          <p:nvPr/>
        </p:nvCxnSpPr>
        <p:spPr>
          <a:xfrm>
            <a:off x="8549640" y="4247388"/>
            <a:ext cx="361188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라벨"/>
          <p:cNvSpPr txBox="1"/>
          <p:nvPr/>
        </p:nvSpPr>
        <p:spPr>
          <a:xfrm>
            <a:off x="8686800" y="3982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distance_x10 · err · status</a:t>
            </a:r>
          </a:p>
        </p:txBody>
      </p:sp>
      <p:sp>
        <p:nvSpPr>
          <p:cNvPr id="83" name="라벨"/>
          <p:cNvSpPr txBox="1"/>
          <p:nvPr/>
        </p:nvSpPr>
        <p:spPr>
          <a:xfrm>
            <a:off x="8686800" y="4293108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trig → JA1 · echo ← JA2 · sw15 = 거리 막대 LED</a:t>
            </a:r>
          </a:p>
        </p:txBody>
      </p:sp>
      <p:sp>
        <p:nvSpPr>
          <p:cNvPr id="84" name="블록 dht11_top"/>
          <p:cNvSpPr/>
          <p:nvPr/>
        </p:nvSpPr>
        <p:spPr>
          <a:xfrm>
            <a:off x="6355080" y="5047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dht11_top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core · controller · manager</a:t>
            </a:r>
          </a:p>
        </p:txBody>
      </p:sp>
      <p:cxnSp>
        <p:nvCxnSpPr>
          <p:cNvPr id="85" name="선"/>
          <p:cNvCxnSpPr/>
          <p:nvPr/>
        </p:nvCxnSpPr>
        <p:spPr>
          <a:xfrm>
            <a:off x="8549640" y="5390388"/>
            <a:ext cx="361188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라벨"/>
          <p:cNvSpPr txBox="1"/>
          <p:nvPr/>
        </p:nvSpPr>
        <p:spPr>
          <a:xfrm>
            <a:off x="8686800" y="5125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fnd_data · dashes · err</a:t>
            </a:r>
          </a:p>
        </p:txBody>
      </p:sp>
      <p:sp>
        <p:nvSpPr>
          <p:cNvPr id="87" name="라벨"/>
          <p:cNvSpPr txBox="1"/>
          <p:nvPr/>
        </p:nvSpPr>
        <p:spPr>
          <a:xfrm>
            <a:off x="8686800" y="5436107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dht11_io ↔ JXADC3 (M2)</a:t>
            </a:r>
          </a:p>
        </p:txBody>
      </p:sp>
      <p:sp>
        <p:nvSpPr>
          <p:cNvPr id="88" name="MUX FND"/>
          <p:cNvSpPr/>
          <p:nvPr/>
        </p:nvSpPr>
        <p:spPr>
          <a:xfrm>
            <a:off x="12161520" y="2606040"/>
            <a:ext cx="640080" cy="3108960"/>
          </a:xfrm>
          <a:custGeom>
            <a:avLst/>
            <a:gdLst/>
            <a:ahLst/>
            <a:cxnLst/>
            <a:rect l="l" t="t" r="r" b="b"/>
            <a:pathLst>
              <a:path w="640080" h="3108960">
                <a:moveTo>
                  <a:pt x="0" y="0"/>
                </a:moveTo>
                <a:lnTo>
                  <a:pt x="640080" y="228600"/>
                </a:lnTo>
                <a:lnTo>
                  <a:pt x="640080" y="2880360"/>
                </a:lnTo>
                <a:lnTo>
                  <a:pt x="0" y="3108960"/>
                </a:lnTo>
                <a:lnTo>
                  <a:pt x="0" y="0"/>
                </a:lnTo>
                <a:close/>
              </a:path>
            </a:pathLst>
          </a:cu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라벨"/>
          <p:cNvSpPr txBox="1"/>
          <p:nvPr/>
        </p:nvSpPr>
        <p:spPr>
          <a:xfrm>
            <a:off x="12216384" y="298551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90" name="라벨"/>
          <p:cNvSpPr txBox="1"/>
          <p:nvPr/>
        </p:nvSpPr>
        <p:spPr>
          <a:xfrm>
            <a:off x="12216384" y="412851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1" name="라벨"/>
          <p:cNvSpPr txBox="1"/>
          <p:nvPr/>
        </p:nvSpPr>
        <p:spPr>
          <a:xfrm>
            <a:off x="12216384" y="527151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92" name="라벨"/>
          <p:cNvSpPr txBox="1"/>
          <p:nvPr/>
        </p:nvSpPr>
        <p:spPr>
          <a:xfrm>
            <a:off x="11978640" y="5742432"/>
            <a:ext cx="2011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FND MUX  3:1 × 25 bit</a:t>
            </a:r>
          </a:p>
        </p:txBody>
      </p:sp>
      <p:sp>
        <p:nvSpPr>
          <p:cNvPr id="93" name="라벨"/>
          <p:cNvSpPr txBox="1"/>
          <p:nvPr/>
        </p:nvSpPr>
        <p:spPr>
          <a:xfrm>
            <a:off x="11978640" y="5961888"/>
            <a:ext cx="2011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sel = disp_sel (2 bit)</a:t>
            </a:r>
          </a:p>
        </p:txBody>
      </p:sp>
      <p:cxnSp>
        <p:nvCxnSpPr>
          <p:cNvPr id="94" name="선"/>
          <p:cNvCxnSpPr/>
          <p:nvPr/>
        </p:nvCxnSpPr>
        <p:spPr>
          <a:xfrm>
            <a:off x="12801600" y="3017520"/>
            <a:ext cx="128016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라벨"/>
          <p:cNvSpPr txBox="1"/>
          <p:nvPr/>
        </p:nvSpPr>
        <p:spPr>
          <a:xfrm>
            <a:off x="12874752" y="277063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fnd_data</a:t>
            </a:r>
          </a:p>
        </p:txBody>
      </p:sp>
      <p:sp>
        <p:nvSpPr>
          <p:cNvPr id="96" name="블록 FND&#10;컨트롤러"/>
          <p:cNvSpPr/>
          <p:nvPr/>
        </p:nvSpPr>
        <p:spPr>
          <a:xfrm>
            <a:off x="14081760" y="2606040"/>
            <a:ext cx="1828800" cy="1508760"/>
          </a:xfrm>
          <a:prstGeom prst="roundRect">
            <a:avLst>
              <a:gd name="adj" fmla="val 4848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FND</a:t>
            </a:r>
          </a:p>
          <a:p>
            <a:pPr algn="ctr"/>
            <a:r>
              <a:rPr sz="14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컨트롤러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SW2_FND_CONTROLLER</a:t>
            </a:r>
          </a:p>
        </p:txBody>
      </p:sp>
      <p:sp>
        <p:nvSpPr>
          <p:cNvPr id="97" name="태그 disp_sel"/>
          <p:cNvSpPr/>
          <p:nvPr/>
        </p:nvSpPr>
        <p:spPr>
          <a:xfrm>
            <a:off x="13167360" y="325526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98" name="태그 wt_cursor"/>
          <p:cNvSpPr/>
          <p:nvPr/>
        </p:nvSpPr>
        <p:spPr>
          <a:xfrm>
            <a:off x="13167360" y="354787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wt_cursor</a:t>
            </a:r>
          </a:p>
        </p:txBody>
      </p:sp>
      <p:sp>
        <p:nvSpPr>
          <p:cNvPr id="99" name="태그 set_sw2"/>
          <p:cNvSpPr/>
          <p:nvPr/>
        </p:nvSpPr>
        <p:spPr>
          <a:xfrm>
            <a:off x="13167360" y="384048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set_sw2</a:t>
            </a:r>
          </a:p>
        </p:txBody>
      </p:sp>
      <p:cxnSp>
        <p:nvCxnSpPr>
          <p:cNvPr id="100" name="선"/>
          <p:cNvCxnSpPr/>
          <p:nvPr/>
        </p:nvCxnSpPr>
        <p:spPr>
          <a:xfrm>
            <a:off x="15910559" y="3054096"/>
            <a:ext cx="411481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태그 fnd_com"/>
          <p:cNvSpPr/>
          <p:nvPr/>
        </p:nvSpPr>
        <p:spPr>
          <a:xfrm>
            <a:off x="16322040" y="29077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fnd_com</a:t>
            </a:r>
          </a:p>
        </p:txBody>
      </p:sp>
      <p:cxnSp>
        <p:nvCxnSpPr>
          <p:cNvPr id="102" name="선"/>
          <p:cNvCxnSpPr/>
          <p:nvPr/>
        </p:nvCxnSpPr>
        <p:spPr>
          <a:xfrm>
            <a:off x="15910559" y="3739896"/>
            <a:ext cx="411481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태그 fnd_font"/>
          <p:cNvSpPr/>
          <p:nvPr/>
        </p:nvSpPr>
        <p:spPr>
          <a:xfrm>
            <a:off x="16322040" y="35935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fnd_font</a:t>
            </a:r>
          </a:p>
        </p:txBody>
      </p:sp>
      <p:sp>
        <p:nvSpPr>
          <p:cNvPr id="104" name="블록 LED 로직"/>
          <p:cNvSpPr/>
          <p:nvPr/>
        </p:nvSpPr>
        <p:spPr>
          <a:xfrm>
            <a:off x="14081760" y="4343400"/>
            <a:ext cx="1828800" cy="1371600"/>
          </a:xfrm>
          <a:prstGeom prst="roundRect">
            <a:avLst>
              <a:gd name="adj" fmla="val 5333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 로직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led_output</a:t>
            </a:r>
          </a:p>
        </p:txBody>
      </p:sp>
      <p:sp>
        <p:nvSpPr>
          <p:cNvPr id="105" name="태그 disp_sel"/>
          <p:cNvSpPr/>
          <p:nvPr/>
        </p:nvSpPr>
        <p:spPr>
          <a:xfrm>
            <a:off x="13167360" y="4425696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106" name="태그 WTS 신호"/>
          <p:cNvSpPr/>
          <p:nvPr/>
        </p:nvSpPr>
        <p:spPr>
          <a:xfrm>
            <a:off x="13167360" y="471830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WTS 신호</a:t>
            </a:r>
          </a:p>
        </p:txBody>
      </p:sp>
      <p:sp>
        <p:nvSpPr>
          <p:cNvPr id="107" name="태그 sr04_led"/>
          <p:cNvSpPr/>
          <p:nvPr/>
        </p:nvSpPr>
        <p:spPr>
          <a:xfrm>
            <a:off x="13167360" y="501091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sr04_led</a:t>
            </a:r>
          </a:p>
        </p:txBody>
      </p:sp>
      <p:sp>
        <p:nvSpPr>
          <p:cNvPr id="108" name="태그 dht_led"/>
          <p:cNvSpPr/>
          <p:nvPr/>
        </p:nvSpPr>
        <p:spPr>
          <a:xfrm>
            <a:off x="13167360" y="530352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dht_led</a:t>
            </a:r>
          </a:p>
        </p:txBody>
      </p:sp>
      <p:cxnSp>
        <p:nvCxnSpPr>
          <p:cNvPr id="109" name="선"/>
          <p:cNvCxnSpPr/>
          <p:nvPr/>
        </p:nvCxnSpPr>
        <p:spPr>
          <a:xfrm>
            <a:off x="15910559" y="5029200"/>
            <a:ext cx="411481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태그 led[15:0]"/>
          <p:cNvSpPr/>
          <p:nvPr/>
        </p:nvSpPr>
        <p:spPr>
          <a:xfrm>
            <a:off x="16322040" y="4882896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led[15:0]</a:t>
            </a:r>
          </a:p>
        </p:txBody>
      </p:sp>
      <p:sp>
        <p:nvSpPr>
          <p:cNvPr id="111" name="태그 rx"/>
          <p:cNvSpPr/>
          <p:nvPr/>
        </p:nvSpPr>
        <p:spPr>
          <a:xfrm>
            <a:off x="411480" y="69037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rx</a:t>
            </a:r>
          </a:p>
        </p:txBody>
      </p:sp>
      <p:cxnSp>
        <p:nvCxnSpPr>
          <p:cNvPr id="112" name="선"/>
          <p:cNvCxnSpPr/>
          <p:nvPr/>
        </p:nvCxnSpPr>
        <p:spPr>
          <a:xfrm>
            <a:off x="1417320" y="7050024"/>
            <a:ext cx="365760" cy="0"/>
          </a:xfrm>
          <a:prstGeom prst="line">
            <a:avLst/>
          </a:prstGeom>
          <a:ln w="31750">
            <a:solidFill>
              <a:srgbClr val="C5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블록 uart_rx"/>
          <p:cNvSpPr/>
          <p:nvPr/>
        </p:nvSpPr>
        <p:spPr>
          <a:xfrm>
            <a:off x="1783080" y="6766560"/>
            <a:ext cx="118872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C5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uart_rx</a:t>
            </a:r>
          </a:p>
        </p:txBody>
      </p:sp>
      <p:cxnSp>
        <p:nvCxnSpPr>
          <p:cNvPr id="114" name="선"/>
          <p:cNvCxnSpPr/>
          <p:nvPr/>
        </p:nvCxnSpPr>
        <p:spPr>
          <a:xfrm>
            <a:off x="2971800" y="7050024"/>
            <a:ext cx="274320" cy="0"/>
          </a:xfrm>
          <a:prstGeom prst="line">
            <a:avLst/>
          </a:prstGeom>
          <a:ln w="31750">
            <a:solidFill>
              <a:srgbClr val="C5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블록 fifo"/>
          <p:cNvSpPr/>
          <p:nvPr/>
        </p:nvSpPr>
        <p:spPr>
          <a:xfrm>
            <a:off x="3246120" y="6766560"/>
            <a:ext cx="91440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C5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RX × 8</a:t>
            </a:r>
          </a:p>
        </p:txBody>
      </p:sp>
      <p:cxnSp>
        <p:nvCxnSpPr>
          <p:cNvPr id="116" name="선"/>
          <p:cNvCxnSpPr/>
          <p:nvPr/>
        </p:nvCxnSpPr>
        <p:spPr>
          <a:xfrm>
            <a:off x="4160520" y="7050024"/>
            <a:ext cx="274320" cy="0"/>
          </a:xfrm>
          <a:prstGeom prst="line">
            <a:avLst/>
          </a:prstGeom>
          <a:ln w="31750">
            <a:solidFill>
              <a:srgbClr val="C5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블록 ASCII_DECODER"/>
          <p:cNvSpPr/>
          <p:nvPr/>
        </p:nvSpPr>
        <p:spPr>
          <a:xfrm>
            <a:off x="4434840" y="6675120"/>
            <a:ext cx="18288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28575">
            <a:solidFill>
              <a:srgbClr val="C5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ASCII_DECODER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/명령 + 옵션 파싱</a:t>
            </a:r>
          </a:p>
        </p:txBody>
      </p:sp>
      <p:cxnSp>
        <p:nvCxnSpPr>
          <p:cNvPr id="118" name="선"/>
          <p:cNvCxnSpPr/>
          <p:nvPr/>
        </p:nvCxnSpPr>
        <p:spPr>
          <a:xfrm>
            <a:off x="6263640" y="7050024"/>
            <a:ext cx="502920" cy="0"/>
          </a:xfrm>
          <a:prstGeom prst="line">
            <a:avLst/>
          </a:prstGeom>
          <a:ln w="31750">
            <a:solidFill>
              <a:srgbClr val="C5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블록 baud_tick_gen"/>
          <p:cNvSpPr/>
          <p:nvPr/>
        </p:nvSpPr>
        <p:spPr>
          <a:xfrm>
            <a:off x="1783080" y="7680960"/>
            <a:ext cx="1188720" cy="5303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C5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baud_tick_gen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9600 × 16</a:t>
            </a:r>
          </a:p>
        </p:txBody>
      </p:sp>
      <p:cxnSp>
        <p:nvCxnSpPr>
          <p:cNvPr id="120" name="선"/>
          <p:cNvCxnSpPr/>
          <p:nvPr/>
        </p:nvCxnSpPr>
        <p:spPr>
          <a:xfrm flipV="1">
            <a:off x="2377440" y="7333488"/>
            <a:ext cx="0" cy="347472"/>
          </a:xfrm>
          <a:prstGeom prst="line">
            <a:avLst/>
          </a:prstGeom>
          <a:ln w="31750">
            <a:solidFill>
              <a:srgbClr val="C5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라벨"/>
          <p:cNvSpPr txBox="1"/>
          <p:nvPr/>
        </p:nvSpPr>
        <p:spPr>
          <a:xfrm>
            <a:off x="3063240" y="782726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C53030"/>
                </a:solidFill>
                <a:latin typeface="Malgun Gothic"/>
                <a:ea typeface="Malgun Gothic"/>
                <a:cs typeface="Malgun Gothic"/>
              </a:rPr>
              <a:t>→ RX · TX 공용</a:t>
            </a:r>
          </a:p>
        </p:txBody>
      </p:sp>
      <p:sp>
        <p:nvSpPr>
          <p:cNvPr id="122" name="블록 UART_CONTROLLER"/>
          <p:cNvSpPr/>
          <p:nvPr/>
        </p:nvSpPr>
        <p:spPr>
          <a:xfrm>
            <a:off x="6766560" y="6675120"/>
            <a:ext cx="2377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8575">
            <a:solidFill>
              <a:srgbClr val="C5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UART_CONTROLLER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mode · auto · btn FSM</a:t>
            </a:r>
          </a:p>
        </p:txBody>
      </p:sp>
      <p:sp>
        <p:nvSpPr>
          <p:cNvPr id="123" name="태그 phy_btn"/>
          <p:cNvSpPr/>
          <p:nvPr/>
        </p:nvSpPr>
        <p:spPr>
          <a:xfrm>
            <a:off x="5870448" y="7498079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phy_btn</a:t>
            </a:r>
          </a:p>
        </p:txBody>
      </p:sp>
      <p:sp>
        <p:nvSpPr>
          <p:cNvPr id="124" name="라벨"/>
          <p:cNvSpPr txBox="1"/>
          <p:nvPr/>
        </p:nvSpPr>
        <p:spPr>
          <a:xfrm>
            <a:off x="3950208" y="750722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같은 clk 면 물리 먼저</a:t>
            </a:r>
          </a:p>
        </p:txBody>
      </p:sp>
      <p:cxnSp>
        <p:nvCxnSpPr>
          <p:cNvPr id="125" name="선"/>
          <p:cNvCxnSpPr/>
          <p:nvPr/>
        </p:nvCxnSpPr>
        <p:spPr>
          <a:xfrm flipV="1">
            <a:off x="6903720" y="6217920"/>
            <a:ext cx="0" cy="45720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선"/>
          <p:cNvCxnSpPr/>
          <p:nvPr/>
        </p:nvCxnSpPr>
        <p:spPr>
          <a:xfrm flipH="1">
            <a:off x="1691640" y="6217920"/>
            <a:ext cx="5212080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선"/>
          <p:cNvCxnSpPr/>
          <p:nvPr/>
        </p:nvCxnSpPr>
        <p:spPr>
          <a:xfrm flipV="1">
            <a:off x="1691640" y="5212080"/>
            <a:ext cx="0" cy="100584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선"/>
          <p:cNvCxnSpPr/>
          <p:nvPr/>
        </p:nvCxnSpPr>
        <p:spPr>
          <a:xfrm>
            <a:off x="1691640" y="5212080"/>
            <a:ext cx="2743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라벨"/>
          <p:cNvSpPr txBox="1"/>
          <p:nvPr/>
        </p:nvSpPr>
        <p:spPr>
          <a:xfrm>
            <a:off x="3931920" y="623620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module_control_bit[6:0]</a:t>
            </a:r>
          </a:p>
        </p:txBody>
      </p:sp>
      <p:cxnSp>
        <p:nvCxnSpPr>
          <p:cNvPr id="130" name="선"/>
          <p:cNvCxnSpPr/>
          <p:nvPr/>
        </p:nvCxnSpPr>
        <p:spPr>
          <a:xfrm flipV="1">
            <a:off x="7178040" y="6080760"/>
            <a:ext cx="0" cy="59436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선"/>
          <p:cNvCxnSpPr/>
          <p:nvPr/>
        </p:nvCxnSpPr>
        <p:spPr>
          <a:xfrm flipH="1">
            <a:off x="2194560" y="6080760"/>
            <a:ext cx="4983480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선"/>
          <p:cNvCxnSpPr/>
          <p:nvPr/>
        </p:nvCxnSpPr>
        <p:spPr>
          <a:xfrm flipV="1">
            <a:off x="2194560" y="5413248"/>
            <a:ext cx="0" cy="667512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라벨"/>
          <p:cNvSpPr txBox="1"/>
          <p:nvPr/>
        </p:nvSpPr>
        <p:spPr>
          <a:xfrm>
            <a:off x="2286000" y="5852160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uart_mode</a:t>
            </a:r>
          </a:p>
        </p:txBody>
      </p:sp>
      <p:cxnSp>
        <p:nvCxnSpPr>
          <p:cNvPr id="134" name="선"/>
          <p:cNvCxnSpPr/>
          <p:nvPr/>
        </p:nvCxnSpPr>
        <p:spPr>
          <a:xfrm flipV="1">
            <a:off x="7452360" y="5943600"/>
            <a:ext cx="0" cy="73152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선"/>
          <p:cNvCxnSpPr/>
          <p:nvPr/>
        </p:nvCxnSpPr>
        <p:spPr>
          <a:xfrm flipH="1">
            <a:off x="3749039" y="5943600"/>
            <a:ext cx="3703321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선"/>
          <p:cNvCxnSpPr/>
          <p:nvPr/>
        </p:nvCxnSpPr>
        <p:spPr>
          <a:xfrm flipV="1">
            <a:off x="3749039" y="3438144"/>
            <a:ext cx="0" cy="2505456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선"/>
          <p:cNvCxnSpPr/>
          <p:nvPr/>
        </p:nvCxnSpPr>
        <p:spPr>
          <a:xfrm>
            <a:off x="3749039" y="3438144"/>
            <a:ext cx="22860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라벨"/>
          <p:cNvSpPr txBox="1"/>
          <p:nvPr/>
        </p:nvSpPr>
        <p:spPr>
          <a:xfrm>
            <a:off x="3840480" y="3703320"/>
            <a:ext cx="8229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uart_btn</a:t>
            </a:r>
          </a:p>
        </p:txBody>
      </p:sp>
      <p:sp>
        <p:nvSpPr>
          <p:cNvPr id="139" name="블록 sender_tick"/>
          <p:cNvSpPr/>
          <p:nvPr/>
        </p:nvSpPr>
        <p:spPr>
          <a:xfrm>
            <a:off x="9555480" y="6967728"/>
            <a:ext cx="1371600" cy="566928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sender_tick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1 Hz · scan 0→4</a:t>
            </a:r>
          </a:p>
        </p:txBody>
      </p:sp>
      <p:cxnSp>
        <p:nvCxnSpPr>
          <p:cNvPr id="140" name="선"/>
          <p:cNvCxnSpPr/>
          <p:nvPr/>
        </p:nvCxnSpPr>
        <p:spPr>
          <a:xfrm flipH="1">
            <a:off x="9144000" y="7251192"/>
            <a:ext cx="4114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선"/>
          <p:cNvCxnSpPr/>
          <p:nvPr/>
        </p:nvCxnSpPr>
        <p:spPr>
          <a:xfrm>
            <a:off x="9144000" y="6784848"/>
            <a:ext cx="4727448" cy="0"/>
          </a:xfrm>
          <a:prstGeom prst="line">
            <a:avLst/>
          </a:prstGeom>
          <a:ln w="31750">
            <a:solidFill>
              <a:srgbClr val="C530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선"/>
          <p:cNvCxnSpPr/>
          <p:nvPr/>
        </p:nvCxnSpPr>
        <p:spPr>
          <a:xfrm>
            <a:off x="13871448" y="6784848"/>
            <a:ext cx="0" cy="301752"/>
          </a:xfrm>
          <a:prstGeom prst="line">
            <a:avLst/>
          </a:prstGeom>
          <a:ln w="31750">
            <a:solidFill>
              <a:srgbClr val="C5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라벨"/>
          <p:cNvSpPr txBox="1"/>
          <p:nvPr/>
        </p:nvSpPr>
        <p:spPr>
          <a:xfrm>
            <a:off x="10241280" y="6547104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C53030"/>
                </a:solidFill>
                <a:latin typeface="Malgun Gothic"/>
                <a:ea typeface="Malgun Gothic"/>
                <a:cs typeface="Malgun Gothic"/>
              </a:rPr>
              <a:t>send_go</a:t>
            </a:r>
          </a:p>
        </p:txBody>
      </p:sp>
      <p:sp>
        <p:nvSpPr>
          <p:cNvPr id="144" name="MUX 전송"/>
          <p:cNvSpPr/>
          <p:nvPr/>
        </p:nvSpPr>
        <p:spPr>
          <a:xfrm>
            <a:off x="11887200" y="6903720"/>
            <a:ext cx="868680" cy="1280159"/>
          </a:xfrm>
          <a:custGeom>
            <a:avLst/>
            <a:gdLst/>
            <a:ahLst/>
            <a:cxnLst/>
            <a:rect l="l" t="t" r="r" b="b"/>
            <a:pathLst>
              <a:path w="868680" h="1280159">
                <a:moveTo>
                  <a:pt x="0" y="0"/>
                </a:moveTo>
                <a:lnTo>
                  <a:pt x="868680" y="164592"/>
                </a:lnTo>
                <a:lnTo>
                  <a:pt x="868680" y="1115568"/>
                </a:lnTo>
                <a:lnTo>
                  <a:pt x="0" y="1280159"/>
                </a:lnTo>
                <a:lnTo>
                  <a:pt x="0" y="0"/>
                </a:lnTo>
                <a:close/>
              </a:path>
            </a:pathLst>
          </a:cu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라벨"/>
          <p:cNvSpPr txBox="1"/>
          <p:nvPr/>
        </p:nvSpPr>
        <p:spPr>
          <a:xfrm>
            <a:off x="11841480" y="6528816"/>
            <a:ext cx="21945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전송 MUX  8:1 × 24 bit</a:t>
            </a:r>
          </a:p>
        </p:txBody>
      </p:sp>
      <p:cxnSp>
        <p:nvCxnSpPr>
          <p:cNvPr id="146" name="선"/>
          <p:cNvCxnSpPr/>
          <p:nvPr/>
        </p:nvCxnSpPr>
        <p:spPr>
          <a:xfrm>
            <a:off x="11777472" y="3104388"/>
            <a:ext cx="0" cy="4210812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선"/>
          <p:cNvCxnSpPr/>
          <p:nvPr/>
        </p:nvCxnSpPr>
        <p:spPr>
          <a:xfrm>
            <a:off x="11777472" y="7315200"/>
            <a:ext cx="109728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선"/>
          <p:cNvCxnSpPr/>
          <p:nvPr/>
        </p:nvCxnSpPr>
        <p:spPr>
          <a:xfrm>
            <a:off x="11777472" y="7022592"/>
            <a:ext cx="109728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접점"/>
          <p:cNvSpPr/>
          <p:nvPr/>
        </p:nvSpPr>
        <p:spPr>
          <a:xfrm>
            <a:off x="11736324" y="6981444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0" name="선"/>
          <p:cNvCxnSpPr/>
          <p:nvPr/>
        </p:nvCxnSpPr>
        <p:spPr>
          <a:xfrm>
            <a:off x="11777472" y="7168896"/>
            <a:ext cx="109728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접점"/>
          <p:cNvSpPr/>
          <p:nvPr/>
        </p:nvSpPr>
        <p:spPr>
          <a:xfrm>
            <a:off x="11736324" y="7127748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접점"/>
          <p:cNvSpPr/>
          <p:nvPr/>
        </p:nvSpPr>
        <p:spPr>
          <a:xfrm>
            <a:off x="11736324" y="306324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3" name="선"/>
          <p:cNvCxnSpPr/>
          <p:nvPr/>
        </p:nvCxnSpPr>
        <p:spPr>
          <a:xfrm>
            <a:off x="11686032" y="4247388"/>
            <a:ext cx="0" cy="326898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선"/>
          <p:cNvCxnSpPr/>
          <p:nvPr/>
        </p:nvCxnSpPr>
        <p:spPr>
          <a:xfrm>
            <a:off x="11686032" y="7516368"/>
            <a:ext cx="201168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접점"/>
          <p:cNvSpPr/>
          <p:nvPr/>
        </p:nvSpPr>
        <p:spPr>
          <a:xfrm>
            <a:off x="11644884" y="420624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6" name="선"/>
          <p:cNvCxnSpPr/>
          <p:nvPr/>
        </p:nvCxnSpPr>
        <p:spPr>
          <a:xfrm>
            <a:off x="11430000" y="5390388"/>
            <a:ext cx="0" cy="2327148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선"/>
          <p:cNvCxnSpPr/>
          <p:nvPr/>
        </p:nvCxnSpPr>
        <p:spPr>
          <a:xfrm>
            <a:off x="11430000" y="7717536"/>
            <a:ext cx="45720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접점"/>
          <p:cNvSpPr/>
          <p:nvPr/>
        </p:nvSpPr>
        <p:spPr>
          <a:xfrm>
            <a:off x="11388852" y="534924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MUX 핀"/>
          <p:cNvSpPr txBox="1"/>
          <p:nvPr/>
        </p:nvSpPr>
        <p:spPr>
          <a:xfrm>
            <a:off x="11932920" y="693115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0 sw</a:t>
            </a:r>
          </a:p>
        </p:txBody>
      </p:sp>
      <p:sp>
        <p:nvSpPr>
          <p:cNvPr id="160" name="MUX 핀"/>
          <p:cNvSpPr txBox="1"/>
          <p:nvPr/>
        </p:nvSpPr>
        <p:spPr>
          <a:xfrm>
            <a:off x="11932920" y="707745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1 tm</a:t>
            </a:r>
          </a:p>
        </p:txBody>
      </p:sp>
      <p:sp>
        <p:nvSpPr>
          <p:cNvPr id="161" name="MUX 핀"/>
          <p:cNvSpPr txBox="1"/>
          <p:nvPr/>
        </p:nvSpPr>
        <p:spPr>
          <a:xfrm>
            <a:off x="11932920" y="722376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2 wt</a:t>
            </a:r>
          </a:p>
        </p:txBody>
      </p:sp>
      <p:sp>
        <p:nvSpPr>
          <p:cNvPr id="162" name="MUX 핀"/>
          <p:cNvSpPr txBox="1"/>
          <p:nvPr/>
        </p:nvSpPr>
        <p:spPr>
          <a:xfrm>
            <a:off x="11932920" y="742492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3 거리</a:t>
            </a:r>
          </a:p>
        </p:txBody>
      </p:sp>
      <p:sp>
        <p:nvSpPr>
          <p:cNvPr id="163" name="MUX 핀"/>
          <p:cNvSpPr txBox="1"/>
          <p:nvPr/>
        </p:nvSpPr>
        <p:spPr>
          <a:xfrm>
            <a:off x="11932920" y="762609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4 온습도</a:t>
            </a:r>
          </a:p>
        </p:txBody>
      </p:sp>
      <p:cxnSp>
        <p:nvCxnSpPr>
          <p:cNvPr id="165" name="선"/>
          <p:cNvCxnSpPr/>
          <p:nvPr/>
        </p:nvCxnSpPr>
        <p:spPr>
          <a:xfrm>
            <a:off x="12755880" y="7498079"/>
            <a:ext cx="45720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선"/>
          <p:cNvCxnSpPr/>
          <p:nvPr/>
        </p:nvCxnSpPr>
        <p:spPr>
          <a:xfrm>
            <a:off x="8869680" y="8046720"/>
            <a:ext cx="0" cy="201168"/>
          </a:xfrm>
          <a:prstGeom prst="line">
            <a:avLst/>
          </a:prstGeom>
          <a:ln w="31750">
            <a:solidFill>
              <a:srgbClr val="C530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선"/>
          <p:cNvCxnSpPr/>
          <p:nvPr/>
        </p:nvCxnSpPr>
        <p:spPr>
          <a:xfrm>
            <a:off x="8869680" y="8247888"/>
            <a:ext cx="5001768" cy="0"/>
          </a:xfrm>
          <a:prstGeom prst="line">
            <a:avLst/>
          </a:prstGeom>
          <a:ln w="31750">
            <a:solidFill>
              <a:srgbClr val="C530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선"/>
          <p:cNvCxnSpPr/>
          <p:nvPr/>
        </p:nvCxnSpPr>
        <p:spPr>
          <a:xfrm flipV="1">
            <a:off x="13871448" y="7909560"/>
            <a:ext cx="0" cy="338328"/>
          </a:xfrm>
          <a:prstGeom prst="line">
            <a:avLst/>
          </a:prstGeom>
          <a:ln w="31750">
            <a:solidFill>
              <a:srgbClr val="C5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라벨"/>
          <p:cNvSpPr txBox="1"/>
          <p:nvPr/>
        </p:nvSpPr>
        <p:spPr>
          <a:xfrm>
            <a:off x="9509760" y="8010144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C53030"/>
                </a:solidFill>
                <a:latin typeface="Malgun Gothic"/>
                <a:ea typeface="Malgun Gothic"/>
                <a:cs typeface="Malgun Gothic"/>
              </a:rPr>
              <a:t>send_sel</a:t>
            </a:r>
          </a:p>
        </p:txBody>
      </p:sp>
      <p:cxnSp>
        <p:nvCxnSpPr>
          <p:cNvPr id="170" name="선"/>
          <p:cNvCxnSpPr/>
          <p:nvPr/>
        </p:nvCxnSpPr>
        <p:spPr>
          <a:xfrm flipV="1">
            <a:off x="12481560" y="8071264"/>
            <a:ext cx="0" cy="176624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접점"/>
          <p:cNvSpPr/>
          <p:nvPr/>
        </p:nvSpPr>
        <p:spPr>
          <a:xfrm>
            <a:off x="12440412" y="8206740"/>
            <a:ext cx="82296" cy="82296"/>
          </a:xfrm>
          <a:prstGeom prst="ellipse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2" name="블록 uart_sender"/>
          <p:cNvSpPr/>
          <p:nvPr/>
        </p:nvSpPr>
        <p:spPr>
          <a:xfrm>
            <a:off x="13213080" y="7086600"/>
            <a:ext cx="1325880" cy="822960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 w="28575">
            <a:solidFill>
              <a:srgbClr val="C5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uart_sender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숫자 → ASCII 한 줄</a:t>
            </a:r>
          </a:p>
        </p:txBody>
      </p:sp>
      <p:cxnSp>
        <p:nvCxnSpPr>
          <p:cNvPr id="173" name="선"/>
          <p:cNvCxnSpPr/>
          <p:nvPr/>
        </p:nvCxnSpPr>
        <p:spPr>
          <a:xfrm>
            <a:off x="14538960" y="7498079"/>
            <a:ext cx="228599" cy="0"/>
          </a:xfrm>
          <a:prstGeom prst="line">
            <a:avLst/>
          </a:prstGeom>
          <a:ln w="31750">
            <a:solidFill>
              <a:srgbClr val="C5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블록 fifo"/>
          <p:cNvSpPr/>
          <p:nvPr/>
        </p:nvSpPr>
        <p:spPr>
          <a:xfrm>
            <a:off x="14767559" y="7214616"/>
            <a:ext cx="82296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C5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TX × 64</a:t>
            </a:r>
          </a:p>
        </p:txBody>
      </p:sp>
      <p:cxnSp>
        <p:nvCxnSpPr>
          <p:cNvPr id="175" name="선"/>
          <p:cNvCxnSpPr/>
          <p:nvPr/>
        </p:nvCxnSpPr>
        <p:spPr>
          <a:xfrm>
            <a:off x="15590520" y="7498079"/>
            <a:ext cx="228600" cy="0"/>
          </a:xfrm>
          <a:prstGeom prst="line">
            <a:avLst/>
          </a:prstGeom>
          <a:ln w="31750">
            <a:solidFill>
              <a:srgbClr val="C5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블록 uart_tx"/>
          <p:cNvSpPr/>
          <p:nvPr/>
        </p:nvSpPr>
        <p:spPr>
          <a:xfrm>
            <a:off x="15819120" y="7214616"/>
            <a:ext cx="86868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C5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uart_tx</a:t>
            </a:r>
          </a:p>
        </p:txBody>
      </p:sp>
      <p:cxnSp>
        <p:nvCxnSpPr>
          <p:cNvPr id="177" name="선"/>
          <p:cNvCxnSpPr/>
          <p:nvPr/>
        </p:nvCxnSpPr>
        <p:spPr>
          <a:xfrm>
            <a:off x="16687800" y="7498079"/>
            <a:ext cx="182880" cy="0"/>
          </a:xfrm>
          <a:prstGeom prst="line">
            <a:avLst/>
          </a:prstGeom>
          <a:ln w="31750">
            <a:solidFill>
              <a:srgbClr val="C5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8" name="태그 tx"/>
          <p:cNvSpPr/>
          <p:nvPr/>
        </p:nvSpPr>
        <p:spPr>
          <a:xfrm>
            <a:off x="16870680" y="7351775"/>
            <a:ext cx="822960" cy="292608"/>
          </a:xfrm>
          <a:prstGeom prst="homePlate">
            <a:avLst>
              <a:gd name="adj" fmla="val 24888"/>
            </a:avLst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tx</a:t>
            </a:r>
          </a:p>
        </p:txBody>
      </p:sp>
      <p:sp>
        <p:nvSpPr>
          <p:cNvPr id="179" name="단계 1"/>
          <p:cNvSpPr/>
          <p:nvPr/>
        </p:nvSpPr>
        <p:spPr>
          <a:xfrm>
            <a:off x="6089904" y="6473952"/>
            <a:ext cx="347472" cy="347472"/>
          </a:xfrm>
          <a:prstGeom prst="ellipse">
            <a:avLst/>
          </a:prstGeom>
          <a:solidFill>
            <a:srgbClr val="C530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80" name="단계 2"/>
          <p:cNvSpPr/>
          <p:nvPr/>
        </p:nvSpPr>
        <p:spPr>
          <a:xfrm>
            <a:off x="6400800" y="7818120"/>
            <a:ext cx="347472" cy="347472"/>
          </a:xfrm>
          <a:prstGeom prst="ellipse">
            <a:avLst/>
          </a:prstGeom>
          <a:solidFill>
            <a:srgbClr val="C530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81" name="단계 3"/>
          <p:cNvSpPr/>
          <p:nvPr/>
        </p:nvSpPr>
        <p:spPr>
          <a:xfrm>
            <a:off x="8503920" y="8229600"/>
            <a:ext cx="347472" cy="347472"/>
          </a:xfrm>
          <a:prstGeom prst="ellipse">
            <a:avLst/>
          </a:prstGeom>
          <a:solidFill>
            <a:srgbClr val="C530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2" name="단계 4"/>
          <p:cNvSpPr/>
          <p:nvPr/>
        </p:nvSpPr>
        <p:spPr>
          <a:xfrm>
            <a:off x="13533120" y="7882127"/>
            <a:ext cx="347472" cy="347472"/>
          </a:xfrm>
          <a:prstGeom prst="ellipse">
            <a:avLst/>
          </a:prstGeom>
          <a:solidFill>
            <a:srgbClr val="C530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83" name="단계 5"/>
          <p:cNvSpPr/>
          <p:nvPr/>
        </p:nvSpPr>
        <p:spPr>
          <a:xfrm>
            <a:off x="16733520" y="6903720"/>
            <a:ext cx="347472" cy="347472"/>
          </a:xfrm>
          <a:prstGeom prst="ellipse">
            <a:avLst/>
          </a:prstGeom>
          <a:solidFill>
            <a:srgbClr val="C530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84" name="단계 6"/>
          <p:cNvSpPr/>
          <p:nvPr/>
        </p:nvSpPr>
        <p:spPr>
          <a:xfrm>
            <a:off x="3200400" y="4279392"/>
            <a:ext cx="347472" cy="347472"/>
          </a:xfrm>
          <a:prstGeom prst="ellipse">
            <a:avLst/>
          </a:prstGeom>
          <a:solidFill>
            <a:srgbClr val="C530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85" name="단계표 1"/>
          <p:cNvSpPr/>
          <p:nvPr/>
        </p:nvSpPr>
        <p:spPr>
          <a:xfrm>
            <a:off x="841248" y="8613648"/>
            <a:ext cx="329184" cy="329184"/>
          </a:xfrm>
          <a:prstGeom prst="ellipse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86" name="라벨"/>
          <p:cNvSpPr txBox="1"/>
          <p:nvPr/>
        </p:nvSpPr>
        <p:spPr>
          <a:xfrm>
            <a:off x="1252728" y="86045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디코더 : 모르는 명령 · 공백 없음 · 빈 옵션 → 버림</a:t>
            </a:r>
          </a:p>
        </p:txBody>
      </p:sp>
      <p:sp>
        <p:nvSpPr>
          <p:cNvPr id="187" name="단계표 2"/>
          <p:cNvSpPr/>
          <p:nvPr/>
        </p:nvSpPr>
        <p:spPr>
          <a:xfrm>
            <a:off x="6419088" y="8613648"/>
            <a:ext cx="329184" cy="329184"/>
          </a:xfrm>
          <a:prstGeom prst="ellipse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88" name="라벨"/>
          <p:cNvSpPr txBox="1"/>
          <p:nvPr/>
        </p:nvSpPr>
        <p:spPr>
          <a:xfrm>
            <a:off x="6830568" y="86045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o_error 1 clk → 컨트롤러 err_pend 저장</a:t>
            </a:r>
          </a:p>
        </p:txBody>
      </p:sp>
      <p:sp>
        <p:nvSpPr>
          <p:cNvPr id="189" name="단계표 3"/>
          <p:cNvSpPr/>
          <p:nvPr/>
        </p:nvSpPr>
        <p:spPr>
          <a:xfrm>
            <a:off x="11996928" y="8613648"/>
            <a:ext cx="329184" cy="329184"/>
          </a:xfrm>
          <a:prstGeom prst="ellipse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90" name="라벨"/>
          <p:cNvSpPr txBox="1"/>
          <p:nvPr/>
        </p:nvSpPr>
        <p:spPr>
          <a:xfrm>
            <a:off x="12408407" y="86045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ERROR &gt; get / auto · sender busy 면 대기</a:t>
            </a:r>
          </a:p>
        </p:txBody>
      </p:sp>
      <p:sp>
        <p:nvSpPr>
          <p:cNvPr id="191" name="단계표 4"/>
          <p:cNvSpPr/>
          <p:nvPr/>
        </p:nvSpPr>
        <p:spPr>
          <a:xfrm>
            <a:off x="841248" y="9070848"/>
            <a:ext cx="329184" cy="329184"/>
          </a:xfrm>
          <a:prstGeom prst="ellipse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2" name="라벨"/>
          <p:cNvSpPr txBox="1"/>
          <p:nvPr/>
        </p:nvSpPr>
        <p:spPr>
          <a:xfrm>
            <a:off x="1252728" y="90617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send_sel = 7 → sender 가 "ERROR" 글자 생성</a:t>
            </a:r>
          </a:p>
        </p:txBody>
      </p:sp>
      <p:sp>
        <p:nvSpPr>
          <p:cNvPr id="193" name="단계표 5"/>
          <p:cNvSpPr/>
          <p:nvPr/>
        </p:nvSpPr>
        <p:spPr>
          <a:xfrm>
            <a:off x="6419088" y="9070848"/>
            <a:ext cx="329184" cy="329184"/>
          </a:xfrm>
          <a:prstGeom prst="ellipse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94" name="라벨"/>
          <p:cNvSpPr txBox="1"/>
          <p:nvPr/>
        </p:nvSpPr>
        <p:spPr>
          <a:xfrm>
            <a:off x="6830568" y="90617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FIFO_TX → uart_tx → tx : "ERROR" CR LF</a:t>
            </a:r>
          </a:p>
        </p:txBody>
      </p:sp>
      <p:sp>
        <p:nvSpPr>
          <p:cNvPr id="195" name="단계표 6"/>
          <p:cNvSpPr/>
          <p:nvPr/>
        </p:nvSpPr>
        <p:spPr>
          <a:xfrm>
            <a:off x="11996928" y="9070848"/>
            <a:ext cx="329184" cy="329184"/>
          </a:xfrm>
          <a:prstGeom prst="ellipse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96" name="라벨"/>
          <p:cNvSpPr txBox="1"/>
          <p:nvPr/>
        </p:nvSpPr>
        <p:spPr>
          <a:xfrm>
            <a:off x="12408407" y="90617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모드 · 버튼 · 화면 그대로 · 다음 "/" 부터 다시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라벨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WTS · SR04 · DHT11 · UART</a:t>
            </a:r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라벨"/>
          <p:cNvSpPr txBox="1"/>
          <p:nvPr/>
        </p:nvSpPr>
        <p:spPr>
          <a:xfrm>
            <a:off x="1042415" y="402336"/>
            <a:ext cx="91440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02  시스템 구조  ·  v2</a:t>
            </a:r>
          </a:p>
        </p:txBody>
      </p:sp>
      <p:sp>
        <p:nvSpPr>
          <p:cNvPr id="5" name="라벨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v1 → v2 바뀌는 곳 — 전송 MUX 입력 2 개 · 글자 고르기</a:t>
            </a:r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7" name="라벨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블록 · 모듈 · 포트 · 선 폭 24 비트는 그대로 · 비어 있던 윗비트에 센서 상태를 실어 PC 도 Err N · --%--C 를 받음</a:t>
            </a:r>
          </a:p>
        </p:txBody>
      </p:sp>
      <p:sp>
        <p:nvSpPr>
          <p:cNvPr id="8" name="라벨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9" name="라벨 v2"/>
          <p:cNvSpPr txBox="1"/>
          <p:nvPr/>
        </p:nvSpPr>
        <p:spPr>
          <a:xfrm>
            <a:off x="841248" y="224028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1E8E3E"/>
                </a:solidFill>
                <a:latin typeface="Malgun Gothic"/>
                <a:ea typeface="Malgun Gothic"/>
                <a:cs typeface="Malgun Gothic"/>
              </a:rPr>
              <a:t>①  </a:t>
            </a:r>
            <a:r>
              <a:rPr sz="16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전송 MUX 24 비트 — 비어 있던 윗비트에 상태를 실음</a:t>
            </a:r>
          </a:p>
        </p:txBody>
      </p:sp>
      <p:sp>
        <p:nvSpPr>
          <p:cNvPr id="10" name="라벨 v2"/>
          <p:cNvSpPr txBox="1"/>
          <p:nvPr/>
        </p:nvSpPr>
        <p:spPr>
          <a:xfrm>
            <a:off x="2148840" y="2724912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23</a:t>
            </a:r>
          </a:p>
        </p:txBody>
      </p:sp>
      <p:sp>
        <p:nvSpPr>
          <p:cNvPr id="11" name="라벨 v2"/>
          <p:cNvSpPr txBox="1"/>
          <p:nvPr/>
        </p:nvSpPr>
        <p:spPr>
          <a:xfrm>
            <a:off x="9061704" y="2724912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12" name="라벨 v2"/>
          <p:cNvSpPr txBox="1"/>
          <p:nvPr/>
        </p:nvSpPr>
        <p:spPr>
          <a:xfrm>
            <a:off x="841248" y="2944368"/>
            <a:ext cx="118872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sel 3  거리</a:t>
            </a:r>
          </a:p>
        </p:txBody>
      </p:sp>
      <p:sp>
        <p:nvSpPr>
          <p:cNvPr id="13" name="라벨 v2"/>
          <p:cNvSpPr txBox="1"/>
          <p:nvPr/>
        </p:nvSpPr>
        <p:spPr>
          <a:xfrm>
            <a:off x="1764792" y="2944368"/>
            <a:ext cx="34747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v1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48840" y="2944368"/>
            <a:ext cx="4663440" cy="365760"/>
          </a:xfrm>
          <a:prstGeom prst="rect">
            <a:avLst/>
          </a:prstGeom>
          <a:solidFill>
            <a:srgbClr val="F1F3F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15'd0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12280" y="2944368"/>
            <a:ext cx="2798064" cy="365760"/>
          </a:xfrm>
          <a:prstGeom prst="rect">
            <a:avLst/>
          </a:prstGeom>
          <a:solidFill>
            <a:srgbClr val="EBF4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거리 cm  9</a:t>
            </a:r>
          </a:p>
        </p:txBody>
      </p:sp>
      <p:sp>
        <p:nvSpPr>
          <p:cNvPr id="16" name="라벨 v2"/>
          <p:cNvSpPr txBox="1"/>
          <p:nvPr/>
        </p:nvSpPr>
        <p:spPr>
          <a:xfrm>
            <a:off x="1764792" y="3401568"/>
            <a:ext cx="34747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00" b="1">
                <a:solidFill>
                  <a:srgbClr val="1E8E3E"/>
                </a:solidFill>
                <a:latin typeface="Malgun Gothic"/>
                <a:ea typeface="Malgun Gothic"/>
                <a:cs typeface="Malgun Gothic"/>
              </a:rPr>
              <a:t>v2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48840" y="3401568"/>
            <a:ext cx="4041648" cy="365760"/>
          </a:xfrm>
          <a:prstGeom prst="rect">
            <a:avLst/>
          </a:prstGeom>
          <a:solidFill>
            <a:srgbClr val="F1F3F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13'd0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3401568"/>
            <a:ext cx="621792" cy="365760"/>
          </a:xfrm>
          <a:prstGeom prst="rect">
            <a:avLst/>
          </a:prstGeom>
          <a:solidFill>
            <a:srgbClr val="1E8E3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상태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12280" y="3401568"/>
            <a:ext cx="2798064" cy="365760"/>
          </a:xfrm>
          <a:prstGeom prst="rect">
            <a:avLst/>
          </a:prstGeom>
          <a:solidFill>
            <a:srgbClr val="EBF4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거리 cm  9</a:t>
            </a:r>
          </a:p>
        </p:txBody>
      </p:sp>
      <p:sp>
        <p:nvSpPr>
          <p:cNvPr id="20" name="라벨 v2"/>
          <p:cNvSpPr txBox="1"/>
          <p:nvPr/>
        </p:nvSpPr>
        <p:spPr>
          <a:xfrm>
            <a:off x="841248" y="4041648"/>
            <a:ext cx="118872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sel 4  온습도</a:t>
            </a:r>
          </a:p>
        </p:txBody>
      </p:sp>
      <p:sp>
        <p:nvSpPr>
          <p:cNvPr id="21" name="라벨 v2"/>
          <p:cNvSpPr txBox="1"/>
          <p:nvPr/>
        </p:nvSpPr>
        <p:spPr>
          <a:xfrm>
            <a:off x="1764792" y="4041648"/>
            <a:ext cx="34747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v1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48840" y="4041648"/>
            <a:ext cx="2487168" cy="365760"/>
          </a:xfrm>
          <a:prstGeom prst="rect">
            <a:avLst/>
          </a:prstGeom>
          <a:solidFill>
            <a:srgbClr val="F1F3F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8'd0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36008" y="4041648"/>
            <a:ext cx="2487168" cy="365760"/>
          </a:xfrm>
          <a:prstGeom prst="rect">
            <a:avLst/>
          </a:prstGeom>
          <a:solidFill>
            <a:srgbClr val="FDF0E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습도  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23176" y="4041648"/>
            <a:ext cx="2487168" cy="365760"/>
          </a:xfrm>
          <a:prstGeom prst="rect">
            <a:avLst/>
          </a:prstGeom>
          <a:solidFill>
            <a:srgbClr val="FDF0E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온도  8</a:t>
            </a:r>
          </a:p>
        </p:txBody>
      </p:sp>
      <p:sp>
        <p:nvSpPr>
          <p:cNvPr id="25" name="라벨 v2"/>
          <p:cNvSpPr txBox="1"/>
          <p:nvPr/>
        </p:nvSpPr>
        <p:spPr>
          <a:xfrm>
            <a:off x="1764792" y="4498848"/>
            <a:ext cx="34747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00" b="1">
                <a:solidFill>
                  <a:srgbClr val="1E8E3E"/>
                </a:solidFill>
                <a:latin typeface="Malgun Gothic"/>
                <a:ea typeface="Malgun Gothic"/>
                <a:cs typeface="Malgun Gothic"/>
              </a:rPr>
              <a:t>v2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148840" y="4498848"/>
            <a:ext cx="1243584" cy="365760"/>
          </a:xfrm>
          <a:prstGeom prst="rect">
            <a:avLst/>
          </a:prstGeom>
          <a:solidFill>
            <a:srgbClr val="F1F3F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4'd0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92424" y="4498848"/>
            <a:ext cx="310896" cy="365760"/>
          </a:xfrm>
          <a:prstGeom prst="rect">
            <a:avLst/>
          </a:prstGeom>
          <a:solidFill>
            <a:srgbClr val="1E8E3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err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03320" y="4498848"/>
            <a:ext cx="310896" cy="365760"/>
          </a:xfrm>
          <a:prstGeom prst="rect">
            <a:avLst/>
          </a:prstGeom>
          <a:solidFill>
            <a:srgbClr val="1E8E3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dsh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014216" y="4498848"/>
            <a:ext cx="621792" cy="365760"/>
          </a:xfrm>
          <a:prstGeom prst="rect">
            <a:avLst/>
          </a:prstGeom>
          <a:solidFill>
            <a:srgbClr val="1E8E3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상태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36008" y="4498848"/>
            <a:ext cx="2487168" cy="365760"/>
          </a:xfrm>
          <a:prstGeom prst="rect">
            <a:avLst/>
          </a:prstGeom>
          <a:solidFill>
            <a:srgbClr val="FDF0E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습도  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23176" y="4498848"/>
            <a:ext cx="2487168" cy="365760"/>
          </a:xfrm>
          <a:prstGeom prst="rect">
            <a:avLst/>
          </a:prstGeom>
          <a:solidFill>
            <a:srgbClr val="FDF0E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온도  8</a:t>
            </a:r>
          </a:p>
        </p:txBody>
      </p:sp>
      <p:sp>
        <p:nvSpPr>
          <p:cNvPr id="32" name="라벨 v2"/>
          <p:cNvSpPr txBox="1"/>
          <p:nvPr/>
        </p:nvSpPr>
        <p:spPr>
          <a:xfrm>
            <a:off x="841248" y="4983480"/>
            <a:ext cx="87782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sel 0 · 1 · 2 (시간) 와 sel 7 (ERROR) 은 그대로  ·  dsh = dashes (정상값 없음)  ·  선은 FND 가 쓰던 것을 이어 줌 (새 포트 없음)</a:t>
            </a:r>
          </a:p>
        </p:txBody>
      </p:sp>
      <p:sp>
        <p:nvSpPr>
          <p:cNvPr id="33" name="라벨 v2"/>
          <p:cNvSpPr txBox="1"/>
          <p:nvPr/>
        </p:nvSpPr>
        <p:spPr>
          <a:xfrm>
            <a:off x="841248" y="54864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1E8E3E"/>
                </a:solidFill>
                <a:latin typeface="Malgun Gothic"/>
                <a:ea typeface="Malgun Gothic"/>
                <a:cs typeface="Malgun Gothic"/>
              </a:rPr>
              <a:t>②  </a:t>
            </a:r>
            <a:r>
              <a:rPr sz="16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sender_char_mux — 상태를 보고 글자 고르기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1248" y="5943600"/>
            <a:ext cx="8412480" cy="402336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35" name="라벨 v2"/>
          <p:cNvSpPr txBox="1"/>
          <p:nvPr/>
        </p:nvSpPr>
        <p:spPr>
          <a:xfrm>
            <a:off x="950976" y="5943600"/>
            <a:ext cx="123444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거리 줄</a:t>
            </a:r>
          </a:p>
        </p:txBody>
      </p:sp>
      <p:sp>
        <p:nvSpPr>
          <p:cNvPr id="36" name="라벨 v2"/>
          <p:cNvSpPr txBox="1"/>
          <p:nvPr/>
        </p:nvSpPr>
        <p:spPr>
          <a:xfrm>
            <a:off x="2322576" y="5943600"/>
            <a:ext cx="251460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w_dst ≠ 00</a:t>
            </a:r>
          </a:p>
        </p:txBody>
      </p:sp>
      <p:sp>
        <p:nvSpPr>
          <p:cNvPr id="37" name="라벨 v2"/>
          <p:cNvSpPr txBox="1"/>
          <p:nvPr/>
        </p:nvSpPr>
        <p:spPr>
          <a:xfrm>
            <a:off x="4974336" y="5943600"/>
            <a:ext cx="187452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1E8E3E"/>
                </a:solidFill>
                <a:latin typeface="Malgun Gothic"/>
                <a:ea typeface="Malgun Gothic"/>
                <a:cs typeface="Malgun Gothic"/>
              </a:rPr>
              <a:t>Err 1 ~ Err 3</a:t>
            </a:r>
          </a:p>
        </p:txBody>
      </p:sp>
      <p:sp>
        <p:nvSpPr>
          <p:cNvPr id="38" name="라벨 v2"/>
          <p:cNvSpPr txBox="1"/>
          <p:nvPr/>
        </p:nvSpPr>
        <p:spPr>
          <a:xfrm>
            <a:off x="6986016" y="5943600"/>
            <a:ext cx="224028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7 글자 그대로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1248" y="6364224"/>
            <a:ext cx="841248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40" name="라벨 v2"/>
          <p:cNvSpPr txBox="1"/>
          <p:nvPr/>
        </p:nvSpPr>
        <p:spPr>
          <a:xfrm>
            <a:off x="950976" y="6364224"/>
            <a:ext cx="123444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온습도 줄</a:t>
            </a:r>
          </a:p>
        </p:txBody>
      </p:sp>
      <p:sp>
        <p:nvSpPr>
          <p:cNvPr id="41" name="라벨 v2"/>
          <p:cNvSpPr txBox="1"/>
          <p:nvPr/>
        </p:nvSpPr>
        <p:spPr>
          <a:xfrm>
            <a:off x="2322576" y="6364224"/>
            <a:ext cx="251460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w_herr = 1 (실패)</a:t>
            </a:r>
          </a:p>
        </p:txBody>
      </p:sp>
      <p:sp>
        <p:nvSpPr>
          <p:cNvPr id="42" name="라벨 v2"/>
          <p:cNvSpPr txBox="1"/>
          <p:nvPr/>
        </p:nvSpPr>
        <p:spPr>
          <a:xfrm>
            <a:off x="4974336" y="6364224"/>
            <a:ext cx="187452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1E8E3E"/>
                </a:solidFill>
                <a:latin typeface="Malgun Gothic"/>
                <a:ea typeface="Malgun Gothic"/>
                <a:cs typeface="Malgun Gothic"/>
              </a:rPr>
              <a:t>Err 1 ~ Err 3</a:t>
            </a:r>
          </a:p>
        </p:txBody>
      </p:sp>
      <p:sp>
        <p:nvSpPr>
          <p:cNvPr id="43" name="라벨 v2"/>
          <p:cNvSpPr txBox="1"/>
          <p:nvPr/>
        </p:nvSpPr>
        <p:spPr>
          <a:xfrm>
            <a:off x="6986016" y="6364224"/>
            <a:ext cx="224028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7 글자 (한 글자 짧음)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41248" y="6784848"/>
            <a:ext cx="8412480" cy="402336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45" name="라벨 v2"/>
          <p:cNvSpPr txBox="1"/>
          <p:nvPr/>
        </p:nvSpPr>
        <p:spPr>
          <a:xfrm>
            <a:off x="950976" y="6784848"/>
            <a:ext cx="123444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endParaRPr/>
          </a:p>
        </p:txBody>
      </p:sp>
      <p:sp>
        <p:nvSpPr>
          <p:cNvPr id="46" name="라벨 v2"/>
          <p:cNvSpPr txBox="1"/>
          <p:nvPr/>
        </p:nvSpPr>
        <p:spPr>
          <a:xfrm>
            <a:off x="2322576" y="6784848"/>
            <a:ext cx="251460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w_hdash = 1 (측정 전)</a:t>
            </a:r>
          </a:p>
        </p:txBody>
      </p:sp>
      <p:sp>
        <p:nvSpPr>
          <p:cNvPr id="47" name="라벨 v2"/>
          <p:cNvSpPr txBox="1"/>
          <p:nvPr/>
        </p:nvSpPr>
        <p:spPr>
          <a:xfrm>
            <a:off x="4974336" y="6784848"/>
            <a:ext cx="187452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1E8E3E"/>
                </a:solidFill>
                <a:latin typeface="Malgun Gothic"/>
                <a:ea typeface="Malgun Gothic"/>
                <a:cs typeface="Malgun Gothic"/>
              </a:rPr>
              <a:t>--%--C</a:t>
            </a:r>
          </a:p>
        </p:txBody>
      </p:sp>
      <p:sp>
        <p:nvSpPr>
          <p:cNvPr id="48" name="라벨 v2"/>
          <p:cNvSpPr txBox="1"/>
          <p:nvPr/>
        </p:nvSpPr>
        <p:spPr>
          <a:xfrm>
            <a:off x="6986016" y="6784848"/>
            <a:ext cx="224028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8 글자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41248" y="7205472"/>
            <a:ext cx="841248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50" name="라벨 v2"/>
          <p:cNvSpPr txBox="1"/>
          <p:nvPr/>
        </p:nvSpPr>
        <p:spPr>
          <a:xfrm>
            <a:off x="950976" y="7205472"/>
            <a:ext cx="123444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endParaRPr/>
          </a:p>
        </p:txBody>
      </p:sp>
      <p:sp>
        <p:nvSpPr>
          <p:cNvPr id="51" name="라벨 v2"/>
          <p:cNvSpPr txBox="1"/>
          <p:nvPr/>
        </p:nvSpPr>
        <p:spPr>
          <a:xfrm>
            <a:off x="2322576" y="7205472"/>
            <a:ext cx="251460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둘 다 0 (정상)</a:t>
            </a:r>
          </a:p>
        </p:txBody>
      </p:sp>
      <p:sp>
        <p:nvSpPr>
          <p:cNvPr id="52" name="라벨 v2"/>
          <p:cNvSpPr txBox="1"/>
          <p:nvPr/>
        </p:nvSpPr>
        <p:spPr>
          <a:xfrm>
            <a:off x="4974336" y="7205472"/>
            <a:ext cx="187452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45%25C</a:t>
            </a:r>
          </a:p>
        </p:txBody>
      </p:sp>
      <p:sp>
        <p:nvSpPr>
          <p:cNvPr id="53" name="라벨 v2"/>
          <p:cNvSpPr txBox="1"/>
          <p:nvPr/>
        </p:nvSpPr>
        <p:spPr>
          <a:xfrm>
            <a:off x="6986016" y="7205472"/>
            <a:ext cx="224028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v1 과 같음</a:t>
            </a:r>
          </a:p>
        </p:txBody>
      </p:sp>
      <p:sp>
        <p:nvSpPr>
          <p:cNvPr id="54" name="라벨 v2"/>
          <p:cNvSpPr txBox="1"/>
          <p:nvPr/>
        </p:nvSpPr>
        <p:spPr>
          <a:xfrm>
            <a:off x="841248" y="7671816"/>
            <a:ext cx="87782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우선순위 err → dashes → 숫자 (FND fnd_dht.v 와 같은 순서) · 줄 길이는 send_go 순간 잡은 24 비트로 정해져 도중에 안 바뀜</a:t>
            </a:r>
          </a:p>
        </p:txBody>
      </p:sp>
      <p:sp>
        <p:nvSpPr>
          <p:cNvPr id="55" name="라벨 v2"/>
          <p:cNvSpPr txBox="1"/>
          <p:nvPr/>
        </p:nvSpPr>
        <p:spPr>
          <a:xfrm>
            <a:off x="10012680" y="224028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1E8E3E"/>
                </a:solidFill>
                <a:latin typeface="Malgun Gothic"/>
                <a:ea typeface="Malgun Gothic"/>
                <a:cs typeface="Malgun Gothic"/>
              </a:rPr>
              <a:t>③  </a:t>
            </a:r>
            <a:r>
              <a:rPr sz="16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PC 에서 보이는 차이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012680" y="2724912"/>
            <a:ext cx="7452360" cy="475488"/>
          </a:xfrm>
          <a:prstGeom prst="rect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57" name="라벨 v2"/>
          <p:cNvSpPr txBox="1"/>
          <p:nvPr/>
        </p:nvSpPr>
        <p:spPr>
          <a:xfrm>
            <a:off x="10122408" y="2724912"/>
            <a:ext cx="2194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상황</a:t>
            </a:r>
          </a:p>
        </p:txBody>
      </p:sp>
      <p:sp>
        <p:nvSpPr>
          <p:cNvPr id="58" name="라벨 v2"/>
          <p:cNvSpPr txBox="1"/>
          <p:nvPr/>
        </p:nvSpPr>
        <p:spPr>
          <a:xfrm>
            <a:off x="12454128" y="2724912"/>
            <a:ext cx="132588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</a:t>
            </a:r>
          </a:p>
        </p:txBody>
      </p:sp>
      <p:sp>
        <p:nvSpPr>
          <p:cNvPr id="59" name="라벨 v2"/>
          <p:cNvSpPr txBox="1"/>
          <p:nvPr/>
        </p:nvSpPr>
        <p:spPr>
          <a:xfrm>
            <a:off x="13917168" y="2724912"/>
            <a:ext cx="169164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v1 PC</a:t>
            </a:r>
          </a:p>
        </p:txBody>
      </p:sp>
      <p:sp>
        <p:nvSpPr>
          <p:cNvPr id="60" name="라벨 v2"/>
          <p:cNvSpPr txBox="1"/>
          <p:nvPr/>
        </p:nvSpPr>
        <p:spPr>
          <a:xfrm>
            <a:off x="15745968" y="2724912"/>
            <a:ext cx="169164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v2 PC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012680" y="3236976"/>
            <a:ext cx="7452360" cy="47548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62" name="라벨 v2"/>
          <p:cNvSpPr txBox="1"/>
          <p:nvPr/>
        </p:nvSpPr>
        <p:spPr>
          <a:xfrm>
            <a:off x="10122408" y="3236976"/>
            <a:ext cx="2194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거리 범위 밖</a:t>
            </a:r>
          </a:p>
        </p:txBody>
      </p:sp>
      <p:sp>
        <p:nvSpPr>
          <p:cNvPr id="63" name="라벨 v2"/>
          <p:cNvSpPr txBox="1"/>
          <p:nvPr/>
        </p:nvSpPr>
        <p:spPr>
          <a:xfrm>
            <a:off x="12454128" y="3236976"/>
            <a:ext cx="132588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Err2</a:t>
            </a:r>
          </a:p>
        </p:txBody>
      </p:sp>
      <p:sp>
        <p:nvSpPr>
          <p:cNvPr id="64" name="라벨 v2"/>
          <p:cNvSpPr txBox="1"/>
          <p:nvPr/>
        </p:nvSpPr>
        <p:spPr>
          <a:xfrm>
            <a:off x="13917168" y="3236976"/>
            <a:ext cx="169164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9B2C2C"/>
                </a:solidFill>
                <a:latin typeface="Malgun Gothic"/>
                <a:ea typeface="Malgun Gothic"/>
                <a:cs typeface="Malgun Gothic"/>
              </a:rPr>
              <a:t>400cm</a:t>
            </a:r>
          </a:p>
        </p:txBody>
      </p:sp>
      <p:sp>
        <p:nvSpPr>
          <p:cNvPr id="65" name="라벨 v2"/>
          <p:cNvSpPr txBox="1"/>
          <p:nvPr/>
        </p:nvSpPr>
        <p:spPr>
          <a:xfrm>
            <a:off x="15745968" y="3236976"/>
            <a:ext cx="169164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1E8E3E"/>
                </a:solidFill>
                <a:latin typeface="Malgun Gothic"/>
                <a:ea typeface="Malgun Gothic"/>
                <a:cs typeface="Malgun Gothic"/>
              </a:rPr>
              <a:t>Err 2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0012680" y="3749040"/>
            <a:ext cx="745236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67" name="라벨 v2"/>
          <p:cNvSpPr txBox="1"/>
          <p:nvPr/>
        </p:nvSpPr>
        <p:spPr>
          <a:xfrm>
            <a:off x="10122408" y="3749040"/>
            <a:ext cx="2194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거리 무응답</a:t>
            </a:r>
          </a:p>
        </p:txBody>
      </p:sp>
      <p:sp>
        <p:nvSpPr>
          <p:cNvPr id="68" name="라벨 v2"/>
          <p:cNvSpPr txBox="1"/>
          <p:nvPr/>
        </p:nvSpPr>
        <p:spPr>
          <a:xfrm>
            <a:off x="12454128" y="3749040"/>
            <a:ext cx="132588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Err1</a:t>
            </a:r>
          </a:p>
        </p:txBody>
      </p:sp>
      <p:sp>
        <p:nvSpPr>
          <p:cNvPr id="69" name="라벨 v2"/>
          <p:cNvSpPr txBox="1"/>
          <p:nvPr/>
        </p:nvSpPr>
        <p:spPr>
          <a:xfrm>
            <a:off x="13917168" y="3749040"/>
            <a:ext cx="169164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9B2C2C"/>
                </a:solidFill>
                <a:latin typeface="Malgun Gothic"/>
                <a:ea typeface="Malgun Gothic"/>
                <a:cs typeface="Malgun Gothic"/>
              </a:rPr>
              <a:t>000cm</a:t>
            </a:r>
          </a:p>
        </p:txBody>
      </p:sp>
      <p:sp>
        <p:nvSpPr>
          <p:cNvPr id="70" name="라벨 v2"/>
          <p:cNvSpPr txBox="1"/>
          <p:nvPr/>
        </p:nvSpPr>
        <p:spPr>
          <a:xfrm>
            <a:off x="15745968" y="3749040"/>
            <a:ext cx="169164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1E8E3E"/>
                </a:solidFill>
                <a:latin typeface="Malgun Gothic"/>
                <a:ea typeface="Malgun Gothic"/>
                <a:cs typeface="Malgun Gothic"/>
              </a:rPr>
              <a:t>Err 1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012680" y="4261104"/>
            <a:ext cx="7452360" cy="47548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72" name="라벨 v2"/>
          <p:cNvSpPr txBox="1"/>
          <p:nvPr/>
        </p:nvSpPr>
        <p:spPr>
          <a:xfrm>
            <a:off x="10122408" y="4261104"/>
            <a:ext cx="2194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거리 echo 고착</a:t>
            </a:r>
          </a:p>
        </p:txBody>
      </p:sp>
      <p:sp>
        <p:nvSpPr>
          <p:cNvPr id="73" name="라벨 v2"/>
          <p:cNvSpPr txBox="1"/>
          <p:nvPr/>
        </p:nvSpPr>
        <p:spPr>
          <a:xfrm>
            <a:off x="12454128" y="4261104"/>
            <a:ext cx="132588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Err3</a:t>
            </a:r>
          </a:p>
        </p:txBody>
      </p:sp>
      <p:sp>
        <p:nvSpPr>
          <p:cNvPr id="74" name="라벨 v2"/>
          <p:cNvSpPr txBox="1"/>
          <p:nvPr/>
        </p:nvSpPr>
        <p:spPr>
          <a:xfrm>
            <a:off x="13917168" y="4261104"/>
            <a:ext cx="169164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9B2C2C"/>
                </a:solidFill>
                <a:latin typeface="Malgun Gothic"/>
                <a:ea typeface="Malgun Gothic"/>
                <a:cs typeface="Malgun Gothic"/>
              </a:rPr>
              <a:t>직전 거리 숫자</a:t>
            </a:r>
          </a:p>
        </p:txBody>
      </p:sp>
      <p:sp>
        <p:nvSpPr>
          <p:cNvPr id="75" name="라벨 v2"/>
          <p:cNvSpPr txBox="1"/>
          <p:nvPr/>
        </p:nvSpPr>
        <p:spPr>
          <a:xfrm>
            <a:off x="15745968" y="4261104"/>
            <a:ext cx="169164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1E8E3E"/>
                </a:solidFill>
                <a:latin typeface="Malgun Gothic"/>
                <a:ea typeface="Malgun Gothic"/>
                <a:cs typeface="Malgun Gothic"/>
              </a:rPr>
              <a:t>Err 3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012680" y="4773168"/>
            <a:ext cx="745236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77" name="라벨 v2"/>
          <p:cNvSpPr txBox="1"/>
          <p:nvPr/>
        </p:nvSpPr>
        <p:spPr>
          <a:xfrm>
            <a:off x="10122408" y="4773168"/>
            <a:ext cx="2194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온습도 첫 측정 전</a:t>
            </a:r>
          </a:p>
        </p:txBody>
      </p:sp>
      <p:sp>
        <p:nvSpPr>
          <p:cNvPr id="78" name="라벨 v2"/>
          <p:cNvSpPr txBox="1"/>
          <p:nvPr/>
        </p:nvSpPr>
        <p:spPr>
          <a:xfrm>
            <a:off x="12454128" y="4773168"/>
            <a:ext cx="132588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----</a:t>
            </a:r>
          </a:p>
        </p:txBody>
      </p:sp>
      <p:sp>
        <p:nvSpPr>
          <p:cNvPr id="79" name="라벨 v2"/>
          <p:cNvSpPr txBox="1"/>
          <p:nvPr/>
        </p:nvSpPr>
        <p:spPr>
          <a:xfrm>
            <a:off x="13917168" y="4773168"/>
            <a:ext cx="169164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9B2C2C"/>
                </a:solidFill>
                <a:latin typeface="Malgun Gothic"/>
                <a:ea typeface="Malgun Gothic"/>
                <a:cs typeface="Malgun Gothic"/>
              </a:rPr>
              <a:t>00%00C</a:t>
            </a:r>
          </a:p>
        </p:txBody>
      </p:sp>
      <p:sp>
        <p:nvSpPr>
          <p:cNvPr id="80" name="라벨 v2"/>
          <p:cNvSpPr txBox="1"/>
          <p:nvPr/>
        </p:nvSpPr>
        <p:spPr>
          <a:xfrm>
            <a:off x="15745968" y="4773168"/>
            <a:ext cx="169164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1E8E3E"/>
                </a:solidFill>
                <a:latin typeface="Malgun Gothic"/>
                <a:ea typeface="Malgun Gothic"/>
                <a:cs typeface="Malgun Gothic"/>
              </a:rPr>
              <a:t>--%--C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012680" y="5285232"/>
            <a:ext cx="7452360" cy="47548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82" name="라벨 v2"/>
          <p:cNvSpPr txBox="1"/>
          <p:nvPr/>
        </p:nvSpPr>
        <p:spPr>
          <a:xfrm>
            <a:off x="10122408" y="5285232"/>
            <a:ext cx="2194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온습도 오류</a:t>
            </a:r>
          </a:p>
        </p:txBody>
      </p:sp>
      <p:sp>
        <p:nvSpPr>
          <p:cNvPr id="83" name="라벨 v2"/>
          <p:cNvSpPr txBox="1"/>
          <p:nvPr/>
        </p:nvSpPr>
        <p:spPr>
          <a:xfrm>
            <a:off x="12454128" y="5285232"/>
            <a:ext cx="132588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Err1 ~ Err3</a:t>
            </a:r>
          </a:p>
        </p:txBody>
      </p:sp>
      <p:sp>
        <p:nvSpPr>
          <p:cNvPr id="84" name="라벨 v2"/>
          <p:cNvSpPr txBox="1"/>
          <p:nvPr/>
        </p:nvSpPr>
        <p:spPr>
          <a:xfrm>
            <a:off x="13917168" y="5285232"/>
            <a:ext cx="169164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9B2C2C"/>
                </a:solidFill>
                <a:latin typeface="Malgun Gothic"/>
                <a:ea typeface="Malgun Gothic"/>
                <a:cs typeface="Malgun Gothic"/>
              </a:rPr>
              <a:t>마지막 정상값</a:t>
            </a:r>
          </a:p>
        </p:txBody>
      </p:sp>
      <p:sp>
        <p:nvSpPr>
          <p:cNvPr id="85" name="라벨 v2"/>
          <p:cNvSpPr txBox="1"/>
          <p:nvPr/>
        </p:nvSpPr>
        <p:spPr>
          <a:xfrm>
            <a:off x="15745968" y="5285232"/>
            <a:ext cx="169164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1E8E3E"/>
                </a:solidFill>
                <a:latin typeface="Malgun Gothic"/>
                <a:ea typeface="Malgun Gothic"/>
                <a:cs typeface="Malgun Gothic"/>
              </a:rPr>
              <a:t>Err 1 ~ Err 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012680" y="5797296"/>
            <a:ext cx="745236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87" name="라벨 v2"/>
          <p:cNvSpPr txBox="1"/>
          <p:nvPr/>
        </p:nvSpPr>
        <p:spPr>
          <a:xfrm>
            <a:off x="10122408" y="5797296"/>
            <a:ext cx="2194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정상 · 시간 · ERROR</a:t>
            </a:r>
          </a:p>
        </p:txBody>
      </p:sp>
      <p:sp>
        <p:nvSpPr>
          <p:cNvPr id="88" name="라벨 v2"/>
          <p:cNvSpPr txBox="1"/>
          <p:nvPr/>
        </p:nvSpPr>
        <p:spPr>
          <a:xfrm>
            <a:off x="12454128" y="5797296"/>
            <a:ext cx="132588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같음</a:t>
            </a:r>
          </a:p>
        </p:txBody>
      </p:sp>
      <p:sp>
        <p:nvSpPr>
          <p:cNvPr id="89" name="라벨 v2"/>
          <p:cNvSpPr txBox="1"/>
          <p:nvPr/>
        </p:nvSpPr>
        <p:spPr>
          <a:xfrm>
            <a:off x="13917168" y="5797296"/>
            <a:ext cx="169164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같음</a:t>
            </a:r>
          </a:p>
        </p:txBody>
      </p:sp>
      <p:sp>
        <p:nvSpPr>
          <p:cNvPr id="90" name="라벨 v2"/>
          <p:cNvSpPr txBox="1"/>
          <p:nvPr/>
        </p:nvSpPr>
        <p:spPr>
          <a:xfrm>
            <a:off x="15745968" y="5797296"/>
            <a:ext cx="169164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같음</a:t>
            </a:r>
          </a:p>
        </p:txBody>
      </p:sp>
      <p:sp>
        <p:nvSpPr>
          <p:cNvPr id="91" name="라벨 v2"/>
          <p:cNvSpPr txBox="1"/>
          <p:nvPr/>
        </p:nvSpPr>
        <p:spPr>
          <a:xfrm>
            <a:off x="10012680" y="6355080"/>
            <a:ext cx="7498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v1 은 FND 가 오류여도 PC 엔 숫자 → v2 는 FND 와 PC 가 같은 상태를 보여 줌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841248" y="8321040"/>
            <a:ext cx="3945636" cy="1143000"/>
          </a:xfrm>
          <a:prstGeom prst="roundRect">
            <a:avLst/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93" name="라벨 v2"/>
          <p:cNvSpPr txBox="1"/>
          <p:nvPr/>
        </p:nvSpPr>
        <p:spPr>
          <a:xfrm>
            <a:off x="1115568" y="8394192"/>
            <a:ext cx="339699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>
                <a:solidFill>
                  <a:srgbClr val="1E8E3E"/>
                </a:solidFill>
                <a:latin typeface="Malgun Gothic"/>
                <a:ea typeface="Malgun Gothic"/>
                <a:cs typeface="Malgun Gothic"/>
              </a:rPr>
              <a:t>+16 LUT</a:t>
            </a:r>
          </a:p>
        </p:txBody>
      </p:sp>
      <p:sp>
        <p:nvSpPr>
          <p:cNvPr id="94" name="라벨 v2"/>
          <p:cNvSpPr txBox="1"/>
          <p:nvPr/>
        </p:nvSpPr>
        <p:spPr>
          <a:xfrm>
            <a:off x="1115568" y="8942832"/>
            <a:ext cx="3396996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1,473 → 1,489 · FF 737 그대로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061204" y="8321040"/>
            <a:ext cx="3945636" cy="1143000"/>
          </a:xfrm>
          <a:prstGeom prst="roundRect">
            <a:avLst/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96" name="라벨 v2"/>
          <p:cNvSpPr txBox="1"/>
          <p:nvPr/>
        </p:nvSpPr>
        <p:spPr>
          <a:xfrm>
            <a:off x="5335524" y="8394192"/>
            <a:ext cx="339699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>
                <a:solidFill>
                  <a:srgbClr val="1E8E3E"/>
                </a:solidFill>
                <a:latin typeface="Malgun Gothic"/>
                <a:ea typeface="Malgun Gothic"/>
                <a:cs typeface="Malgun Gothic"/>
              </a:rPr>
              <a:t>+0.320 ns</a:t>
            </a:r>
          </a:p>
        </p:txBody>
      </p:sp>
      <p:sp>
        <p:nvSpPr>
          <p:cNvPr id="97" name="라벨 v2"/>
          <p:cNvSpPr txBox="1"/>
          <p:nvPr/>
        </p:nvSpPr>
        <p:spPr>
          <a:xfrm>
            <a:off x="5335524" y="8942832"/>
            <a:ext cx="3396996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WNS (100 MHz) · WHS +0.078 · 위반 0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9281160" y="8321040"/>
            <a:ext cx="3945636" cy="1143000"/>
          </a:xfrm>
          <a:prstGeom prst="roundRect">
            <a:avLst/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99" name="라벨 v2"/>
          <p:cNvSpPr txBox="1"/>
          <p:nvPr/>
        </p:nvSpPr>
        <p:spPr>
          <a:xfrm>
            <a:off x="9555480" y="8394192"/>
            <a:ext cx="339699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>
                <a:solidFill>
                  <a:srgbClr val="1E8E3E"/>
                </a:solidFill>
                <a:latin typeface="Malgun Gothic"/>
                <a:ea typeface="Malgun Gothic"/>
                <a:cs typeface="Malgun Gothic"/>
              </a:rPr>
              <a:t>560 / 0</a:t>
            </a:r>
          </a:p>
        </p:txBody>
      </p:sp>
      <p:sp>
        <p:nvSpPr>
          <p:cNvPr id="100" name="라벨 v2"/>
          <p:cNvSpPr txBox="1"/>
          <p:nvPr/>
        </p:nvSpPr>
        <p:spPr>
          <a:xfrm>
            <a:off x="9555480" y="8942832"/>
            <a:ext cx="3396996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통합 TB 검사 · 불일치 (20 시나리오 · 랜덤 120)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3501116" y="8321040"/>
            <a:ext cx="3945636" cy="1143000"/>
          </a:xfrm>
          <a:prstGeom prst="roundRect">
            <a:avLst/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102" name="라벨 v2"/>
          <p:cNvSpPr txBox="1"/>
          <p:nvPr/>
        </p:nvSpPr>
        <p:spPr>
          <a:xfrm>
            <a:off x="13775436" y="8394192"/>
            <a:ext cx="339699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>
                <a:solidFill>
                  <a:srgbClr val="1E8E3E"/>
                </a:solidFill>
                <a:latin typeface="Malgun Gothic"/>
                <a:ea typeface="Malgun Gothic"/>
                <a:cs typeface="Malgun Gothic"/>
              </a:rPr>
              <a:t>10 / 31 보드</a:t>
            </a:r>
          </a:p>
        </p:txBody>
      </p:sp>
      <p:sp>
        <p:nvSpPr>
          <p:cNvPr id="103" name="라벨 v2"/>
          <p:cNvSpPr txBox="1"/>
          <p:nvPr/>
        </p:nvSpPr>
        <p:spPr>
          <a:xfrm>
            <a:off x="13775436" y="8942832"/>
            <a:ext cx="3396996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Err 1 · Err 2 · Err 3 · --%--C 확인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라벨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WTS · SR04 · DHT11 · UART</a:t>
            </a:r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라벨"/>
          <p:cNvSpPr txBox="1"/>
          <p:nvPr/>
        </p:nvSpPr>
        <p:spPr>
          <a:xfrm>
            <a:off x="1042415" y="402336"/>
            <a:ext cx="91440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02  시스템 구조</a:t>
            </a:r>
          </a:p>
        </p:txBody>
      </p:sp>
      <p:sp>
        <p:nvSpPr>
          <p:cNvPr id="5" name="라벨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Top 블록 다이어그램 — UART 명령에서 FND · LED · TX 까지</a:t>
            </a:r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7" name="라벨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명령은 RX → 디코더 → 컨트롤러에서 갈라짐 · 모드 비트 / 버튼 / 전송 요청으로 각 모듈 · 화면 · TX 까지</a:t>
            </a:r>
          </a:p>
        </p:txBody>
      </p:sp>
      <p:sp>
        <p:nvSpPr>
          <p:cNvPr id="8" name="라벨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줄 WTS  스톱워치 · 시계 · 타이머"/>
          <p:cNvSpPr/>
          <p:nvPr/>
        </p:nvSpPr>
        <p:spPr>
          <a:xfrm>
            <a:off x="5806440" y="2487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E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라벨"/>
          <p:cNvSpPr txBox="1"/>
          <p:nvPr/>
        </p:nvSpPr>
        <p:spPr>
          <a:xfrm>
            <a:off x="5916168" y="2514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WTS  스톱워치 · 시계 · 타이머</a:t>
            </a:r>
          </a:p>
        </p:txBody>
      </p:sp>
      <p:sp>
        <p:nvSpPr>
          <p:cNvPr id="11" name="줄 SR04  초음파 거리"/>
          <p:cNvSpPr/>
          <p:nvPr/>
        </p:nvSpPr>
        <p:spPr>
          <a:xfrm>
            <a:off x="5806440" y="3630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라벨"/>
          <p:cNvSpPr txBox="1"/>
          <p:nvPr/>
        </p:nvSpPr>
        <p:spPr>
          <a:xfrm>
            <a:off x="5916168" y="3657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SR04  초음파 거리</a:t>
            </a:r>
          </a:p>
        </p:txBody>
      </p:sp>
      <p:sp>
        <p:nvSpPr>
          <p:cNvPr id="13" name="줄 DHT11  온습도"/>
          <p:cNvSpPr/>
          <p:nvPr/>
        </p:nvSpPr>
        <p:spPr>
          <a:xfrm>
            <a:off x="5806440" y="4773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라벨"/>
          <p:cNvSpPr txBox="1"/>
          <p:nvPr/>
        </p:nvSpPr>
        <p:spPr>
          <a:xfrm>
            <a:off x="5916168" y="4800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DHT11  온습도</a:t>
            </a:r>
          </a:p>
        </p:txBody>
      </p:sp>
      <p:sp>
        <p:nvSpPr>
          <p:cNvPr id="15" name="줄 UART  명령 수신 · 응답 전송  (uart_top)"/>
          <p:cNvSpPr/>
          <p:nvPr/>
        </p:nvSpPr>
        <p:spPr>
          <a:xfrm>
            <a:off x="1600200" y="6355080"/>
            <a:ext cx="15133320" cy="2011680"/>
          </a:xfrm>
          <a:prstGeom prst="roundRect">
            <a:avLst>
              <a:gd name="adj" fmla="val 3636"/>
            </a:avLst>
          </a:prstGeom>
          <a:solidFill>
            <a:srgbClr val="E6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라벨"/>
          <p:cNvSpPr txBox="1"/>
          <p:nvPr/>
        </p:nvSpPr>
        <p:spPr>
          <a:xfrm>
            <a:off x="1709928" y="6382512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UART  명령 수신 · 응답 전송  (uart_top)</a:t>
            </a:r>
          </a:p>
        </p:txBody>
      </p:sp>
      <p:sp>
        <p:nvSpPr>
          <p:cNvPr id="17" name="라벨"/>
          <p:cNvSpPr txBox="1"/>
          <p:nvPr/>
        </p:nvSpPr>
        <p:spPr>
          <a:xfrm>
            <a:off x="11137392" y="6382512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9600 bps · 8N1</a:t>
            </a:r>
          </a:p>
        </p:txBody>
      </p:sp>
      <p:sp>
        <p:nvSpPr>
          <p:cNvPr id="18" name="태그 clk"/>
          <p:cNvSpPr/>
          <p:nvPr/>
        </p:nvSpPr>
        <p:spPr>
          <a:xfrm>
            <a:off x="411480" y="21031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clk</a:t>
            </a:r>
          </a:p>
        </p:txBody>
      </p:sp>
      <p:cxnSp>
        <p:nvCxnSpPr>
          <p:cNvPr id="19" name="선"/>
          <p:cNvCxnSpPr/>
          <p:nvPr/>
        </p:nvCxnSpPr>
        <p:spPr>
          <a:xfrm>
            <a:off x="1417320" y="2249424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블록 clock_tick_generator"/>
          <p:cNvSpPr/>
          <p:nvPr/>
        </p:nvSpPr>
        <p:spPr>
          <a:xfrm>
            <a:off x="1737360" y="2057400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clock_tick_generator</a:t>
            </a:r>
          </a:p>
        </p:txBody>
      </p:sp>
      <p:cxnSp>
        <p:nvCxnSpPr>
          <p:cNvPr id="21" name="선"/>
          <p:cNvCxnSpPr/>
          <p:nvPr/>
        </p:nvCxnSpPr>
        <p:spPr>
          <a:xfrm>
            <a:off x="3429000" y="2249424"/>
            <a:ext cx="11567159" cy="0"/>
          </a:xfrm>
          <a:prstGeom prst="line">
            <a:avLst/>
          </a:prstGeom>
          <a:ln w="19050">
            <a:solidFill>
              <a:srgbClr val="4A556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선"/>
          <p:cNvCxnSpPr/>
          <p:nvPr/>
        </p:nvCxnSpPr>
        <p:spPr>
          <a:xfrm>
            <a:off x="14996159" y="2249424"/>
            <a:ext cx="0" cy="356616"/>
          </a:xfrm>
          <a:prstGeom prst="line">
            <a:avLst/>
          </a:prstGeom>
          <a:ln w="19050">
            <a:solidFill>
              <a:srgbClr val="4A556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라벨"/>
          <p:cNvSpPr txBox="1"/>
          <p:nvPr/>
        </p:nvSpPr>
        <p:spPr>
          <a:xfrm>
            <a:off x="3840480" y="2011680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4 kHz  →  디바운서 · FND 스캔</a:t>
            </a:r>
          </a:p>
        </p:txBody>
      </p:sp>
      <p:cxnSp>
        <p:nvCxnSpPr>
          <p:cNvPr id="24" name="선"/>
          <p:cNvCxnSpPr/>
          <p:nvPr/>
        </p:nvCxnSpPr>
        <p:spPr>
          <a:xfrm>
            <a:off x="2194560" y="2441448"/>
            <a:ext cx="0" cy="118872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태그 btn_R"/>
          <p:cNvSpPr/>
          <p:nvPr/>
        </p:nvSpPr>
        <p:spPr>
          <a:xfrm>
            <a:off x="411480" y="263347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btn_R</a:t>
            </a:r>
          </a:p>
        </p:txBody>
      </p:sp>
      <p:cxnSp>
        <p:nvCxnSpPr>
          <p:cNvPr id="26" name="선"/>
          <p:cNvCxnSpPr/>
          <p:nvPr/>
        </p:nvCxnSpPr>
        <p:spPr>
          <a:xfrm>
            <a:off x="1417320" y="277977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태그 btn_L"/>
          <p:cNvSpPr/>
          <p:nvPr/>
        </p:nvSpPr>
        <p:spPr>
          <a:xfrm>
            <a:off x="411480" y="299923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btn_L</a:t>
            </a:r>
          </a:p>
        </p:txBody>
      </p:sp>
      <p:cxnSp>
        <p:nvCxnSpPr>
          <p:cNvPr id="28" name="선"/>
          <p:cNvCxnSpPr/>
          <p:nvPr/>
        </p:nvCxnSpPr>
        <p:spPr>
          <a:xfrm>
            <a:off x="1417320" y="314553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태그 btn_U"/>
          <p:cNvSpPr/>
          <p:nvPr/>
        </p:nvSpPr>
        <p:spPr>
          <a:xfrm>
            <a:off x="411480" y="3364991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btn_U</a:t>
            </a:r>
          </a:p>
        </p:txBody>
      </p:sp>
      <p:cxnSp>
        <p:nvCxnSpPr>
          <p:cNvPr id="30" name="선"/>
          <p:cNvCxnSpPr/>
          <p:nvPr/>
        </p:nvCxnSpPr>
        <p:spPr>
          <a:xfrm>
            <a:off x="1417320" y="351129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태그 btn_D"/>
          <p:cNvSpPr/>
          <p:nvPr/>
        </p:nvSpPr>
        <p:spPr>
          <a:xfrm>
            <a:off x="411480" y="373075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btn_D</a:t>
            </a:r>
          </a:p>
        </p:txBody>
      </p:sp>
      <p:cxnSp>
        <p:nvCxnSpPr>
          <p:cNvPr id="32" name="선"/>
          <p:cNvCxnSpPr/>
          <p:nvPr/>
        </p:nvCxnSpPr>
        <p:spPr>
          <a:xfrm>
            <a:off x="1417320" y="387705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블록 btn_debounce&#10;×4"/>
          <p:cNvSpPr/>
          <p:nvPr/>
        </p:nvSpPr>
        <p:spPr>
          <a:xfrm>
            <a:off x="1737360" y="2560320"/>
            <a:ext cx="1371600" cy="1481328"/>
          </a:xfrm>
          <a:prstGeom prst="roundRect">
            <a:avLst>
              <a:gd name="adj" fmla="val 5333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btn_debounce</a:t>
            </a:r>
          </a:p>
          <a:p>
            <a:pPr algn="ctr"/>
            <a:r>
              <a:rPr sz="12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×4</a:t>
            </a:r>
          </a:p>
        </p:txBody>
      </p:sp>
      <p:cxnSp>
        <p:nvCxnSpPr>
          <p:cNvPr id="34" name="선"/>
          <p:cNvCxnSpPr/>
          <p:nvPr/>
        </p:nvCxnSpPr>
        <p:spPr>
          <a:xfrm>
            <a:off x="3108960" y="3163824"/>
            <a:ext cx="868679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라벨"/>
          <p:cNvSpPr txBox="1"/>
          <p:nvPr/>
        </p:nvSpPr>
        <p:spPr>
          <a:xfrm>
            <a:off x="3182112" y="2907792"/>
            <a:ext cx="8229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phy_btn</a:t>
            </a:r>
          </a:p>
        </p:txBody>
      </p:sp>
      <p:sp>
        <p:nvSpPr>
          <p:cNvPr id="36" name="게이트"/>
          <p:cNvSpPr/>
          <p:nvPr/>
        </p:nvSpPr>
        <p:spPr>
          <a:xfrm>
            <a:off x="3977639" y="3026664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≥1</a:t>
            </a:r>
          </a:p>
        </p:txBody>
      </p:sp>
      <p:cxnSp>
        <p:nvCxnSpPr>
          <p:cNvPr id="37" name="선"/>
          <p:cNvCxnSpPr/>
          <p:nvPr/>
        </p:nvCxnSpPr>
        <p:spPr>
          <a:xfrm>
            <a:off x="4526280" y="3300984"/>
            <a:ext cx="182880" cy="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선"/>
          <p:cNvCxnSpPr/>
          <p:nvPr/>
        </p:nvCxnSpPr>
        <p:spPr>
          <a:xfrm>
            <a:off x="4709160" y="2967228"/>
            <a:ext cx="0" cy="2285999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접점"/>
          <p:cNvSpPr/>
          <p:nvPr/>
        </p:nvSpPr>
        <p:spPr>
          <a:xfrm>
            <a:off x="4668012" y="3259836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선"/>
          <p:cNvCxnSpPr/>
          <p:nvPr/>
        </p:nvCxnSpPr>
        <p:spPr>
          <a:xfrm>
            <a:off x="3611880" y="4965192"/>
            <a:ext cx="1280160" cy="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선"/>
          <p:cNvCxnSpPr/>
          <p:nvPr/>
        </p:nvCxnSpPr>
        <p:spPr>
          <a:xfrm>
            <a:off x="4892040" y="3241548"/>
            <a:ext cx="0" cy="228600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접점"/>
          <p:cNvSpPr/>
          <p:nvPr/>
        </p:nvSpPr>
        <p:spPr>
          <a:xfrm>
            <a:off x="4850892" y="4924044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3" name="선"/>
          <p:cNvCxnSpPr/>
          <p:nvPr/>
        </p:nvCxnSpPr>
        <p:spPr>
          <a:xfrm>
            <a:off x="4709160" y="2967228"/>
            <a:ext cx="36576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선"/>
          <p:cNvCxnSpPr/>
          <p:nvPr/>
        </p:nvCxnSpPr>
        <p:spPr>
          <a:xfrm>
            <a:off x="4892040" y="3241548"/>
            <a:ext cx="18288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접점"/>
          <p:cNvSpPr/>
          <p:nvPr/>
        </p:nvSpPr>
        <p:spPr>
          <a:xfrm>
            <a:off x="4850892" y="3200400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게이트"/>
          <p:cNvSpPr/>
          <p:nvPr/>
        </p:nvSpPr>
        <p:spPr>
          <a:xfrm>
            <a:off x="5074920" y="2830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47" name="라벨"/>
          <p:cNvSpPr txBox="1"/>
          <p:nvPr/>
        </p:nvSpPr>
        <p:spPr>
          <a:xfrm>
            <a:off x="5029200" y="33878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mode_wts</a:t>
            </a:r>
          </a:p>
        </p:txBody>
      </p:sp>
      <p:cxnSp>
        <p:nvCxnSpPr>
          <p:cNvPr id="48" name="선"/>
          <p:cNvCxnSpPr/>
          <p:nvPr/>
        </p:nvCxnSpPr>
        <p:spPr>
          <a:xfrm>
            <a:off x="5623560" y="3104388"/>
            <a:ext cx="731520" cy="0"/>
          </a:xfrm>
          <a:prstGeom prst="line">
            <a:avLst/>
          </a:prstGeom>
          <a:ln w="190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라벨"/>
          <p:cNvSpPr txBox="1"/>
          <p:nvPr/>
        </p:nvSpPr>
        <p:spPr>
          <a:xfrm>
            <a:off x="5669280" y="2839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R·L·U·D</a:t>
            </a:r>
          </a:p>
        </p:txBody>
      </p:sp>
      <p:cxnSp>
        <p:nvCxnSpPr>
          <p:cNvPr id="50" name="선"/>
          <p:cNvCxnSpPr/>
          <p:nvPr/>
        </p:nvCxnSpPr>
        <p:spPr>
          <a:xfrm>
            <a:off x="4709160" y="4110228"/>
            <a:ext cx="36576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접점"/>
          <p:cNvSpPr/>
          <p:nvPr/>
        </p:nvSpPr>
        <p:spPr>
          <a:xfrm>
            <a:off x="4668012" y="4069080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2" name="선"/>
          <p:cNvCxnSpPr/>
          <p:nvPr/>
        </p:nvCxnSpPr>
        <p:spPr>
          <a:xfrm>
            <a:off x="4892040" y="4384548"/>
            <a:ext cx="18288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접점"/>
          <p:cNvSpPr/>
          <p:nvPr/>
        </p:nvSpPr>
        <p:spPr>
          <a:xfrm>
            <a:off x="4850892" y="4343400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게이트"/>
          <p:cNvSpPr/>
          <p:nvPr/>
        </p:nvSpPr>
        <p:spPr>
          <a:xfrm>
            <a:off x="5074920" y="3973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55" name="라벨"/>
          <p:cNvSpPr txBox="1"/>
          <p:nvPr/>
        </p:nvSpPr>
        <p:spPr>
          <a:xfrm>
            <a:off x="5029200" y="45308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mode_dist</a:t>
            </a:r>
          </a:p>
        </p:txBody>
      </p:sp>
      <p:cxnSp>
        <p:nvCxnSpPr>
          <p:cNvPr id="56" name="선"/>
          <p:cNvCxnSpPr/>
          <p:nvPr/>
        </p:nvCxnSpPr>
        <p:spPr>
          <a:xfrm>
            <a:off x="5623560" y="4247388"/>
            <a:ext cx="731520" cy="0"/>
          </a:xfrm>
          <a:prstGeom prst="line">
            <a:avLst/>
          </a:prstGeom>
          <a:ln w="19050">
            <a:solidFill>
              <a:srgbClr val="2B6C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라벨"/>
          <p:cNvSpPr txBox="1"/>
          <p:nvPr/>
        </p:nvSpPr>
        <p:spPr>
          <a:xfrm>
            <a:off x="5669280" y="3982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cxnSp>
        <p:nvCxnSpPr>
          <p:cNvPr id="58" name="선"/>
          <p:cNvCxnSpPr/>
          <p:nvPr/>
        </p:nvCxnSpPr>
        <p:spPr>
          <a:xfrm>
            <a:off x="4709160" y="5253227"/>
            <a:ext cx="36576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접점"/>
          <p:cNvSpPr/>
          <p:nvPr/>
        </p:nvSpPr>
        <p:spPr>
          <a:xfrm>
            <a:off x="4668012" y="5212079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0" name="선"/>
          <p:cNvCxnSpPr/>
          <p:nvPr/>
        </p:nvCxnSpPr>
        <p:spPr>
          <a:xfrm>
            <a:off x="4892040" y="5527548"/>
            <a:ext cx="18288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게이트"/>
          <p:cNvSpPr/>
          <p:nvPr/>
        </p:nvSpPr>
        <p:spPr>
          <a:xfrm>
            <a:off x="5074920" y="5116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62" name="라벨"/>
          <p:cNvSpPr txBox="1"/>
          <p:nvPr/>
        </p:nvSpPr>
        <p:spPr>
          <a:xfrm>
            <a:off x="5029200" y="5673851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mode_dht</a:t>
            </a:r>
          </a:p>
        </p:txBody>
      </p:sp>
      <p:cxnSp>
        <p:nvCxnSpPr>
          <p:cNvPr id="63" name="선"/>
          <p:cNvCxnSpPr/>
          <p:nvPr/>
        </p:nvCxnSpPr>
        <p:spPr>
          <a:xfrm>
            <a:off x="5623560" y="5390388"/>
            <a:ext cx="731520" cy="0"/>
          </a:xfrm>
          <a:prstGeom prst="line">
            <a:avLst/>
          </a:prstGeom>
          <a:ln w="19050">
            <a:solidFill>
              <a:srgbClr val="C056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라벨"/>
          <p:cNvSpPr txBox="1"/>
          <p:nvPr/>
        </p:nvSpPr>
        <p:spPr>
          <a:xfrm>
            <a:off x="5669280" y="5125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sp>
        <p:nvSpPr>
          <p:cNvPr id="65" name="모드 선택 칸"/>
          <p:cNvSpPr/>
          <p:nvPr/>
        </p:nvSpPr>
        <p:spPr>
          <a:xfrm>
            <a:off x="1600200" y="4160520"/>
            <a:ext cx="2103120" cy="1481328"/>
          </a:xfrm>
          <a:prstGeom prst="roundRect">
            <a:avLst>
              <a:gd name="adj" fmla="val 4938"/>
            </a:avLst>
          </a:prstGeom>
          <a:solidFill>
            <a:srgbClr val="FBFBFC"/>
          </a:solidFill>
          <a:ln w="12700">
            <a:solidFill>
              <a:srgbClr val="C8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라벨"/>
          <p:cNvSpPr txBox="1"/>
          <p:nvPr/>
        </p:nvSpPr>
        <p:spPr>
          <a:xfrm>
            <a:off x="1664208" y="417880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모드 선택</a:t>
            </a:r>
          </a:p>
        </p:txBody>
      </p:sp>
      <p:sp>
        <p:nvSpPr>
          <p:cNvPr id="67" name="태그 sw0 ~ sw6"/>
          <p:cNvSpPr/>
          <p:nvPr/>
        </p:nvSpPr>
        <p:spPr>
          <a:xfrm>
            <a:off x="411480" y="4498848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sw0 ~ sw6</a:t>
            </a:r>
          </a:p>
        </p:txBody>
      </p:sp>
      <p:cxnSp>
        <p:nvCxnSpPr>
          <p:cNvPr id="68" name="선"/>
          <p:cNvCxnSpPr/>
          <p:nvPr/>
        </p:nvCxnSpPr>
        <p:spPr>
          <a:xfrm>
            <a:off x="1417320" y="4645152"/>
            <a:ext cx="5486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MUX 모드"/>
          <p:cNvSpPr/>
          <p:nvPr/>
        </p:nvSpPr>
        <p:spPr>
          <a:xfrm>
            <a:off x="1965960" y="4480560"/>
            <a:ext cx="457200" cy="987552"/>
          </a:xfrm>
          <a:custGeom>
            <a:avLst/>
            <a:gdLst/>
            <a:ahLst/>
            <a:cxnLst/>
            <a:rect l="l" t="t" r="r" b="b"/>
            <a:pathLst>
              <a:path w="457200" h="987552">
                <a:moveTo>
                  <a:pt x="0" y="0"/>
                </a:moveTo>
                <a:lnTo>
                  <a:pt x="457200" y="109728"/>
                </a:lnTo>
                <a:lnTo>
                  <a:pt x="457200" y="877824"/>
                </a:lnTo>
                <a:lnTo>
                  <a:pt x="0" y="987552"/>
                </a:lnTo>
                <a:lnTo>
                  <a:pt x="0" y="0"/>
                </a:lnTo>
                <a:close/>
              </a:path>
            </a:pathLst>
          </a:cu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라벨"/>
          <p:cNvSpPr txBox="1"/>
          <p:nvPr/>
        </p:nvSpPr>
        <p:spPr>
          <a:xfrm>
            <a:off x="2020824" y="4526280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71" name="라벨"/>
          <p:cNvSpPr txBox="1"/>
          <p:nvPr/>
        </p:nvSpPr>
        <p:spPr>
          <a:xfrm>
            <a:off x="2020824" y="5093208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72" name="라벨"/>
          <p:cNvSpPr txBox="1"/>
          <p:nvPr/>
        </p:nvSpPr>
        <p:spPr>
          <a:xfrm>
            <a:off x="2423160" y="418795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2:1 × 7 bit</a:t>
            </a:r>
          </a:p>
        </p:txBody>
      </p:sp>
      <p:cxnSp>
        <p:nvCxnSpPr>
          <p:cNvPr id="73" name="선"/>
          <p:cNvCxnSpPr/>
          <p:nvPr/>
        </p:nvCxnSpPr>
        <p:spPr>
          <a:xfrm>
            <a:off x="2423160" y="4965192"/>
            <a:ext cx="27432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블록 모드&#10;디코드"/>
          <p:cNvSpPr/>
          <p:nvPr/>
        </p:nvSpPr>
        <p:spPr>
          <a:xfrm>
            <a:off x="2697480" y="4663440"/>
            <a:ext cx="914400" cy="603504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모드</a:t>
            </a:r>
          </a:p>
          <a:p>
            <a:pPr algn="ctr"/>
            <a:r>
              <a:rPr sz="11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디코드</a:t>
            </a:r>
          </a:p>
        </p:txBody>
      </p:sp>
      <p:sp>
        <p:nvSpPr>
          <p:cNvPr id="75" name="라벨"/>
          <p:cNvSpPr txBox="1"/>
          <p:nvPr/>
        </p:nvSpPr>
        <p:spPr>
          <a:xfrm>
            <a:off x="2331720" y="5340096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→ mode_* · disp_sel</a:t>
            </a:r>
          </a:p>
        </p:txBody>
      </p:sp>
      <p:sp>
        <p:nvSpPr>
          <p:cNvPr id="76" name="블록 wts_top"/>
          <p:cNvSpPr/>
          <p:nvPr/>
        </p:nvSpPr>
        <p:spPr>
          <a:xfrm>
            <a:off x="6355080" y="2761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FFFFF"/>
          </a:solidFill>
          <a:ln w="1905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wts_top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control_unit · datapath × 3</a:t>
            </a:r>
          </a:p>
        </p:txBody>
      </p:sp>
      <p:cxnSp>
        <p:nvCxnSpPr>
          <p:cNvPr id="77" name="선"/>
          <p:cNvCxnSpPr/>
          <p:nvPr/>
        </p:nvCxnSpPr>
        <p:spPr>
          <a:xfrm>
            <a:off x="8549640" y="3104388"/>
            <a:ext cx="3611880" cy="0"/>
          </a:xfrm>
          <a:prstGeom prst="line">
            <a:avLst/>
          </a:prstGeom>
          <a:ln w="190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라벨"/>
          <p:cNvSpPr txBox="1"/>
          <p:nvPr/>
        </p:nvSpPr>
        <p:spPr>
          <a:xfrm>
            <a:off x="8686800" y="2839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disp  시 · 분 · 초 · 1/100</a:t>
            </a:r>
          </a:p>
        </p:txBody>
      </p:sp>
      <p:sp>
        <p:nvSpPr>
          <p:cNvPr id="79" name="라벨"/>
          <p:cNvSpPr txBox="1"/>
          <p:nvPr/>
        </p:nvSpPr>
        <p:spPr>
          <a:xfrm>
            <a:off x="8686800" y="3150108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← ctrl_bit[4:0]  (sw0 · sw1 · sw2 · sw3 · sw4)</a:t>
            </a:r>
          </a:p>
        </p:txBody>
      </p:sp>
      <p:sp>
        <p:nvSpPr>
          <p:cNvPr id="80" name="블록 sr04_top"/>
          <p:cNvSpPr/>
          <p:nvPr/>
        </p:nvSpPr>
        <p:spPr>
          <a:xfrm>
            <a:off x="6355080" y="3904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FFFFF"/>
          </a:solidFill>
          <a:ln w="1905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sr04_top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core · mode_ctrl · led_bar</a:t>
            </a:r>
          </a:p>
        </p:txBody>
      </p:sp>
      <p:cxnSp>
        <p:nvCxnSpPr>
          <p:cNvPr id="81" name="선"/>
          <p:cNvCxnSpPr/>
          <p:nvPr/>
        </p:nvCxnSpPr>
        <p:spPr>
          <a:xfrm>
            <a:off x="8549640" y="4247388"/>
            <a:ext cx="3611880" cy="0"/>
          </a:xfrm>
          <a:prstGeom prst="line">
            <a:avLst/>
          </a:prstGeom>
          <a:ln w="19050">
            <a:solidFill>
              <a:srgbClr val="2B6C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라벨"/>
          <p:cNvSpPr txBox="1"/>
          <p:nvPr/>
        </p:nvSpPr>
        <p:spPr>
          <a:xfrm>
            <a:off x="8686800" y="3982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distance_x10 · err · status</a:t>
            </a:r>
          </a:p>
        </p:txBody>
      </p:sp>
      <p:sp>
        <p:nvSpPr>
          <p:cNvPr id="83" name="라벨"/>
          <p:cNvSpPr txBox="1"/>
          <p:nvPr/>
        </p:nvSpPr>
        <p:spPr>
          <a:xfrm>
            <a:off x="8686800" y="4293108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trig → JA1 · echo ← JA2 · sw15 = 거리 막대 LED</a:t>
            </a:r>
          </a:p>
        </p:txBody>
      </p:sp>
      <p:sp>
        <p:nvSpPr>
          <p:cNvPr id="84" name="블록 dht11_top"/>
          <p:cNvSpPr/>
          <p:nvPr/>
        </p:nvSpPr>
        <p:spPr>
          <a:xfrm>
            <a:off x="6355080" y="5047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FFFFF"/>
          </a:solidFill>
          <a:ln w="19050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dht11_top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core · controller · manager</a:t>
            </a:r>
          </a:p>
        </p:txBody>
      </p:sp>
      <p:cxnSp>
        <p:nvCxnSpPr>
          <p:cNvPr id="85" name="선"/>
          <p:cNvCxnSpPr/>
          <p:nvPr/>
        </p:nvCxnSpPr>
        <p:spPr>
          <a:xfrm>
            <a:off x="8549640" y="5390388"/>
            <a:ext cx="3611880" cy="0"/>
          </a:xfrm>
          <a:prstGeom prst="line">
            <a:avLst/>
          </a:prstGeom>
          <a:ln w="19050">
            <a:solidFill>
              <a:srgbClr val="C056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라벨"/>
          <p:cNvSpPr txBox="1"/>
          <p:nvPr/>
        </p:nvSpPr>
        <p:spPr>
          <a:xfrm>
            <a:off x="8686800" y="5125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fnd_data · dashes · err</a:t>
            </a:r>
          </a:p>
        </p:txBody>
      </p:sp>
      <p:sp>
        <p:nvSpPr>
          <p:cNvPr id="87" name="라벨"/>
          <p:cNvSpPr txBox="1"/>
          <p:nvPr/>
        </p:nvSpPr>
        <p:spPr>
          <a:xfrm>
            <a:off x="8686800" y="5436107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dht11_io ↔ JXADC3 (M2)</a:t>
            </a:r>
          </a:p>
        </p:txBody>
      </p:sp>
      <p:sp>
        <p:nvSpPr>
          <p:cNvPr id="88" name="MUX FND"/>
          <p:cNvSpPr/>
          <p:nvPr/>
        </p:nvSpPr>
        <p:spPr>
          <a:xfrm>
            <a:off x="12161520" y="2606040"/>
            <a:ext cx="640080" cy="3108960"/>
          </a:xfrm>
          <a:custGeom>
            <a:avLst/>
            <a:gdLst/>
            <a:ahLst/>
            <a:cxnLst/>
            <a:rect l="l" t="t" r="r" b="b"/>
            <a:pathLst>
              <a:path w="640080" h="3108960">
                <a:moveTo>
                  <a:pt x="0" y="0"/>
                </a:moveTo>
                <a:lnTo>
                  <a:pt x="640080" y="228600"/>
                </a:lnTo>
                <a:lnTo>
                  <a:pt x="640080" y="2880360"/>
                </a:lnTo>
                <a:lnTo>
                  <a:pt x="0" y="3108960"/>
                </a:lnTo>
                <a:lnTo>
                  <a:pt x="0" y="0"/>
                </a:lnTo>
                <a:close/>
              </a:path>
            </a:pathLst>
          </a:custGeom>
          <a:solidFill>
            <a:srgbClr val="F3EEFF"/>
          </a:solidFill>
          <a:ln w="19050">
            <a:solidFill>
              <a:srgbClr val="6B4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라벨"/>
          <p:cNvSpPr txBox="1"/>
          <p:nvPr/>
        </p:nvSpPr>
        <p:spPr>
          <a:xfrm>
            <a:off x="12216384" y="298551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90" name="라벨"/>
          <p:cNvSpPr txBox="1"/>
          <p:nvPr/>
        </p:nvSpPr>
        <p:spPr>
          <a:xfrm>
            <a:off x="12216384" y="412851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1" name="라벨"/>
          <p:cNvSpPr txBox="1"/>
          <p:nvPr/>
        </p:nvSpPr>
        <p:spPr>
          <a:xfrm>
            <a:off x="12216384" y="527151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92" name="라벨"/>
          <p:cNvSpPr txBox="1"/>
          <p:nvPr/>
        </p:nvSpPr>
        <p:spPr>
          <a:xfrm>
            <a:off x="11978640" y="5742432"/>
            <a:ext cx="2011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FND MUX  3:1 × 25 bit</a:t>
            </a:r>
          </a:p>
        </p:txBody>
      </p:sp>
      <p:sp>
        <p:nvSpPr>
          <p:cNvPr id="93" name="라벨"/>
          <p:cNvSpPr txBox="1"/>
          <p:nvPr/>
        </p:nvSpPr>
        <p:spPr>
          <a:xfrm>
            <a:off x="11978640" y="5961888"/>
            <a:ext cx="2011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sel = disp_sel (2 bit)</a:t>
            </a:r>
          </a:p>
        </p:txBody>
      </p:sp>
      <p:cxnSp>
        <p:nvCxnSpPr>
          <p:cNvPr id="94" name="선"/>
          <p:cNvCxnSpPr/>
          <p:nvPr/>
        </p:nvCxnSpPr>
        <p:spPr>
          <a:xfrm>
            <a:off x="12801600" y="3017520"/>
            <a:ext cx="1280160" cy="0"/>
          </a:xfrm>
          <a:prstGeom prst="line">
            <a:avLst/>
          </a:prstGeom>
          <a:ln w="19050">
            <a:solidFill>
              <a:srgbClr val="6B46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라벨"/>
          <p:cNvSpPr txBox="1"/>
          <p:nvPr/>
        </p:nvSpPr>
        <p:spPr>
          <a:xfrm>
            <a:off x="12874752" y="277063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fnd_data</a:t>
            </a:r>
          </a:p>
        </p:txBody>
      </p:sp>
      <p:sp>
        <p:nvSpPr>
          <p:cNvPr id="96" name="블록 FND&#10;컨트롤러"/>
          <p:cNvSpPr/>
          <p:nvPr/>
        </p:nvSpPr>
        <p:spPr>
          <a:xfrm>
            <a:off x="14081760" y="2606040"/>
            <a:ext cx="182880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9050">
            <a:solidFill>
              <a:srgbClr val="6B4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FND</a:t>
            </a:r>
          </a:p>
          <a:p>
            <a:pPr algn="ctr"/>
            <a:r>
              <a:rPr sz="14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컨트롤러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SW2_FND_CONTROLLER</a:t>
            </a:r>
          </a:p>
        </p:txBody>
      </p:sp>
      <p:sp>
        <p:nvSpPr>
          <p:cNvPr id="97" name="태그 disp_sel"/>
          <p:cNvSpPr/>
          <p:nvPr/>
        </p:nvSpPr>
        <p:spPr>
          <a:xfrm>
            <a:off x="13167360" y="325526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98" name="태그 wt_cursor"/>
          <p:cNvSpPr/>
          <p:nvPr/>
        </p:nvSpPr>
        <p:spPr>
          <a:xfrm>
            <a:off x="13167360" y="354787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wt_cursor</a:t>
            </a:r>
          </a:p>
        </p:txBody>
      </p:sp>
      <p:sp>
        <p:nvSpPr>
          <p:cNvPr id="99" name="태그 set_sw2"/>
          <p:cNvSpPr/>
          <p:nvPr/>
        </p:nvSpPr>
        <p:spPr>
          <a:xfrm>
            <a:off x="13167360" y="384048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set_sw2</a:t>
            </a:r>
          </a:p>
        </p:txBody>
      </p:sp>
      <p:cxnSp>
        <p:nvCxnSpPr>
          <p:cNvPr id="100" name="선"/>
          <p:cNvCxnSpPr/>
          <p:nvPr/>
        </p:nvCxnSpPr>
        <p:spPr>
          <a:xfrm>
            <a:off x="15910559" y="3054096"/>
            <a:ext cx="411481" cy="0"/>
          </a:xfrm>
          <a:prstGeom prst="line">
            <a:avLst/>
          </a:prstGeom>
          <a:ln w="19050">
            <a:solidFill>
              <a:srgbClr val="6B46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태그 fnd_com"/>
          <p:cNvSpPr/>
          <p:nvPr/>
        </p:nvSpPr>
        <p:spPr>
          <a:xfrm>
            <a:off x="16322040" y="29077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fnd_com</a:t>
            </a:r>
          </a:p>
        </p:txBody>
      </p:sp>
      <p:cxnSp>
        <p:nvCxnSpPr>
          <p:cNvPr id="102" name="선"/>
          <p:cNvCxnSpPr/>
          <p:nvPr/>
        </p:nvCxnSpPr>
        <p:spPr>
          <a:xfrm>
            <a:off x="15910559" y="3739896"/>
            <a:ext cx="411481" cy="0"/>
          </a:xfrm>
          <a:prstGeom prst="line">
            <a:avLst/>
          </a:prstGeom>
          <a:ln w="19050">
            <a:solidFill>
              <a:srgbClr val="6B46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태그 fnd_font"/>
          <p:cNvSpPr/>
          <p:nvPr/>
        </p:nvSpPr>
        <p:spPr>
          <a:xfrm>
            <a:off x="16322040" y="35935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fnd_font</a:t>
            </a:r>
          </a:p>
        </p:txBody>
      </p:sp>
      <p:sp>
        <p:nvSpPr>
          <p:cNvPr id="104" name="블록 LED 로직"/>
          <p:cNvSpPr/>
          <p:nvPr/>
        </p:nvSpPr>
        <p:spPr>
          <a:xfrm>
            <a:off x="14081760" y="4343400"/>
            <a:ext cx="1828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6B4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 로직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led_output</a:t>
            </a:r>
          </a:p>
        </p:txBody>
      </p:sp>
      <p:sp>
        <p:nvSpPr>
          <p:cNvPr id="105" name="태그 disp_sel"/>
          <p:cNvSpPr/>
          <p:nvPr/>
        </p:nvSpPr>
        <p:spPr>
          <a:xfrm>
            <a:off x="13167360" y="4425696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106" name="태그 WTS 신호"/>
          <p:cNvSpPr/>
          <p:nvPr/>
        </p:nvSpPr>
        <p:spPr>
          <a:xfrm>
            <a:off x="13167360" y="471830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WTS 신호</a:t>
            </a:r>
          </a:p>
        </p:txBody>
      </p:sp>
      <p:sp>
        <p:nvSpPr>
          <p:cNvPr id="107" name="태그 sr04_led"/>
          <p:cNvSpPr/>
          <p:nvPr/>
        </p:nvSpPr>
        <p:spPr>
          <a:xfrm>
            <a:off x="13167360" y="501091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sr04_led</a:t>
            </a:r>
          </a:p>
        </p:txBody>
      </p:sp>
      <p:sp>
        <p:nvSpPr>
          <p:cNvPr id="108" name="태그 dht_led"/>
          <p:cNvSpPr/>
          <p:nvPr/>
        </p:nvSpPr>
        <p:spPr>
          <a:xfrm>
            <a:off x="13167360" y="530352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dht_led</a:t>
            </a:r>
          </a:p>
        </p:txBody>
      </p:sp>
      <p:cxnSp>
        <p:nvCxnSpPr>
          <p:cNvPr id="109" name="선"/>
          <p:cNvCxnSpPr/>
          <p:nvPr/>
        </p:nvCxnSpPr>
        <p:spPr>
          <a:xfrm>
            <a:off x="15910559" y="5029200"/>
            <a:ext cx="411481" cy="0"/>
          </a:xfrm>
          <a:prstGeom prst="line">
            <a:avLst/>
          </a:prstGeom>
          <a:ln w="19050">
            <a:solidFill>
              <a:srgbClr val="6B46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태그 led[15:0]"/>
          <p:cNvSpPr/>
          <p:nvPr/>
        </p:nvSpPr>
        <p:spPr>
          <a:xfrm>
            <a:off x="16322040" y="4882896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led[15:0]</a:t>
            </a:r>
          </a:p>
        </p:txBody>
      </p:sp>
      <p:sp>
        <p:nvSpPr>
          <p:cNvPr id="111" name="태그 rx"/>
          <p:cNvSpPr/>
          <p:nvPr/>
        </p:nvSpPr>
        <p:spPr>
          <a:xfrm>
            <a:off x="411480" y="69037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rx</a:t>
            </a:r>
          </a:p>
        </p:txBody>
      </p:sp>
      <p:cxnSp>
        <p:nvCxnSpPr>
          <p:cNvPr id="112" name="선"/>
          <p:cNvCxnSpPr/>
          <p:nvPr/>
        </p:nvCxnSpPr>
        <p:spPr>
          <a:xfrm>
            <a:off x="1417320" y="7050024"/>
            <a:ext cx="365760" cy="0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블록 uart_rx"/>
          <p:cNvSpPr/>
          <p:nvPr/>
        </p:nvSpPr>
        <p:spPr>
          <a:xfrm>
            <a:off x="1783080" y="6766560"/>
            <a:ext cx="118872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uart_rx</a:t>
            </a:r>
          </a:p>
        </p:txBody>
      </p:sp>
      <p:cxnSp>
        <p:nvCxnSpPr>
          <p:cNvPr id="114" name="선"/>
          <p:cNvCxnSpPr/>
          <p:nvPr/>
        </p:nvCxnSpPr>
        <p:spPr>
          <a:xfrm>
            <a:off x="2971800" y="7050024"/>
            <a:ext cx="274320" cy="0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블록 fifo"/>
          <p:cNvSpPr/>
          <p:nvPr/>
        </p:nvSpPr>
        <p:spPr>
          <a:xfrm>
            <a:off x="3246120" y="6766560"/>
            <a:ext cx="91440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RX × 8</a:t>
            </a:r>
          </a:p>
        </p:txBody>
      </p:sp>
      <p:cxnSp>
        <p:nvCxnSpPr>
          <p:cNvPr id="116" name="선"/>
          <p:cNvCxnSpPr/>
          <p:nvPr/>
        </p:nvCxnSpPr>
        <p:spPr>
          <a:xfrm>
            <a:off x="4160520" y="7050024"/>
            <a:ext cx="274320" cy="0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블록 ASCII_DECODER"/>
          <p:cNvSpPr/>
          <p:nvPr/>
        </p:nvSpPr>
        <p:spPr>
          <a:xfrm>
            <a:off x="4434840" y="6675120"/>
            <a:ext cx="18288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905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ASCII_DECODER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/명령 + 옵션 파싱</a:t>
            </a:r>
          </a:p>
        </p:txBody>
      </p:sp>
      <p:cxnSp>
        <p:nvCxnSpPr>
          <p:cNvPr id="118" name="선"/>
          <p:cNvCxnSpPr/>
          <p:nvPr/>
        </p:nvCxnSpPr>
        <p:spPr>
          <a:xfrm>
            <a:off x="6263640" y="7050024"/>
            <a:ext cx="502920" cy="0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블록 baud_tick_gen"/>
          <p:cNvSpPr/>
          <p:nvPr/>
        </p:nvSpPr>
        <p:spPr>
          <a:xfrm>
            <a:off x="1783080" y="7680960"/>
            <a:ext cx="1188720" cy="5303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baud_tick_gen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9600 × 16</a:t>
            </a:r>
          </a:p>
        </p:txBody>
      </p:sp>
      <p:cxnSp>
        <p:nvCxnSpPr>
          <p:cNvPr id="120" name="선"/>
          <p:cNvCxnSpPr/>
          <p:nvPr/>
        </p:nvCxnSpPr>
        <p:spPr>
          <a:xfrm flipV="1">
            <a:off x="2377440" y="7333488"/>
            <a:ext cx="0" cy="347472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라벨"/>
          <p:cNvSpPr txBox="1"/>
          <p:nvPr/>
        </p:nvSpPr>
        <p:spPr>
          <a:xfrm>
            <a:off x="3063240" y="782726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→ RX · TX 공용</a:t>
            </a:r>
          </a:p>
        </p:txBody>
      </p:sp>
      <p:sp>
        <p:nvSpPr>
          <p:cNvPr id="122" name="블록 UART_CONTROLLER"/>
          <p:cNvSpPr/>
          <p:nvPr/>
        </p:nvSpPr>
        <p:spPr>
          <a:xfrm>
            <a:off x="6766560" y="6675120"/>
            <a:ext cx="2377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UART_CONTROLLER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mode · auto · btn FSM</a:t>
            </a:r>
          </a:p>
        </p:txBody>
      </p:sp>
      <p:sp>
        <p:nvSpPr>
          <p:cNvPr id="123" name="태그 phy_btn"/>
          <p:cNvSpPr/>
          <p:nvPr/>
        </p:nvSpPr>
        <p:spPr>
          <a:xfrm>
            <a:off x="5870448" y="7498079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phy_btn</a:t>
            </a:r>
          </a:p>
        </p:txBody>
      </p:sp>
      <p:sp>
        <p:nvSpPr>
          <p:cNvPr id="124" name="라벨"/>
          <p:cNvSpPr txBox="1"/>
          <p:nvPr/>
        </p:nvSpPr>
        <p:spPr>
          <a:xfrm>
            <a:off x="3950208" y="750722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같은 clk 면 물리 먼저</a:t>
            </a:r>
          </a:p>
        </p:txBody>
      </p:sp>
      <p:cxnSp>
        <p:nvCxnSpPr>
          <p:cNvPr id="125" name="선"/>
          <p:cNvCxnSpPr/>
          <p:nvPr/>
        </p:nvCxnSpPr>
        <p:spPr>
          <a:xfrm flipV="1">
            <a:off x="6903720" y="6217920"/>
            <a:ext cx="0" cy="457200"/>
          </a:xfrm>
          <a:prstGeom prst="line">
            <a:avLst/>
          </a:prstGeom>
          <a:ln w="190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선"/>
          <p:cNvCxnSpPr/>
          <p:nvPr/>
        </p:nvCxnSpPr>
        <p:spPr>
          <a:xfrm flipH="1">
            <a:off x="1691640" y="6217920"/>
            <a:ext cx="5212080" cy="0"/>
          </a:xfrm>
          <a:prstGeom prst="line">
            <a:avLst/>
          </a:prstGeom>
          <a:ln w="190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선"/>
          <p:cNvCxnSpPr/>
          <p:nvPr/>
        </p:nvCxnSpPr>
        <p:spPr>
          <a:xfrm flipV="1">
            <a:off x="1691640" y="5212080"/>
            <a:ext cx="0" cy="1005840"/>
          </a:xfrm>
          <a:prstGeom prst="line">
            <a:avLst/>
          </a:prstGeom>
          <a:ln w="190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선"/>
          <p:cNvCxnSpPr/>
          <p:nvPr/>
        </p:nvCxnSpPr>
        <p:spPr>
          <a:xfrm>
            <a:off x="1691640" y="5212080"/>
            <a:ext cx="274320" cy="0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라벨"/>
          <p:cNvSpPr txBox="1"/>
          <p:nvPr/>
        </p:nvSpPr>
        <p:spPr>
          <a:xfrm>
            <a:off x="3931920" y="623620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module_control_bit[6:0]</a:t>
            </a:r>
          </a:p>
        </p:txBody>
      </p:sp>
      <p:cxnSp>
        <p:nvCxnSpPr>
          <p:cNvPr id="130" name="선"/>
          <p:cNvCxnSpPr/>
          <p:nvPr/>
        </p:nvCxnSpPr>
        <p:spPr>
          <a:xfrm flipV="1">
            <a:off x="7178040" y="6080760"/>
            <a:ext cx="0" cy="594360"/>
          </a:xfrm>
          <a:prstGeom prst="line">
            <a:avLst/>
          </a:prstGeom>
          <a:ln w="190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선"/>
          <p:cNvCxnSpPr/>
          <p:nvPr/>
        </p:nvCxnSpPr>
        <p:spPr>
          <a:xfrm flipH="1">
            <a:off x="2194560" y="6080760"/>
            <a:ext cx="4983480" cy="0"/>
          </a:xfrm>
          <a:prstGeom prst="line">
            <a:avLst/>
          </a:prstGeom>
          <a:ln w="190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선"/>
          <p:cNvCxnSpPr/>
          <p:nvPr/>
        </p:nvCxnSpPr>
        <p:spPr>
          <a:xfrm flipV="1">
            <a:off x="2194560" y="5413248"/>
            <a:ext cx="0" cy="667512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라벨"/>
          <p:cNvSpPr txBox="1"/>
          <p:nvPr/>
        </p:nvSpPr>
        <p:spPr>
          <a:xfrm>
            <a:off x="2286000" y="5852160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uart_mode</a:t>
            </a:r>
          </a:p>
        </p:txBody>
      </p:sp>
      <p:cxnSp>
        <p:nvCxnSpPr>
          <p:cNvPr id="134" name="선"/>
          <p:cNvCxnSpPr/>
          <p:nvPr/>
        </p:nvCxnSpPr>
        <p:spPr>
          <a:xfrm flipV="1">
            <a:off x="7452360" y="5943600"/>
            <a:ext cx="0" cy="731520"/>
          </a:xfrm>
          <a:prstGeom prst="line">
            <a:avLst/>
          </a:prstGeom>
          <a:ln w="190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선"/>
          <p:cNvCxnSpPr/>
          <p:nvPr/>
        </p:nvCxnSpPr>
        <p:spPr>
          <a:xfrm flipH="1">
            <a:off x="3749039" y="5943600"/>
            <a:ext cx="3703321" cy="0"/>
          </a:xfrm>
          <a:prstGeom prst="line">
            <a:avLst/>
          </a:prstGeom>
          <a:ln w="190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선"/>
          <p:cNvCxnSpPr/>
          <p:nvPr/>
        </p:nvCxnSpPr>
        <p:spPr>
          <a:xfrm flipV="1">
            <a:off x="3749039" y="3438144"/>
            <a:ext cx="0" cy="2505456"/>
          </a:xfrm>
          <a:prstGeom prst="line">
            <a:avLst/>
          </a:prstGeom>
          <a:ln w="190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선"/>
          <p:cNvCxnSpPr/>
          <p:nvPr/>
        </p:nvCxnSpPr>
        <p:spPr>
          <a:xfrm>
            <a:off x="3749039" y="3438144"/>
            <a:ext cx="228600" cy="0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라벨"/>
          <p:cNvSpPr txBox="1"/>
          <p:nvPr/>
        </p:nvSpPr>
        <p:spPr>
          <a:xfrm>
            <a:off x="3840480" y="3703320"/>
            <a:ext cx="8229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uart_btn</a:t>
            </a:r>
          </a:p>
        </p:txBody>
      </p:sp>
      <p:sp>
        <p:nvSpPr>
          <p:cNvPr id="139" name="블록 sender_tick"/>
          <p:cNvSpPr/>
          <p:nvPr/>
        </p:nvSpPr>
        <p:spPr>
          <a:xfrm>
            <a:off x="9555480" y="6967728"/>
            <a:ext cx="137160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sender_tick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1 Hz · scan 0→4</a:t>
            </a:r>
          </a:p>
        </p:txBody>
      </p:sp>
      <p:cxnSp>
        <p:nvCxnSpPr>
          <p:cNvPr id="140" name="선"/>
          <p:cNvCxnSpPr/>
          <p:nvPr/>
        </p:nvCxnSpPr>
        <p:spPr>
          <a:xfrm flipH="1">
            <a:off x="9144000" y="7251192"/>
            <a:ext cx="411480" cy="0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선"/>
          <p:cNvCxnSpPr/>
          <p:nvPr/>
        </p:nvCxnSpPr>
        <p:spPr>
          <a:xfrm>
            <a:off x="9144000" y="6784848"/>
            <a:ext cx="4727448" cy="0"/>
          </a:xfrm>
          <a:prstGeom prst="line">
            <a:avLst/>
          </a:prstGeom>
          <a:ln w="190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선"/>
          <p:cNvCxnSpPr/>
          <p:nvPr/>
        </p:nvCxnSpPr>
        <p:spPr>
          <a:xfrm>
            <a:off x="13871448" y="6784848"/>
            <a:ext cx="0" cy="301752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라벨"/>
          <p:cNvSpPr txBox="1"/>
          <p:nvPr/>
        </p:nvSpPr>
        <p:spPr>
          <a:xfrm>
            <a:off x="10241280" y="6547104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send_go</a:t>
            </a:r>
          </a:p>
        </p:txBody>
      </p:sp>
      <p:sp>
        <p:nvSpPr>
          <p:cNvPr id="144" name="MUX 전송"/>
          <p:cNvSpPr/>
          <p:nvPr/>
        </p:nvSpPr>
        <p:spPr>
          <a:xfrm>
            <a:off x="11887200" y="6903720"/>
            <a:ext cx="868680" cy="1280159"/>
          </a:xfrm>
          <a:custGeom>
            <a:avLst/>
            <a:gdLst/>
            <a:ahLst/>
            <a:cxnLst/>
            <a:rect l="l" t="t" r="r" b="b"/>
            <a:pathLst>
              <a:path w="868680" h="1280159">
                <a:moveTo>
                  <a:pt x="0" y="0"/>
                </a:moveTo>
                <a:lnTo>
                  <a:pt x="868680" y="164592"/>
                </a:lnTo>
                <a:lnTo>
                  <a:pt x="868680" y="1115568"/>
                </a:lnTo>
                <a:lnTo>
                  <a:pt x="0" y="1280159"/>
                </a:lnTo>
                <a:lnTo>
                  <a:pt x="0" y="0"/>
                </a:lnTo>
                <a:close/>
              </a:path>
            </a:pathLst>
          </a:custGeom>
          <a:solidFill>
            <a:srgbClr val="E6F4F3"/>
          </a:solidFill>
          <a:ln w="1905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라벨"/>
          <p:cNvSpPr txBox="1"/>
          <p:nvPr/>
        </p:nvSpPr>
        <p:spPr>
          <a:xfrm>
            <a:off x="11841480" y="6528816"/>
            <a:ext cx="21945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전송 MUX  8:1 × 24 bit</a:t>
            </a:r>
          </a:p>
        </p:txBody>
      </p:sp>
      <p:cxnSp>
        <p:nvCxnSpPr>
          <p:cNvPr id="146" name="선"/>
          <p:cNvCxnSpPr/>
          <p:nvPr/>
        </p:nvCxnSpPr>
        <p:spPr>
          <a:xfrm>
            <a:off x="11777472" y="3104388"/>
            <a:ext cx="0" cy="4210812"/>
          </a:xfrm>
          <a:prstGeom prst="line">
            <a:avLst/>
          </a:prstGeom>
          <a:ln w="19050">
            <a:solidFill>
              <a:srgbClr val="2F8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선"/>
          <p:cNvCxnSpPr/>
          <p:nvPr/>
        </p:nvCxnSpPr>
        <p:spPr>
          <a:xfrm>
            <a:off x="11777472" y="7315200"/>
            <a:ext cx="109728" cy="0"/>
          </a:xfrm>
          <a:prstGeom prst="line">
            <a:avLst/>
          </a:prstGeom>
          <a:ln w="190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선"/>
          <p:cNvCxnSpPr/>
          <p:nvPr/>
        </p:nvCxnSpPr>
        <p:spPr>
          <a:xfrm>
            <a:off x="11777472" y="7022592"/>
            <a:ext cx="109728" cy="0"/>
          </a:xfrm>
          <a:prstGeom prst="line">
            <a:avLst/>
          </a:prstGeom>
          <a:ln w="190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접점"/>
          <p:cNvSpPr/>
          <p:nvPr/>
        </p:nvSpPr>
        <p:spPr>
          <a:xfrm>
            <a:off x="11736324" y="6981444"/>
            <a:ext cx="82296" cy="82296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0" name="선"/>
          <p:cNvCxnSpPr/>
          <p:nvPr/>
        </p:nvCxnSpPr>
        <p:spPr>
          <a:xfrm>
            <a:off x="11777472" y="7168896"/>
            <a:ext cx="109728" cy="0"/>
          </a:xfrm>
          <a:prstGeom prst="line">
            <a:avLst/>
          </a:prstGeom>
          <a:ln w="190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접점"/>
          <p:cNvSpPr/>
          <p:nvPr/>
        </p:nvSpPr>
        <p:spPr>
          <a:xfrm>
            <a:off x="11736324" y="7127748"/>
            <a:ext cx="82296" cy="82296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접점"/>
          <p:cNvSpPr/>
          <p:nvPr/>
        </p:nvSpPr>
        <p:spPr>
          <a:xfrm>
            <a:off x="11736324" y="3063240"/>
            <a:ext cx="82296" cy="82296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3" name="선"/>
          <p:cNvCxnSpPr/>
          <p:nvPr/>
        </p:nvCxnSpPr>
        <p:spPr>
          <a:xfrm>
            <a:off x="11686032" y="4247388"/>
            <a:ext cx="0" cy="3268980"/>
          </a:xfrm>
          <a:prstGeom prst="line">
            <a:avLst/>
          </a:prstGeom>
          <a:ln w="19050">
            <a:solidFill>
              <a:srgbClr val="2B6C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선"/>
          <p:cNvCxnSpPr/>
          <p:nvPr/>
        </p:nvCxnSpPr>
        <p:spPr>
          <a:xfrm>
            <a:off x="11686032" y="7516368"/>
            <a:ext cx="201168" cy="0"/>
          </a:xfrm>
          <a:prstGeom prst="line">
            <a:avLst/>
          </a:prstGeom>
          <a:ln w="19050">
            <a:solidFill>
              <a:srgbClr val="2B6C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접점"/>
          <p:cNvSpPr/>
          <p:nvPr/>
        </p:nvSpPr>
        <p:spPr>
          <a:xfrm>
            <a:off x="11644884" y="4206240"/>
            <a:ext cx="82296" cy="82296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6" name="선"/>
          <p:cNvCxnSpPr/>
          <p:nvPr/>
        </p:nvCxnSpPr>
        <p:spPr>
          <a:xfrm>
            <a:off x="11430000" y="5390388"/>
            <a:ext cx="0" cy="2327148"/>
          </a:xfrm>
          <a:prstGeom prst="line">
            <a:avLst/>
          </a:prstGeom>
          <a:ln w="19050">
            <a:solidFill>
              <a:srgbClr val="C056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선"/>
          <p:cNvCxnSpPr/>
          <p:nvPr/>
        </p:nvCxnSpPr>
        <p:spPr>
          <a:xfrm>
            <a:off x="11430000" y="7717536"/>
            <a:ext cx="457200" cy="0"/>
          </a:xfrm>
          <a:prstGeom prst="line">
            <a:avLst/>
          </a:prstGeom>
          <a:ln w="19050">
            <a:solidFill>
              <a:srgbClr val="C056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접점"/>
          <p:cNvSpPr/>
          <p:nvPr/>
        </p:nvSpPr>
        <p:spPr>
          <a:xfrm>
            <a:off x="11388852" y="5349240"/>
            <a:ext cx="82296" cy="82296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MUX 핀"/>
          <p:cNvSpPr txBox="1"/>
          <p:nvPr/>
        </p:nvSpPr>
        <p:spPr>
          <a:xfrm>
            <a:off x="11932920" y="693115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0 sw</a:t>
            </a:r>
          </a:p>
        </p:txBody>
      </p:sp>
      <p:sp>
        <p:nvSpPr>
          <p:cNvPr id="160" name="MUX 핀"/>
          <p:cNvSpPr txBox="1"/>
          <p:nvPr/>
        </p:nvSpPr>
        <p:spPr>
          <a:xfrm>
            <a:off x="11932920" y="707745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1 tm</a:t>
            </a:r>
          </a:p>
        </p:txBody>
      </p:sp>
      <p:sp>
        <p:nvSpPr>
          <p:cNvPr id="161" name="MUX 핀"/>
          <p:cNvSpPr txBox="1"/>
          <p:nvPr/>
        </p:nvSpPr>
        <p:spPr>
          <a:xfrm>
            <a:off x="11932920" y="722376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2 wt</a:t>
            </a:r>
          </a:p>
        </p:txBody>
      </p:sp>
      <p:sp>
        <p:nvSpPr>
          <p:cNvPr id="162" name="MUX 핀"/>
          <p:cNvSpPr txBox="1"/>
          <p:nvPr/>
        </p:nvSpPr>
        <p:spPr>
          <a:xfrm>
            <a:off x="11932920" y="742492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3 거리</a:t>
            </a:r>
          </a:p>
        </p:txBody>
      </p:sp>
      <p:sp>
        <p:nvSpPr>
          <p:cNvPr id="163" name="MUX 핀"/>
          <p:cNvSpPr txBox="1"/>
          <p:nvPr/>
        </p:nvSpPr>
        <p:spPr>
          <a:xfrm>
            <a:off x="11932920" y="762609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4 온습도</a:t>
            </a:r>
          </a:p>
        </p:txBody>
      </p:sp>
      <p:cxnSp>
        <p:nvCxnSpPr>
          <p:cNvPr id="165" name="선"/>
          <p:cNvCxnSpPr/>
          <p:nvPr/>
        </p:nvCxnSpPr>
        <p:spPr>
          <a:xfrm>
            <a:off x="12755880" y="7498079"/>
            <a:ext cx="457200" cy="0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선"/>
          <p:cNvCxnSpPr/>
          <p:nvPr/>
        </p:nvCxnSpPr>
        <p:spPr>
          <a:xfrm>
            <a:off x="8869680" y="8046720"/>
            <a:ext cx="0" cy="201168"/>
          </a:xfrm>
          <a:prstGeom prst="line">
            <a:avLst/>
          </a:prstGeom>
          <a:ln w="190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선"/>
          <p:cNvCxnSpPr/>
          <p:nvPr/>
        </p:nvCxnSpPr>
        <p:spPr>
          <a:xfrm>
            <a:off x="8869680" y="8247888"/>
            <a:ext cx="5001768" cy="0"/>
          </a:xfrm>
          <a:prstGeom prst="line">
            <a:avLst/>
          </a:prstGeom>
          <a:ln w="190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선"/>
          <p:cNvCxnSpPr/>
          <p:nvPr/>
        </p:nvCxnSpPr>
        <p:spPr>
          <a:xfrm flipV="1">
            <a:off x="13871448" y="7909560"/>
            <a:ext cx="0" cy="338328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라벨"/>
          <p:cNvSpPr txBox="1"/>
          <p:nvPr/>
        </p:nvSpPr>
        <p:spPr>
          <a:xfrm>
            <a:off x="9509760" y="8010144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send_sel</a:t>
            </a:r>
          </a:p>
        </p:txBody>
      </p:sp>
      <p:cxnSp>
        <p:nvCxnSpPr>
          <p:cNvPr id="170" name="선"/>
          <p:cNvCxnSpPr/>
          <p:nvPr/>
        </p:nvCxnSpPr>
        <p:spPr>
          <a:xfrm flipV="1">
            <a:off x="12481560" y="8071264"/>
            <a:ext cx="0" cy="176624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접점"/>
          <p:cNvSpPr/>
          <p:nvPr/>
        </p:nvSpPr>
        <p:spPr>
          <a:xfrm>
            <a:off x="12440412" y="8206740"/>
            <a:ext cx="82296" cy="82296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2" name="블록 uart_sender"/>
          <p:cNvSpPr/>
          <p:nvPr/>
        </p:nvSpPr>
        <p:spPr>
          <a:xfrm>
            <a:off x="13213080" y="7086600"/>
            <a:ext cx="1325880" cy="822960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 w="1905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uart_sender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숫자 → ASCII 한 줄</a:t>
            </a:r>
          </a:p>
        </p:txBody>
      </p:sp>
      <p:cxnSp>
        <p:nvCxnSpPr>
          <p:cNvPr id="173" name="선"/>
          <p:cNvCxnSpPr/>
          <p:nvPr/>
        </p:nvCxnSpPr>
        <p:spPr>
          <a:xfrm>
            <a:off x="14538960" y="7498079"/>
            <a:ext cx="228599" cy="0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블록 fifo"/>
          <p:cNvSpPr/>
          <p:nvPr/>
        </p:nvSpPr>
        <p:spPr>
          <a:xfrm>
            <a:off x="14767559" y="7214616"/>
            <a:ext cx="82296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TX × 64</a:t>
            </a:r>
          </a:p>
        </p:txBody>
      </p:sp>
      <p:cxnSp>
        <p:nvCxnSpPr>
          <p:cNvPr id="175" name="선"/>
          <p:cNvCxnSpPr/>
          <p:nvPr/>
        </p:nvCxnSpPr>
        <p:spPr>
          <a:xfrm>
            <a:off x="15590520" y="7498079"/>
            <a:ext cx="228600" cy="0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블록 uart_tx"/>
          <p:cNvSpPr/>
          <p:nvPr/>
        </p:nvSpPr>
        <p:spPr>
          <a:xfrm>
            <a:off x="15819120" y="7214616"/>
            <a:ext cx="86868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uart_tx</a:t>
            </a:r>
          </a:p>
        </p:txBody>
      </p:sp>
      <p:cxnSp>
        <p:nvCxnSpPr>
          <p:cNvPr id="177" name="선"/>
          <p:cNvCxnSpPr/>
          <p:nvPr/>
        </p:nvCxnSpPr>
        <p:spPr>
          <a:xfrm>
            <a:off x="16687800" y="7498079"/>
            <a:ext cx="182880" cy="0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8" name="태그 tx"/>
          <p:cNvSpPr/>
          <p:nvPr/>
        </p:nvSpPr>
        <p:spPr>
          <a:xfrm>
            <a:off x="16870680" y="7351775"/>
            <a:ext cx="822960" cy="292608"/>
          </a:xfrm>
          <a:prstGeom prst="homePlate">
            <a:avLst>
              <a:gd name="adj" fmla="val 24888"/>
            </a:avLst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tx</a:t>
            </a:r>
          </a:p>
        </p:txBody>
      </p:sp>
      <p:sp>
        <p:nvSpPr>
          <p:cNvPr id="179" name="범례"/>
          <p:cNvSpPr/>
          <p:nvPr/>
        </p:nvSpPr>
        <p:spPr>
          <a:xfrm>
            <a:off x="841248" y="8796528"/>
            <a:ext cx="310896" cy="219456"/>
          </a:xfrm>
          <a:prstGeom prst="roundRect">
            <a:avLst>
              <a:gd name="adj" fmla="val 12000"/>
            </a:avLst>
          </a:prstGeom>
          <a:solidFill>
            <a:srgbClr val="EDF6F0"/>
          </a:solidFill>
          <a:ln w="1905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0" name="라벨"/>
          <p:cNvSpPr txBox="1"/>
          <p:nvPr/>
        </p:nvSpPr>
        <p:spPr>
          <a:xfrm>
            <a:off x="1225296" y="8741664"/>
            <a:ext cx="15544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WTS</a:t>
            </a:r>
          </a:p>
        </p:txBody>
      </p:sp>
      <p:sp>
        <p:nvSpPr>
          <p:cNvPr id="181" name="범례"/>
          <p:cNvSpPr/>
          <p:nvPr/>
        </p:nvSpPr>
        <p:spPr>
          <a:xfrm>
            <a:off x="2084832" y="8796528"/>
            <a:ext cx="310896" cy="219456"/>
          </a:xfrm>
          <a:prstGeom prst="roundRect">
            <a:avLst>
              <a:gd name="adj" fmla="val 12000"/>
            </a:avLst>
          </a:prstGeom>
          <a:solidFill>
            <a:srgbClr val="EBF4FF"/>
          </a:solidFill>
          <a:ln w="1905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2" name="라벨"/>
          <p:cNvSpPr txBox="1"/>
          <p:nvPr/>
        </p:nvSpPr>
        <p:spPr>
          <a:xfrm>
            <a:off x="2468880" y="8741664"/>
            <a:ext cx="15544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SR04 거리</a:t>
            </a:r>
          </a:p>
        </p:txBody>
      </p:sp>
      <p:sp>
        <p:nvSpPr>
          <p:cNvPr id="183" name="범례"/>
          <p:cNvSpPr/>
          <p:nvPr/>
        </p:nvSpPr>
        <p:spPr>
          <a:xfrm>
            <a:off x="3803904" y="8796528"/>
            <a:ext cx="310896" cy="219456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9050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4" name="라벨"/>
          <p:cNvSpPr txBox="1"/>
          <p:nvPr/>
        </p:nvSpPr>
        <p:spPr>
          <a:xfrm>
            <a:off x="4187952" y="8741664"/>
            <a:ext cx="15544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DHT11 온습도</a:t>
            </a:r>
          </a:p>
        </p:txBody>
      </p:sp>
      <p:sp>
        <p:nvSpPr>
          <p:cNvPr id="185" name="범례"/>
          <p:cNvSpPr/>
          <p:nvPr/>
        </p:nvSpPr>
        <p:spPr>
          <a:xfrm>
            <a:off x="5760720" y="8796528"/>
            <a:ext cx="310896" cy="219456"/>
          </a:xfrm>
          <a:prstGeom prst="roundRect">
            <a:avLst>
              <a:gd name="adj" fmla="val 12000"/>
            </a:avLst>
          </a:prstGeom>
          <a:solidFill>
            <a:srgbClr val="E6F4F3"/>
          </a:solidFill>
          <a:ln w="1905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라벨"/>
          <p:cNvSpPr txBox="1"/>
          <p:nvPr/>
        </p:nvSpPr>
        <p:spPr>
          <a:xfrm>
            <a:off x="6144768" y="8741664"/>
            <a:ext cx="15544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UART</a:t>
            </a:r>
          </a:p>
        </p:txBody>
      </p:sp>
      <p:sp>
        <p:nvSpPr>
          <p:cNvPr id="187" name="범례"/>
          <p:cNvSpPr/>
          <p:nvPr/>
        </p:nvSpPr>
        <p:spPr>
          <a:xfrm>
            <a:off x="7123176" y="8796528"/>
            <a:ext cx="310896" cy="219456"/>
          </a:xfrm>
          <a:prstGeom prst="roundRect">
            <a:avLst>
              <a:gd name="adj" fmla="val 12000"/>
            </a:avLst>
          </a:prstGeom>
          <a:solidFill>
            <a:srgbClr val="F3EEFF"/>
          </a:solidFill>
          <a:ln w="19050">
            <a:solidFill>
              <a:srgbClr val="6B4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8" name="라벨"/>
          <p:cNvSpPr txBox="1"/>
          <p:nvPr/>
        </p:nvSpPr>
        <p:spPr>
          <a:xfrm>
            <a:off x="7507224" y="8741664"/>
            <a:ext cx="15544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FND · LED</a:t>
            </a:r>
          </a:p>
        </p:txBody>
      </p:sp>
      <p:sp>
        <p:nvSpPr>
          <p:cNvPr id="189" name="범례 AND"/>
          <p:cNvSpPr/>
          <p:nvPr/>
        </p:nvSpPr>
        <p:spPr>
          <a:xfrm>
            <a:off x="9262872" y="8732520"/>
            <a:ext cx="365760" cy="347472"/>
          </a:xfrm>
          <a:prstGeom prst="flowChartDelay">
            <a:avLst/>
          </a:prstGeom>
          <a:solidFill>
            <a:srgbClr val="FFFFFF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190" name="라벨"/>
          <p:cNvSpPr txBox="1"/>
          <p:nvPr/>
        </p:nvSpPr>
        <p:spPr>
          <a:xfrm>
            <a:off x="9720072" y="8741664"/>
            <a:ext cx="237744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AND · ≥1 = OR 게이트</a:t>
            </a:r>
          </a:p>
        </p:txBody>
      </p:sp>
      <p:cxnSp>
        <p:nvCxnSpPr>
          <p:cNvPr id="191" name="선"/>
          <p:cNvCxnSpPr/>
          <p:nvPr/>
        </p:nvCxnSpPr>
        <p:spPr>
          <a:xfrm>
            <a:off x="12234672" y="8906256"/>
            <a:ext cx="548640" cy="0"/>
          </a:xfrm>
          <a:prstGeom prst="line">
            <a:avLst/>
          </a:prstGeom>
          <a:ln w="19050">
            <a:solidFill>
              <a:srgbClr val="4A556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2" name="라벨"/>
          <p:cNvSpPr txBox="1"/>
          <p:nvPr/>
        </p:nvSpPr>
        <p:spPr>
          <a:xfrm>
            <a:off x="12874752" y="8741664"/>
            <a:ext cx="13716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4 kHz 클럭</a:t>
            </a:r>
          </a:p>
        </p:txBody>
      </p:sp>
      <p:sp>
        <p:nvSpPr>
          <p:cNvPr id="193" name="범례 태그"/>
          <p:cNvSpPr/>
          <p:nvPr/>
        </p:nvSpPr>
        <p:spPr>
          <a:xfrm>
            <a:off x="14292072" y="8759952"/>
            <a:ext cx="502920" cy="274320"/>
          </a:xfrm>
          <a:prstGeom prst="homePlate">
            <a:avLst/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4" name="라벨"/>
          <p:cNvSpPr txBox="1"/>
          <p:nvPr/>
        </p:nvSpPr>
        <p:spPr>
          <a:xfrm>
            <a:off x="14886432" y="8741664"/>
            <a:ext cx="36576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태그 = 보드 핀 · 같은 이름의 신호</a:t>
            </a:r>
          </a:p>
        </p:txBody>
      </p:sp>
      <p:sp>
        <p:nvSpPr>
          <p:cNvPr id="195" name="라벨"/>
          <p:cNvSpPr txBox="1"/>
          <p:nvPr/>
        </p:nvSpPr>
        <p:spPr>
          <a:xfrm>
            <a:off x="841248" y="9189720"/>
            <a:ext cx="155448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명령 형식 : /&lt;명령&gt; &lt;옵션&gt;  ·  /mod  /btn  /get  /auto  /set  /off  →  다음 장부터 명령별 흐름 (켜진 경로만 색, 나머지 회색)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라벨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WTS · SR04 · DHT11 · UART</a:t>
            </a:r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라벨"/>
          <p:cNvSpPr txBox="1"/>
          <p:nvPr/>
        </p:nvSpPr>
        <p:spPr>
          <a:xfrm>
            <a:off x="1042415" y="402336"/>
            <a:ext cx="91440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02  시스템 구조  ·  v2</a:t>
            </a:r>
          </a:p>
        </p:txBody>
      </p:sp>
      <p:sp>
        <p:nvSpPr>
          <p:cNvPr id="5" name="라벨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Top 블록 다이어그램 — UART 명령에서 FND · LED · TX 까지  (v2)</a:t>
            </a:r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7" name="라벨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명령은 RX → 디코더 → 컨트롤러에서 갈라짐 · 모드 비트 / 버튼 / 전송 요청으로 각 모듈 · 화면 · TX 까지</a:t>
            </a:r>
          </a:p>
        </p:txBody>
      </p:sp>
      <p:sp>
        <p:nvSpPr>
          <p:cNvPr id="8" name="라벨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sp>
        <p:nvSpPr>
          <p:cNvPr id="9" name="줄 WTS  스톱워치 · 시계 · 타이머"/>
          <p:cNvSpPr/>
          <p:nvPr/>
        </p:nvSpPr>
        <p:spPr>
          <a:xfrm>
            <a:off x="5806440" y="2487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E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라벨"/>
          <p:cNvSpPr txBox="1"/>
          <p:nvPr/>
        </p:nvSpPr>
        <p:spPr>
          <a:xfrm>
            <a:off x="5916168" y="2514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WTS  스톱워치 · 시계 · 타이머</a:t>
            </a:r>
          </a:p>
        </p:txBody>
      </p:sp>
      <p:sp>
        <p:nvSpPr>
          <p:cNvPr id="11" name="줄 SR04  초음파 거리"/>
          <p:cNvSpPr/>
          <p:nvPr/>
        </p:nvSpPr>
        <p:spPr>
          <a:xfrm>
            <a:off x="5806440" y="3630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라벨"/>
          <p:cNvSpPr txBox="1"/>
          <p:nvPr/>
        </p:nvSpPr>
        <p:spPr>
          <a:xfrm>
            <a:off x="5916168" y="3657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SR04  초음파 거리</a:t>
            </a:r>
          </a:p>
        </p:txBody>
      </p:sp>
      <p:sp>
        <p:nvSpPr>
          <p:cNvPr id="13" name="줄 DHT11  온습도"/>
          <p:cNvSpPr/>
          <p:nvPr/>
        </p:nvSpPr>
        <p:spPr>
          <a:xfrm>
            <a:off x="5806440" y="4773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라벨"/>
          <p:cNvSpPr txBox="1"/>
          <p:nvPr/>
        </p:nvSpPr>
        <p:spPr>
          <a:xfrm>
            <a:off x="5916168" y="4800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DHT11  온습도</a:t>
            </a:r>
          </a:p>
        </p:txBody>
      </p:sp>
      <p:sp>
        <p:nvSpPr>
          <p:cNvPr id="15" name="줄 UART  명령 수신 · 응답 전송  (uart_top)"/>
          <p:cNvSpPr/>
          <p:nvPr/>
        </p:nvSpPr>
        <p:spPr>
          <a:xfrm>
            <a:off x="1600200" y="6355080"/>
            <a:ext cx="15133320" cy="2011680"/>
          </a:xfrm>
          <a:prstGeom prst="roundRect">
            <a:avLst>
              <a:gd name="adj" fmla="val 3636"/>
            </a:avLst>
          </a:prstGeom>
          <a:solidFill>
            <a:srgbClr val="E6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라벨"/>
          <p:cNvSpPr txBox="1"/>
          <p:nvPr/>
        </p:nvSpPr>
        <p:spPr>
          <a:xfrm>
            <a:off x="1709928" y="6382512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UART  명령 수신 · 응답 전송  (uart_top)</a:t>
            </a:r>
          </a:p>
        </p:txBody>
      </p:sp>
      <p:sp>
        <p:nvSpPr>
          <p:cNvPr id="17" name="라벨"/>
          <p:cNvSpPr txBox="1"/>
          <p:nvPr/>
        </p:nvSpPr>
        <p:spPr>
          <a:xfrm>
            <a:off x="11137392" y="6382512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9600 bps · 8N1</a:t>
            </a:r>
          </a:p>
        </p:txBody>
      </p:sp>
      <p:sp>
        <p:nvSpPr>
          <p:cNvPr id="18" name="태그 clk"/>
          <p:cNvSpPr/>
          <p:nvPr/>
        </p:nvSpPr>
        <p:spPr>
          <a:xfrm>
            <a:off x="411480" y="21031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clk</a:t>
            </a:r>
          </a:p>
        </p:txBody>
      </p:sp>
      <p:cxnSp>
        <p:nvCxnSpPr>
          <p:cNvPr id="19" name="선"/>
          <p:cNvCxnSpPr/>
          <p:nvPr/>
        </p:nvCxnSpPr>
        <p:spPr>
          <a:xfrm>
            <a:off x="1417320" y="2249424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블록 clock_tick_generator"/>
          <p:cNvSpPr/>
          <p:nvPr/>
        </p:nvSpPr>
        <p:spPr>
          <a:xfrm>
            <a:off x="1737360" y="2057400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clock_tick_generator</a:t>
            </a:r>
          </a:p>
        </p:txBody>
      </p:sp>
      <p:cxnSp>
        <p:nvCxnSpPr>
          <p:cNvPr id="21" name="선"/>
          <p:cNvCxnSpPr/>
          <p:nvPr/>
        </p:nvCxnSpPr>
        <p:spPr>
          <a:xfrm>
            <a:off x="3429000" y="2249424"/>
            <a:ext cx="11567159" cy="0"/>
          </a:xfrm>
          <a:prstGeom prst="line">
            <a:avLst/>
          </a:prstGeom>
          <a:ln w="19050">
            <a:solidFill>
              <a:srgbClr val="4A556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선"/>
          <p:cNvCxnSpPr/>
          <p:nvPr/>
        </p:nvCxnSpPr>
        <p:spPr>
          <a:xfrm>
            <a:off x="14996159" y="2249424"/>
            <a:ext cx="0" cy="356616"/>
          </a:xfrm>
          <a:prstGeom prst="line">
            <a:avLst/>
          </a:prstGeom>
          <a:ln w="19050">
            <a:solidFill>
              <a:srgbClr val="4A556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라벨"/>
          <p:cNvSpPr txBox="1"/>
          <p:nvPr/>
        </p:nvSpPr>
        <p:spPr>
          <a:xfrm>
            <a:off x="3840480" y="2011680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4 kHz  →  디바운서 · FND 스캔</a:t>
            </a:r>
          </a:p>
        </p:txBody>
      </p:sp>
      <p:cxnSp>
        <p:nvCxnSpPr>
          <p:cNvPr id="24" name="선"/>
          <p:cNvCxnSpPr/>
          <p:nvPr/>
        </p:nvCxnSpPr>
        <p:spPr>
          <a:xfrm>
            <a:off x="2194560" y="2441448"/>
            <a:ext cx="0" cy="118872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태그 btn_R"/>
          <p:cNvSpPr/>
          <p:nvPr/>
        </p:nvSpPr>
        <p:spPr>
          <a:xfrm>
            <a:off x="411480" y="263347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btn_R</a:t>
            </a:r>
          </a:p>
        </p:txBody>
      </p:sp>
      <p:cxnSp>
        <p:nvCxnSpPr>
          <p:cNvPr id="26" name="선"/>
          <p:cNvCxnSpPr/>
          <p:nvPr/>
        </p:nvCxnSpPr>
        <p:spPr>
          <a:xfrm>
            <a:off x="1417320" y="277977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태그 btn_L"/>
          <p:cNvSpPr/>
          <p:nvPr/>
        </p:nvSpPr>
        <p:spPr>
          <a:xfrm>
            <a:off x="411480" y="299923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btn_L</a:t>
            </a:r>
          </a:p>
        </p:txBody>
      </p:sp>
      <p:cxnSp>
        <p:nvCxnSpPr>
          <p:cNvPr id="28" name="선"/>
          <p:cNvCxnSpPr/>
          <p:nvPr/>
        </p:nvCxnSpPr>
        <p:spPr>
          <a:xfrm>
            <a:off x="1417320" y="314553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태그 btn_U"/>
          <p:cNvSpPr/>
          <p:nvPr/>
        </p:nvSpPr>
        <p:spPr>
          <a:xfrm>
            <a:off x="411480" y="3364991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btn_U</a:t>
            </a:r>
          </a:p>
        </p:txBody>
      </p:sp>
      <p:cxnSp>
        <p:nvCxnSpPr>
          <p:cNvPr id="30" name="선"/>
          <p:cNvCxnSpPr/>
          <p:nvPr/>
        </p:nvCxnSpPr>
        <p:spPr>
          <a:xfrm>
            <a:off x="1417320" y="351129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태그 btn_D"/>
          <p:cNvSpPr/>
          <p:nvPr/>
        </p:nvSpPr>
        <p:spPr>
          <a:xfrm>
            <a:off x="411480" y="373075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btn_D</a:t>
            </a:r>
          </a:p>
        </p:txBody>
      </p:sp>
      <p:cxnSp>
        <p:nvCxnSpPr>
          <p:cNvPr id="32" name="선"/>
          <p:cNvCxnSpPr/>
          <p:nvPr/>
        </p:nvCxnSpPr>
        <p:spPr>
          <a:xfrm>
            <a:off x="1417320" y="387705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블록 btn_debounce&#10;×4"/>
          <p:cNvSpPr/>
          <p:nvPr/>
        </p:nvSpPr>
        <p:spPr>
          <a:xfrm>
            <a:off x="1737360" y="2560320"/>
            <a:ext cx="1371600" cy="1481328"/>
          </a:xfrm>
          <a:prstGeom prst="roundRect">
            <a:avLst>
              <a:gd name="adj" fmla="val 5333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btn_debounce</a:t>
            </a:r>
          </a:p>
          <a:p>
            <a:pPr algn="ctr"/>
            <a:r>
              <a:rPr sz="12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×4</a:t>
            </a:r>
          </a:p>
        </p:txBody>
      </p:sp>
      <p:cxnSp>
        <p:nvCxnSpPr>
          <p:cNvPr id="34" name="선"/>
          <p:cNvCxnSpPr/>
          <p:nvPr/>
        </p:nvCxnSpPr>
        <p:spPr>
          <a:xfrm>
            <a:off x="3108960" y="3163824"/>
            <a:ext cx="868679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라벨"/>
          <p:cNvSpPr txBox="1"/>
          <p:nvPr/>
        </p:nvSpPr>
        <p:spPr>
          <a:xfrm>
            <a:off x="3182112" y="2907792"/>
            <a:ext cx="8229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phy_btn</a:t>
            </a:r>
          </a:p>
        </p:txBody>
      </p:sp>
      <p:sp>
        <p:nvSpPr>
          <p:cNvPr id="36" name="게이트"/>
          <p:cNvSpPr/>
          <p:nvPr/>
        </p:nvSpPr>
        <p:spPr>
          <a:xfrm>
            <a:off x="3977639" y="3026664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≥1</a:t>
            </a:r>
          </a:p>
        </p:txBody>
      </p:sp>
      <p:cxnSp>
        <p:nvCxnSpPr>
          <p:cNvPr id="37" name="선"/>
          <p:cNvCxnSpPr/>
          <p:nvPr/>
        </p:nvCxnSpPr>
        <p:spPr>
          <a:xfrm>
            <a:off x="4526280" y="3300984"/>
            <a:ext cx="182880" cy="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선"/>
          <p:cNvCxnSpPr/>
          <p:nvPr/>
        </p:nvCxnSpPr>
        <p:spPr>
          <a:xfrm>
            <a:off x="4709160" y="2967228"/>
            <a:ext cx="0" cy="2285999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접점"/>
          <p:cNvSpPr/>
          <p:nvPr/>
        </p:nvSpPr>
        <p:spPr>
          <a:xfrm>
            <a:off x="4668012" y="3259836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선"/>
          <p:cNvCxnSpPr/>
          <p:nvPr/>
        </p:nvCxnSpPr>
        <p:spPr>
          <a:xfrm>
            <a:off x="3611880" y="4965192"/>
            <a:ext cx="1280160" cy="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선"/>
          <p:cNvCxnSpPr/>
          <p:nvPr/>
        </p:nvCxnSpPr>
        <p:spPr>
          <a:xfrm>
            <a:off x="4892040" y="3241548"/>
            <a:ext cx="0" cy="228600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접점"/>
          <p:cNvSpPr/>
          <p:nvPr/>
        </p:nvSpPr>
        <p:spPr>
          <a:xfrm>
            <a:off x="4850892" y="4924044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3" name="선"/>
          <p:cNvCxnSpPr/>
          <p:nvPr/>
        </p:nvCxnSpPr>
        <p:spPr>
          <a:xfrm>
            <a:off x="4709160" y="2967228"/>
            <a:ext cx="36576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선"/>
          <p:cNvCxnSpPr/>
          <p:nvPr/>
        </p:nvCxnSpPr>
        <p:spPr>
          <a:xfrm>
            <a:off x="4892040" y="3241548"/>
            <a:ext cx="18288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접점"/>
          <p:cNvSpPr/>
          <p:nvPr/>
        </p:nvSpPr>
        <p:spPr>
          <a:xfrm>
            <a:off x="4850892" y="3200400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게이트"/>
          <p:cNvSpPr/>
          <p:nvPr/>
        </p:nvSpPr>
        <p:spPr>
          <a:xfrm>
            <a:off x="5074920" y="2830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47" name="라벨"/>
          <p:cNvSpPr txBox="1"/>
          <p:nvPr/>
        </p:nvSpPr>
        <p:spPr>
          <a:xfrm>
            <a:off x="5029200" y="33878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mode_wts</a:t>
            </a:r>
          </a:p>
        </p:txBody>
      </p:sp>
      <p:cxnSp>
        <p:nvCxnSpPr>
          <p:cNvPr id="48" name="선"/>
          <p:cNvCxnSpPr/>
          <p:nvPr/>
        </p:nvCxnSpPr>
        <p:spPr>
          <a:xfrm>
            <a:off x="5623560" y="3104388"/>
            <a:ext cx="731520" cy="0"/>
          </a:xfrm>
          <a:prstGeom prst="line">
            <a:avLst/>
          </a:prstGeom>
          <a:ln w="190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라벨"/>
          <p:cNvSpPr txBox="1"/>
          <p:nvPr/>
        </p:nvSpPr>
        <p:spPr>
          <a:xfrm>
            <a:off x="5669280" y="2839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R·L·U·D</a:t>
            </a:r>
          </a:p>
        </p:txBody>
      </p:sp>
      <p:cxnSp>
        <p:nvCxnSpPr>
          <p:cNvPr id="50" name="선"/>
          <p:cNvCxnSpPr/>
          <p:nvPr/>
        </p:nvCxnSpPr>
        <p:spPr>
          <a:xfrm>
            <a:off x="4709160" y="4110228"/>
            <a:ext cx="36576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접점"/>
          <p:cNvSpPr/>
          <p:nvPr/>
        </p:nvSpPr>
        <p:spPr>
          <a:xfrm>
            <a:off x="4668012" y="4069080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2" name="선"/>
          <p:cNvCxnSpPr/>
          <p:nvPr/>
        </p:nvCxnSpPr>
        <p:spPr>
          <a:xfrm>
            <a:off x="4892040" y="4384548"/>
            <a:ext cx="18288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접점"/>
          <p:cNvSpPr/>
          <p:nvPr/>
        </p:nvSpPr>
        <p:spPr>
          <a:xfrm>
            <a:off x="4850892" y="4343400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게이트"/>
          <p:cNvSpPr/>
          <p:nvPr/>
        </p:nvSpPr>
        <p:spPr>
          <a:xfrm>
            <a:off x="5074920" y="3973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55" name="라벨"/>
          <p:cNvSpPr txBox="1"/>
          <p:nvPr/>
        </p:nvSpPr>
        <p:spPr>
          <a:xfrm>
            <a:off x="5029200" y="45308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mode_dist</a:t>
            </a:r>
          </a:p>
        </p:txBody>
      </p:sp>
      <p:cxnSp>
        <p:nvCxnSpPr>
          <p:cNvPr id="56" name="선"/>
          <p:cNvCxnSpPr/>
          <p:nvPr/>
        </p:nvCxnSpPr>
        <p:spPr>
          <a:xfrm>
            <a:off x="5623560" y="4247388"/>
            <a:ext cx="731520" cy="0"/>
          </a:xfrm>
          <a:prstGeom prst="line">
            <a:avLst/>
          </a:prstGeom>
          <a:ln w="19050">
            <a:solidFill>
              <a:srgbClr val="2B6C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라벨"/>
          <p:cNvSpPr txBox="1"/>
          <p:nvPr/>
        </p:nvSpPr>
        <p:spPr>
          <a:xfrm>
            <a:off x="5669280" y="3982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cxnSp>
        <p:nvCxnSpPr>
          <p:cNvPr id="58" name="선"/>
          <p:cNvCxnSpPr/>
          <p:nvPr/>
        </p:nvCxnSpPr>
        <p:spPr>
          <a:xfrm>
            <a:off x="4709160" y="5253227"/>
            <a:ext cx="36576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접점"/>
          <p:cNvSpPr/>
          <p:nvPr/>
        </p:nvSpPr>
        <p:spPr>
          <a:xfrm>
            <a:off x="4668012" y="5212079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0" name="선"/>
          <p:cNvCxnSpPr/>
          <p:nvPr/>
        </p:nvCxnSpPr>
        <p:spPr>
          <a:xfrm>
            <a:off x="4892040" y="5527548"/>
            <a:ext cx="18288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게이트"/>
          <p:cNvSpPr/>
          <p:nvPr/>
        </p:nvSpPr>
        <p:spPr>
          <a:xfrm>
            <a:off x="5074920" y="5116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62" name="라벨"/>
          <p:cNvSpPr txBox="1"/>
          <p:nvPr/>
        </p:nvSpPr>
        <p:spPr>
          <a:xfrm>
            <a:off x="5029200" y="5673851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mode_dht</a:t>
            </a:r>
          </a:p>
        </p:txBody>
      </p:sp>
      <p:cxnSp>
        <p:nvCxnSpPr>
          <p:cNvPr id="63" name="선"/>
          <p:cNvCxnSpPr/>
          <p:nvPr/>
        </p:nvCxnSpPr>
        <p:spPr>
          <a:xfrm>
            <a:off x="5623560" y="5390388"/>
            <a:ext cx="731520" cy="0"/>
          </a:xfrm>
          <a:prstGeom prst="line">
            <a:avLst/>
          </a:prstGeom>
          <a:ln w="19050">
            <a:solidFill>
              <a:srgbClr val="C056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라벨"/>
          <p:cNvSpPr txBox="1"/>
          <p:nvPr/>
        </p:nvSpPr>
        <p:spPr>
          <a:xfrm>
            <a:off x="5669280" y="5125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sp>
        <p:nvSpPr>
          <p:cNvPr id="65" name="모드 선택 칸"/>
          <p:cNvSpPr/>
          <p:nvPr/>
        </p:nvSpPr>
        <p:spPr>
          <a:xfrm>
            <a:off x="1600200" y="4160520"/>
            <a:ext cx="2103120" cy="1481328"/>
          </a:xfrm>
          <a:prstGeom prst="roundRect">
            <a:avLst>
              <a:gd name="adj" fmla="val 4938"/>
            </a:avLst>
          </a:prstGeom>
          <a:solidFill>
            <a:srgbClr val="FBFBFC"/>
          </a:solidFill>
          <a:ln w="12700">
            <a:solidFill>
              <a:srgbClr val="C8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라벨"/>
          <p:cNvSpPr txBox="1"/>
          <p:nvPr/>
        </p:nvSpPr>
        <p:spPr>
          <a:xfrm>
            <a:off x="1664208" y="417880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모드 선택</a:t>
            </a:r>
          </a:p>
        </p:txBody>
      </p:sp>
      <p:sp>
        <p:nvSpPr>
          <p:cNvPr id="67" name="태그 sw0 ~ sw6"/>
          <p:cNvSpPr/>
          <p:nvPr/>
        </p:nvSpPr>
        <p:spPr>
          <a:xfrm>
            <a:off x="411480" y="4498848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sw0 ~ sw6</a:t>
            </a:r>
          </a:p>
        </p:txBody>
      </p:sp>
      <p:cxnSp>
        <p:nvCxnSpPr>
          <p:cNvPr id="68" name="선"/>
          <p:cNvCxnSpPr/>
          <p:nvPr/>
        </p:nvCxnSpPr>
        <p:spPr>
          <a:xfrm>
            <a:off x="1417320" y="4645152"/>
            <a:ext cx="5486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MUX 모드"/>
          <p:cNvSpPr/>
          <p:nvPr/>
        </p:nvSpPr>
        <p:spPr>
          <a:xfrm>
            <a:off x="1965960" y="4480560"/>
            <a:ext cx="457200" cy="987552"/>
          </a:xfrm>
          <a:custGeom>
            <a:avLst/>
            <a:gdLst/>
            <a:ahLst/>
            <a:cxnLst/>
            <a:rect l="l" t="t" r="r" b="b"/>
            <a:pathLst>
              <a:path w="457200" h="987552">
                <a:moveTo>
                  <a:pt x="0" y="0"/>
                </a:moveTo>
                <a:lnTo>
                  <a:pt x="457200" y="109728"/>
                </a:lnTo>
                <a:lnTo>
                  <a:pt x="457200" y="877824"/>
                </a:lnTo>
                <a:lnTo>
                  <a:pt x="0" y="987552"/>
                </a:lnTo>
                <a:lnTo>
                  <a:pt x="0" y="0"/>
                </a:lnTo>
                <a:close/>
              </a:path>
            </a:pathLst>
          </a:cu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라벨"/>
          <p:cNvSpPr txBox="1"/>
          <p:nvPr/>
        </p:nvSpPr>
        <p:spPr>
          <a:xfrm>
            <a:off x="2020824" y="4526280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71" name="라벨"/>
          <p:cNvSpPr txBox="1"/>
          <p:nvPr/>
        </p:nvSpPr>
        <p:spPr>
          <a:xfrm>
            <a:off x="2020824" y="5093208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72" name="라벨"/>
          <p:cNvSpPr txBox="1"/>
          <p:nvPr/>
        </p:nvSpPr>
        <p:spPr>
          <a:xfrm>
            <a:off x="2423160" y="418795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2:1 × 7 bit</a:t>
            </a:r>
          </a:p>
        </p:txBody>
      </p:sp>
      <p:cxnSp>
        <p:nvCxnSpPr>
          <p:cNvPr id="73" name="선"/>
          <p:cNvCxnSpPr/>
          <p:nvPr/>
        </p:nvCxnSpPr>
        <p:spPr>
          <a:xfrm>
            <a:off x="2423160" y="4965192"/>
            <a:ext cx="27432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블록 모드&#10;디코드"/>
          <p:cNvSpPr/>
          <p:nvPr/>
        </p:nvSpPr>
        <p:spPr>
          <a:xfrm>
            <a:off x="2697480" y="4663440"/>
            <a:ext cx="914400" cy="603504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모드</a:t>
            </a:r>
          </a:p>
          <a:p>
            <a:pPr algn="ctr"/>
            <a:r>
              <a:rPr sz="11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디코드</a:t>
            </a:r>
          </a:p>
        </p:txBody>
      </p:sp>
      <p:sp>
        <p:nvSpPr>
          <p:cNvPr id="75" name="라벨"/>
          <p:cNvSpPr txBox="1"/>
          <p:nvPr/>
        </p:nvSpPr>
        <p:spPr>
          <a:xfrm>
            <a:off x="2331720" y="5340096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→ mode_* · disp_sel</a:t>
            </a:r>
          </a:p>
        </p:txBody>
      </p:sp>
      <p:sp>
        <p:nvSpPr>
          <p:cNvPr id="76" name="블록 wts_top"/>
          <p:cNvSpPr/>
          <p:nvPr/>
        </p:nvSpPr>
        <p:spPr>
          <a:xfrm>
            <a:off x="6355080" y="2761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FFFFF"/>
          </a:solidFill>
          <a:ln w="1905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wts_top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control_unit · datapath × 3</a:t>
            </a:r>
          </a:p>
        </p:txBody>
      </p:sp>
      <p:cxnSp>
        <p:nvCxnSpPr>
          <p:cNvPr id="77" name="선"/>
          <p:cNvCxnSpPr/>
          <p:nvPr/>
        </p:nvCxnSpPr>
        <p:spPr>
          <a:xfrm>
            <a:off x="8549640" y="3104388"/>
            <a:ext cx="3611880" cy="0"/>
          </a:xfrm>
          <a:prstGeom prst="line">
            <a:avLst/>
          </a:prstGeom>
          <a:ln w="190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라벨"/>
          <p:cNvSpPr txBox="1"/>
          <p:nvPr/>
        </p:nvSpPr>
        <p:spPr>
          <a:xfrm>
            <a:off x="8686800" y="2839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disp  시 · 분 · 초 · 1/100</a:t>
            </a:r>
          </a:p>
        </p:txBody>
      </p:sp>
      <p:sp>
        <p:nvSpPr>
          <p:cNvPr id="79" name="라벨"/>
          <p:cNvSpPr txBox="1"/>
          <p:nvPr/>
        </p:nvSpPr>
        <p:spPr>
          <a:xfrm>
            <a:off x="8686800" y="3150108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← ctrl_bit[4:0]  (sw0 · sw1 · sw2 · sw3 · sw4)</a:t>
            </a:r>
          </a:p>
        </p:txBody>
      </p:sp>
      <p:sp>
        <p:nvSpPr>
          <p:cNvPr id="80" name="블록 sr04_top"/>
          <p:cNvSpPr/>
          <p:nvPr/>
        </p:nvSpPr>
        <p:spPr>
          <a:xfrm>
            <a:off x="6355080" y="3904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FFFFF"/>
          </a:solidFill>
          <a:ln w="1905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sr04_top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core · mode_ctrl · led_bar</a:t>
            </a:r>
          </a:p>
        </p:txBody>
      </p:sp>
      <p:cxnSp>
        <p:nvCxnSpPr>
          <p:cNvPr id="81" name="선"/>
          <p:cNvCxnSpPr/>
          <p:nvPr/>
        </p:nvCxnSpPr>
        <p:spPr>
          <a:xfrm>
            <a:off x="8549640" y="4247388"/>
            <a:ext cx="3611880" cy="0"/>
          </a:xfrm>
          <a:prstGeom prst="line">
            <a:avLst/>
          </a:prstGeom>
          <a:ln w="19050">
            <a:solidFill>
              <a:srgbClr val="2B6C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라벨"/>
          <p:cNvSpPr txBox="1"/>
          <p:nvPr/>
        </p:nvSpPr>
        <p:spPr>
          <a:xfrm>
            <a:off x="8686800" y="3982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distance_x10 · err · status</a:t>
            </a:r>
          </a:p>
        </p:txBody>
      </p:sp>
      <p:sp>
        <p:nvSpPr>
          <p:cNvPr id="83" name="라벨"/>
          <p:cNvSpPr txBox="1"/>
          <p:nvPr/>
        </p:nvSpPr>
        <p:spPr>
          <a:xfrm>
            <a:off x="8686800" y="4293108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trig → JA1 · echo ← JA2 · sw15 = 거리 막대 LED</a:t>
            </a:r>
          </a:p>
        </p:txBody>
      </p:sp>
      <p:sp>
        <p:nvSpPr>
          <p:cNvPr id="84" name="블록 dht11_top"/>
          <p:cNvSpPr/>
          <p:nvPr/>
        </p:nvSpPr>
        <p:spPr>
          <a:xfrm>
            <a:off x="6355080" y="5047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FFFFF"/>
          </a:solidFill>
          <a:ln w="19050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dht11_top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core · controller · manager</a:t>
            </a:r>
          </a:p>
        </p:txBody>
      </p:sp>
      <p:cxnSp>
        <p:nvCxnSpPr>
          <p:cNvPr id="85" name="선"/>
          <p:cNvCxnSpPr/>
          <p:nvPr/>
        </p:nvCxnSpPr>
        <p:spPr>
          <a:xfrm>
            <a:off x="8549640" y="5390388"/>
            <a:ext cx="3611880" cy="0"/>
          </a:xfrm>
          <a:prstGeom prst="line">
            <a:avLst/>
          </a:prstGeom>
          <a:ln w="19050">
            <a:solidFill>
              <a:srgbClr val="C056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라벨"/>
          <p:cNvSpPr txBox="1"/>
          <p:nvPr/>
        </p:nvSpPr>
        <p:spPr>
          <a:xfrm>
            <a:off x="8686800" y="5125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fnd_data · dashes · err</a:t>
            </a:r>
          </a:p>
        </p:txBody>
      </p:sp>
      <p:sp>
        <p:nvSpPr>
          <p:cNvPr id="87" name="라벨"/>
          <p:cNvSpPr txBox="1"/>
          <p:nvPr/>
        </p:nvSpPr>
        <p:spPr>
          <a:xfrm>
            <a:off x="8686800" y="5436107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dht11_io ↔ JXADC3 (M2)</a:t>
            </a:r>
          </a:p>
        </p:txBody>
      </p:sp>
      <p:sp>
        <p:nvSpPr>
          <p:cNvPr id="88" name="MUX FND"/>
          <p:cNvSpPr/>
          <p:nvPr/>
        </p:nvSpPr>
        <p:spPr>
          <a:xfrm>
            <a:off x="12161520" y="2606040"/>
            <a:ext cx="640080" cy="3108960"/>
          </a:xfrm>
          <a:custGeom>
            <a:avLst/>
            <a:gdLst/>
            <a:ahLst/>
            <a:cxnLst/>
            <a:rect l="l" t="t" r="r" b="b"/>
            <a:pathLst>
              <a:path w="640080" h="3108960">
                <a:moveTo>
                  <a:pt x="0" y="0"/>
                </a:moveTo>
                <a:lnTo>
                  <a:pt x="640080" y="228600"/>
                </a:lnTo>
                <a:lnTo>
                  <a:pt x="640080" y="2880360"/>
                </a:lnTo>
                <a:lnTo>
                  <a:pt x="0" y="3108960"/>
                </a:lnTo>
                <a:lnTo>
                  <a:pt x="0" y="0"/>
                </a:lnTo>
                <a:close/>
              </a:path>
            </a:pathLst>
          </a:custGeom>
          <a:solidFill>
            <a:srgbClr val="F3EEFF"/>
          </a:solidFill>
          <a:ln w="19050">
            <a:solidFill>
              <a:srgbClr val="6B4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라벨"/>
          <p:cNvSpPr txBox="1"/>
          <p:nvPr/>
        </p:nvSpPr>
        <p:spPr>
          <a:xfrm>
            <a:off x="12216384" y="298551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90" name="라벨"/>
          <p:cNvSpPr txBox="1"/>
          <p:nvPr/>
        </p:nvSpPr>
        <p:spPr>
          <a:xfrm>
            <a:off x="12216384" y="412851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1" name="라벨"/>
          <p:cNvSpPr txBox="1"/>
          <p:nvPr/>
        </p:nvSpPr>
        <p:spPr>
          <a:xfrm>
            <a:off x="12216384" y="527151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92" name="라벨"/>
          <p:cNvSpPr txBox="1"/>
          <p:nvPr/>
        </p:nvSpPr>
        <p:spPr>
          <a:xfrm>
            <a:off x="11978640" y="5742432"/>
            <a:ext cx="2011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FND MUX  3:1 × 25 bit</a:t>
            </a:r>
          </a:p>
        </p:txBody>
      </p:sp>
      <p:sp>
        <p:nvSpPr>
          <p:cNvPr id="93" name="라벨"/>
          <p:cNvSpPr txBox="1"/>
          <p:nvPr/>
        </p:nvSpPr>
        <p:spPr>
          <a:xfrm>
            <a:off x="11978640" y="5961888"/>
            <a:ext cx="2011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sel = disp_sel (2 bit)</a:t>
            </a:r>
          </a:p>
        </p:txBody>
      </p:sp>
      <p:cxnSp>
        <p:nvCxnSpPr>
          <p:cNvPr id="94" name="선"/>
          <p:cNvCxnSpPr/>
          <p:nvPr/>
        </p:nvCxnSpPr>
        <p:spPr>
          <a:xfrm>
            <a:off x="12801600" y="3017520"/>
            <a:ext cx="1280160" cy="0"/>
          </a:xfrm>
          <a:prstGeom prst="line">
            <a:avLst/>
          </a:prstGeom>
          <a:ln w="19050">
            <a:solidFill>
              <a:srgbClr val="6B46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라벨"/>
          <p:cNvSpPr txBox="1"/>
          <p:nvPr/>
        </p:nvSpPr>
        <p:spPr>
          <a:xfrm>
            <a:off x="12874752" y="277063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fnd_data</a:t>
            </a:r>
          </a:p>
        </p:txBody>
      </p:sp>
      <p:sp>
        <p:nvSpPr>
          <p:cNvPr id="96" name="블록 FND&#10;컨트롤러"/>
          <p:cNvSpPr/>
          <p:nvPr/>
        </p:nvSpPr>
        <p:spPr>
          <a:xfrm>
            <a:off x="14081760" y="2606040"/>
            <a:ext cx="182880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9050">
            <a:solidFill>
              <a:srgbClr val="6B4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FND</a:t>
            </a:r>
          </a:p>
          <a:p>
            <a:pPr algn="ctr"/>
            <a:r>
              <a:rPr sz="14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컨트롤러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SW2_FND_CONTROLLER</a:t>
            </a:r>
          </a:p>
        </p:txBody>
      </p:sp>
      <p:sp>
        <p:nvSpPr>
          <p:cNvPr id="97" name="태그 disp_sel"/>
          <p:cNvSpPr/>
          <p:nvPr/>
        </p:nvSpPr>
        <p:spPr>
          <a:xfrm>
            <a:off x="13167360" y="325526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98" name="태그 wt_cursor"/>
          <p:cNvSpPr/>
          <p:nvPr/>
        </p:nvSpPr>
        <p:spPr>
          <a:xfrm>
            <a:off x="13167360" y="354787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wt_cursor</a:t>
            </a:r>
          </a:p>
        </p:txBody>
      </p:sp>
      <p:sp>
        <p:nvSpPr>
          <p:cNvPr id="99" name="태그 set_sw2"/>
          <p:cNvSpPr/>
          <p:nvPr/>
        </p:nvSpPr>
        <p:spPr>
          <a:xfrm>
            <a:off x="13167360" y="384048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set_sw2</a:t>
            </a:r>
          </a:p>
        </p:txBody>
      </p:sp>
      <p:cxnSp>
        <p:nvCxnSpPr>
          <p:cNvPr id="100" name="선"/>
          <p:cNvCxnSpPr/>
          <p:nvPr/>
        </p:nvCxnSpPr>
        <p:spPr>
          <a:xfrm>
            <a:off x="15910559" y="3054096"/>
            <a:ext cx="411481" cy="0"/>
          </a:xfrm>
          <a:prstGeom prst="line">
            <a:avLst/>
          </a:prstGeom>
          <a:ln w="19050">
            <a:solidFill>
              <a:srgbClr val="6B46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태그 fnd_com"/>
          <p:cNvSpPr/>
          <p:nvPr/>
        </p:nvSpPr>
        <p:spPr>
          <a:xfrm>
            <a:off x="16322040" y="29077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fnd_com</a:t>
            </a:r>
          </a:p>
        </p:txBody>
      </p:sp>
      <p:cxnSp>
        <p:nvCxnSpPr>
          <p:cNvPr id="102" name="선"/>
          <p:cNvCxnSpPr/>
          <p:nvPr/>
        </p:nvCxnSpPr>
        <p:spPr>
          <a:xfrm>
            <a:off x="15910559" y="3739896"/>
            <a:ext cx="411481" cy="0"/>
          </a:xfrm>
          <a:prstGeom prst="line">
            <a:avLst/>
          </a:prstGeom>
          <a:ln w="19050">
            <a:solidFill>
              <a:srgbClr val="6B46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태그 fnd_font"/>
          <p:cNvSpPr/>
          <p:nvPr/>
        </p:nvSpPr>
        <p:spPr>
          <a:xfrm>
            <a:off x="16322040" y="35935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fnd_font</a:t>
            </a:r>
          </a:p>
        </p:txBody>
      </p:sp>
      <p:sp>
        <p:nvSpPr>
          <p:cNvPr id="104" name="블록 LED 로직"/>
          <p:cNvSpPr/>
          <p:nvPr/>
        </p:nvSpPr>
        <p:spPr>
          <a:xfrm>
            <a:off x="14081760" y="4343400"/>
            <a:ext cx="1828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6B4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 로직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led_output</a:t>
            </a:r>
          </a:p>
        </p:txBody>
      </p:sp>
      <p:sp>
        <p:nvSpPr>
          <p:cNvPr id="105" name="태그 disp_sel"/>
          <p:cNvSpPr/>
          <p:nvPr/>
        </p:nvSpPr>
        <p:spPr>
          <a:xfrm>
            <a:off x="13167360" y="4425696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106" name="태그 WTS 신호"/>
          <p:cNvSpPr/>
          <p:nvPr/>
        </p:nvSpPr>
        <p:spPr>
          <a:xfrm>
            <a:off x="13167360" y="471830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WTS 신호</a:t>
            </a:r>
          </a:p>
        </p:txBody>
      </p:sp>
      <p:sp>
        <p:nvSpPr>
          <p:cNvPr id="107" name="태그 sr04_led"/>
          <p:cNvSpPr/>
          <p:nvPr/>
        </p:nvSpPr>
        <p:spPr>
          <a:xfrm>
            <a:off x="13167360" y="501091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sr04_led</a:t>
            </a:r>
          </a:p>
        </p:txBody>
      </p:sp>
      <p:sp>
        <p:nvSpPr>
          <p:cNvPr id="108" name="태그 dht_led"/>
          <p:cNvSpPr/>
          <p:nvPr/>
        </p:nvSpPr>
        <p:spPr>
          <a:xfrm>
            <a:off x="13167360" y="530352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dht_led</a:t>
            </a:r>
          </a:p>
        </p:txBody>
      </p:sp>
      <p:cxnSp>
        <p:nvCxnSpPr>
          <p:cNvPr id="109" name="선"/>
          <p:cNvCxnSpPr/>
          <p:nvPr/>
        </p:nvCxnSpPr>
        <p:spPr>
          <a:xfrm>
            <a:off x="15910559" y="5029200"/>
            <a:ext cx="411481" cy="0"/>
          </a:xfrm>
          <a:prstGeom prst="line">
            <a:avLst/>
          </a:prstGeom>
          <a:ln w="19050">
            <a:solidFill>
              <a:srgbClr val="6B46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태그 led[15:0]"/>
          <p:cNvSpPr/>
          <p:nvPr/>
        </p:nvSpPr>
        <p:spPr>
          <a:xfrm>
            <a:off x="16322040" y="4882896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led[15:0]</a:t>
            </a:r>
          </a:p>
        </p:txBody>
      </p:sp>
      <p:sp>
        <p:nvSpPr>
          <p:cNvPr id="111" name="태그 rx"/>
          <p:cNvSpPr/>
          <p:nvPr/>
        </p:nvSpPr>
        <p:spPr>
          <a:xfrm>
            <a:off x="411480" y="69037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rx</a:t>
            </a:r>
          </a:p>
        </p:txBody>
      </p:sp>
      <p:cxnSp>
        <p:nvCxnSpPr>
          <p:cNvPr id="112" name="선"/>
          <p:cNvCxnSpPr/>
          <p:nvPr/>
        </p:nvCxnSpPr>
        <p:spPr>
          <a:xfrm>
            <a:off x="1417320" y="7050024"/>
            <a:ext cx="365760" cy="0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블록 uart_rx"/>
          <p:cNvSpPr/>
          <p:nvPr/>
        </p:nvSpPr>
        <p:spPr>
          <a:xfrm>
            <a:off x="1783080" y="6766560"/>
            <a:ext cx="118872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uart_rx</a:t>
            </a:r>
          </a:p>
        </p:txBody>
      </p:sp>
      <p:cxnSp>
        <p:nvCxnSpPr>
          <p:cNvPr id="114" name="선"/>
          <p:cNvCxnSpPr/>
          <p:nvPr/>
        </p:nvCxnSpPr>
        <p:spPr>
          <a:xfrm>
            <a:off x="2971800" y="7050024"/>
            <a:ext cx="274320" cy="0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블록 fifo"/>
          <p:cNvSpPr/>
          <p:nvPr/>
        </p:nvSpPr>
        <p:spPr>
          <a:xfrm>
            <a:off x="3246120" y="6766560"/>
            <a:ext cx="91440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RX × 8</a:t>
            </a:r>
          </a:p>
        </p:txBody>
      </p:sp>
      <p:cxnSp>
        <p:nvCxnSpPr>
          <p:cNvPr id="116" name="선"/>
          <p:cNvCxnSpPr/>
          <p:nvPr/>
        </p:nvCxnSpPr>
        <p:spPr>
          <a:xfrm>
            <a:off x="4160520" y="7050024"/>
            <a:ext cx="274320" cy="0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블록 ASCII_DECODER"/>
          <p:cNvSpPr/>
          <p:nvPr/>
        </p:nvSpPr>
        <p:spPr>
          <a:xfrm>
            <a:off x="4434840" y="6675120"/>
            <a:ext cx="18288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905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ASCII_DECODER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/명령 + 옵션 파싱</a:t>
            </a:r>
          </a:p>
        </p:txBody>
      </p:sp>
      <p:cxnSp>
        <p:nvCxnSpPr>
          <p:cNvPr id="118" name="선"/>
          <p:cNvCxnSpPr/>
          <p:nvPr/>
        </p:nvCxnSpPr>
        <p:spPr>
          <a:xfrm>
            <a:off x="6263640" y="7050024"/>
            <a:ext cx="502920" cy="0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블록 baud_tick_gen"/>
          <p:cNvSpPr/>
          <p:nvPr/>
        </p:nvSpPr>
        <p:spPr>
          <a:xfrm>
            <a:off x="1783080" y="7680960"/>
            <a:ext cx="1188720" cy="5303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baud_tick_gen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9600 × 16</a:t>
            </a:r>
          </a:p>
        </p:txBody>
      </p:sp>
      <p:cxnSp>
        <p:nvCxnSpPr>
          <p:cNvPr id="120" name="선"/>
          <p:cNvCxnSpPr/>
          <p:nvPr/>
        </p:nvCxnSpPr>
        <p:spPr>
          <a:xfrm flipV="1">
            <a:off x="2377440" y="7333488"/>
            <a:ext cx="0" cy="347472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라벨"/>
          <p:cNvSpPr txBox="1"/>
          <p:nvPr/>
        </p:nvSpPr>
        <p:spPr>
          <a:xfrm>
            <a:off x="3063240" y="782726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→ RX · TX 공용</a:t>
            </a:r>
          </a:p>
        </p:txBody>
      </p:sp>
      <p:sp>
        <p:nvSpPr>
          <p:cNvPr id="122" name="블록 UART_CONTROLLER"/>
          <p:cNvSpPr/>
          <p:nvPr/>
        </p:nvSpPr>
        <p:spPr>
          <a:xfrm>
            <a:off x="6766560" y="6675120"/>
            <a:ext cx="2377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UART_CONTROLLER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mode · auto · btn FSM</a:t>
            </a:r>
          </a:p>
        </p:txBody>
      </p:sp>
      <p:sp>
        <p:nvSpPr>
          <p:cNvPr id="123" name="태그 phy_btn"/>
          <p:cNvSpPr/>
          <p:nvPr/>
        </p:nvSpPr>
        <p:spPr>
          <a:xfrm>
            <a:off x="5870448" y="7498079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phy_btn</a:t>
            </a:r>
          </a:p>
        </p:txBody>
      </p:sp>
      <p:sp>
        <p:nvSpPr>
          <p:cNvPr id="124" name="라벨"/>
          <p:cNvSpPr txBox="1"/>
          <p:nvPr/>
        </p:nvSpPr>
        <p:spPr>
          <a:xfrm>
            <a:off x="3950208" y="750722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같은 clk 면 물리 먼저</a:t>
            </a:r>
          </a:p>
        </p:txBody>
      </p:sp>
      <p:cxnSp>
        <p:nvCxnSpPr>
          <p:cNvPr id="125" name="선"/>
          <p:cNvCxnSpPr/>
          <p:nvPr/>
        </p:nvCxnSpPr>
        <p:spPr>
          <a:xfrm flipV="1">
            <a:off x="6903720" y="6217920"/>
            <a:ext cx="0" cy="457200"/>
          </a:xfrm>
          <a:prstGeom prst="line">
            <a:avLst/>
          </a:prstGeom>
          <a:ln w="190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선"/>
          <p:cNvCxnSpPr/>
          <p:nvPr/>
        </p:nvCxnSpPr>
        <p:spPr>
          <a:xfrm flipH="1">
            <a:off x="1691640" y="6217920"/>
            <a:ext cx="5212080" cy="0"/>
          </a:xfrm>
          <a:prstGeom prst="line">
            <a:avLst/>
          </a:prstGeom>
          <a:ln w="190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선"/>
          <p:cNvCxnSpPr/>
          <p:nvPr/>
        </p:nvCxnSpPr>
        <p:spPr>
          <a:xfrm flipV="1">
            <a:off x="1691640" y="5212080"/>
            <a:ext cx="0" cy="1005840"/>
          </a:xfrm>
          <a:prstGeom prst="line">
            <a:avLst/>
          </a:prstGeom>
          <a:ln w="190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선"/>
          <p:cNvCxnSpPr/>
          <p:nvPr/>
        </p:nvCxnSpPr>
        <p:spPr>
          <a:xfrm>
            <a:off x="1691640" y="5212080"/>
            <a:ext cx="274320" cy="0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라벨"/>
          <p:cNvSpPr txBox="1"/>
          <p:nvPr/>
        </p:nvSpPr>
        <p:spPr>
          <a:xfrm>
            <a:off x="3931920" y="623620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module_control_bit[6:0]</a:t>
            </a:r>
          </a:p>
        </p:txBody>
      </p:sp>
      <p:cxnSp>
        <p:nvCxnSpPr>
          <p:cNvPr id="130" name="선"/>
          <p:cNvCxnSpPr/>
          <p:nvPr/>
        </p:nvCxnSpPr>
        <p:spPr>
          <a:xfrm flipV="1">
            <a:off x="7178040" y="6080760"/>
            <a:ext cx="0" cy="594360"/>
          </a:xfrm>
          <a:prstGeom prst="line">
            <a:avLst/>
          </a:prstGeom>
          <a:ln w="190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선"/>
          <p:cNvCxnSpPr/>
          <p:nvPr/>
        </p:nvCxnSpPr>
        <p:spPr>
          <a:xfrm flipH="1">
            <a:off x="2194560" y="6080760"/>
            <a:ext cx="4983480" cy="0"/>
          </a:xfrm>
          <a:prstGeom prst="line">
            <a:avLst/>
          </a:prstGeom>
          <a:ln w="190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선"/>
          <p:cNvCxnSpPr/>
          <p:nvPr/>
        </p:nvCxnSpPr>
        <p:spPr>
          <a:xfrm flipV="1">
            <a:off x="2194560" y="5413248"/>
            <a:ext cx="0" cy="667512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라벨"/>
          <p:cNvSpPr txBox="1"/>
          <p:nvPr/>
        </p:nvSpPr>
        <p:spPr>
          <a:xfrm>
            <a:off x="2286000" y="5852160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uart_mode</a:t>
            </a:r>
          </a:p>
        </p:txBody>
      </p:sp>
      <p:cxnSp>
        <p:nvCxnSpPr>
          <p:cNvPr id="134" name="선"/>
          <p:cNvCxnSpPr/>
          <p:nvPr/>
        </p:nvCxnSpPr>
        <p:spPr>
          <a:xfrm flipV="1">
            <a:off x="7452360" y="5943600"/>
            <a:ext cx="0" cy="731520"/>
          </a:xfrm>
          <a:prstGeom prst="line">
            <a:avLst/>
          </a:prstGeom>
          <a:ln w="190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선"/>
          <p:cNvCxnSpPr/>
          <p:nvPr/>
        </p:nvCxnSpPr>
        <p:spPr>
          <a:xfrm flipH="1">
            <a:off x="3749039" y="5943600"/>
            <a:ext cx="3703321" cy="0"/>
          </a:xfrm>
          <a:prstGeom prst="line">
            <a:avLst/>
          </a:prstGeom>
          <a:ln w="190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선"/>
          <p:cNvCxnSpPr/>
          <p:nvPr/>
        </p:nvCxnSpPr>
        <p:spPr>
          <a:xfrm flipV="1">
            <a:off x="3749039" y="3438144"/>
            <a:ext cx="0" cy="2505456"/>
          </a:xfrm>
          <a:prstGeom prst="line">
            <a:avLst/>
          </a:prstGeom>
          <a:ln w="190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선"/>
          <p:cNvCxnSpPr/>
          <p:nvPr/>
        </p:nvCxnSpPr>
        <p:spPr>
          <a:xfrm>
            <a:off x="3749039" y="3438144"/>
            <a:ext cx="228600" cy="0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라벨"/>
          <p:cNvSpPr txBox="1"/>
          <p:nvPr/>
        </p:nvSpPr>
        <p:spPr>
          <a:xfrm>
            <a:off x="3840480" y="3703320"/>
            <a:ext cx="8229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uart_btn</a:t>
            </a:r>
          </a:p>
        </p:txBody>
      </p:sp>
      <p:sp>
        <p:nvSpPr>
          <p:cNvPr id="139" name="블록 sender_tick"/>
          <p:cNvSpPr/>
          <p:nvPr/>
        </p:nvSpPr>
        <p:spPr>
          <a:xfrm>
            <a:off x="9555480" y="6967728"/>
            <a:ext cx="137160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sender_tick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1 Hz · scan 0→4</a:t>
            </a:r>
          </a:p>
        </p:txBody>
      </p:sp>
      <p:cxnSp>
        <p:nvCxnSpPr>
          <p:cNvPr id="140" name="선"/>
          <p:cNvCxnSpPr/>
          <p:nvPr/>
        </p:nvCxnSpPr>
        <p:spPr>
          <a:xfrm flipH="1">
            <a:off x="9144000" y="7251192"/>
            <a:ext cx="411480" cy="0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선"/>
          <p:cNvCxnSpPr/>
          <p:nvPr/>
        </p:nvCxnSpPr>
        <p:spPr>
          <a:xfrm>
            <a:off x="9144000" y="6784848"/>
            <a:ext cx="4727448" cy="0"/>
          </a:xfrm>
          <a:prstGeom prst="line">
            <a:avLst/>
          </a:prstGeom>
          <a:ln w="190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선"/>
          <p:cNvCxnSpPr/>
          <p:nvPr/>
        </p:nvCxnSpPr>
        <p:spPr>
          <a:xfrm>
            <a:off x="13871448" y="6784848"/>
            <a:ext cx="0" cy="301752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라벨"/>
          <p:cNvSpPr txBox="1"/>
          <p:nvPr/>
        </p:nvSpPr>
        <p:spPr>
          <a:xfrm>
            <a:off x="10241280" y="6547104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send_go</a:t>
            </a:r>
          </a:p>
        </p:txBody>
      </p:sp>
      <p:sp>
        <p:nvSpPr>
          <p:cNvPr id="144" name="MUX 전송"/>
          <p:cNvSpPr/>
          <p:nvPr/>
        </p:nvSpPr>
        <p:spPr>
          <a:xfrm>
            <a:off x="11887200" y="6903720"/>
            <a:ext cx="868680" cy="1280159"/>
          </a:xfrm>
          <a:custGeom>
            <a:avLst/>
            <a:gdLst/>
            <a:ahLst/>
            <a:cxnLst/>
            <a:rect l="l" t="t" r="r" b="b"/>
            <a:pathLst>
              <a:path w="868680" h="1280159">
                <a:moveTo>
                  <a:pt x="0" y="0"/>
                </a:moveTo>
                <a:lnTo>
                  <a:pt x="868680" y="164592"/>
                </a:lnTo>
                <a:lnTo>
                  <a:pt x="868680" y="1115568"/>
                </a:lnTo>
                <a:lnTo>
                  <a:pt x="0" y="1280159"/>
                </a:lnTo>
                <a:lnTo>
                  <a:pt x="0" y="0"/>
                </a:lnTo>
                <a:close/>
              </a:path>
            </a:pathLst>
          </a:custGeom>
          <a:solidFill>
            <a:srgbClr val="E6F4F3"/>
          </a:solidFill>
          <a:ln w="1905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라벨"/>
          <p:cNvSpPr txBox="1"/>
          <p:nvPr/>
        </p:nvSpPr>
        <p:spPr>
          <a:xfrm>
            <a:off x="11841480" y="6528816"/>
            <a:ext cx="21945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전송 MUX  8:1 × 24 bit</a:t>
            </a:r>
          </a:p>
        </p:txBody>
      </p:sp>
      <p:cxnSp>
        <p:nvCxnSpPr>
          <p:cNvPr id="146" name="선"/>
          <p:cNvCxnSpPr/>
          <p:nvPr/>
        </p:nvCxnSpPr>
        <p:spPr>
          <a:xfrm>
            <a:off x="11777472" y="3104388"/>
            <a:ext cx="0" cy="4210812"/>
          </a:xfrm>
          <a:prstGeom prst="line">
            <a:avLst/>
          </a:prstGeom>
          <a:ln w="19050">
            <a:solidFill>
              <a:srgbClr val="2F8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선"/>
          <p:cNvCxnSpPr/>
          <p:nvPr/>
        </p:nvCxnSpPr>
        <p:spPr>
          <a:xfrm>
            <a:off x="11777472" y="7315200"/>
            <a:ext cx="109728" cy="0"/>
          </a:xfrm>
          <a:prstGeom prst="line">
            <a:avLst/>
          </a:prstGeom>
          <a:ln w="190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선"/>
          <p:cNvCxnSpPr/>
          <p:nvPr/>
        </p:nvCxnSpPr>
        <p:spPr>
          <a:xfrm>
            <a:off x="11777472" y="7022592"/>
            <a:ext cx="109728" cy="0"/>
          </a:xfrm>
          <a:prstGeom prst="line">
            <a:avLst/>
          </a:prstGeom>
          <a:ln w="190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접점"/>
          <p:cNvSpPr/>
          <p:nvPr/>
        </p:nvSpPr>
        <p:spPr>
          <a:xfrm>
            <a:off x="11736324" y="6981444"/>
            <a:ext cx="82296" cy="82296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0" name="선"/>
          <p:cNvCxnSpPr/>
          <p:nvPr/>
        </p:nvCxnSpPr>
        <p:spPr>
          <a:xfrm>
            <a:off x="11777472" y="7168896"/>
            <a:ext cx="109728" cy="0"/>
          </a:xfrm>
          <a:prstGeom prst="line">
            <a:avLst/>
          </a:prstGeom>
          <a:ln w="190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접점"/>
          <p:cNvSpPr/>
          <p:nvPr/>
        </p:nvSpPr>
        <p:spPr>
          <a:xfrm>
            <a:off x="11736324" y="7127748"/>
            <a:ext cx="82296" cy="82296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접점"/>
          <p:cNvSpPr/>
          <p:nvPr/>
        </p:nvSpPr>
        <p:spPr>
          <a:xfrm>
            <a:off x="11736324" y="3063240"/>
            <a:ext cx="82296" cy="82296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3" name="선"/>
          <p:cNvCxnSpPr/>
          <p:nvPr/>
        </p:nvCxnSpPr>
        <p:spPr>
          <a:xfrm>
            <a:off x="11686032" y="4247388"/>
            <a:ext cx="0" cy="3268980"/>
          </a:xfrm>
          <a:prstGeom prst="line">
            <a:avLst/>
          </a:prstGeom>
          <a:ln w="19050">
            <a:solidFill>
              <a:srgbClr val="2B6C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선"/>
          <p:cNvCxnSpPr/>
          <p:nvPr/>
        </p:nvCxnSpPr>
        <p:spPr>
          <a:xfrm>
            <a:off x="11686032" y="7516368"/>
            <a:ext cx="201168" cy="0"/>
          </a:xfrm>
          <a:prstGeom prst="line">
            <a:avLst/>
          </a:prstGeom>
          <a:ln w="19050">
            <a:solidFill>
              <a:srgbClr val="2B6C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접점"/>
          <p:cNvSpPr/>
          <p:nvPr/>
        </p:nvSpPr>
        <p:spPr>
          <a:xfrm>
            <a:off x="11644884" y="4206240"/>
            <a:ext cx="82296" cy="82296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6" name="선"/>
          <p:cNvCxnSpPr/>
          <p:nvPr/>
        </p:nvCxnSpPr>
        <p:spPr>
          <a:xfrm>
            <a:off x="11430000" y="5390388"/>
            <a:ext cx="0" cy="2327148"/>
          </a:xfrm>
          <a:prstGeom prst="line">
            <a:avLst/>
          </a:prstGeom>
          <a:ln w="19050">
            <a:solidFill>
              <a:srgbClr val="C056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선"/>
          <p:cNvCxnSpPr/>
          <p:nvPr/>
        </p:nvCxnSpPr>
        <p:spPr>
          <a:xfrm>
            <a:off x="11430000" y="7717536"/>
            <a:ext cx="457200" cy="0"/>
          </a:xfrm>
          <a:prstGeom prst="line">
            <a:avLst/>
          </a:prstGeom>
          <a:ln w="19050">
            <a:solidFill>
              <a:srgbClr val="C056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접점"/>
          <p:cNvSpPr/>
          <p:nvPr/>
        </p:nvSpPr>
        <p:spPr>
          <a:xfrm>
            <a:off x="11388852" y="5349240"/>
            <a:ext cx="82296" cy="82296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MUX 핀"/>
          <p:cNvSpPr txBox="1"/>
          <p:nvPr/>
        </p:nvSpPr>
        <p:spPr>
          <a:xfrm>
            <a:off x="11932920" y="693115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0 sw</a:t>
            </a:r>
          </a:p>
        </p:txBody>
      </p:sp>
      <p:sp>
        <p:nvSpPr>
          <p:cNvPr id="160" name="MUX 핀"/>
          <p:cNvSpPr txBox="1"/>
          <p:nvPr/>
        </p:nvSpPr>
        <p:spPr>
          <a:xfrm>
            <a:off x="11932920" y="707745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1 tm</a:t>
            </a:r>
          </a:p>
        </p:txBody>
      </p:sp>
      <p:sp>
        <p:nvSpPr>
          <p:cNvPr id="161" name="MUX 핀"/>
          <p:cNvSpPr txBox="1"/>
          <p:nvPr/>
        </p:nvSpPr>
        <p:spPr>
          <a:xfrm>
            <a:off x="11932920" y="722376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2 wt</a:t>
            </a:r>
          </a:p>
        </p:txBody>
      </p:sp>
      <p:sp>
        <p:nvSpPr>
          <p:cNvPr id="162" name="MUX 핀"/>
          <p:cNvSpPr txBox="1"/>
          <p:nvPr/>
        </p:nvSpPr>
        <p:spPr>
          <a:xfrm>
            <a:off x="11932920" y="742492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3 거리</a:t>
            </a:r>
            <a:r>
              <a:rPr sz="850" b="1">
                <a:solidFill>
                  <a:srgbClr val="1E8E3E"/>
                </a:solidFill>
                <a:latin typeface="Malgun Gothic"/>
                <a:ea typeface="Malgun Gothic"/>
                <a:cs typeface="Malgun Gothic"/>
              </a:rPr>
              <a:t>·상태</a:t>
            </a:r>
          </a:p>
        </p:txBody>
      </p:sp>
      <p:sp>
        <p:nvSpPr>
          <p:cNvPr id="163" name="MUX 핀"/>
          <p:cNvSpPr txBox="1"/>
          <p:nvPr/>
        </p:nvSpPr>
        <p:spPr>
          <a:xfrm>
            <a:off x="11932920" y="762609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4 온습도</a:t>
            </a:r>
            <a:r>
              <a:rPr sz="850" b="1">
                <a:solidFill>
                  <a:srgbClr val="1E8E3E"/>
                </a:solidFill>
                <a:latin typeface="Malgun Gothic"/>
                <a:ea typeface="Malgun Gothic"/>
                <a:cs typeface="Malgun Gothic"/>
              </a:rPr>
              <a:t>·상태</a:t>
            </a:r>
          </a:p>
        </p:txBody>
      </p:sp>
      <p:cxnSp>
        <p:nvCxnSpPr>
          <p:cNvPr id="165" name="선"/>
          <p:cNvCxnSpPr/>
          <p:nvPr/>
        </p:nvCxnSpPr>
        <p:spPr>
          <a:xfrm>
            <a:off x="12755880" y="7498079"/>
            <a:ext cx="457200" cy="0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선"/>
          <p:cNvCxnSpPr/>
          <p:nvPr/>
        </p:nvCxnSpPr>
        <p:spPr>
          <a:xfrm>
            <a:off x="8869680" y="8046720"/>
            <a:ext cx="0" cy="201168"/>
          </a:xfrm>
          <a:prstGeom prst="line">
            <a:avLst/>
          </a:prstGeom>
          <a:ln w="190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선"/>
          <p:cNvCxnSpPr/>
          <p:nvPr/>
        </p:nvCxnSpPr>
        <p:spPr>
          <a:xfrm>
            <a:off x="8869680" y="8247888"/>
            <a:ext cx="5001768" cy="0"/>
          </a:xfrm>
          <a:prstGeom prst="line">
            <a:avLst/>
          </a:prstGeom>
          <a:ln w="190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선"/>
          <p:cNvCxnSpPr/>
          <p:nvPr/>
        </p:nvCxnSpPr>
        <p:spPr>
          <a:xfrm flipV="1">
            <a:off x="13871448" y="7909560"/>
            <a:ext cx="0" cy="338328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라벨"/>
          <p:cNvSpPr txBox="1"/>
          <p:nvPr/>
        </p:nvSpPr>
        <p:spPr>
          <a:xfrm>
            <a:off x="9509760" y="8010144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send_sel</a:t>
            </a:r>
          </a:p>
        </p:txBody>
      </p:sp>
      <p:cxnSp>
        <p:nvCxnSpPr>
          <p:cNvPr id="170" name="선"/>
          <p:cNvCxnSpPr/>
          <p:nvPr/>
        </p:nvCxnSpPr>
        <p:spPr>
          <a:xfrm flipV="1">
            <a:off x="12481560" y="8071264"/>
            <a:ext cx="0" cy="176624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접점"/>
          <p:cNvSpPr/>
          <p:nvPr/>
        </p:nvSpPr>
        <p:spPr>
          <a:xfrm>
            <a:off x="12440412" y="8206740"/>
            <a:ext cx="82296" cy="82296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2" name="블록 uart_sender"/>
          <p:cNvSpPr/>
          <p:nvPr/>
        </p:nvSpPr>
        <p:spPr>
          <a:xfrm>
            <a:off x="13213080" y="7086600"/>
            <a:ext cx="1325880" cy="822960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 w="1905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uart_sender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숫자 → ASCII 한 줄</a:t>
            </a:r>
          </a:p>
        </p:txBody>
      </p:sp>
      <p:cxnSp>
        <p:nvCxnSpPr>
          <p:cNvPr id="173" name="선"/>
          <p:cNvCxnSpPr/>
          <p:nvPr/>
        </p:nvCxnSpPr>
        <p:spPr>
          <a:xfrm>
            <a:off x="14538960" y="7498079"/>
            <a:ext cx="228599" cy="0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블록 fifo"/>
          <p:cNvSpPr/>
          <p:nvPr/>
        </p:nvSpPr>
        <p:spPr>
          <a:xfrm>
            <a:off x="14767559" y="7214616"/>
            <a:ext cx="82296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TX × 64</a:t>
            </a:r>
          </a:p>
        </p:txBody>
      </p:sp>
      <p:cxnSp>
        <p:nvCxnSpPr>
          <p:cNvPr id="175" name="선"/>
          <p:cNvCxnSpPr/>
          <p:nvPr/>
        </p:nvCxnSpPr>
        <p:spPr>
          <a:xfrm>
            <a:off x="15590520" y="7498079"/>
            <a:ext cx="228600" cy="0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블록 uart_tx"/>
          <p:cNvSpPr/>
          <p:nvPr/>
        </p:nvSpPr>
        <p:spPr>
          <a:xfrm>
            <a:off x="15819120" y="7214616"/>
            <a:ext cx="86868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uart_tx</a:t>
            </a:r>
          </a:p>
        </p:txBody>
      </p:sp>
      <p:cxnSp>
        <p:nvCxnSpPr>
          <p:cNvPr id="177" name="선"/>
          <p:cNvCxnSpPr/>
          <p:nvPr/>
        </p:nvCxnSpPr>
        <p:spPr>
          <a:xfrm>
            <a:off x="16687800" y="7498079"/>
            <a:ext cx="182880" cy="0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8" name="태그 tx"/>
          <p:cNvSpPr/>
          <p:nvPr/>
        </p:nvSpPr>
        <p:spPr>
          <a:xfrm>
            <a:off x="16870680" y="7351775"/>
            <a:ext cx="822960" cy="292608"/>
          </a:xfrm>
          <a:prstGeom prst="homePlate">
            <a:avLst>
              <a:gd name="adj" fmla="val 24888"/>
            </a:avLst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tx</a:t>
            </a:r>
          </a:p>
        </p:txBody>
      </p:sp>
      <p:sp>
        <p:nvSpPr>
          <p:cNvPr id="179" name="라벨 v2"/>
          <p:cNvSpPr txBox="1"/>
          <p:nvPr/>
        </p:nvSpPr>
        <p:spPr>
          <a:xfrm>
            <a:off x="8366760" y="3657600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00" b="1">
                <a:solidFill>
                  <a:srgbClr val="1E8E3E"/>
                </a:solidFill>
                <a:latin typeface="Malgun Gothic"/>
                <a:ea typeface="Malgun Gothic"/>
                <a:cs typeface="Malgun Gothic"/>
              </a:rPr>
              <a:t>상태 → FND MUX + 전송 MUX</a:t>
            </a:r>
          </a:p>
        </p:txBody>
      </p:sp>
      <p:sp>
        <p:nvSpPr>
          <p:cNvPr id="180" name="라벨 v2"/>
          <p:cNvSpPr txBox="1"/>
          <p:nvPr/>
        </p:nvSpPr>
        <p:spPr>
          <a:xfrm>
            <a:off x="8366760" y="4800600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00" b="1">
                <a:solidFill>
                  <a:srgbClr val="1E8E3E"/>
                </a:solidFill>
                <a:latin typeface="Malgun Gothic"/>
                <a:ea typeface="Malgun Gothic"/>
                <a:cs typeface="Malgun Gothic"/>
              </a:rPr>
              <a:t>상태 → FND MUX + 전송 MUX</a:t>
            </a:r>
          </a:p>
        </p:txBody>
      </p:sp>
      <p:sp>
        <p:nvSpPr>
          <p:cNvPr id="181" name="범례"/>
          <p:cNvSpPr/>
          <p:nvPr/>
        </p:nvSpPr>
        <p:spPr>
          <a:xfrm>
            <a:off x="841248" y="8796528"/>
            <a:ext cx="310896" cy="219456"/>
          </a:xfrm>
          <a:prstGeom prst="roundRect">
            <a:avLst>
              <a:gd name="adj" fmla="val 12000"/>
            </a:avLst>
          </a:prstGeom>
          <a:solidFill>
            <a:srgbClr val="EDF6F0"/>
          </a:solidFill>
          <a:ln w="1905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2" name="라벨"/>
          <p:cNvSpPr txBox="1"/>
          <p:nvPr/>
        </p:nvSpPr>
        <p:spPr>
          <a:xfrm>
            <a:off x="1225296" y="8741664"/>
            <a:ext cx="15544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WTS</a:t>
            </a:r>
          </a:p>
        </p:txBody>
      </p:sp>
      <p:sp>
        <p:nvSpPr>
          <p:cNvPr id="183" name="범례"/>
          <p:cNvSpPr/>
          <p:nvPr/>
        </p:nvSpPr>
        <p:spPr>
          <a:xfrm>
            <a:off x="2084832" y="8796528"/>
            <a:ext cx="310896" cy="219456"/>
          </a:xfrm>
          <a:prstGeom prst="roundRect">
            <a:avLst>
              <a:gd name="adj" fmla="val 12000"/>
            </a:avLst>
          </a:prstGeom>
          <a:solidFill>
            <a:srgbClr val="EBF4FF"/>
          </a:solidFill>
          <a:ln w="1905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4" name="라벨"/>
          <p:cNvSpPr txBox="1"/>
          <p:nvPr/>
        </p:nvSpPr>
        <p:spPr>
          <a:xfrm>
            <a:off x="2468880" y="8741664"/>
            <a:ext cx="15544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SR04 거리</a:t>
            </a:r>
          </a:p>
        </p:txBody>
      </p:sp>
      <p:sp>
        <p:nvSpPr>
          <p:cNvPr id="185" name="범례"/>
          <p:cNvSpPr/>
          <p:nvPr/>
        </p:nvSpPr>
        <p:spPr>
          <a:xfrm>
            <a:off x="3803904" y="8796528"/>
            <a:ext cx="310896" cy="219456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9050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라벨"/>
          <p:cNvSpPr txBox="1"/>
          <p:nvPr/>
        </p:nvSpPr>
        <p:spPr>
          <a:xfrm>
            <a:off x="4187952" y="8741664"/>
            <a:ext cx="15544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DHT11 온습도</a:t>
            </a:r>
          </a:p>
        </p:txBody>
      </p:sp>
      <p:sp>
        <p:nvSpPr>
          <p:cNvPr id="187" name="범례"/>
          <p:cNvSpPr/>
          <p:nvPr/>
        </p:nvSpPr>
        <p:spPr>
          <a:xfrm>
            <a:off x="5760720" y="8796528"/>
            <a:ext cx="310896" cy="219456"/>
          </a:xfrm>
          <a:prstGeom prst="roundRect">
            <a:avLst>
              <a:gd name="adj" fmla="val 12000"/>
            </a:avLst>
          </a:prstGeom>
          <a:solidFill>
            <a:srgbClr val="E6F4F3"/>
          </a:solidFill>
          <a:ln w="1905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8" name="라벨"/>
          <p:cNvSpPr txBox="1"/>
          <p:nvPr/>
        </p:nvSpPr>
        <p:spPr>
          <a:xfrm>
            <a:off x="6144768" y="8741664"/>
            <a:ext cx="15544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UART</a:t>
            </a:r>
          </a:p>
        </p:txBody>
      </p:sp>
      <p:sp>
        <p:nvSpPr>
          <p:cNvPr id="189" name="범례"/>
          <p:cNvSpPr/>
          <p:nvPr/>
        </p:nvSpPr>
        <p:spPr>
          <a:xfrm>
            <a:off x="7123176" y="8796528"/>
            <a:ext cx="310896" cy="219456"/>
          </a:xfrm>
          <a:prstGeom prst="roundRect">
            <a:avLst>
              <a:gd name="adj" fmla="val 12000"/>
            </a:avLst>
          </a:prstGeom>
          <a:solidFill>
            <a:srgbClr val="F3EEFF"/>
          </a:solidFill>
          <a:ln w="19050">
            <a:solidFill>
              <a:srgbClr val="6B4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0" name="라벨"/>
          <p:cNvSpPr txBox="1"/>
          <p:nvPr/>
        </p:nvSpPr>
        <p:spPr>
          <a:xfrm>
            <a:off x="7507224" y="8741664"/>
            <a:ext cx="15544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FND · LED</a:t>
            </a:r>
          </a:p>
        </p:txBody>
      </p:sp>
      <p:sp>
        <p:nvSpPr>
          <p:cNvPr id="191" name="범례 AND"/>
          <p:cNvSpPr/>
          <p:nvPr/>
        </p:nvSpPr>
        <p:spPr>
          <a:xfrm>
            <a:off x="9262872" y="8732520"/>
            <a:ext cx="365760" cy="347472"/>
          </a:xfrm>
          <a:prstGeom prst="flowChartDelay">
            <a:avLst/>
          </a:prstGeom>
          <a:solidFill>
            <a:srgbClr val="FFFFFF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192" name="라벨"/>
          <p:cNvSpPr txBox="1"/>
          <p:nvPr/>
        </p:nvSpPr>
        <p:spPr>
          <a:xfrm>
            <a:off x="9720072" y="8741664"/>
            <a:ext cx="237744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AND · ≥1 = OR 게이트</a:t>
            </a:r>
          </a:p>
        </p:txBody>
      </p:sp>
      <p:cxnSp>
        <p:nvCxnSpPr>
          <p:cNvPr id="193" name="선"/>
          <p:cNvCxnSpPr/>
          <p:nvPr/>
        </p:nvCxnSpPr>
        <p:spPr>
          <a:xfrm>
            <a:off x="12234672" y="8906256"/>
            <a:ext cx="548640" cy="0"/>
          </a:xfrm>
          <a:prstGeom prst="line">
            <a:avLst/>
          </a:prstGeom>
          <a:ln w="19050">
            <a:solidFill>
              <a:srgbClr val="4A556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4" name="라벨"/>
          <p:cNvSpPr txBox="1"/>
          <p:nvPr/>
        </p:nvSpPr>
        <p:spPr>
          <a:xfrm>
            <a:off x="12874752" y="8741664"/>
            <a:ext cx="13716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4 kHz 클럭</a:t>
            </a:r>
          </a:p>
        </p:txBody>
      </p:sp>
      <p:sp>
        <p:nvSpPr>
          <p:cNvPr id="195" name="범례 태그"/>
          <p:cNvSpPr/>
          <p:nvPr/>
        </p:nvSpPr>
        <p:spPr>
          <a:xfrm>
            <a:off x="14292072" y="8759952"/>
            <a:ext cx="502920" cy="274320"/>
          </a:xfrm>
          <a:prstGeom prst="homePlate">
            <a:avLst/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6" name="라벨"/>
          <p:cNvSpPr txBox="1"/>
          <p:nvPr/>
        </p:nvSpPr>
        <p:spPr>
          <a:xfrm>
            <a:off x="14886432" y="8741664"/>
            <a:ext cx="36576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태그 = 보드 핀 · 같은 이름의 신호</a:t>
            </a:r>
          </a:p>
        </p:txBody>
      </p:sp>
      <p:sp>
        <p:nvSpPr>
          <p:cNvPr id="197" name="라벨"/>
          <p:cNvSpPr txBox="1"/>
          <p:nvPr/>
        </p:nvSpPr>
        <p:spPr>
          <a:xfrm>
            <a:off x="841248" y="9189720"/>
            <a:ext cx="155448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명령 형식 : /&lt;명령&gt; &lt;옵션&gt;  ·  /mod  /btn  /get  /auto  /set  /off  →  다음 장부터 명령별 흐름 (켜진 경로만 색, 나머지 회색)</a:t>
            </a:r>
          </a:p>
        </p:txBody>
      </p:sp>
      <p:sp>
        <p:nvSpPr>
          <p:cNvPr id="198" name="라벨 v2"/>
          <p:cNvSpPr txBox="1"/>
          <p:nvPr/>
        </p:nvSpPr>
        <p:spPr>
          <a:xfrm>
            <a:off x="841248" y="9582912"/>
            <a:ext cx="1536192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1E8E3E"/>
                </a:solidFill>
                <a:latin typeface="Malgun Gothic"/>
                <a:ea typeface="Malgun Gothic"/>
                <a:cs typeface="Malgun Gothic"/>
              </a:rPr>
              <a:t>v2</a:t>
            </a:r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  센서 상태 비트를 전송 MUX 입력 3 · 4 에 같이 실음  (3 = {13'd0, 상태, 거리} · 4 = {4'd0, err, dashes, 상태, 습도, 온도})  ·  블록 · 포트 · 24 bit 폭은 그대로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6441</Words>
  <Application>Microsoft Office PowerPoint</Application>
  <PresentationFormat>사용자 지정</PresentationFormat>
  <Paragraphs>1432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7" baseType="lpstr">
      <vt:lpstr>Malgun Gothic</vt:lpstr>
      <vt:lpstr>Malgun Gothic Semilight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안성 정</cp:lastModifiedBy>
  <cp:revision>3</cp:revision>
  <dcterms:created xsi:type="dcterms:W3CDTF">2013-01-27T09:14:16Z</dcterms:created>
  <dcterms:modified xsi:type="dcterms:W3CDTF">2026-10-31T17:06:31Z</dcterms:modified>
  <cp:category/>
</cp:coreProperties>
</file>