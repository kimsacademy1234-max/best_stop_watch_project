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9985" autoAdjust="0"/>
  </p:normalViewPr>
  <p:slideViewPr>
    <p:cSldViewPr>
      <p:cViewPr varScale="1">
        <p:scale>
          <a:sx n="57" d="100"/>
          <a:sy n="57" d="100"/>
        </p:scale>
        <p:origin x="18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bf66ad1ded1a251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h6bf66ad1ded1a251_3_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[약 30초]</a:t>
            </a:r>
            <a:br>
              <a:rPr lang="ko"/>
            </a:br>
            <a:r>
              <a:rPr lang="ko"/>
              <a:t>이번 프로젝트에서 쓰는 Basys3의 IO입니다. ① micro USB는 USB-UART로, PC 터미널에서 명령을 보내고 응답을 받습니다. ② Pmod JA에는 초음파 센서 SR04(JA1 trig, JA2 echo), ③ JXADC에는 온습도 센서 DHT11을 연결했습니다. 측정값과 시간은 ④ FND 4자리에 표시하고, ⑤ 버튼 U·L·R·D로 각 모듈을 조작하며 가운데 C는 리셋입니다. ⑥ LED 16개는 상태 표시용입니다. 스위치는 ⑦ SW0~SW4가 화면 모드와 시계 설정, ⑧ SW5·SW6·SW15가 거리·온습도 화면과 거리 막대 LED에 쓰입니다.</a:t>
            </a:r>
            <a:endParaRPr/>
          </a:p>
        </p:txBody>
      </p:sp>
      <p:sp>
        <p:nvSpPr>
          <p:cNvPr id="65" name="Google Shape;65;h6bf66ad1ded1a251_3_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6bf66ad1ded1a251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h6bf66ad1ded1a251_3_6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[약 30초]</a:t>
            </a:r>
            <a:br>
              <a:rPr lang="ko"/>
            </a:br>
            <a:r>
              <a:rPr lang="ko"/>
              <a:t>UART 명령은 모두 슬래시와 세 글자 명령, 공백, 옵션 순서입니다. /mod로 FND 화면을 바꾸면 그때부터 스위치 대신 UART가 화면을 정합니다. /get은 지금 화면 값을 한 줄 보내고, /auto는 1초마다 자동으로 보내며 /auto off로 끕니다. /btn은 물리 버튼과 똑같이 동작해서, 거리 화면에서 /btn U는 SR04 자동 측정을 켜고 끕니다. /set과 /off는 시계 시간 설정과 12/24시간 표시입니다. 통신은 9600bps 8N1, Enter로 끝나고 형식이 틀리면 ERROR가 돌아옵니다.</a:t>
            </a:r>
            <a:endParaRPr/>
          </a:p>
        </p:txBody>
      </p:sp>
      <p:sp>
        <p:nvSpPr>
          <p:cNvPr id="124" name="Google Shape;124;h6bf66ad1ded1a251_3_6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SENSOR · UART</a:t>
            </a:r>
            <a:endParaRPr lang="ko-KR" sz="140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2011680"/>
            <a:ext cx="12112752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72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STOPWATCH · SENSOR ·</a:t>
            </a:r>
            <a:endParaRPr lang="ko-KR" sz="72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72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UART</a:t>
            </a:r>
            <a:endParaRPr lang="ko-KR" sz="72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480060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Basys-3 FPGA 시계 · 센서 · UART 통합 시스템 — 설계 · 검증</a:t>
            </a:r>
            <a:endParaRPr lang="ko-KR" sz="2800" dirty="0"/>
          </a:p>
        </p:txBody>
      </p:sp>
      <p:sp>
        <p:nvSpPr>
          <p:cNvPr id="5" name="chip"/>
          <p:cNvSpPr/>
          <p:nvPr/>
        </p:nvSpPr>
        <p:spPr>
          <a:xfrm>
            <a:off x="868680" y="5760720"/>
            <a:ext cx="2148840" cy="56692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WTS</a:t>
            </a:r>
            <a:endParaRPr lang="ko-KR" sz="2000" dirty="0"/>
          </a:p>
        </p:txBody>
      </p:sp>
      <p:sp>
        <p:nvSpPr>
          <p:cNvPr id="6" name="chip"/>
          <p:cNvSpPr/>
          <p:nvPr/>
        </p:nvSpPr>
        <p:spPr>
          <a:xfrm>
            <a:off x="3246120" y="5760720"/>
            <a:ext cx="2148840" cy="56692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SR04</a:t>
            </a:r>
            <a:endParaRPr lang="ko-KR" sz="2000" dirty="0"/>
          </a:p>
        </p:txBody>
      </p:sp>
      <p:sp>
        <p:nvSpPr>
          <p:cNvPr id="7" name="chip"/>
          <p:cNvSpPr/>
          <p:nvPr/>
        </p:nvSpPr>
        <p:spPr>
          <a:xfrm>
            <a:off x="5623560" y="5760720"/>
            <a:ext cx="2148840" cy="56692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</a:t>
            </a:r>
            <a:endParaRPr lang="ko-KR" sz="2000" dirty="0"/>
          </a:p>
        </p:txBody>
      </p:sp>
      <p:sp>
        <p:nvSpPr>
          <p:cNvPr id="8" name="text"/>
          <p:cNvSpPr txBox="1"/>
          <p:nvPr/>
        </p:nvSpPr>
        <p:spPr>
          <a:xfrm>
            <a:off x="868680" y="8001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2026. 11. 02</a:t>
            </a:r>
            <a:endParaRPr lang="ko-KR" sz="2200" dirty="0"/>
          </a:p>
        </p:txBody>
      </p:sp>
      <p:sp>
        <p:nvSpPr>
          <p:cNvPr id="9" name="text"/>
          <p:cNvSpPr txBox="1"/>
          <p:nvPr/>
        </p:nvSpPr>
        <p:spPr>
          <a:xfrm>
            <a:off x="868680" y="8503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팀원   견다혜 · 이종혁 · 정보윤 · 정안성</a:t>
            </a:r>
            <a:endParaRPr lang="ko-KR" sz="2200" dirty="0"/>
          </a:p>
        </p:txBody>
      </p:sp>
      <p:sp>
        <p:nvSpPr>
          <p:cNvPr id="10" name="chip"/>
          <p:cNvSpPr/>
          <p:nvPr/>
        </p:nvSpPr>
        <p:spPr>
          <a:xfrm>
            <a:off x="8001000" y="5760720"/>
            <a:ext cx="2148840" cy="56692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UART</a:t>
            </a:r>
            <a:endParaRPr lang="ko-KR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SENSOR · UART</a:t>
            </a:r>
            <a:endParaRPr lang="ko-KR" sz="140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078992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56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Contents</a:t>
            </a:r>
            <a:endParaRPr lang="ko-KR" sz="56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224028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Basys-3 FPGA 한 보드에 시계 · 센서 · UART</a:t>
            </a:r>
            <a:endParaRPr lang="ko-KR" sz="2000" dirty="0"/>
          </a:p>
          <a:p>
            <a:pPr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기능을 하나의 Top 으로 통합,</a:t>
            </a:r>
            <a:endParaRPr lang="ko-KR" sz="2000" dirty="0"/>
          </a:p>
          <a:p>
            <a:pPr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· 하위 모듈 테스트벤치로 전체 경로 검증</a:t>
            </a:r>
            <a:endParaRPr lang="ko-KR" sz="2000" dirty="0"/>
          </a:p>
        </p:txBody>
      </p:sp>
      <p:sp>
        <p:nvSpPr>
          <p:cNvPr id="5" name="text"/>
          <p:cNvSpPr txBox="1"/>
          <p:nvPr/>
        </p:nvSpPr>
        <p:spPr>
          <a:xfrm>
            <a:off x="7863840" y="11887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01</a:t>
            </a:r>
            <a:endParaRPr lang="ko-KR" sz="4000" dirty="0"/>
          </a:p>
        </p:txBody>
      </p:sp>
      <p:sp>
        <p:nvSpPr>
          <p:cNvPr id="6" name="text"/>
          <p:cNvSpPr txBox="1"/>
          <p:nvPr/>
        </p:nvSpPr>
        <p:spPr>
          <a:xfrm>
            <a:off x="9144000" y="11704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lang="ko-KR" sz="3000" dirty="0"/>
          </a:p>
        </p:txBody>
      </p:sp>
      <p:sp>
        <p:nvSpPr>
          <p:cNvPr id="7" name="text"/>
          <p:cNvSpPr txBox="1"/>
          <p:nvPr/>
        </p:nvSpPr>
        <p:spPr>
          <a:xfrm>
            <a:off x="9144000" y="173736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요약 · 목적 · 스펙 · 보드 IO · UART 명령표</a:t>
            </a:r>
            <a:endParaRPr lang="ko-KR" sz="1800" dirty="0"/>
          </a:p>
        </p:txBody>
      </p:sp>
      <p:cxnSp>
        <p:nvCxnSpPr>
          <p:cNvPr id="8" name="line"/>
          <p:cNvCxnSpPr/>
          <p:nvPr/>
        </p:nvCxnSpPr>
        <p:spPr>
          <a:xfrm>
            <a:off x="7863840" y="2121408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9" name="text"/>
          <p:cNvSpPr txBox="1"/>
          <p:nvPr/>
        </p:nvSpPr>
        <p:spPr>
          <a:xfrm>
            <a:off x="7863840" y="2322576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02</a:t>
            </a:r>
            <a:endParaRPr lang="ko-KR" sz="4000" dirty="0"/>
          </a:p>
        </p:txBody>
      </p:sp>
      <p:sp>
        <p:nvSpPr>
          <p:cNvPr id="10" name="text"/>
          <p:cNvSpPr txBox="1"/>
          <p:nvPr/>
        </p:nvSpPr>
        <p:spPr>
          <a:xfrm>
            <a:off x="9144000" y="23042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시스템 구조</a:t>
            </a:r>
            <a:endParaRPr lang="ko-KR" sz="3000" dirty="0"/>
          </a:p>
        </p:txBody>
      </p:sp>
      <p:sp>
        <p:nvSpPr>
          <p:cNvPr id="11" name="text"/>
          <p:cNvSpPr txBox="1"/>
          <p:nvPr/>
        </p:nvSpPr>
        <p:spPr>
          <a:xfrm>
            <a:off x="9144000" y="287121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블록 다이어그램 · 신호 흐름</a:t>
            </a:r>
            <a:endParaRPr lang="ko-KR" sz="1800" dirty="0"/>
          </a:p>
        </p:txBody>
      </p:sp>
      <p:cxnSp>
        <p:nvCxnSpPr>
          <p:cNvPr id="12" name="line"/>
          <p:cNvCxnSpPr/>
          <p:nvPr/>
        </p:nvCxnSpPr>
        <p:spPr>
          <a:xfrm>
            <a:off x="7863840" y="3255264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3" name="text"/>
          <p:cNvSpPr txBox="1"/>
          <p:nvPr/>
        </p:nvSpPr>
        <p:spPr>
          <a:xfrm>
            <a:off x="7863840" y="3456432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4000" dirty="0"/>
          </a:p>
        </p:txBody>
      </p:sp>
      <p:sp>
        <p:nvSpPr>
          <p:cNvPr id="14" name="text"/>
          <p:cNvSpPr txBox="1"/>
          <p:nvPr/>
        </p:nvSpPr>
        <p:spPr>
          <a:xfrm>
            <a:off x="9144000" y="3438144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검증</a:t>
            </a:r>
            <a:endParaRPr lang="ko-KR" sz="3000" dirty="0"/>
          </a:p>
        </p:txBody>
      </p:sp>
      <p:sp>
        <p:nvSpPr>
          <p:cNvPr id="15" name="text"/>
          <p:cNvSpPr txBox="1"/>
          <p:nvPr/>
        </p:nvSpPr>
        <p:spPr>
          <a:xfrm>
            <a:off x="9144000" y="400507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다이어그램 흐름 · 전체 동작 파형 · Edge case · TB 신뢰성</a:t>
            </a:r>
            <a:endParaRPr lang="ko-KR" sz="1800" dirty="0"/>
          </a:p>
        </p:txBody>
      </p:sp>
      <p:cxnSp>
        <p:nvCxnSpPr>
          <p:cNvPr id="16" name="line"/>
          <p:cNvCxnSpPr/>
          <p:nvPr/>
        </p:nvCxnSpPr>
        <p:spPr>
          <a:xfrm>
            <a:off x="7863840" y="438912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7" name="text"/>
          <p:cNvSpPr txBox="1"/>
          <p:nvPr/>
        </p:nvSpPr>
        <p:spPr>
          <a:xfrm>
            <a:off x="7863840" y="459028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4000" dirty="0"/>
          </a:p>
        </p:txBody>
      </p:sp>
      <p:sp>
        <p:nvSpPr>
          <p:cNvPr id="18" name="text"/>
          <p:cNvSpPr txBox="1"/>
          <p:nvPr/>
        </p:nvSpPr>
        <p:spPr>
          <a:xfrm>
            <a:off x="9144000" y="45720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하위 모듈 검증</a:t>
            </a:r>
            <a:endParaRPr lang="ko-KR" sz="3000" dirty="0"/>
          </a:p>
        </p:txBody>
      </p:sp>
      <p:sp>
        <p:nvSpPr>
          <p:cNvPr id="19" name="text"/>
          <p:cNvSpPr txBox="1"/>
          <p:nvPr/>
        </p:nvSpPr>
        <p:spPr>
          <a:xfrm>
            <a:off x="9144000" y="5138927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모듈별 다이어그램 · Edge case · TB 결과</a:t>
            </a:r>
            <a:endParaRPr lang="ko-KR" sz="1800" dirty="0"/>
          </a:p>
        </p:txBody>
      </p:sp>
      <p:cxnSp>
        <p:nvCxnSpPr>
          <p:cNvPr id="20" name="line"/>
          <p:cNvCxnSpPr/>
          <p:nvPr/>
        </p:nvCxnSpPr>
        <p:spPr>
          <a:xfrm>
            <a:off x="7863840" y="5522975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1" name="text"/>
          <p:cNvSpPr txBox="1"/>
          <p:nvPr/>
        </p:nvSpPr>
        <p:spPr>
          <a:xfrm>
            <a:off x="7863840" y="5724144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05</a:t>
            </a:r>
            <a:endParaRPr lang="ko-KR" sz="4000" dirty="0"/>
          </a:p>
        </p:txBody>
      </p:sp>
      <p:sp>
        <p:nvSpPr>
          <p:cNvPr id="22" name="text"/>
          <p:cNvSpPr txBox="1"/>
          <p:nvPr/>
        </p:nvSpPr>
        <p:spPr>
          <a:xfrm>
            <a:off x="9144000" y="5705856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</a:t>
            </a:r>
            <a:endParaRPr lang="ko-KR" sz="3000" dirty="0"/>
          </a:p>
        </p:txBody>
      </p:sp>
      <p:sp>
        <p:nvSpPr>
          <p:cNvPr id="23" name="text"/>
          <p:cNvSpPr txBox="1"/>
          <p:nvPr/>
        </p:nvSpPr>
        <p:spPr>
          <a:xfrm>
            <a:off x="9144000" y="6272783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 → 원인 → 해결 → 적용 결과</a:t>
            </a:r>
            <a:endParaRPr lang="ko-KR" sz="1800" dirty="0"/>
          </a:p>
        </p:txBody>
      </p:sp>
      <p:cxnSp>
        <p:nvCxnSpPr>
          <p:cNvPr id="24" name="line"/>
          <p:cNvCxnSpPr/>
          <p:nvPr/>
        </p:nvCxnSpPr>
        <p:spPr>
          <a:xfrm>
            <a:off x="7863840" y="6656831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5" name="text"/>
          <p:cNvSpPr txBox="1"/>
          <p:nvPr/>
        </p:nvSpPr>
        <p:spPr>
          <a:xfrm>
            <a:off x="7863840" y="685800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06</a:t>
            </a:r>
            <a:endParaRPr lang="ko-KR" sz="4000" dirty="0"/>
          </a:p>
        </p:txBody>
      </p:sp>
      <p:sp>
        <p:nvSpPr>
          <p:cNvPr id="26" name="text"/>
          <p:cNvSpPr txBox="1"/>
          <p:nvPr/>
        </p:nvSpPr>
        <p:spPr>
          <a:xfrm>
            <a:off x="9144000" y="683971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시연 영상</a:t>
            </a:r>
            <a:endParaRPr lang="ko-KR" sz="3000" dirty="0"/>
          </a:p>
        </p:txBody>
      </p:sp>
      <p:sp>
        <p:nvSpPr>
          <p:cNvPr id="27" name="text"/>
          <p:cNvSpPr txBox="1"/>
          <p:nvPr/>
        </p:nvSpPr>
        <p:spPr>
          <a:xfrm>
            <a:off x="9144000" y="740664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보드 동작</a:t>
            </a:r>
            <a:endParaRPr lang="ko-KR" sz="1800" dirty="0"/>
          </a:p>
        </p:txBody>
      </p:sp>
      <p:cxnSp>
        <p:nvCxnSpPr>
          <p:cNvPr id="28" name="line"/>
          <p:cNvCxnSpPr/>
          <p:nvPr/>
        </p:nvCxnSpPr>
        <p:spPr>
          <a:xfrm>
            <a:off x="7863840" y="7790688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33" name="shape"/>
          <p:cNvSpPr/>
          <p:nvPr/>
        </p:nvSpPr>
        <p:spPr>
          <a:xfrm>
            <a:off x="868680" y="6016751"/>
            <a:ext cx="237744" cy="23774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1234440" y="5897879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SR04</a:t>
            </a:r>
            <a:endParaRPr lang="ko-KR" sz="2200" dirty="0"/>
          </a:p>
        </p:txBody>
      </p:sp>
      <p:sp>
        <p:nvSpPr>
          <p:cNvPr id="35" name="text"/>
          <p:cNvSpPr txBox="1"/>
          <p:nvPr/>
        </p:nvSpPr>
        <p:spPr>
          <a:xfrm>
            <a:off x="1234440" y="6355079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초음파 거리 0 ~ 400 cm · 60 ms 주기</a:t>
            </a:r>
            <a:endParaRPr lang="ko-KR" sz="1800" dirty="0"/>
          </a:p>
        </p:txBody>
      </p:sp>
      <p:sp>
        <p:nvSpPr>
          <p:cNvPr id="36" name="shape"/>
          <p:cNvSpPr/>
          <p:nvPr/>
        </p:nvSpPr>
        <p:spPr>
          <a:xfrm>
            <a:off x="868680" y="4965192"/>
            <a:ext cx="237744" cy="23774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"/>
          <p:cNvSpPr txBox="1"/>
          <p:nvPr/>
        </p:nvSpPr>
        <p:spPr>
          <a:xfrm>
            <a:off x="1234440" y="4846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WTS</a:t>
            </a:r>
            <a:endParaRPr lang="ko-KR" sz="2200" dirty="0"/>
          </a:p>
        </p:txBody>
      </p:sp>
      <p:sp>
        <p:nvSpPr>
          <p:cNvPr id="38" name="text"/>
          <p:cNvSpPr txBox="1"/>
          <p:nvPr/>
        </p:nvSpPr>
        <p:spPr>
          <a:xfrm>
            <a:off x="1234440" y="5303520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스톱워치 · 시계 · 타이머 (1/100 s)</a:t>
            </a:r>
            <a:endParaRPr lang="ko-KR" sz="1800" dirty="0"/>
          </a:p>
        </p:txBody>
      </p:sp>
      <p:sp>
        <p:nvSpPr>
          <p:cNvPr id="39" name="shape"/>
          <p:cNvSpPr/>
          <p:nvPr/>
        </p:nvSpPr>
        <p:spPr>
          <a:xfrm>
            <a:off x="868680" y="7068312"/>
            <a:ext cx="237744" cy="23774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"/>
          <p:cNvSpPr txBox="1"/>
          <p:nvPr/>
        </p:nvSpPr>
        <p:spPr>
          <a:xfrm>
            <a:off x="1234440" y="6949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</a:t>
            </a:r>
            <a:endParaRPr lang="ko-KR" sz="2200" dirty="0"/>
          </a:p>
        </p:txBody>
      </p:sp>
      <p:sp>
        <p:nvSpPr>
          <p:cNvPr id="41" name="text"/>
          <p:cNvSpPr txBox="1"/>
          <p:nvPr/>
        </p:nvSpPr>
        <p:spPr>
          <a:xfrm>
            <a:off x="1234440" y="7406640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온도 ℃ · 습도 %RH · 2 s 주기</a:t>
            </a:r>
            <a:endParaRPr lang="ko-KR" sz="1800" dirty="0"/>
          </a:p>
        </p:txBody>
      </p:sp>
      <p:sp>
        <p:nvSpPr>
          <p:cNvPr id="4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1400" dirty="0"/>
          </a:p>
        </p:txBody>
      </p:sp>
      <p:sp>
        <p:nvSpPr>
          <p:cNvPr id="43" name="text"/>
          <p:cNvSpPr txBox="1"/>
          <p:nvPr/>
        </p:nvSpPr>
        <p:spPr>
          <a:xfrm>
            <a:off x="7863840" y="7991856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07</a:t>
            </a:r>
            <a:endParaRPr lang="ko-KR" sz="4000" dirty="0"/>
          </a:p>
        </p:txBody>
      </p:sp>
      <p:sp>
        <p:nvSpPr>
          <p:cNvPr id="44" name="text"/>
          <p:cNvSpPr txBox="1"/>
          <p:nvPr/>
        </p:nvSpPr>
        <p:spPr>
          <a:xfrm>
            <a:off x="9144000" y="79735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결론 · 고찰</a:t>
            </a:r>
            <a:endParaRPr lang="ko-KR" sz="3000" dirty="0"/>
          </a:p>
        </p:txBody>
      </p:sp>
      <p:sp>
        <p:nvSpPr>
          <p:cNvPr id="45" name="text"/>
          <p:cNvSpPr txBox="1"/>
          <p:nvPr/>
        </p:nvSpPr>
        <p:spPr>
          <a:xfrm>
            <a:off x="9144000" y="854049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목표 달성 수치 · 남은 과제</a:t>
            </a:r>
            <a:endParaRPr lang="ko-KR" sz="1800" dirty="0"/>
          </a:p>
        </p:txBody>
      </p:sp>
      <p:cxnSp>
        <p:nvCxnSpPr>
          <p:cNvPr id="46" name="line"/>
          <p:cNvCxnSpPr/>
          <p:nvPr/>
        </p:nvCxnSpPr>
        <p:spPr>
          <a:xfrm>
            <a:off x="7863840" y="8924544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47" name="shape"/>
          <p:cNvSpPr/>
          <p:nvPr/>
        </p:nvSpPr>
        <p:spPr>
          <a:xfrm>
            <a:off x="868680" y="8119872"/>
            <a:ext cx="237744" cy="23774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"/>
          <p:cNvSpPr txBox="1"/>
          <p:nvPr/>
        </p:nvSpPr>
        <p:spPr>
          <a:xfrm>
            <a:off x="1234440" y="8001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UART</a:t>
            </a:r>
            <a:endParaRPr lang="ko-KR" sz="2200" dirty="0"/>
          </a:p>
        </p:txBody>
      </p:sp>
      <p:sp>
        <p:nvSpPr>
          <p:cNvPr id="49" name="text"/>
          <p:cNvSpPr txBox="1"/>
          <p:nvPr/>
        </p:nvSpPr>
        <p:spPr>
          <a:xfrm>
            <a:off x="1234440" y="8458200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9600 bps · RX 8 / TX 64 FIFO</a:t>
            </a:r>
            <a:endParaRPr lang="ko-KR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descr="Basys3 보드 사진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0" y="5157216"/>
            <a:ext cx="7790688" cy="42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SENSOR · UART</a:t>
            </a:r>
            <a:endParaRPr lang="ko-KR" sz="1400" dirty="0"/>
          </a:p>
        </p:txBody>
      </p:sp>
      <p:sp>
        <p:nvSpPr>
          <p:cNvPr id="121" name="shape"/>
          <p:cNvSpPr/>
          <p:nvPr/>
        </p:nvSpPr>
        <p:spPr>
          <a:xfrm>
            <a:off x="841248" y="548640"/>
            <a:ext cx="146304" cy="14630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text"/>
          <p:cNvSpPr txBox="1"/>
          <p:nvPr/>
        </p:nvSpPr>
        <p:spPr>
          <a:xfrm>
            <a:off x="1078992" y="420624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123" name="text"/>
          <p:cNvSpPr txBox="1"/>
          <p:nvPr/>
        </p:nvSpPr>
        <p:spPr>
          <a:xfrm>
            <a:off x="841248" y="786384"/>
            <a:ext cx="166420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Basys3 보드 IO 구성</a:t>
            </a:r>
            <a:endParaRPr lang="ko-KR" sz="3000" dirty="0"/>
          </a:p>
        </p:txBody>
      </p:sp>
      <p:sp>
        <p:nvSpPr>
          <p:cNvPr id="124" name="chip"/>
          <p:cNvSpPr/>
          <p:nvPr/>
        </p:nvSpPr>
        <p:spPr>
          <a:xfrm>
            <a:off x="841248" y="1700784"/>
            <a:ext cx="1097280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125" name="text"/>
          <p:cNvSpPr txBox="1"/>
          <p:nvPr/>
        </p:nvSpPr>
        <p:spPr>
          <a:xfrm>
            <a:off x="2103120" y="1645920"/>
            <a:ext cx="15453359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PC 통신 1 · 센서 Pmod 2 · 버튼 5 · 스위치 8 · LED 16 · FND 4 자리 — 한 보드에 IO 배치</a:t>
            </a:r>
            <a:endParaRPr lang="ko-KR" sz="1900" dirty="0"/>
          </a:p>
        </p:txBody>
      </p:sp>
      <p:sp>
        <p:nvSpPr>
          <p:cNvPr id="126" name="text"/>
          <p:cNvSpPr txBox="1"/>
          <p:nvPr/>
        </p:nvSpPr>
        <p:spPr>
          <a:xfrm>
            <a:off x="16642080" y="9710928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1100" dirty="0"/>
          </a:p>
        </p:txBody>
      </p:sp>
      <p:sp>
        <p:nvSpPr>
          <p:cNvPr id="127" name="TextBox 126"/>
          <p:cNvSpPr txBox="1"/>
          <p:nvPr/>
        </p:nvSpPr>
        <p:spPr>
          <a:xfrm>
            <a:off x="777240" y="5897880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JA12 : PWR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121408" y="5927598"/>
            <a:ext cx="155448" cy="155448"/>
          </a:xfrm>
          <a:prstGeom prst="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322576" y="5927598"/>
            <a:ext cx="155448" cy="155448"/>
          </a:xfrm>
          <a:prstGeom prst="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542032" y="5897880"/>
            <a:ext cx="1298448" cy="2148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JA6 : PWR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7240" y="6112764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JA11 : GND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21408" y="6142482"/>
            <a:ext cx="155448" cy="155448"/>
          </a:xfrm>
          <a:prstGeom prst="rect">
            <a:avLst/>
          </a:prstGeom>
          <a:solidFill>
            <a:srgbClr val="D6E4F0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322576" y="6142482"/>
            <a:ext cx="155448" cy="1554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2542032" y="6121908"/>
            <a:ext cx="1298448" cy="196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/>
            <a:r>
              <a:rPr sz="13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JA5 : GND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7240" y="6327648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JA10 : G3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21408" y="6357366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322576" y="6357366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542032" y="6327648"/>
            <a:ext cx="1298448" cy="2148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JA4 : G2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77240" y="6542532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JA9 : H2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21408" y="6572250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322576" y="6572250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542032" y="6542532"/>
            <a:ext cx="1298448" cy="2148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JA3 : J2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77240" y="6757416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JA8 : K2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121408" y="6787134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322576" y="6787134"/>
            <a:ext cx="155448" cy="15544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2542032" y="6766560"/>
            <a:ext cx="1298448" cy="196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/>
            <a:r>
              <a:rPr sz="13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JA2 : L2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7240" y="6972300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JA7 : H1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21408" y="7002018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322576" y="7002018"/>
            <a:ext cx="155448" cy="1554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2542032" y="6981444"/>
            <a:ext cx="1298448" cy="196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/>
            <a:r>
              <a:rPr sz="13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JA1 : J1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77240" y="7379208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JXAC12 : PWR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121408" y="7408926"/>
            <a:ext cx="155448" cy="155448"/>
          </a:xfrm>
          <a:prstGeom prst="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322576" y="7408926"/>
            <a:ext cx="155448" cy="1554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2542032" y="7388352"/>
            <a:ext cx="1298448" cy="196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/>
            <a:r>
              <a:rPr sz="13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JXAC6 : PWR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77240" y="7594092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JXAC11 : GND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21408" y="7623810"/>
            <a:ext cx="155448" cy="155448"/>
          </a:xfrm>
          <a:prstGeom prst="rect">
            <a:avLst/>
          </a:prstGeom>
          <a:solidFill>
            <a:srgbClr val="D6E4F0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322576" y="7623810"/>
            <a:ext cx="155448" cy="1554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2542032" y="7603236"/>
            <a:ext cx="1298448" cy="196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/>
            <a:r>
              <a:rPr sz="13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JXAC5 : GND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77240" y="7808976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JXAC10 : N1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121408" y="7838694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322576" y="7838694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542032" y="7808976"/>
            <a:ext cx="1298448" cy="2148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JXAC4 : N2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77240" y="8023860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JXAC9 : M1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21408" y="8053578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322576" y="8053578"/>
            <a:ext cx="155448" cy="1554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2542032" y="8033004"/>
            <a:ext cx="1298448" cy="196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/>
            <a:r>
              <a:rPr sz="13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JXAC3 : M2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7240" y="8238744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JXAC8 : M3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121408" y="8268462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322576" y="8268462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542032" y="8238744"/>
            <a:ext cx="1298448" cy="2148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JXAC2 : L3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77240" y="8453628"/>
            <a:ext cx="1298448" cy="2148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JXAC7 : K3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21408" y="8483346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322576" y="8483346"/>
            <a:ext cx="155448" cy="155448"/>
          </a:xfrm>
          <a:prstGeom prst="rect">
            <a:avLst/>
          </a:prstGeom>
          <a:solidFill>
            <a:srgbClr val="E7E6E6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42032" y="8453628"/>
            <a:ext cx="1298448" cy="2148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JXAC1 : J3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114580" y="6188291"/>
            <a:ext cx="833603" cy="816268"/>
          </a:xfrm>
          <a:prstGeom prst="roundRect">
            <a:avLst>
              <a:gd name="adj" fmla="val 15000"/>
            </a:avLst>
          </a:prstGeom>
          <a:noFill/>
          <a:ln w="317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4114580" y="7391214"/>
            <a:ext cx="833603" cy="803380"/>
          </a:xfrm>
          <a:prstGeom prst="roundRect">
            <a:avLst>
              <a:gd name="adj" fmla="val 15000"/>
            </a:avLst>
          </a:prstGeom>
          <a:noFill/>
          <a:ln w="317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4343400" y="2395728"/>
            <a:ext cx="4937760" cy="347472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JA5 · GND → SR04 GND</a:t>
            </a:r>
          </a:p>
        </p:txBody>
      </p:sp>
      <p:cxnSp>
        <p:nvCxnSpPr>
          <p:cNvPr id="178" name="Connector 177"/>
          <p:cNvCxnSpPr/>
          <p:nvPr/>
        </p:nvCxnSpPr>
        <p:spPr>
          <a:xfrm flipH="1">
            <a:off x="3840479" y="2569464"/>
            <a:ext cx="502921" cy="3650742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4343400" y="2788920"/>
            <a:ext cx="4937760" cy="548640"/>
          </a:xfrm>
          <a:prstGeom prst="roundRect">
            <a:avLst>
              <a:gd name="adj" fmla="val 12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JA2 · L2 → SR04 ECHO (echo)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echo 5 V 출력이면 분압 저항으로 3.3 V</a:t>
            </a:r>
          </a:p>
        </p:txBody>
      </p:sp>
      <p:cxnSp>
        <p:nvCxnSpPr>
          <p:cNvPr id="180" name="Connector 179"/>
          <p:cNvCxnSpPr/>
          <p:nvPr/>
        </p:nvCxnSpPr>
        <p:spPr>
          <a:xfrm flipH="1">
            <a:off x="3840479" y="3063240"/>
            <a:ext cx="502921" cy="3801618"/>
          </a:xfrm>
          <a:prstGeom prst="line">
            <a:avLst/>
          </a:prstGeom>
          <a:ln w="22225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4343400" y="3383280"/>
            <a:ext cx="4937760" cy="347472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JA1 · J1 → SR04 TRIG (trig)</a:t>
            </a:r>
          </a:p>
        </p:txBody>
      </p:sp>
      <p:cxnSp>
        <p:nvCxnSpPr>
          <p:cNvPr id="182" name="Connector 181"/>
          <p:cNvCxnSpPr/>
          <p:nvPr/>
        </p:nvCxnSpPr>
        <p:spPr>
          <a:xfrm flipH="1">
            <a:off x="3840479" y="3557016"/>
            <a:ext cx="502921" cy="3522726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ounded Rectangle 182"/>
          <p:cNvSpPr/>
          <p:nvPr/>
        </p:nvSpPr>
        <p:spPr>
          <a:xfrm>
            <a:off x="4343400" y="3776472"/>
            <a:ext cx="4937760" cy="347472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JXADC6 · PWR (3.3 V) → DHT11 VCC</a:t>
            </a:r>
          </a:p>
        </p:txBody>
      </p:sp>
      <p:cxnSp>
        <p:nvCxnSpPr>
          <p:cNvPr id="184" name="Connector 183"/>
          <p:cNvCxnSpPr/>
          <p:nvPr/>
        </p:nvCxnSpPr>
        <p:spPr>
          <a:xfrm flipH="1">
            <a:off x="3840479" y="3950208"/>
            <a:ext cx="502921" cy="3536442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4"/>
          <p:cNvSpPr/>
          <p:nvPr/>
        </p:nvSpPr>
        <p:spPr>
          <a:xfrm>
            <a:off x="4343400" y="4169663"/>
            <a:ext cx="4937760" cy="347472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JXADC5 · GND → DHT11 GND</a:t>
            </a:r>
          </a:p>
        </p:txBody>
      </p:sp>
      <p:cxnSp>
        <p:nvCxnSpPr>
          <p:cNvPr id="186" name="Connector 185"/>
          <p:cNvCxnSpPr/>
          <p:nvPr/>
        </p:nvCxnSpPr>
        <p:spPr>
          <a:xfrm flipH="1">
            <a:off x="3840479" y="4343400"/>
            <a:ext cx="502921" cy="335813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4343400" y="4562855"/>
            <a:ext cx="4937760" cy="548640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JXADC3 · M2 → DHT11 DATA (dht11_io)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PULLUP · 외부 5 kΩ 풀업 권장</a:t>
            </a:r>
          </a:p>
        </p:txBody>
      </p:sp>
      <p:cxnSp>
        <p:nvCxnSpPr>
          <p:cNvPr id="188" name="Connector 187"/>
          <p:cNvCxnSpPr/>
          <p:nvPr/>
        </p:nvCxnSpPr>
        <p:spPr>
          <a:xfrm flipH="1">
            <a:off x="3840479" y="4837175"/>
            <a:ext cx="502921" cy="3294127"/>
          </a:xfrm>
          <a:prstGeom prst="line">
            <a:avLst/>
          </a:prstGeom>
          <a:ln w="22225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/>
          <p:cNvSpPr/>
          <p:nvPr/>
        </p:nvSpPr>
        <p:spPr>
          <a:xfrm>
            <a:off x="841248" y="2395728"/>
            <a:ext cx="3154680" cy="210312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/>
            <a:r>
              <a:rPr sz="17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⚠ 센서 전원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HC-SR04 는 보통 5 V 필요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(Pmod PWR 는 3.3 V)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팀원 단독 테스트 때 쓴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   전원 연결 그대로 사용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9692640" y="2450592"/>
            <a:ext cx="182880" cy="182880"/>
          </a:xfrm>
          <a:prstGeom prst="rect">
            <a:avLst/>
          </a:prstGeom>
          <a:solidFill>
            <a:srgbClr val="2B6CB0"/>
          </a:solidFill>
          <a:ln w="95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012680" y="2395728"/>
            <a:ext cx="7452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sw0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시계 / 스톱워치 · </a:t>
            </a:r>
            <a:r>
              <a:rPr sz="15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sw1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초.1/100초 / 시.분 · </a:t>
            </a:r>
            <a:r>
              <a:rPr sz="15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sw2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시계 시간 설정</a:t>
            </a:r>
          </a:p>
          <a:p>
            <a:pPr algn="l"/>
            <a:r>
              <a:rPr sz="15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sw3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12 / 24 시간 · </a:t>
            </a:r>
            <a:r>
              <a:rPr sz="15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sw4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타이머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692640" y="3145536"/>
            <a:ext cx="182880" cy="18288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012680" y="3090672"/>
            <a:ext cx="7452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sw5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거리 (SR04) 화면 · </a:t>
            </a: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sw6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온습도 (DHT11) 화면 (sw6 우선)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 로 /mod 를 받은 뒤에는 sw0 ~ sw6 무시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692640" y="3840479"/>
            <a:ext cx="182880" cy="182880"/>
          </a:xfrm>
          <a:prstGeom prst="rect">
            <a:avLst/>
          </a:prstGeom>
          <a:solidFill>
            <a:srgbClr val="C05621"/>
          </a:solidFill>
          <a:ln w="95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012680" y="3785615"/>
            <a:ext cx="7452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sw15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거리 막대 LED (LD0 ~ 7) 켜기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692640" y="4261103"/>
            <a:ext cx="182880" cy="18288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012680" y="4206240"/>
            <a:ext cx="7452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지금 화면의 모듈에만 들어감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(거리 · 온습도 : R 1 회 측정, U 자동 측정 켜기/끄기)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711671" y="5522388"/>
            <a:ext cx="483022" cy="343692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B79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2070080" y="4800600"/>
            <a:ext cx="5394960" cy="585216"/>
          </a:xfrm>
          <a:prstGeom prst="roundRect">
            <a:avLst>
              <a:gd name="adj" fmla="val 12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micro USB : 전원 + UART (9600 8N1)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 = B18 (PC → FPGA) · tx = A18 (FPGA → PC)</a:t>
            </a:r>
          </a:p>
        </p:txBody>
      </p:sp>
      <p:cxnSp>
        <p:nvCxnSpPr>
          <p:cNvPr id="200" name="Connector 199"/>
          <p:cNvCxnSpPr/>
          <p:nvPr/>
        </p:nvCxnSpPr>
        <p:spPr>
          <a:xfrm flipH="1">
            <a:off x="6194694" y="5093208"/>
            <a:ext cx="5875386" cy="601026"/>
          </a:xfrm>
          <a:prstGeom prst="line">
            <a:avLst/>
          </a:prstGeom>
          <a:ln w="22225">
            <a:solidFill>
              <a:srgbClr val="6B4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8843893" y="7257246"/>
            <a:ext cx="310896" cy="310896"/>
          </a:xfrm>
          <a:prstGeom prst="ellipse">
            <a:avLst/>
          </a:prstGeom>
          <a:noFill/>
          <a:ln w="381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13441680" y="5760720"/>
            <a:ext cx="4023360" cy="43891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 · T18 → btn_U</a:t>
            </a:r>
          </a:p>
        </p:txBody>
      </p:sp>
      <p:cxnSp>
        <p:nvCxnSpPr>
          <p:cNvPr id="203" name="Connector 202"/>
          <p:cNvCxnSpPr/>
          <p:nvPr/>
        </p:nvCxnSpPr>
        <p:spPr>
          <a:xfrm flipH="1">
            <a:off x="9108155" y="5980176"/>
            <a:ext cx="4333525" cy="1432518"/>
          </a:xfrm>
          <a:prstGeom prst="line">
            <a:avLst/>
          </a:prstGeom>
          <a:ln w="222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8438778" y="7579458"/>
            <a:ext cx="310896" cy="310896"/>
          </a:xfrm>
          <a:prstGeom prst="ellipse">
            <a:avLst/>
          </a:prstGeom>
          <a:noFill/>
          <a:ln w="381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3441680" y="6291072"/>
            <a:ext cx="4023360" cy="43891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 · W19 → btn_L</a:t>
            </a:r>
          </a:p>
        </p:txBody>
      </p:sp>
      <p:cxnSp>
        <p:nvCxnSpPr>
          <p:cNvPr id="206" name="Connector 205"/>
          <p:cNvCxnSpPr/>
          <p:nvPr/>
        </p:nvCxnSpPr>
        <p:spPr>
          <a:xfrm flipH="1">
            <a:off x="8703039" y="6510528"/>
            <a:ext cx="4738641" cy="1224378"/>
          </a:xfrm>
          <a:prstGeom prst="line">
            <a:avLst/>
          </a:prstGeom>
          <a:ln w="222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Oval 206"/>
          <p:cNvSpPr/>
          <p:nvPr/>
        </p:nvSpPr>
        <p:spPr>
          <a:xfrm>
            <a:off x="8843893" y="7592346"/>
            <a:ext cx="310896" cy="310896"/>
          </a:xfrm>
          <a:prstGeom prst="ellipse">
            <a:avLst/>
          </a:prstGeom>
          <a:noFill/>
          <a:ln w="38100">
            <a:solidFill>
              <a:srgbClr val="FC81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3441680" y="6821424"/>
            <a:ext cx="4023360" cy="438912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BTNC · U18 → rst (리셋)</a:t>
            </a:r>
          </a:p>
        </p:txBody>
      </p:sp>
      <p:cxnSp>
        <p:nvCxnSpPr>
          <p:cNvPr id="209" name="Connector 208"/>
          <p:cNvCxnSpPr/>
          <p:nvPr/>
        </p:nvCxnSpPr>
        <p:spPr>
          <a:xfrm flipH="1">
            <a:off x="9108155" y="7040880"/>
            <a:ext cx="4333525" cy="706914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/>
          <p:cNvSpPr/>
          <p:nvPr/>
        </p:nvSpPr>
        <p:spPr>
          <a:xfrm>
            <a:off x="9295753" y="7579458"/>
            <a:ext cx="310896" cy="310896"/>
          </a:xfrm>
          <a:prstGeom prst="ellipse">
            <a:avLst/>
          </a:prstGeom>
          <a:noFill/>
          <a:ln w="381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3441680" y="7351775"/>
            <a:ext cx="4023360" cy="43891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 · T17 → btn_R</a:t>
            </a:r>
          </a:p>
        </p:txBody>
      </p:sp>
      <p:cxnSp>
        <p:nvCxnSpPr>
          <p:cNvPr id="212" name="Connector 211"/>
          <p:cNvCxnSpPr/>
          <p:nvPr/>
        </p:nvCxnSpPr>
        <p:spPr>
          <a:xfrm flipH="1">
            <a:off x="9560015" y="7571231"/>
            <a:ext cx="3881665" cy="163675"/>
          </a:xfrm>
          <a:prstGeom prst="line">
            <a:avLst/>
          </a:prstGeom>
          <a:ln w="222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8843893" y="7983296"/>
            <a:ext cx="310896" cy="310896"/>
          </a:xfrm>
          <a:prstGeom prst="ellipse">
            <a:avLst/>
          </a:prstGeom>
          <a:noFill/>
          <a:ln w="381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13441680" y="7882127"/>
            <a:ext cx="4023360" cy="43891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 · U17 → btn_D</a:t>
            </a:r>
          </a:p>
        </p:txBody>
      </p:sp>
      <p:cxnSp>
        <p:nvCxnSpPr>
          <p:cNvPr id="215" name="Connector 214"/>
          <p:cNvCxnSpPr/>
          <p:nvPr/>
        </p:nvCxnSpPr>
        <p:spPr>
          <a:xfrm flipH="1">
            <a:off x="9108155" y="8101583"/>
            <a:ext cx="4333525" cy="37161"/>
          </a:xfrm>
          <a:prstGeom prst="line">
            <a:avLst/>
          </a:prstGeom>
          <a:ln w="222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215"/>
          <p:cNvSpPr/>
          <p:nvPr/>
        </p:nvSpPr>
        <p:spPr>
          <a:xfrm>
            <a:off x="5127369" y="7362760"/>
            <a:ext cx="224028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 (fnd_com · fnd_font)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129576" y="8015775"/>
            <a:ext cx="173736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LED 0 ~ 15 (led)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67940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F6A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522969" y="9305759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sw15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84164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82957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sw6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819300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18093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sw5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54436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53229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889572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88365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924708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923501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959844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58637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sw1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9949805" y="8594136"/>
            <a:ext cx="327208" cy="665903"/>
          </a:xfrm>
          <a:prstGeom prst="roundRect">
            <a:avLst>
              <a:gd name="adj" fmla="val 15000"/>
            </a:avLst>
          </a:prstGeom>
          <a:noFill/>
          <a:ln w="3810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937730" y="9305759"/>
            <a:ext cx="35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1521440" y="8869680"/>
            <a:ext cx="5943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핀 이름 : merge_final_top.xdc 기준</a:t>
            </a:r>
          </a:p>
          <a:p>
            <a:pPr algn="r"/>
            <a:r>
              <a:rPr sz="14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색 칸 = 이번 설계가 쓰는 핀 · 클럭 100 MHz (W5)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18"/>
          <p:cNvGraphicFramePr/>
          <p:nvPr/>
        </p:nvGraphicFramePr>
        <p:xfrm>
          <a:off x="617221" y="2377440"/>
          <a:ext cx="8293608" cy="59526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명령어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option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대상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관련 IO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예시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 row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" sz="22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/mod</a:t>
                      </a:r>
                      <a:endParaRPr sz="22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w_hm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시계, 시.분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바꾸기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(이후 스위치 대신 UART 가 화면 결정)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④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/mod dist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→ FND : 거리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w_ms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시계, 초.1/100초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s_hm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스톱워치, 시.분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s_ms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스톱워치, 초.1/100초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t_hm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타이머 (분.초)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t_ms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타이머 (분.초)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dist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거리 (SR04)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temp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온습도 (DHT11)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" sz="22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/get</a:t>
                      </a:r>
                      <a:endParaRPr sz="22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8C8C8C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—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지금 화면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줄 전송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(공백 뒤 Enter)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①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UART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/get ⏎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" sz="22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/btn</a:t>
                      </a:r>
                      <a:endParaRPr sz="22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R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R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한 번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(물리 버튼과 같음)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⑤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/btn U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거리 화면 : SR04 자동 측정 켜기/끄기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L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L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U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U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D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D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28" name="Google Shape;128;p18"/>
          <p:cNvGraphicFramePr/>
          <p:nvPr/>
        </p:nvGraphicFramePr>
        <p:xfrm>
          <a:off x="9326881" y="2377440"/>
          <a:ext cx="8293608" cy="52670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명령어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option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대상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관련 IO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예시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4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140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" sz="22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/auto</a:t>
                      </a:r>
                      <a:endParaRPr sz="22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all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(돌아가며)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1초마다 순환 전송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①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UART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/auto all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_sw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스톱워치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1초마다 한 줄 전송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/auto dis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← 045cm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_tm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타이머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_wh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dis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거리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tem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온습도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14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off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전송 끄기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/auto off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" sz="22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/set</a:t>
                      </a:r>
                      <a:endParaRPr sz="22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w_hm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 시간 설정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켜기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SW2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/set w_hm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24h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24시간 표시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Enter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SW3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/set 24h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12h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12시간 표시 (기본)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" sz="22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/off</a:t>
                      </a:r>
                      <a:endParaRPr sz="22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Courier New"/>
                        <a:buNone/>
                      </a:pPr>
                      <a:r>
                        <a:rPr lang="ko" sz="18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w_h</a:t>
                      </a:r>
                      <a:endParaRPr sz="1800" u="none" strike="noStrike" cap="none">
                        <a:latin typeface="Consolas"/>
                        <a:ea typeface="Malgun Gothic"/>
                        <a:cs typeface="Consolas"/>
                        <a:sym typeface="Consolas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 시간 설정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끄기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562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800" b="1" u="none" strike="noStrike" cap="none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 </a:t>
                      </a:r>
                      <a:r>
                        <a:rPr lang="ko" sz="1600" u="none" strike="noStrik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SW2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Courier New"/>
                        <a:buNone/>
                      </a:pPr>
                      <a:r>
                        <a:rPr lang="ko" sz="1600" b="1" u="none" strike="noStrike" cap="none">
                          <a:solidFill>
                            <a:srgbClr val="262626"/>
                          </a:solidFill>
                          <a:latin typeface="Consolas"/>
                          <a:ea typeface="Malgun Gothic"/>
                          <a:cs typeface="Consolas"/>
                          <a:sym typeface="Consolas"/>
                        </a:rPr>
                        <a:t>/off w_h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600" marR="68600" marT="13750" marB="1375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9" name="Google Shape;129;p18"/>
          <p:cNvSpPr txBox="1"/>
          <p:nvPr/>
        </p:nvSpPr>
        <p:spPr>
          <a:xfrm>
            <a:off x="9326880" y="7909560"/>
            <a:ext cx="82981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C05621"/>
              </a:buClr>
              <a:buSzPts val="900"/>
            </a:pPr>
            <a:r>
              <a:rPr lang="en-US" altLang="ko" b="1" sz="1800">
                <a:solidFill>
                  <a:srgbClr val="C0562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altLang="ko" b="1" sz="1800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/set</a:t>
            </a:r>
            <a:r>
              <a:rPr lang="ko" altLang="en-US" sz="1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altLang="ko" b="1" sz="1800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/off</a:t>
            </a:r>
            <a:r>
              <a:rPr lang="ko" altLang="en-US" sz="1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는 </a:t>
            </a:r>
            <a:r>
              <a:rPr lang="en-US" altLang="ko" b="1" sz="1800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/mod</a:t>
            </a:r>
            <a:r>
              <a:rPr lang="ko" altLang="en-US" sz="1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를 한 번 받은 뒤에만 동작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buClr>
                <a:srgbClr val="C05621"/>
              </a:buClr>
              <a:buSzPts val="900"/>
            </a:pPr>
            <a:r>
              <a:rPr lang="en-US" altLang="ko" b="1" sz="1800">
                <a:solidFill>
                  <a:srgbClr val="C0562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altLang="ko" b="1" sz="1800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/get</a:t>
            </a:r>
            <a:r>
              <a:rPr lang="ko" altLang="en-US" sz="1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은 자동 전송 중 무시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17220" y="8686800"/>
            <a:ext cx="17007840" cy="868680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9525" cap="flat" cmpd="sng">
            <a:noFill/>
          </a:ln>
        </p:spPr>
        <p:txBody>
          <a:bodyPr spcFirstLastPara="1" wrap="square" lIns="137150" tIns="137150" rIns="137150" bIns="137150" anchor="ctr" anchorCtr="0">
            <a:noAutofit/>
          </a:bodyPr>
          <a:lstStyle/>
          <a:p>
            <a:endParaRPr sz="3600"/>
          </a:p>
        </p:txBody>
      </p:sp>
      <p:sp>
        <p:nvSpPr>
          <p:cNvPr id="131" name="Google Shape;131;p18"/>
          <p:cNvSpPr txBox="1"/>
          <p:nvPr/>
        </p:nvSpPr>
        <p:spPr>
          <a:xfrm>
            <a:off x="891540" y="8686800"/>
            <a:ext cx="15910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05621"/>
              </a:buClr>
              <a:buSzPts val="1100"/>
            </a:pPr>
            <a:r>
              <a:rPr lang="ko" altLang="en-US" sz="2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통신  </a:t>
            </a:r>
            <a:r>
              <a:rPr lang="en-US" altLang="ko" sz="22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9600 bps · 8N1 · </a:t>
            </a:r>
            <a:r>
              <a:rPr lang="ko" altLang="en-US" sz="22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줄 끝 </a:t>
            </a:r>
            <a:r>
              <a:rPr lang="en-US" altLang="ko" sz="22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CR </a:t>
            </a:r>
            <a:r>
              <a:rPr lang="ko" altLang="en-US" sz="22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</a:t>
            </a:r>
            <a:r>
              <a:rPr lang="en-US" altLang="ko" sz="22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LF (Enter)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spcBef>
                <a:spcPts val="400"/>
              </a:spcBef>
              <a:buClr>
                <a:srgbClr val="C05621"/>
              </a:buClr>
              <a:buSzPts val="1100"/>
            </a:pPr>
            <a:r>
              <a:rPr lang="ko" altLang="en-US" sz="2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형식  </a:t>
            </a:r>
            <a:r>
              <a:rPr lang="en-US" altLang="ko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/&lt;</a:t>
            </a:r>
            <a:r>
              <a:rPr lang="ko" altLang="en-US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명령 </a:t>
            </a:r>
            <a:r>
              <a:rPr lang="en-US" altLang="ko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3</a:t>
            </a:r>
            <a:r>
              <a:rPr lang="ko" altLang="en-US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글자</a:t>
            </a:r>
            <a:r>
              <a:rPr lang="en-US" altLang="ko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&gt; &lt;</a:t>
            </a:r>
            <a:r>
              <a:rPr lang="ko" altLang="en-US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옵션</a:t>
            </a:r>
            <a:r>
              <a:rPr lang="en-US" altLang="ko" sz="2200" b="1">
                <a:solidFill>
                  <a:srgbClr val="262626"/>
                </a:solidFill>
                <a:latin typeface="Consolas"/>
                <a:ea typeface="Malgun Gothic"/>
                <a:cs typeface="Consolas"/>
                <a:sym typeface="Consolas"/>
              </a:rPr>
              <a:t>&gt;</a:t>
            </a:r>
            <a:r>
              <a:rPr lang="ko" altLang="en-US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altLang="ko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ko" altLang="en-US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명령은 소문자</a:t>
            </a:r>
            <a:r>
              <a:rPr lang="en-US" altLang="ko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" altLang="en-US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버튼만 대문자 </a:t>
            </a:r>
            <a:r>
              <a:rPr lang="en-US" altLang="ko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R L U D · </a:t>
            </a:r>
            <a:r>
              <a:rPr lang="ko" altLang="en-US" sz="2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형식 오류 → </a:t>
            </a:r>
            <a:r>
              <a:rPr lang="en-US" altLang="ko" sz="2200" b="1">
                <a:solidFill>
                  <a:srgbClr val="C00000"/>
                </a:solidFill>
                <a:latin typeface="Consolas"/>
                <a:ea typeface="Malgun Gothic"/>
                <a:cs typeface="Consolas"/>
                <a:sym typeface="Consolas"/>
              </a:rPr>
              <a:t>ERROR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SENSOR · UART</a:t>
            </a:r>
            <a:endParaRPr lang="ko-KR" sz="1400" dirty="0"/>
          </a:p>
        </p:txBody>
      </p:sp>
      <p:sp>
        <p:nvSpPr>
          <p:cNvPr id="133" name="shape"/>
          <p:cNvSpPr/>
          <p:nvPr/>
        </p:nvSpPr>
        <p:spPr>
          <a:xfrm>
            <a:off x="841248" y="548640"/>
            <a:ext cx="146304" cy="14630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"/>
          <p:cNvSpPr txBox="1"/>
          <p:nvPr/>
        </p:nvSpPr>
        <p:spPr>
          <a:xfrm>
            <a:off x="1078992" y="420624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135" name="text"/>
          <p:cNvSpPr txBox="1"/>
          <p:nvPr/>
        </p:nvSpPr>
        <p:spPr>
          <a:xfrm>
            <a:off x="841248" y="786384"/>
            <a:ext cx="166420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UART 명령어 및 기능</a:t>
            </a:r>
            <a:endParaRPr lang="ko-KR" sz="3000" dirty="0"/>
          </a:p>
        </p:txBody>
      </p:sp>
      <p:sp>
        <p:nvSpPr>
          <p:cNvPr id="136" name="chip"/>
          <p:cNvSpPr/>
          <p:nvPr/>
        </p:nvSpPr>
        <p:spPr>
          <a:xfrm>
            <a:off x="841248" y="1700784"/>
            <a:ext cx="1097280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137" name="text"/>
          <p:cNvSpPr txBox="1"/>
          <p:nvPr/>
        </p:nvSpPr>
        <p:spPr>
          <a:xfrm>
            <a:off x="2103120" y="1645920"/>
            <a:ext cx="15453359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명령 6 종 (/mod · /get · /btn · /auto · /set · /off) — PC 터미널로 화면 · 버튼 · 데이터 전송 제어</a:t>
            </a:r>
            <a:endParaRPr lang="ko-KR" sz="1900" dirty="0"/>
          </a:p>
        </p:txBody>
      </p:sp>
      <p:sp>
        <p:nvSpPr>
          <p:cNvPr id="138" name="text"/>
          <p:cNvSpPr txBox="1"/>
          <p:nvPr/>
        </p:nvSpPr>
        <p:spPr>
          <a:xfrm>
            <a:off x="16642080" y="9710928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921</Words>
  <Application>Microsoft Office PowerPoint</Application>
  <PresentationFormat>사용자 지정</PresentationFormat>
  <Paragraphs>187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맑은 고딕</vt:lpstr>
      <vt:lpstr>Malgun Gothic Semilight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Basys3 보드 IO 구성</vt:lpstr>
      <vt:lpstr>UART 명령어 및 기능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kccistc</dc:creator>
  <cp:lastModifiedBy>안성 정</cp:lastModifiedBy>
  <cp:revision>9</cp:revision>
  <dcterms:created xsi:type="dcterms:W3CDTF">2006-08-16T00:00:00Z</dcterms:created>
  <dcterms:modified xsi:type="dcterms:W3CDTF">2026-10-31T11:54:25Z</dcterms:modified>
</cp:coreProperties>
</file>