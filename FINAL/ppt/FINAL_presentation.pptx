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60" r:id="rId4"/>
    <p:sldId id="258" r:id="rId5"/>
    <p:sldId id="259" r:id="rId6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69985" autoAdjust="0"/>
  </p:normalViewPr>
  <p:slideViewPr>
    <p:cSldViewPr>
      <p:cViewPr varScale="1">
        <p:scale>
          <a:sx n="52" d="100"/>
          <a:sy n="52" d="100"/>
        </p:scale>
        <p:origin x="1854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8F9404-0AAD-4DA9-BE77-553DABDF5FFE}" type="datetimeFigureOut">
              <a:rPr lang="ko-KR" altLang="en-US" smtClean="0"/>
              <a:t>2026-10-31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D48BE3-5186-4E09-A6C0-A5DA018F18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70581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h6bf66ad1ded1a251_3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" name="Google Shape;64;h6bf66ad1ded1a251_3_6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[약 30초]</a:t>
            </a:r>
            <a:br>
              <a:rPr lang="ko"/>
            </a:br>
            <a:r>
              <a:rPr lang="ko"/>
              <a:t>이번 프로젝트에서 쓰는 Basys3의 IO입니다. ① micro USB는 USB-UART로, PC 터미널에서 명령을 보내고 응답을 받습니다. ② Pmod JA에는 초음파 센서 SR04(JA1 trig, JA2 echo), ③ JXADC에는 온습도 센서 DHT11을 연결했습니다. 측정값과 시간은 ④ FND 4자리에 표시하고, ⑤ 버튼 U·L·R·D로 각 모듈을 조작하며 가운데 C는 리셋입니다. ⑥ LED 16개는 상태 표시용입니다. 스위치는 ⑦ SW0~SW4가 화면 모드와 시계 설정, ⑧ SW5·SW6·SW15가 거리·온습도 화면과 거리 막대 LED에 쓰입니다.</a:t>
            </a:r>
            <a:endParaRPr/>
          </a:p>
        </p:txBody>
      </p:sp>
      <p:sp>
        <p:nvSpPr>
          <p:cNvPr id="65" name="Google Shape;65;h6bf66ad1ded1a251_3_6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4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h6bf66ad1ded1a251_3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3" name="Google Shape;123;h6bf66ad1ded1a251_3_65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[약 30초]</a:t>
            </a:r>
            <a:br>
              <a:rPr lang="ko"/>
            </a:br>
            <a:r>
              <a:rPr lang="ko"/>
              <a:t>UART 명령은 모두 슬래시와 세 글자 명령, 공백, 옵션 순서입니다. /mod로 FND 화면을 바꾸면 그때부터 스위치 대신 UART가 화면을 정합니다. /get은 지금 화면 값을 한 줄 보내고, /auto는 1초마다 자동으로 보내며 /auto off로 끕니다. /btn은 물리 버튼과 똑같이 동작해서, 거리 화면에서 /btn U는 SR04 자동 측정을 켜고 끕니다. /set과 /off는 시계 시간 설정과 12/24시간 표시입니다. 통신은 9600bps 8N1, Enter로 끝나고 형식이 틀리면 ERROR가 돌아옵니다.</a:t>
            </a:r>
            <a:endParaRPr/>
          </a:p>
        </p:txBody>
      </p:sp>
      <p:sp>
        <p:nvSpPr>
          <p:cNvPr id="124" name="Google Shape;124;h6bf66ad1ded1a251_3_65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5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SENSOR · UART</a:t>
            </a:r>
            <a:endParaRPr lang="ko-KR" sz="1400" dirty="0"/>
          </a:p>
        </p:txBody>
      </p:sp>
      <p:sp>
        <p:nvSpPr>
          <p:cNvPr id="3" name="text"/>
          <p:cNvSpPr txBox="1"/>
          <p:nvPr/>
        </p:nvSpPr>
        <p:spPr>
          <a:xfrm>
            <a:off x="841248" y="2011680"/>
            <a:ext cx="12112752" cy="2651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7200" dirty="0">
                <a:solidFill>
                  <a:srgbClr val="404040"/>
                </a:solidFill>
                <a:latin typeface="Malgun Gothic Semilight"/>
                <a:ea typeface="Malgun Gothic Semilight"/>
                <a:cs typeface="Malgun Gothic Semilight"/>
              </a:rPr>
              <a:t>STOPWATCH · SENSOR ·</a:t>
            </a:r>
            <a:endParaRPr lang="ko-KR" sz="7200" dirty="0"/>
          </a:p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7200" dirty="0">
                <a:solidFill>
                  <a:srgbClr val="404040"/>
                </a:solidFill>
                <a:latin typeface="Malgun Gothic Semilight"/>
                <a:ea typeface="Malgun Gothic Semilight"/>
                <a:cs typeface="Malgun Gothic Semilight"/>
              </a:rPr>
              <a:t>UART</a:t>
            </a:r>
            <a:endParaRPr lang="ko-KR" sz="7200" dirty="0"/>
          </a:p>
        </p:txBody>
      </p:sp>
      <p:sp>
        <p:nvSpPr>
          <p:cNvPr id="4" name="text"/>
          <p:cNvSpPr txBox="1"/>
          <p:nvPr/>
        </p:nvSpPr>
        <p:spPr>
          <a:xfrm>
            <a:off x="868680" y="4800600"/>
            <a:ext cx="1554480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8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Basys-3 FPGA 시계 · 센서 · UART 통합 시스템 — 설계 · 검증</a:t>
            </a:r>
            <a:endParaRPr lang="ko-KR" sz="2800" dirty="0"/>
          </a:p>
        </p:txBody>
      </p:sp>
      <p:sp>
        <p:nvSpPr>
          <p:cNvPr id="5" name="chip"/>
          <p:cNvSpPr/>
          <p:nvPr/>
        </p:nvSpPr>
        <p:spPr>
          <a:xfrm>
            <a:off x="868680" y="5760720"/>
            <a:ext cx="2148840" cy="56692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B6CB0"/>
            </a:solidFill>
            <a:prstDash val="solid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00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WTS</a:t>
            </a:r>
            <a:endParaRPr lang="ko-KR" sz="2000" dirty="0"/>
          </a:p>
        </p:txBody>
      </p:sp>
      <p:sp>
        <p:nvSpPr>
          <p:cNvPr id="6" name="chip"/>
          <p:cNvSpPr/>
          <p:nvPr/>
        </p:nvSpPr>
        <p:spPr>
          <a:xfrm>
            <a:off x="3246120" y="5760720"/>
            <a:ext cx="2148840" cy="56692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F855A"/>
            </a:solidFill>
            <a:prstDash val="solid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0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SR04</a:t>
            </a:r>
            <a:endParaRPr lang="ko-KR" sz="2000" dirty="0"/>
          </a:p>
        </p:txBody>
      </p:sp>
      <p:sp>
        <p:nvSpPr>
          <p:cNvPr id="7" name="chip"/>
          <p:cNvSpPr/>
          <p:nvPr/>
        </p:nvSpPr>
        <p:spPr>
          <a:xfrm>
            <a:off x="5623560" y="5760720"/>
            <a:ext cx="2148840" cy="56692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05621"/>
            </a:solidFill>
            <a:prstDash val="solid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0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DHT11</a:t>
            </a:r>
            <a:endParaRPr lang="ko-KR" sz="2000" dirty="0"/>
          </a:p>
        </p:txBody>
      </p:sp>
      <p:sp>
        <p:nvSpPr>
          <p:cNvPr id="8" name="text"/>
          <p:cNvSpPr txBox="1"/>
          <p:nvPr/>
        </p:nvSpPr>
        <p:spPr>
          <a:xfrm>
            <a:off x="868680" y="8001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2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2026. 11. 02</a:t>
            </a:r>
            <a:endParaRPr lang="ko-KR" sz="2200" dirty="0"/>
          </a:p>
        </p:txBody>
      </p:sp>
      <p:sp>
        <p:nvSpPr>
          <p:cNvPr id="9" name="text"/>
          <p:cNvSpPr txBox="1"/>
          <p:nvPr/>
        </p:nvSpPr>
        <p:spPr>
          <a:xfrm>
            <a:off x="868680" y="850392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2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팀원   견다혜 · 이종혁 · 정보윤 · 정안성</a:t>
            </a:r>
            <a:endParaRPr lang="ko-KR" sz="2200" dirty="0"/>
          </a:p>
        </p:txBody>
      </p:sp>
      <p:sp>
        <p:nvSpPr>
          <p:cNvPr id="10" name="chip"/>
          <p:cNvSpPr/>
          <p:nvPr/>
        </p:nvSpPr>
        <p:spPr>
          <a:xfrm>
            <a:off x="8001000" y="5760720"/>
            <a:ext cx="2148840" cy="56692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46C1"/>
            </a:solidFill>
            <a:prstDash val="solid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000" b="1" dirty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UART</a:t>
            </a:r>
            <a:endParaRPr lang="ko-KR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SENSOR · UART</a:t>
            </a:r>
            <a:endParaRPr lang="ko-KR" sz="1400" dirty="0"/>
          </a:p>
        </p:txBody>
      </p:sp>
      <p:sp>
        <p:nvSpPr>
          <p:cNvPr id="3" name="text"/>
          <p:cNvSpPr txBox="1"/>
          <p:nvPr/>
        </p:nvSpPr>
        <p:spPr>
          <a:xfrm>
            <a:off x="841248" y="1078992"/>
            <a:ext cx="64008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5600" dirty="0">
                <a:solidFill>
                  <a:srgbClr val="595959"/>
                </a:solidFill>
                <a:latin typeface="Malgun Gothic Semilight"/>
                <a:ea typeface="Malgun Gothic Semilight"/>
                <a:cs typeface="Malgun Gothic Semilight"/>
              </a:rPr>
              <a:t>Contents</a:t>
            </a:r>
            <a:endParaRPr lang="ko-KR" sz="5600" dirty="0"/>
          </a:p>
        </p:txBody>
      </p:sp>
      <p:sp>
        <p:nvSpPr>
          <p:cNvPr id="4" name="text"/>
          <p:cNvSpPr txBox="1"/>
          <p:nvPr/>
        </p:nvSpPr>
        <p:spPr>
          <a:xfrm>
            <a:off x="868680" y="2240280"/>
            <a:ext cx="667512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buNone/>
            </a:pPr>
            <a:r>
              <a:rPr lang="ko-KR" altLang="en-US" sz="20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Basys-3 FPGA 한 보드에 시계 · 센서 · UART</a:t>
            </a:r>
            <a:endParaRPr lang="ko-KR" sz="2000" dirty="0"/>
          </a:p>
          <a:p>
            <a:pPr algn="l">
              <a:lnSpc>
                <a:spcPct val="125000"/>
              </a:lnSpc>
              <a:spcBef>
                <a:spcPts val="0"/>
              </a:spcBef>
              <a:buNone/>
            </a:pPr>
            <a:r>
              <a:rPr lang="ko-KR" altLang="en-US" sz="20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기능을 하나의 Top 으로 통합,</a:t>
            </a:r>
            <a:endParaRPr lang="ko-KR" sz="2000" dirty="0"/>
          </a:p>
          <a:p>
            <a:pPr algn="l">
              <a:lnSpc>
                <a:spcPct val="125000"/>
              </a:lnSpc>
              <a:spcBef>
                <a:spcPts val="0"/>
              </a:spcBef>
              <a:buNone/>
            </a:pPr>
            <a:r>
              <a:rPr lang="ko-KR" altLang="en-US" sz="20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Top · 하위 모듈 테스트벤치로 전체 경로 검증</a:t>
            </a:r>
            <a:endParaRPr lang="ko-KR" sz="2000" dirty="0"/>
          </a:p>
        </p:txBody>
      </p:sp>
      <p:sp>
        <p:nvSpPr>
          <p:cNvPr id="5" name="text"/>
          <p:cNvSpPr txBox="1"/>
          <p:nvPr/>
        </p:nvSpPr>
        <p:spPr>
          <a:xfrm>
            <a:off x="7863840" y="1188720"/>
            <a:ext cx="11887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000" dirty="0">
                <a:solidFill>
                  <a:srgbClr val="BFBFBF"/>
                </a:solidFill>
                <a:latin typeface="Malgun Gothic Semilight"/>
                <a:ea typeface="Malgun Gothic Semilight"/>
                <a:cs typeface="Malgun Gothic Semilight"/>
              </a:rPr>
              <a:t>01</a:t>
            </a:r>
            <a:endParaRPr lang="ko-KR" sz="4000" dirty="0"/>
          </a:p>
        </p:txBody>
      </p:sp>
      <p:sp>
        <p:nvSpPr>
          <p:cNvPr id="6" name="text"/>
          <p:cNvSpPr txBox="1"/>
          <p:nvPr/>
        </p:nvSpPr>
        <p:spPr>
          <a:xfrm>
            <a:off x="9144000" y="1170432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프로젝트 개요</a:t>
            </a:r>
            <a:endParaRPr lang="ko-KR" sz="3000" dirty="0"/>
          </a:p>
        </p:txBody>
      </p:sp>
      <p:sp>
        <p:nvSpPr>
          <p:cNvPr id="7" name="text"/>
          <p:cNvSpPr txBox="1"/>
          <p:nvPr/>
        </p:nvSpPr>
        <p:spPr>
          <a:xfrm>
            <a:off x="9144000" y="1737360"/>
            <a:ext cx="8321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요약 · 목적 · 스펙 · 보드 IO · UART 명령표</a:t>
            </a:r>
            <a:endParaRPr lang="ko-KR" sz="1800" dirty="0"/>
          </a:p>
        </p:txBody>
      </p:sp>
      <p:cxnSp>
        <p:nvCxnSpPr>
          <p:cNvPr id="8" name="line"/>
          <p:cNvCxnSpPr/>
          <p:nvPr/>
        </p:nvCxnSpPr>
        <p:spPr>
          <a:xfrm>
            <a:off x="7863840" y="2121408"/>
            <a:ext cx="9582912" cy="0"/>
          </a:xfrm>
          <a:prstGeom prst="line">
            <a:avLst/>
          </a:prstGeom>
          <a:ln w="9525">
            <a:solidFill>
              <a:srgbClr val="D9D9D9"/>
            </a:solidFill>
            <a:prstDash val="solid"/>
          </a:ln>
        </p:spPr>
      </p:cxnSp>
      <p:sp>
        <p:nvSpPr>
          <p:cNvPr id="9" name="text"/>
          <p:cNvSpPr txBox="1"/>
          <p:nvPr/>
        </p:nvSpPr>
        <p:spPr>
          <a:xfrm>
            <a:off x="7863840" y="2322576"/>
            <a:ext cx="11887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000" dirty="0">
                <a:solidFill>
                  <a:srgbClr val="BFBFBF"/>
                </a:solidFill>
                <a:latin typeface="Malgun Gothic Semilight"/>
                <a:ea typeface="Malgun Gothic Semilight"/>
                <a:cs typeface="Malgun Gothic Semilight"/>
              </a:rPr>
              <a:t>02</a:t>
            </a:r>
            <a:endParaRPr lang="ko-KR" sz="4000" dirty="0"/>
          </a:p>
        </p:txBody>
      </p:sp>
      <p:sp>
        <p:nvSpPr>
          <p:cNvPr id="10" name="text"/>
          <p:cNvSpPr txBox="1"/>
          <p:nvPr/>
        </p:nvSpPr>
        <p:spPr>
          <a:xfrm>
            <a:off x="9144000" y="2304288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시스템 구조</a:t>
            </a:r>
            <a:endParaRPr lang="ko-KR" sz="3000" dirty="0"/>
          </a:p>
        </p:txBody>
      </p:sp>
      <p:sp>
        <p:nvSpPr>
          <p:cNvPr id="11" name="text"/>
          <p:cNvSpPr txBox="1"/>
          <p:nvPr/>
        </p:nvSpPr>
        <p:spPr>
          <a:xfrm>
            <a:off x="9144000" y="2871216"/>
            <a:ext cx="8321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Top 블록 다이어그램 · 신호 흐름</a:t>
            </a:r>
            <a:endParaRPr lang="ko-KR" sz="1800" dirty="0"/>
          </a:p>
        </p:txBody>
      </p:sp>
      <p:cxnSp>
        <p:nvCxnSpPr>
          <p:cNvPr id="12" name="line"/>
          <p:cNvCxnSpPr/>
          <p:nvPr/>
        </p:nvCxnSpPr>
        <p:spPr>
          <a:xfrm>
            <a:off x="7863840" y="3255264"/>
            <a:ext cx="9582912" cy="0"/>
          </a:xfrm>
          <a:prstGeom prst="line">
            <a:avLst/>
          </a:prstGeom>
          <a:ln w="9525">
            <a:solidFill>
              <a:srgbClr val="D9D9D9"/>
            </a:solidFill>
            <a:prstDash val="solid"/>
          </a:ln>
        </p:spPr>
      </p:cxnSp>
      <p:sp>
        <p:nvSpPr>
          <p:cNvPr id="13" name="text"/>
          <p:cNvSpPr txBox="1"/>
          <p:nvPr/>
        </p:nvSpPr>
        <p:spPr>
          <a:xfrm>
            <a:off x="7863840" y="3456432"/>
            <a:ext cx="11887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000" dirty="0">
                <a:solidFill>
                  <a:srgbClr val="BFBFBF"/>
                </a:solidFill>
                <a:latin typeface="Malgun Gothic Semilight"/>
                <a:ea typeface="Malgun Gothic Semilight"/>
                <a:cs typeface="Malgun Gothic Semilight"/>
              </a:rPr>
              <a:t>03</a:t>
            </a:r>
            <a:endParaRPr lang="ko-KR" sz="4000" dirty="0"/>
          </a:p>
        </p:txBody>
      </p:sp>
      <p:sp>
        <p:nvSpPr>
          <p:cNvPr id="14" name="text"/>
          <p:cNvSpPr txBox="1"/>
          <p:nvPr/>
        </p:nvSpPr>
        <p:spPr>
          <a:xfrm>
            <a:off x="9144000" y="3438144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Top 검증</a:t>
            </a:r>
            <a:endParaRPr lang="ko-KR" sz="3000" dirty="0"/>
          </a:p>
        </p:txBody>
      </p:sp>
      <p:sp>
        <p:nvSpPr>
          <p:cNvPr id="15" name="text"/>
          <p:cNvSpPr txBox="1"/>
          <p:nvPr/>
        </p:nvSpPr>
        <p:spPr>
          <a:xfrm>
            <a:off x="9144000" y="4005072"/>
            <a:ext cx="8321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다이어그램 흐름 · 전체 동작 파형 · Edge case · TB 신뢰성</a:t>
            </a:r>
            <a:endParaRPr lang="ko-KR" sz="1800" dirty="0"/>
          </a:p>
        </p:txBody>
      </p:sp>
      <p:cxnSp>
        <p:nvCxnSpPr>
          <p:cNvPr id="16" name="line"/>
          <p:cNvCxnSpPr/>
          <p:nvPr/>
        </p:nvCxnSpPr>
        <p:spPr>
          <a:xfrm>
            <a:off x="7863840" y="4389120"/>
            <a:ext cx="9582912" cy="0"/>
          </a:xfrm>
          <a:prstGeom prst="line">
            <a:avLst/>
          </a:prstGeom>
          <a:ln w="9525">
            <a:solidFill>
              <a:srgbClr val="D9D9D9"/>
            </a:solidFill>
            <a:prstDash val="solid"/>
          </a:ln>
        </p:spPr>
      </p:cxnSp>
      <p:sp>
        <p:nvSpPr>
          <p:cNvPr id="17" name="text"/>
          <p:cNvSpPr txBox="1"/>
          <p:nvPr/>
        </p:nvSpPr>
        <p:spPr>
          <a:xfrm>
            <a:off x="7863840" y="4590288"/>
            <a:ext cx="11887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000" dirty="0">
                <a:solidFill>
                  <a:srgbClr val="BFBFBF"/>
                </a:solidFill>
                <a:latin typeface="Malgun Gothic Semilight"/>
                <a:ea typeface="Malgun Gothic Semilight"/>
                <a:cs typeface="Malgun Gothic Semilight"/>
              </a:rPr>
              <a:t>04</a:t>
            </a:r>
            <a:endParaRPr lang="ko-KR" sz="4000" dirty="0"/>
          </a:p>
        </p:txBody>
      </p:sp>
      <p:sp>
        <p:nvSpPr>
          <p:cNvPr id="18" name="text"/>
          <p:cNvSpPr txBox="1"/>
          <p:nvPr/>
        </p:nvSpPr>
        <p:spPr>
          <a:xfrm>
            <a:off x="9144000" y="457200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하위 모듈 검증</a:t>
            </a:r>
            <a:endParaRPr lang="ko-KR" sz="3000" dirty="0"/>
          </a:p>
        </p:txBody>
      </p:sp>
      <p:sp>
        <p:nvSpPr>
          <p:cNvPr id="19" name="text"/>
          <p:cNvSpPr txBox="1"/>
          <p:nvPr/>
        </p:nvSpPr>
        <p:spPr>
          <a:xfrm>
            <a:off x="9144000" y="5138927"/>
            <a:ext cx="8321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모듈별 다이어그램 · Edge case · TB 결과</a:t>
            </a:r>
            <a:endParaRPr lang="ko-KR" sz="1800" dirty="0"/>
          </a:p>
        </p:txBody>
      </p:sp>
      <p:cxnSp>
        <p:nvCxnSpPr>
          <p:cNvPr id="20" name="line"/>
          <p:cNvCxnSpPr/>
          <p:nvPr/>
        </p:nvCxnSpPr>
        <p:spPr>
          <a:xfrm>
            <a:off x="7863840" y="5522975"/>
            <a:ext cx="9582912" cy="0"/>
          </a:xfrm>
          <a:prstGeom prst="line">
            <a:avLst/>
          </a:prstGeom>
          <a:ln w="9525">
            <a:solidFill>
              <a:srgbClr val="D9D9D9"/>
            </a:solidFill>
            <a:prstDash val="solid"/>
          </a:ln>
        </p:spPr>
      </p:cxnSp>
      <p:sp>
        <p:nvSpPr>
          <p:cNvPr id="21" name="text"/>
          <p:cNvSpPr txBox="1"/>
          <p:nvPr/>
        </p:nvSpPr>
        <p:spPr>
          <a:xfrm>
            <a:off x="7863840" y="5724144"/>
            <a:ext cx="11887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000" dirty="0">
                <a:solidFill>
                  <a:srgbClr val="BFBFBF"/>
                </a:solidFill>
                <a:latin typeface="Malgun Gothic Semilight"/>
                <a:ea typeface="Malgun Gothic Semilight"/>
                <a:cs typeface="Malgun Gothic Semilight"/>
              </a:rPr>
              <a:t>05</a:t>
            </a:r>
            <a:endParaRPr lang="ko-KR" sz="4000" dirty="0"/>
          </a:p>
        </p:txBody>
      </p:sp>
      <p:sp>
        <p:nvSpPr>
          <p:cNvPr id="22" name="text"/>
          <p:cNvSpPr txBox="1"/>
          <p:nvPr/>
        </p:nvSpPr>
        <p:spPr>
          <a:xfrm>
            <a:off x="9144000" y="5705856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트러블 슈팅</a:t>
            </a:r>
            <a:endParaRPr lang="ko-KR" sz="3000" dirty="0"/>
          </a:p>
        </p:txBody>
      </p:sp>
      <p:sp>
        <p:nvSpPr>
          <p:cNvPr id="23" name="text"/>
          <p:cNvSpPr txBox="1"/>
          <p:nvPr/>
        </p:nvSpPr>
        <p:spPr>
          <a:xfrm>
            <a:off x="9144000" y="6272783"/>
            <a:ext cx="8321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현상 → 원인 → 해결 → 적용 결과</a:t>
            </a:r>
            <a:endParaRPr lang="ko-KR" sz="1800" dirty="0"/>
          </a:p>
        </p:txBody>
      </p:sp>
      <p:cxnSp>
        <p:nvCxnSpPr>
          <p:cNvPr id="24" name="line"/>
          <p:cNvCxnSpPr/>
          <p:nvPr/>
        </p:nvCxnSpPr>
        <p:spPr>
          <a:xfrm>
            <a:off x="7863840" y="6656831"/>
            <a:ext cx="9582912" cy="0"/>
          </a:xfrm>
          <a:prstGeom prst="line">
            <a:avLst/>
          </a:prstGeom>
          <a:ln w="9525">
            <a:solidFill>
              <a:srgbClr val="D9D9D9"/>
            </a:solidFill>
            <a:prstDash val="solid"/>
          </a:ln>
        </p:spPr>
      </p:cxnSp>
      <p:sp>
        <p:nvSpPr>
          <p:cNvPr id="25" name="text"/>
          <p:cNvSpPr txBox="1"/>
          <p:nvPr/>
        </p:nvSpPr>
        <p:spPr>
          <a:xfrm>
            <a:off x="7863840" y="6858000"/>
            <a:ext cx="11887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000" dirty="0">
                <a:solidFill>
                  <a:srgbClr val="BFBFBF"/>
                </a:solidFill>
                <a:latin typeface="Malgun Gothic Semilight"/>
                <a:ea typeface="Malgun Gothic Semilight"/>
                <a:cs typeface="Malgun Gothic Semilight"/>
              </a:rPr>
              <a:t>06</a:t>
            </a:r>
            <a:endParaRPr lang="ko-KR" sz="4000" dirty="0"/>
          </a:p>
        </p:txBody>
      </p:sp>
      <p:sp>
        <p:nvSpPr>
          <p:cNvPr id="26" name="text"/>
          <p:cNvSpPr txBox="1"/>
          <p:nvPr/>
        </p:nvSpPr>
        <p:spPr>
          <a:xfrm>
            <a:off x="9144000" y="6839712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시연 영상</a:t>
            </a:r>
            <a:endParaRPr lang="ko-KR" sz="3000" dirty="0"/>
          </a:p>
        </p:txBody>
      </p:sp>
      <p:sp>
        <p:nvSpPr>
          <p:cNvPr id="27" name="text"/>
          <p:cNvSpPr txBox="1"/>
          <p:nvPr/>
        </p:nvSpPr>
        <p:spPr>
          <a:xfrm>
            <a:off x="9144000" y="7406640"/>
            <a:ext cx="8321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보드 동작</a:t>
            </a:r>
            <a:endParaRPr lang="ko-KR" sz="1800" dirty="0"/>
          </a:p>
        </p:txBody>
      </p:sp>
      <p:cxnSp>
        <p:nvCxnSpPr>
          <p:cNvPr id="28" name="line"/>
          <p:cNvCxnSpPr/>
          <p:nvPr/>
        </p:nvCxnSpPr>
        <p:spPr>
          <a:xfrm>
            <a:off x="7863840" y="7790688"/>
            <a:ext cx="9582912" cy="0"/>
          </a:xfrm>
          <a:prstGeom prst="line">
            <a:avLst/>
          </a:prstGeom>
          <a:ln w="9525">
            <a:solidFill>
              <a:srgbClr val="D9D9D9"/>
            </a:solidFill>
            <a:prstDash val="solid"/>
          </a:ln>
        </p:spPr>
      </p:cxnSp>
      <p:sp>
        <p:nvSpPr>
          <p:cNvPr id="33" name="shape"/>
          <p:cNvSpPr/>
          <p:nvPr/>
        </p:nvSpPr>
        <p:spPr>
          <a:xfrm>
            <a:off x="868680" y="6016751"/>
            <a:ext cx="237744" cy="237744"/>
          </a:xfrm>
          <a:prstGeom prst="ellipse">
            <a:avLst/>
          </a:prstGeom>
          <a:solidFill>
            <a:srgbClr val="2F855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"/>
          <p:cNvSpPr txBox="1"/>
          <p:nvPr/>
        </p:nvSpPr>
        <p:spPr>
          <a:xfrm>
            <a:off x="1234440" y="5897879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200" b="1" dirty="0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SR04</a:t>
            </a:r>
            <a:endParaRPr lang="ko-KR" sz="2200" dirty="0"/>
          </a:p>
        </p:txBody>
      </p:sp>
      <p:sp>
        <p:nvSpPr>
          <p:cNvPr id="35" name="text"/>
          <p:cNvSpPr txBox="1"/>
          <p:nvPr/>
        </p:nvSpPr>
        <p:spPr>
          <a:xfrm>
            <a:off x="1234440" y="6355079"/>
            <a:ext cx="63093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초음파 거리 0 ~ 400 cm · 60 ms 주기</a:t>
            </a:r>
            <a:endParaRPr lang="ko-KR" sz="1800" dirty="0"/>
          </a:p>
        </p:txBody>
      </p:sp>
      <p:sp>
        <p:nvSpPr>
          <p:cNvPr id="36" name="shape"/>
          <p:cNvSpPr/>
          <p:nvPr/>
        </p:nvSpPr>
        <p:spPr>
          <a:xfrm>
            <a:off x="868680" y="4965192"/>
            <a:ext cx="237744" cy="237744"/>
          </a:xfrm>
          <a:prstGeom prst="ellipse">
            <a:avLst/>
          </a:prstGeom>
          <a:solidFill>
            <a:srgbClr val="2B6CB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"/>
          <p:cNvSpPr txBox="1"/>
          <p:nvPr/>
        </p:nvSpPr>
        <p:spPr>
          <a:xfrm>
            <a:off x="1234440" y="484632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200" b="1" dirty="0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WTS</a:t>
            </a:r>
            <a:endParaRPr lang="ko-KR" sz="2200" dirty="0"/>
          </a:p>
        </p:txBody>
      </p:sp>
      <p:sp>
        <p:nvSpPr>
          <p:cNvPr id="38" name="text"/>
          <p:cNvSpPr txBox="1"/>
          <p:nvPr/>
        </p:nvSpPr>
        <p:spPr>
          <a:xfrm>
            <a:off x="1234440" y="5303520"/>
            <a:ext cx="63093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스톱워치 · 시계 · 타이머 (1/100 s)</a:t>
            </a:r>
            <a:endParaRPr lang="ko-KR" sz="1800" dirty="0"/>
          </a:p>
        </p:txBody>
      </p:sp>
      <p:sp>
        <p:nvSpPr>
          <p:cNvPr id="39" name="shape"/>
          <p:cNvSpPr/>
          <p:nvPr/>
        </p:nvSpPr>
        <p:spPr>
          <a:xfrm>
            <a:off x="868680" y="7068312"/>
            <a:ext cx="237744" cy="237744"/>
          </a:xfrm>
          <a:prstGeom prst="ellipse">
            <a:avLst/>
          </a:prstGeom>
          <a:solidFill>
            <a:srgbClr val="C0562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"/>
          <p:cNvSpPr txBox="1"/>
          <p:nvPr/>
        </p:nvSpPr>
        <p:spPr>
          <a:xfrm>
            <a:off x="1234440" y="694944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200" b="1" dirty="0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DHT11</a:t>
            </a:r>
            <a:endParaRPr lang="ko-KR" sz="2200" dirty="0"/>
          </a:p>
        </p:txBody>
      </p:sp>
      <p:sp>
        <p:nvSpPr>
          <p:cNvPr id="41" name="text"/>
          <p:cNvSpPr txBox="1"/>
          <p:nvPr/>
        </p:nvSpPr>
        <p:spPr>
          <a:xfrm>
            <a:off x="1234440" y="7406640"/>
            <a:ext cx="63093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온도 ℃ · 습도 %RH · 2 s 주기</a:t>
            </a:r>
            <a:endParaRPr lang="ko-KR" sz="1800" dirty="0"/>
          </a:p>
        </p:txBody>
      </p:sp>
      <p:sp>
        <p:nvSpPr>
          <p:cNvPr id="42" name="text"/>
          <p:cNvSpPr txBox="1"/>
          <p:nvPr/>
        </p:nvSpPr>
        <p:spPr>
          <a:xfrm>
            <a:off x="16642080" y="9710928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02</a:t>
            </a:r>
            <a:endParaRPr lang="ko-KR" sz="1400" dirty="0"/>
          </a:p>
        </p:txBody>
      </p:sp>
      <p:sp>
        <p:nvSpPr>
          <p:cNvPr id="43" name="text"/>
          <p:cNvSpPr txBox="1"/>
          <p:nvPr/>
        </p:nvSpPr>
        <p:spPr>
          <a:xfrm>
            <a:off x="7863840" y="7991856"/>
            <a:ext cx="11887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000" dirty="0">
                <a:solidFill>
                  <a:srgbClr val="BFBFBF"/>
                </a:solidFill>
                <a:latin typeface="Malgun Gothic Semilight"/>
                <a:ea typeface="Malgun Gothic Semilight"/>
                <a:cs typeface="Malgun Gothic Semilight"/>
              </a:rPr>
              <a:t>07</a:t>
            </a:r>
            <a:endParaRPr lang="ko-KR" sz="4000" dirty="0"/>
          </a:p>
        </p:txBody>
      </p:sp>
      <p:sp>
        <p:nvSpPr>
          <p:cNvPr id="44" name="text"/>
          <p:cNvSpPr txBox="1"/>
          <p:nvPr/>
        </p:nvSpPr>
        <p:spPr>
          <a:xfrm>
            <a:off x="9144000" y="7973568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3000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결론 · 고찰</a:t>
            </a:r>
            <a:endParaRPr lang="ko-KR" sz="3000" dirty="0"/>
          </a:p>
        </p:txBody>
      </p:sp>
      <p:sp>
        <p:nvSpPr>
          <p:cNvPr id="45" name="text"/>
          <p:cNvSpPr txBox="1"/>
          <p:nvPr/>
        </p:nvSpPr>
        <p:spPr>
          <a:xfrm>
            <a:off x="9144000" y="8540496"/>
            <a:ext cx="8321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목표 달성 수치 · 남은 과제</a:t>
            </a:r>
            <a:endParaRPr lang="ko-KR" sz="1800" dirty="0"/>
          </a:p>
        </p:txBody>
      </p:sp>
      <p:cxnSp>
        <p:nvCxnSpPr>
          <p:cNvPr id="46" name="line"/>
          <p:cNvCxnSpPr/>
          <p:nvPr/>
        </p:nvCxnSpPr>
        <p:spPr>
          <a:xfrm>
            <a:off x="7863840" y="8924544"/>
            <a:ext cx="9582912" cy="0"/>
          </a:xfrm>
          <a:prstGeom prst="line">
            <a:avLst/>
          </a:prstGeom>
          <a:ln w="9525">
            <a:solidFill>
              <a:srgbClr val="D9D9D9"/>
            </a:solidFill>
            <a:prstDash val="solid"/>
          </a:ln>
        </p:spPr>
      </p:cxnSp>
      <p:sp>
        <p:nvSpPr>
          <p:cNvPr id="47" name="shape"/>
          <p:cNvSpPr/>
          <p:nvPr/>
        </p:nvSpPr>
        <p:spPr>
          <a:xfrm>
            <a:off x="868680" y="8119872"/>
            <a:ext cx="237744" cy="237744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"/>
          <p:cNvSpPr txBox="1"/>
          <p:nvPr/>
        </p:nvSpPr>
        <p:spPr>
          <a:xfrm>
            <a:off x="1234440" y="80010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200" b="1" dirty="0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UART</a:t>
            </a:r>
            <a:endParaRPr lang="ko-KR" sz="2200" dirty="0"/>
          </a:p>
        </p:txBody>
      </p:sp>
      <p:sp>
        <p:nvSpPr>
          <p:cNvPr id="49" name="text"/>
          <p:cNvSpPr txBox="1"/>
          <p:nvPr/>
        </p:nvSpPr>
        <p:spPr>
          <a:xfrm>
            <a:off x="1234440" y="8458200"/>
            <a:ext cx="63093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dirty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9600 bps · RX 8 / TX 64 FIFO</a:t>
            </a:r>
            <a:endParaRPr lang="ko-KR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SENSOR · UART</a:t>
            </a:r>
            <a:endParaRPr lang="ko-KR" sz="1400" dirty="0"/>
          </a:p>
        </p:txBody>
      </p:sp>
      <p:sp>
        <p:nvSpPr>
          <p:cNvPr id="121" name="shape"/>
          <p:cNvSpPr/>
          <p:nvPr/>
        </p:nvSpPr>
        <p:spPr>
          <a:xfrm>
            <a:off x="841248" y="548640"/>
            <a:ext cx="146304" cy="14630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2" name="text"/>
          <p:cNvSpPr txBox="1"/>
          <p:nvPr/>
        </p:nvSpPr>
        <p:spPr>
          <a:xfrm>
            <a:off x="1078992" y="420624"/>
            <a:ext cx="91440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60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01  프로젝트 개요</a:t>
            </a:r>
            <a:endParaRPr lang="ko-KR" sz="1250" dirty="0"/>
          </a:p>
        </p:txBody>
      </p:sp>
      <p:sp>
        <p:nvSpPr>
          <p:cNvPr id="123" name="text"/>
          <p:cNvSpPr txBox="1"/>
          <p:nvPr/>
        </p:nvSpPr>
        <p:spPr>
          <a:xfrm>
            <a:off x="841248" y="786384"/>
            <a:ext cx="166420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시스템 스펙</a:t>
            </a:r>
            <a:endParaRPr lang="ko-KR" sz="3000" dirty="0"/>
          </a:p>
        </p:txBody>
      </p:sp>
      <p:sp>
        <p:nvSpPr>
          <p:cNvPr id="124" name="chip"/>
          <p:cNvSpPr/>
          <p:nvPr/>
        </p:nvSpPr>
        <p:spPr>
          <a:xfrm>
            <a:off x="841248" y="1700784"/>
            <a:ext cx="1097280" cy="475488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  <a:endParaRPr lang="ko-KR" sz="1400" dirty="0"/>
          </a:p>
        </p:txBody>
      </p:sp>
      <p:sp>
        <p:nvSpPr>
          <p:cNvPr id="125" name="text"/>
          <p:cNvSpPr txBox="1"/>
          <p:nvPr/>
        </p:nvSpPr>
        <p:spPr>
          <a:xfrm>
            <a:off x="2103120" y="1645920"/>
            <a:ext cx="15453359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100 MHz FPGA 하나에 PC (UART) · 센서 2 종 연결 — LUT 7.2 % · WNS +0.320 ns 로 타이밍 위반 0</a:t>
            </a:r>
            <a:endParaRPr lang="ko-KR" sz="1900" dirty="0"/>
          </a:p>
        </p:txBody>
      </p:sp>
      <p:sp>
        <p:nvSpPr>
          <p:cNvPr id="126" name="text"/>
          <p:cNvSpPr txBox="1"/>
          <p:nvPr/>
        </p:nvSpPr>
        <p:spPr>
          <a:xfrm>
            <a:off x="16642080" y="9710928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03</a:t>
            </a:r>
            <a:endParaRPr lang="ko-KR" sz="1100" dirty="0"/>
          </a:p>
        </p:txBody>
      </p:sp>
      <p:sp>
        <p:nvSpPr>
          <p:cNvPr id="127" name="Rounded Rectangle 126"/>
          <p:cNvSpPr/>
          <p:nvPr/>
        </p:nvSpPr>
        <p:spPr>
          <a:xfrm>
            <a:off x="6172200" y="2423160"/>
            <a:ext cx="6309360" cy="5897880"/>
          </a:xfrm>
          <a:prstGeom prst="roundRect">
            <a:avLst>
              <a:gd name="adj" fmla="val 4000"/>
            </a:avLst>
          </a:prstGeom>
          <a:noFill/>
          <a:ln w="317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400800" y="2514600"/>
            <a:ext cx="58521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FPGA</a:t>
            </a:r>
            <a:r>
              <a:rPr sz="14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   Basys3 · Artix-7 XC7A35T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355080" y="3017520"/>
            <a:ext cx="5943600" cy="118872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6492240" y="3145536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040880" y="3127248"/>
            <a:ext cx="35661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클럭 · 리셋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040880" y="3547872"/>
            <a:ext cx="361188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W5 단일 클럭 · btnC 리셋</a:t>
            </a:r>
          </a:p>
          <a:p>
            <a:pPr algn="l"/>
            <a:r>
              <a:rPr sz="14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reset_sync 하나로 동기 해제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378440" y="3200400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4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100 MHz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378440" y="3730752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단일 클럭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355080" y="4315968"/>
            <a:ext cx="5943600" cy="118872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6492240" y="4443983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040880" y="4425696"/>
            <a:ext cx="35661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전송 주기 · 우선순위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040880" y="4846320"/>
            <a:ext cx="361188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전송 중 요청은 저장 후 전송</a:t>
            </a:r>
          </a:p>
          <a:p>
            <a:pPr algn="l"/>
            <a:r>
              <a:rPr sz="14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우선순위 ERROR &gt; get · auto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378440" y="4498848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4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1 Hz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378440" y="502920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자동 전송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355080" y="5614416"/>
            <a:ext cx="5943600" cy="118872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endParaRPr/>
          </a:p>
        </p:txBody>
      </p:sp>
      <p:sp>
        <p:nvSpPr>
          <p:cNvPr id="142" name="Oval 141"/>
          <p:cNvSpPr/>
          <p:nvPr/>
        </p:nvSpPr>
        <p:spPr>
          <a:xfrm>
            <a:off x="6492240" y="5742431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040880" y="5724144"/>
            <a:ext cx="35661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시간 해상도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040880" y="6144768"/>
            <a:ext cx="361188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디바운스 약 2 ms</a:t>
            </a:r>
          </a:p>
          <a:p>
            <a:pPr algn="l"/>
            <a:r>
              <a:rPr sz="14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FND 한 바퀴 2 ms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378440" y="5797296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4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1/100 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378440" y="6327648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표시 단위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355080" y="6912864"/>
            <a:ext cx="5943600" cy="118872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endParaRPr/>
          </a:p>
        </p:txBody>
      </p:sp>
      <p:sp>
        <p:nvSpPr>
          <p:cNvPr id="148" name="Oval 147"/>
          <p:cNvSpPr/>
          <p:nvPr/>
        </p:nvSpPr>
        <p:spPr>
          <a:xfrm>
            <a:off x="6492240" y="7040879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040880" y="7022592"/>
            <a:ext cx="35661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센서 제어 · 오류 처리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040880" y="7443215"/>
            <a:ext cx="361188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DHT11 전원 후 1 s 대기</a:t>
            </a:r>
          </a:p>
          <a:p>
            <a:pPr algn="l"/>
            <a:r>
              <a:rPr sz="14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실패 시 FND Err1~3 (원인별 status)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78440" y="7095744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4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60 ms · 2 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378440" y="7626096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SR04 · DHT11 주기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41248" y="3017520"/>
            <a:ext cx="210312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841248" y="3200400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PC</a:t>
            </a:r>
          </a:p>
          <a:p>
            <a:pPr algn="ctr"/>
            <a:r>
              <a:rPr sz="15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시리얼 터미널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1005840" y="4206240"/>
            <a:ext cx="1773936" cy="3383280"/>
          </a:xfrm>
          <a:prstGeom prst="roundRect">
            <a:avLst>
              <a:gd name="adj" fmla="val 5000"/>
            </a:avLst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0" rIns="137160" bIns="0" rtlCol="0" anchor="t"/>
          <a:lstStyle/>
          <a:p>
            <a:pPr algn="l">
              <a:spcAft>
                <a:spcPts val="2200"/>
              </a:spcAft>
            </a:pPr>
            <a:r>
              <a:rPr sz="1600" b="1">
                <a:solidFill>
                  <a:srgbClr val="FFFFFF"/>
                </a:solidFill>
                <a:latin typeface="Consolas"/>
                <a:ea typeface="Malgun Gothic"/>
                <a:cs typeface="Malgun Gothic"/>
              </a:rPr>
              <a:t>&gt; /mod dist</a:t>
            </a:r>
          </a:p>
          <a:p>
            <a:pPr algn="l">
              <a:spcAft>
                <a:spcPts val="2200"/>
              </a:spcAft>
            </a:pPr>
            <a:r>
              <a:rPr sz="1600" b="1">
                <a:solidFill>
                  <a:srgbClr val="FFFFFF"/>
                </a:solidFill>
                <a:latin typeface="Consolas"/>
                <a:ea typeface="Malgun Gothic"/>
                <a:cs typeface="Malgun Gothic"/>
              </a:rPr>
              <a:t>&gt; /get</a:t>
            </a:r>
          </a:p>
          <a:p>
            <a:pPr algn="l">
              <a:spcAft>
                <a:spcPts val="2200"/>
              </a:spcAft>
            </a:pPr>
            <a:r>
              <a:rPr sz="1600" b="1">
                <a:solidFill>
                  <a:srgbClr val="FFFFFF"/>
                </a:solidFill>
                <a:latin typeface="Consolas"/>
                <a:ea typeface="Malgun Gothic"/>
                <a:cs typeface="Malgun Gothic"/>
              </a:rPr>
              <a:t>&gt; /btn U</a:t>
            </a:r>
          </a:p>
          <a:p>
            <a:pPr algn="l">
              <a:spcAft>
                <a:spcPts val="2200"/>
              </a:spcAft>
            </a:pPr>
            <a:r>
              <a:rPr sz="1600" b="1">
                <a:solidFill>
                  <a:srgbClr val="FFFFFF"/>
                </a:solidFill>
                <a:latin typeface="Consolas"/>
                <a:ea typeface="Malgun Gothic"/>
                <a:cs typeface="Malgun Gothic"/>
              </a:rPr>
              <a:t>&gt; /auto all</a:t>
            </a:r>
          </a:p>
          <a:p>
            <a:pPr algn="l">
              <a:spcAft>
                <a:spcPts val="2200"/>
              </a:spcAft>
            </a:pPr>
            <a:r>
              <a:rPr sz="1600" b="1">
                <a:solidFill>
                  <a:srgbClr val="FFFFFF"/>
                </a:solidFill>
                <a:latin typeface="Consolas"/>
                <a:ea typeface="Malgun Gothic"/>
                <a:cs typeface="Malgun Gothic"/>
              </a:rPr>
              <a:t>&gt; /set 24h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3017520" y="5440679"/>
            <a:ext cx="3081528" cy="0"/>
          </a:xfrm>
          <a:prstGeom prst="line">
            <a:avLst/>
          </a:prstGeom>
          <a:ln w="38100">
            <a:solidFill>
              <a:srgbClr val="6B46C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Oval 156"/>
          <p:cNvSpPr/>
          <p:nvPr/>
        </p:nvSpPr>
        <p:spPr>
          <a:xfrm>
            <a:off x="3127248" y="3840479"/>
            <a:ext cx="420624" cy="420624"/>
          </a:xfrm>
          <a:prstGeom prst="ellipse">
            <a:avLst/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675887" y="3840479"/>
            <a:ext cx="2313432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6B46C1"/>
                </a:solidFill>
                <a:latin typeface="Malgun Gothic"/>
                <a:ea typeface="Malgun Gothic"/>
                <a:cs typeface="Malgun Gothic"/>
              </a:rPr>
              <a:t>UART 인터페이스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127248" y="4434840"/>
            <a:ext cx="286207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9600 bps 8N1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127248" y="5669279"/>
            <a:ext cx="286207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16× 오버샘플링</a:t>
            </a:r>
          </a:p>
          <a:p>
            <a:pPr algn="ctr"/>
            <a:r>
              <a:rPr sz="15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FIFO RX 8 / TX 64</a:t>
            </a:r>
          </a:p>
          <a:p>
            <a:pPr algn="ctr"/>
            <a:r>
              <a:rPr sz="15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형식 오류 → ERROR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4538960" y="3017520"/>
            <a:ext cx="292608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Oval 161"/>
          <p:cNvSpPr/>
          <p:nvPr/>
        </p:nvSpPr>
        <p:spPr>
          <a:xfrm>
            <a:off x="14721840" y="3200400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5270480" y="3154679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센서 성능</a:t>
            </a:r>
          </a:p>
          <a:p>
            <a:pPr algn="l"/>
            <a:r>
              <a:rPr sz="12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외부 센서 · 데이터시트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4767559" y="3977639"/>
            <a:ext cx="2560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SR04</a:t>
            </a:r>
          </a:p>
          <a:p>
            <a:pPr algn="l"/>
            <a:r>
              <a:rPr sz="24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2 ~ 400 cm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767559" y="5166360"/>
            <a:ext cx="256032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DHT11</a:t>
            </a:r>
          </a:p>
          <a:p>
            <a:pPr algn="l"/>
            <a:r>
              <a:rPr sz="24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±5 %RH</a:t>
            </a:r>
          </a:p>
          <a:p>
            <a:pPr algn="l"/>
            <a:r>
              <a:rPr sz="18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±2 ℃ (25 ℃ 기준)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4767559" y="7040880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실측 오차 </a:t>
            </a:r>
            <a:r>
              <a:rPr sz="1500" b="1">
                <a:solidFill>
                  <a:srgbClr val="C00000"/>
                </a:solidFill>
                <a:latin typeface="Malgun Gothic"/>
                <a:ea typeface="Malgun Gothic"/>
                <a:cs typeface="Malgun Gothic"/>
              </a:rPr>
              <a:t>미측정</a:t>
            </a:r>
          </a:p>
        </p:txBody>
      </p:sp>
      <p:cxnSp>
        <p:nvCxnSpPr>
          <p:cNvPr id="167" name="Connector 166"/>
          <p:cNvCxnSpPr/>
          <p:nvPr/>
        </p:nvCxnSpPr>
        <p:spPr>
          <a:xfrm>
            <a:off x="12554712" y="4434840"/>
            <a:ext cx="1911096" cy="0"/>
          </a:xfrm>
          <a:prstGeom prst="line">
            <a:avLst/>
          </a:prstGeom>
          <a:ln w="38100">
            <a:solidFill>
              <a:srgbClr val="2F855A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7"/>
          <p:cNvSpPr txBox="1"/>
          <p:nvPr/>
        </p:nvSpPr>
        <p:spPr>
          <a:xfrm>
            <a:off x="12573000" y="4050791"/>
            <a:ext cx="1874519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trig · echo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12554712" y="5806440"/>
            <a:ext cx="1911096" cy="0"/>
          </a:xfrm>
          <a:prstGeom prst="line">
            <a:avLst/>
          </a:prstGeom>
          <a:ln w="38100">
            <a:solidFill>
              <a:srgbClr val="C0562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TextBox 169"/>
          <p:cNvSpPr txBox="1"/>
          <p:nvPr/>
        </p:nvSpPr>
        <p:spPr>
          <a:xfrm>
            <a:off x="12573000" y="5422392"/>
            <a:ext cx="1874519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data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841248" y="8503920"/>
            <a:ext cx="16623792" cy="100584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endParaRPr/>
          </a:p>
        </p:txBody>
      </p:sp>
      <p:sp>
        <p:nvSpPr>
          <p:cNvPr id="172" name="Oval 171"/>
          <p:cNvSpPr/>
          <p:nvPr/>
        </p:nvSpPr>
        <p:spPr>
          <a:xfrm>
            <a:off x="1051560" y="879652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600200" y="8641080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FPGA 자원 · 타이밍</a:t>
            </a:r>
          </a:p>
          <a:p>
            <a:pPr algn="l"/>
            <a:r>
              <a:rPr sz="12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구현 결과 · Vivado 2022.2 · v2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5120640" y="8503920"/>
            <a:ext cx="30175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LUT </a:t>
            </a:r>
            <a:r>
              <a:rPr sz="24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1,489</a:t>
            </a:r>
            <a:r>
              <a:rPr sz="16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  7.2 %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8503920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FF </a:t>
            </a:r>
            <a:r>
              <a:rPr sz="24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737</a:t>
            </a:r>
            <a:r>
              <a:rPr sz="16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  1.8 %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1064240" y="8503920"/>
            <a:ext cx="3749039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WNS </a:t>
            </a:r>
            <a:r>
              <a:rPr sz="24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+0.320 ns</a:t>
            </a:r>
            <a:r>
              <a:rPr sz="16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  위반 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4996159" y="8503920"/>
            <a:ext cx="237744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전력 </a:t>
            </a:r>
            <a:r>
              <a:rPr sz="2000" b="1">
                <a:solidFill>
                  <a:srgbClr val="C00000"/>
                </a:solidFill>
                <a:latin typeface="Malgun Gothic"/>
                <a:ea typeface="Malgun Gothic"/>
                <a:cs typeface="Malgun Gothic"/>
              </a:rPr>
              <a:t>미측정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17" descr="Basys3 보드 사진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29000" y="5157216"/>
            <a:ext cx="7790688" cy="429615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SENSOR · UART</a:t>
            </a:r>
            <a:endParaRPr lang="ko-KR" sz="1400" dirty="0"/>
          </a:p>
        </p:txBody>
      </p:sp>
      <p:sp>
        <p:nvSpPr>
          <p:cNvPr id="121" name="shape"/>
          <p:cNvSpPr/>
          <p:nvPr/>
        </p:nvSpPr>
        <p:spPr>
          <a:xfrm>
            <a:off x="841248" y="548640"/>
            <a:ext cx="146304" cy="14630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2" name="text"/>
          <p:cNvSpPr txBox="1"/>
          <p:nvPr/>
        </p:nvSpPr>
        <p:spPr>
          <a:xfrm>
            <a:off x="1078992" y="420624"/>
            <a:ext cx="91440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60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01  프로젝트 개요</a:t>
            </a:r>
            <a:endParaRPr lang="ko-KR" sz="1250" dirty="0"/>
          </a:p>
        </p:txBody>
      </p:sp>
      <p:sp>
        <p:nvSpPr>
          <p:cNvPr id="123" name="text"/>
          <p:cNvSpPr txBox="1"/>
          <p:nvPr/>
        </p:nvSpPr>
        <p:spPr>
          <a:xfrm>
            <a:off x="841248" y="786384"/>
            <a:ext cx="166420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Basys3 보드 IO 구성</a:t>
            </a:r>
            <a:endParaRPr lang="ko-KR" sz="3000" dirty="0"/>
          </a:p>
        </p:txBody>
      </p:sp>
      <p:sp>
        <p:nvSpPr>
          <p:cNvPr id="124" name="chip"/>
          <p:cNvSpPr/>
          <p:nvPr/>
        </p:nvSpPr>
        <p:spPr>
          <a:xfrm>
            <a:off x="841248" y="1700784"/>
            <a:ext cx="1097280" cy="475488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  <a:endParaRPr lang="ko-KR" sz="1400" dirty="0"/>
          </a:p>
        </p:txBody>
      </p:sp>
      <p:sp>
        <p:nvSpPr>
          <p:cNvPr id="125" name="text"/>
          <p:cNvSpPr txBox="1"/>
          <p:nvPr/>
        </p:nvSpPr>
        <p:spPr>
          <a:xfrm>
            <a:off x="2103120" y="1645920"/>
            <a:ext cx="15453359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PC 통신 1 · 센서 Pmod 2 · 버튼 5 · 스위치 8 · LED 16 · FND 4 자리 — 한 보드에 IO 배치</a:t>
            </a:r>
            <a:endParaRPr lang="ko-KR" sz="1900" dirty="0"/>
          </a:p>
        </p:txBody>
      </p:sp>
      <p:sp>
        <p:nvSpPr>
          <p:cNvPr id="126" name="text"/>
          <p:cNvSpPr txBox="1"/>
          <p:nvPr/>
        </p:nvSpPr>
        <p:spPr>
          <a:xfrm>
            <a:off x="16642080" y="9710928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04</a:t>
            </a:r>
            <a:endParaRPr lang="ko-KR" sz="1100" dirty="0"/>
          </a:p>
        </p:txBody>
      </p:sp>
      <p:sp>
        <p:nvSpPr>
          <p:cNvPr id="127" name="TextBox 126"/>
          <p:cNvSpPr txBox="1"/>
          <p:nvPr/>
        </p:nvSpPr>
        <p:spPr>
          <a:xfrm>
            <a:off x="777240" y="5897880"/>
            <a:ext cx="1298448" cy="21488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JA12 : PWR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121408" y="5927598"/>
            <a:ext cx="155448" cy="155448"/>
          </a:xfrm>
          <a:prstGeom prst="rect">
            <a:avLst/>
          </a:prstGeom>
          <a:solidFill>
            <a:srgbClr val="F4CCCC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2322576" y="5927598"/>
            <a:ext cx="155448" cy="155448"/>
          </a:xfrm>
          <a:prstGeom prst="rect">
            <a:avLst/>
          </a:prstGeom>
          <a:solidFill>
            <a:srgbClr val="F4CCCC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2542032" y="5897880"/>
            <a:ext cx="1298448" cy="214884"/>
          </a:xfrm>
          <a:prstGeom prst="rect">
            <a:avLst/>
          </a:prstGeom>
          <a:noFill/>
        </p:spPr>
        <p:txBody>
          <a:bodyPr wrap="square" lIns="54864" tIns="0" rIns="54864" bIns="0" anchor="ctr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JA6 : PWR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77240" y="6112764"/>
            <a:ext cx="1298448" cy="21488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JA11 : GND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121408" y="6142482"/>
            <a:ext cx="155448" cy="155448"/>
          </a:xfrm>
          <a:prstGeom prst="rect">
            <a:avLst/>
          </a:prstGeom>
          <a:solidFill>
            <a:srgbClr val="D6E4F0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2322576" y="6142482"/>
            <a:ext cx="155448" cy="15544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ounded Rectangle 133"/>
          <p:cNvSpPr/>
          <p:nvPr/>
        </p:nvSpPr>
        <p:spPr>
          <a:xfrm>
            <a:off x="2542032" y="6121908"/>
            <a:ext cx="1298448" cy="1965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l"/>
            <a:r>
              <a:rPr sz="1300" b="1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JA5 : GND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77240" y="6327648"/>
            <a:ext cx="1298448" cy="21488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JA10 : G3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2121408" y="6357366"/>
            <a:ext cx="155448" cy="155448"/>
          </a:xfrm>
          <a:prstGeom prst="rect">
            <a:avLst/>
          </a:prstGeom>
          <a:solidFill>
            <a:srgbClr val="E7E6E6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2322576" y="6357366"/>
            <a:ext cx="155448" cy="155448"/>
          </a:xfrm>
          <a:prstGeom prst="rect">
            <a:avLst/>
          </a:prstGeom>
          <a:solidFill>
            <a:srgbClr val="E7E6E6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2542032" y="6327648"/>
            <a:ext cx="1298448" cy="214884"/>
          </a:xfrm>
          <a:prstGeom prst="rect">
            <a:avLst/>
          </a:prstGeom>
          <a:noFill/>
        </p:spPr>
        <p:txBody>
          <a:bodyPr wrap="square" lIns="54864" tIns="0" rIns="54864" bIns="0" anchor="ctr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JA4 : G2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77240" y="6542532"/>
            <a:ext cx="1298448" cy="21488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JA9 : H2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2121408" y="6572250"/>
            <a:ext cx="155448" cy="155448"/>
          </a:xfrm>
          <a:prstGeom prst="rect">
            <a:avLst/>
          </a:prstGeom>
          <a:solidFill>
            <a:srgbClr val="E7E6E6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2322576" y="6572250"/>
            <a:ext cx="155448" cy="155448"/>
          </a:xfrm>
          <a:prstGeom prst="rect">
            <a:avLst/>
          </a:prstGeom>
          <a:solidFill>
            <a:srgbClr val="E7E6E6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2542032" y="6542532"/>
            <a:ext cx="1298448" cy="214884"/>
          </a:xfrm>
          <a:prstGeom prst="rect">
            <a:avLst/>
          </a:prstGeom>
          <a:noFill/>
        </p:spPr>
        <p:txBody>
          <a:bodyPr wrap="square" lIns="54864" tIns="0" rIns="54864" bIns="0" anchor="ctr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JA3 : J2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77240" y="6757416"/>
            <a:ext cx="1298448" cy="21488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JA8 : K2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2121408" y="6787134"/>
            <a:ext cx="155448" cy="155448"/>
          </a:xfrm>
          <a:prstGeom prst="rect">
            <a:avLst/>
          </a:prstGeom>
          <a:solidFill>
            <a:srgbClr val="E7E6E6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/>
          <p:cNvSpPr/>
          <p:nvPr/>
        </p:nvSpPr>
        <p:spPr>
          <a:xfrm>
            <a:off x="2322576" y="6787134"/>
            <a:ext cx="155448" cy="155448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ounded Rectangle 145"/>
          <p:cNvSpPr/>
          <p:nvPr/>
        </p:nvSpPr>
        <p:spPr>
          <a:xfrm>
            <a:off x="2542032" y="6766560"/>
            <a:ext cx="1298448" cy="1965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l"/>
            <a:r>
              <a:rPr sz="13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JA2 : L2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77240" y="6972300"/>
            <a:ext cx="1298448" cy="21488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JA7 : H1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121408" y="7002018"/>
            <a:ext cx="155448" cy="155448"/>
          </a:xfrm>
          <a:prstGeom prst="rect">
            <a:avLst/>
          </a:prstGeom>
          <a:solidFill>
            <a:srgbClr val="E7E6E6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ectangle 148"/>
          <p:cNvSpPr/>
          <p:nvPr/>
        </p:nvSpPr>
        <p:spPr>
          <a:xfrm>
            <a:off x="2322576" y="7002018"/>
            <a:ext cx="155448" cy="155448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ounded Rectangle 149"/>
          <p:cNvSpPr/>
          <p:nvPr/>
        </p:nvSpPr>
        <p:spPr>
          <a:xfrm>
            <a:off x="2542032" y="6981444"/>
            <a:ext cx="1298448" cy="1965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l"/>
            <a:r>
              <a:rPr sz="1300" b="1">
                <a:solidFill>
                  <a:srgbClr val="C00000"/>
                </a:solidFill>
                <a:latin typeface="Malgun Gothic"/>
                <a:ea typeface="Malgun Gothic"/>
                <a:cs typeface="Malgun Gothic"/>
              </a:rPr>
              <a:t>JA1 : J1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77240" y="7379208"/>
            <a:ext cx="1298448" cy="21488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JXAC12 : PWR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121408" y="7408926"/>
            <a:ext cx="155448" cy="155448"/>
          </a:xfrm>
          <a:prstGeom prst="rect">
            <a:avLst/>
          </a:prstGeom>
          <a:solidFill>
            <a:srgbClr val="F4CCCC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2322576" y="7408926"/>
            <a:ext cx="155448" cy="15544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ounded Rectangle 153"/>
          <p:cNvSpPr/>
          <p:nvPr/>
        </p:nvSpPr>
        <p:spPr>
          <a:xfrm>
            <a:off x="2542032" y="7388352"/>
            <a:ext cx="1298448" cy="1965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l"/>
            <a:r>
              <a:rPr sz="1300" b="1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JXAC6 : PWR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77240" y="7594092"/>
            <a:ext cx="1298448" cy="21488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JXAC11 : GND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2121408" y="7623810"/>
            <a:ext cx="155448" cy="155448"/>
          </a:xfrm>
          <a:prstGeom prst="rect">
            <a:avLst/>
          </a:prstGeom>
          <a:solidFill>
            <a:srgbClr val="D6E4F0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2322576" y="7623810"/>
            <a:ext cx="155448" cy="15544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2542032" y="7603236"/>
            <a:ext cx="1298448" cy="1965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l"/>
            <a:r>
              <a:rPr sz="1300" b="1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JXAC5 : GND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77240" y="7808976"/>
            <a:ext cx="1298448" cy="21488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JXAC10 : N1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2121408" y="7838694"/>
            <a:ext cx="155448" cy="155448"/>
          </a:xfrm>
          <a:prstGeom prst="rect">
            <a:avLst/>
          </a:prstGeom>
          <a:solidFill>
            <a:srgbClr val="E7E6E6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ectangle 160"/>
          <p:cNvSpPr/>
          <p:nvPr/>
        </p:nvSpPr>
        <p:spPr>
          <a:xfrm>
            <a:off x="2322576" y="7838694"/>
            <a:ext cx="155448" cy="155448"/>
          </a:xfrm>
          <a:prstGeom prst="rect">
            <a:avLst/>
          </a:prstGeom>
          <a:solidFill>
            <a:srgbClr val="E7E6E6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2542032" y="7808976"/>
            <a:ext cx="1298448" cy="214884"/>
          </a:xfrm>
          <a:prstGeom prst="rect">
            <a:avLst/>
          </a:prstGeom>
          <a:noFill/>
        </p:spPr>
        <p:txBody>
          <a:bodyPr wrap="square" lIns="54864" tIns="0" rIns="54864" bIns="0" anchor="ctr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JXAC4 : N2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77240" y="8023860"/>
            <a:ext cx="1298448" cy="21488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JXAC9 : M1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2121408" y="8053578"/>
            <a:ext cx="155448" cy="155448"/>
          </a:xfrm>
          <a:prstGeom prst="rect">
            <a:avLst/>
          </a:prstGeom>
          <a:solidFill>
            <a:srgbClr val="E7E6E6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/>
          <p:cNvSpPr/>
          <p:nvPr/>
        </p:nvSpPr>
        <p:spPr>
          <a:xfrm>
            <a:off x="2322576" y="8053578"/>
            <a:ext cx="155448" cy="155448"/>
          </a:xfrm>
          <a:prstGeom prst="rect">
            <a:avLst/>
          </a:prstGeom>
          <a:solidFill>
            <a:srgbClr val="C05621"/>
          </a:solidFill>
          <a:ln w="1270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Rounded Rectangle 165"/>
          <p:cNvSpPr/>
          <p:nvPr/>
        </p:nvSpPr>
        <p:spPr>
          <a:xfrm>
            <a:off x="2542032" y="8033004"/>
            <a:ext cx="1298448" cy="1965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l"/>
            <a:r>
              <a:rPr sz="13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JXAC3 : M2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77240" y="8238744"/>
            <a:ext cx="1298448" cy="21488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JXAC8 : M3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121408" y="8268462"/>
            <a:ext cx="155448" cy="155448"/>
          </a:xfrm>
          <a:prstGeom prst="rect">
            <a:avLst/>
          </a:prstGeom>
          <a:solidFill>
            <a:srgbClr val="E7E6E6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Rectangle 168"/>
          <p:cNvSpPr/>
          <p:nvPr/>
        </p:nvSpPr>
        <p:spPr>
          <a:xfrm>
            <a:off x="2322576" y="8268462"/>
            <a:ext cx="155448" cy="155448"/>
          </a:xfrm>
          <a:prstGeom prst="rect">
            <a:avLst/>
          </a:prstGeom>
          <a:solidFill>
            <a:srgbClr val="E7E6E6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2542032" y="8238744"/>
            <a:ext cx="1298448" cy="214884"/>
          </a:xfrm>
          <a:prstGeom prst="rect">
            <a:avLst/>
          </a:prstGeom>
          <a:noFill/>
        </p:spPr>
        <p:txBody>
          <a:bodyPr wrap="square" lIns="54864" tIns="0" rIns="54864" bIns="0" anchor="ctr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JXAC2 : L3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77240" y="8453628"/>
            <a:ext cx="1298448" cy="214884"/>
          </a:xfrm>
          <a:prstGeom prst="rect">
            <a:avLst/>
          </a:prstGeom>
          <a:noFill/>
        </p:spPr>
        <p:txBody>
          <a:bodyPr wrap="square" lIns="36576" tIns="0" rIns="36576" bIns="0" anchor="ctr">
            <a:spAutoFit/>
          </a:bodyPr>
          <a:lstStyle/>
          <a:p>
            <a:pPr algn="r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JXAC7 : K3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121408" y="8483346"/>
            <a:ext cx="155448" cy="155448"/>
          </a:xfrm>
          <a:prstGeom prst="rect">
            <a:avLst/>
          </a:prstGeom>
          <a:solidFill>
            <a:srgbClr val="E7E6E6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Rectangle 172"/>
          <p:cNvSpPr/>
          <p:nvPr/>
        </p:nvSpPr>
        <p:spPr>
          <a:xfrm>
            <a:off x="2322576" y="8483346"/>
            <a:ext cx="155448" cy="155448"/>
          </a:xfrm>
          <a:prstGeom prst="rect">
            <a:avLst/>
          </a:prstGeom>
          <a:solidFill>
            <a:srgbClr val="E7E6E6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2542032" y="8453628"/>
            <a:ext cx="1298448" cy="214884"/>
          </a:xfrm>
          <a:prstGeom prst="rect">
            <a:avLst/>
          </a:prstGeom>
          <a:noFill/>
        </p:spPr>
        <p:txBody>
          <a:bodyPr wrap="square" lIns="54864" tIns="0" rIns="54864" bIns="0" anchor="ctr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JXAC1 : J3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4114580" y="6188291"/>
            <a:ext cx="833603" cy="816268"/>
          </a:xfrm>
          <a:prstGeom prst="roundRect">
            <a:avLst>
              <a:gd name="adj" fmla="val 15000"/>
            </a:avLst>
          </a:prstGeom>
          <a:noFill/>
          <a:ln w="3175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Rounded Rectangle 175"/>
          <p:cNvSpPr/>
          <p:nvPr/>
        </p:nvSpPr>
        <p:spPr>
          <a:xfrm>
            <a:off x="4114580" y="7391214"/>
            <a:ext cx="833603" cy="803380"/>
          </a:xfrm>
          <a:prstGeom prst="roundRect">
            <a:avLst>
              <a:gd name="adj" fmla="val 15000"/>
            </a:avLst>
          </a:prstGeom>
          <a:noFill/>
          <a:ln w="31750"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ounded Rectangle 176"/>
          <p:cNvSpPr/>
          <p:nvPr/>
        </p:nvSpPr>
        <p:spPr>
          <a:xfrm>
            <a:off x="4343400" y="2395728"/>
            <a:ext cx="4937760" cy="347472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0" rIns="128016" bIns="0" rtlCol="0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JA5 · GND → SR04 GND</a:t>
            </a:r>
          </a:p>
        </p:txBody>
      </p:sp>
      <p:cxnSp>
        <p:nvCxnSpPr>
          <p:cNvPr id="178" name="Connector 177"/>
          <p:cNvCxnSpPr/>
          <p:nvPr/>
        </p:nvCxnSpPr>
        <p:spPr>
          <a:xfrm flipH="1">
            <a:off x="3840479" y="2569464"/>
            <a:ext cx="502921" cy="3650742"/>
          </a:xfrm>
          <a:prstGeom prst="line">
            <a:avLst/>
          </a:prstGeom>
          <a:ln w="222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ounded Rectangle 178"/>
          <p:cNvSpPr/>
          <p:nvPr/>
        </p:nvSpPr>
        <p:spPr>
          <a:xfrm>
            <a:off x="4343400" y="2788920"/>
            <a:ext cx="4937760" cy="548640"/>
          </a:xfrm>
          <a:prstGeom prst="roundRect">
            <a:avLst>
              <a:gd name="adj" fmla="val 12000"/>
            </a:avLst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0" rIns="128016" bIns="0" rtlCol="0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JA2 · L2 → SR04 ECHO (echo)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echo 5 V 출력이면 분압 저항으로 3.3 V</a:t>
            </a:r>
          </a:p>
        </p:txBody>
      </p:sp>
      <p:cxnSp>
        <p:nvCxnSpPr>
          <p:cNvPr id="180" name="Connector 179"/>
          <p:cNvCxnSpPr/>
          <p:nvPr/>
        </p:nvCxnSpPr>
        <p:spPr>
          <a:xfrm flipH="1">
            <a:off x="3840479" y="3063240"/>
            <a:ext cx="502921" cy="3801618"/>
          </a:xfrm>
          <a:prstGeom prst="line">
            <a:avLst/>
          </a:prstGeom>
          <a:ln w="22225">
            <a:solidFill>
              <a:srgbClr val="2F85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Rounded Rectangle 180"/>
          <p:cNvSpPr/>
          <p:nvPr/>
        </p:nvSpPr>
        <p:spPr>
          <a:xfrm>
            <a:off x="4343400" y="3383280"/>
            <a:ext cx="4937760" cy="347472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0" rIns="128016" bIns="0" rtlCol="0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JA1 · J1 → SR04 TRIG (trig)</a:t>
            </a:r>
          </a:p>
        </p:txBody>
      </p:sp>
      <p:cxnSp>
        <p:nvCxnSpPr>
          <p:cNvPr id="182" name="Connector 181"/>
          <p:cNvCxnSpPr/>
          <p:nvPr/>
        </p:nvCxnSpPr>
        <p:spPr>
          <a:xfrm flipH="1">
            <a:off x="3840479" y="3557016"/>
            <a:ext cx="502921" cy="3522726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Rounded Rectangle 182"/>
          <p:cNvSpPr/>
          <p:nvPr/>
        </p:nvSpPr>
        <p:spPr>
          <a:xfrm>
            <a:off x="4343400" y="3776472"/>
            <a:ext cx="4937760" cy="347472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0" rIns="128016" bIns="0" rtlCol="0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JXADC6 · PWR (3.3 V) → DHT11 VCC</a:t>
            </a:r>
          </a:p>
        </p:txBody>
      </p:sp>
      <p:cxnSp>
        <p:nvCxnSpPr>
          <p:cNvPr id="184" name="Connector 183"/>
          <p:cNvCxnSpPr/>
          <p:nvPr/>
        </p:nvCxnSpPr>
        <p:spPr>
          <a:xfrm flipH="1">
            <a:off x="3840479" y="3950208"/>
            <a:ext cx="502921" cy="3536442"/>
          </a:xfrm>
          <a:prstGeom prst="line">
            <a:avLst/>
          </a:prstGeom>
          <a:ln w="222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Rounded Rectangle 184"/>
          <p:cNvSpPr/>
          <p:nvPr/>
        </p:nvSpPr>
        <p:spPr>
          <a:xfrm>
            <a:off x="4343400" y="4169663"/>
            <a:ext cx="4937760" cy="347472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0" rIns="128016" bIns="0" rtlCol="0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JXADC5 · GND → DHT11 GND</a:t>
            </a:r>
          </a:p>
        </p:txBody>
      </p:sp>
      <p:cxnSp>
        <p:nvCxnSpPr>
          <p:cNvPr id="186" name="Connector 185"/>
          <p:cNvCxnSpPr/>
          <p:nvPr/>
        </p:nvCxnSpPr>
        <p:spPr>
          <a:xfrm flipH="1">
            <a:off x="3840479" y="4343400"/>
            <a:ext cx="502921" cy="3358133"/>
          </a:xfrm>
          <a:prstGeom prst="line">
            <a:avLst/>
          </a:prstGeom>
          <a:ln w="222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Rounded Rectangle 186"/>
          <p:cNvSpPr/>
          <p:nvPr/>
        </p:nvSpPr>
        <p:spPr>
          <a:xfrm>
            <a:off x="4343400" y="4562855"/>
            <a:ext cx="4937760" cy="548640"/>
          </a:xfrm>
          <a:prstGeom prst="roundRect">
            <a:avLst>
              <a:gd name="adj" fmla="val 12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0" rIns="128016" bIns="0" rtlCol="0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JXADC3 · M2 → DHT11 DATA (dht11_io)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PULLUP · 외부 5 kΩ 풀업 권장</a:t>
            </a:r>
          </a:p>
        </p:txBody>
      </p:sp>
      <p:cxnSp>
        <p:nvCxnSpPr>
          <p:cNvPr id="188" name="Connector 187"/>
          <p:cNvCxnSpPr/>
          <p:nvPr/>
        </p:nvCxnSpPr>
        <p:spPr>
          <a:xfrm flipH="1">
            <a:off x="3840479" y="4837175"/>
            <a:ext cx="502921" cy="3294127"/>
          </a:xfrm>
          <a:prstGeom prst="line">
            <a:avLst/>
          </a:prstGeom>
          <a:ln w="22225">
            <a:solidFill>
              <a:srgbClr val="C05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ectangle 189"/>
          <p:cNvSpPr/>
          <p:nvPr/>
        </p:nvSpPr>
        <p:spPr>
          <a:xfrm>
            <a:off x="9692640" y="2450592"/>
            <a:ext cx="182880" cy="182880"/>
          </a:xfrm>
          <a:prstGeom prst="rect">
            <a:avLst/>
          </a:prstGeom>
          <a:solidFill>
            <a:srgbClr val="2B6CB0"/>
          </a:solidFill>
          <a:ln w="952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10012680" y="2395728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sw0</a:t>
            </a:r>
            <a:r>
              <a:rPr sz="15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시계 / 스톱워치 · </a:t>
            </a:r>
            <a:r>
              <a:rPr sz="15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sw1</a:t>
            </a:r>
            <a:r>
              <a:rPr sz="15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초.1/100초 / 시.분 · </a:t>
            </a:r>
            <a:r>
              <a:rPr sz="15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sw2</a:t>
            </a:r>
            <a:r>
              <a:rPr sz="15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시계 시간 설정</a:t>
            </a:r>
          </a:p>
          <a:p>
            <a:pPr algn="l"/>
            <a:r>
              <a:rPr sz="15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sw3</a:t>
            </a:r>
            <a:r>
              <a:rPr sz="15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12 / 24 시간 · </a:t>
            </a:r>
            <a:r>
              <a:rPr sz="15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sw4</a:t>
            </a:r>
            <a:r>
              <a:rPr sz="15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타이머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9692640" y="3145536"/>
            <a:ext cx="182880" cy="18288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10012680" y="3090672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sw5</a:t>
            </a:r>
            <a:r>
              <a:rPr sz="15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거리 (SR04) 화면 · </a:t>
            </a:r>
            <a:r>
              <a:rPr sz="15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sw6</a:t>
            </a:r>
            <a:r>
              <a:rPr sz="15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온습도 (DHT11) 화면 (sw6 우선)</a:t>
            </a:r>
          </a:p>
          <a:p>
            <a:pPr algn="l"/>
            <a:r>
              <a:rPr sz="15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UART 로 /mod 를 받은 뒤에는 sw0 ~ sw6 무시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9692640" y="3840479"/>
            <a:ext cx="182880" cy="182880"/>
          </a:xfrm>
          <a:prstGeom prst="rect">
            <a:avLst/>
          </a:prstGeom>
          <a:solidFill>
            <a:srgbClr val="C05621"/>
          </a:solidFill>
          <a:ln w="9525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TextBox 194"/>
          <p:cNvSpPr txBox="1"/>
          <p:nvPr/>
        </p:nvSpPr>
        <p:spPr>
          <a:xfrm>
            <a:off x="10012680" y="3785615"/>
            <a:ext cx="7452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sw15</a:t>
            </a:r>
            <a:r>
              <a:rPr sz="15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거리 막대 LED (LD0 ~ 7) 켜기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9692640" y="4261103"/>
            <a:ext cx="182880" cy="18288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TextBox 196"/>
          <p:cNvSpPr txBox="1"/>
          <p:nvPr/>
        </p:nvSpPr>
        <p:spPr>
          <a:xfrm>
            <a:off x="10012680" y="4206240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버튼</a:t>
            </a:r>
            <a:r>
              <a:rPr sz="15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 : 지금 화면의 모듈에만 들어감</a:t>
            </a:r>
          </a:p>
          <a:p>
            <a:pPr algn="l"/>
            <a:r>
              <a:rPr sz="1500" b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(거리 · 온습도 : R 1 회 측정, U 자동 측정 켜기/끄기)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5711671" y="5522388"/>
            <a:ext cx="483022" cy="343692"/>
          </a:xfrm>
          <a:prstGeom prst="roundRect">
            <a:avLst>
              <a:gd name="adj" fmla="val 15000"/>
            </a:avLst>
          </a:prstGeom>
          <a:noFill/>
          <a:ln w="38100">
            <a:solidFill>
              <a:srgbClr val="B794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Rounded Rectangle 198"/>
          <p:cNvSpPr/>
          <p:nvPr/>
        </p:nvSpPr>
        <p:spPr>
          <a:xfrm>
            <a:off x="12070080" y="4800600"/>
            <a:ext cx="5394960" cy="585216"/>
          </a:xfrm>
          <a:prstGeom prst="roundRect">
            <a:avLst>
              <a:gd name="adj" fmla="val 12000"/>
            </a:avLst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0" rIns="128016" bIns="0" rtlCol="0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micro USB : 전원 + UART (9600 8N1)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rx = B18 (PC → FPGA) · tx = A18 (FPGA → PC)</a:t>
            </a:r>
          </a:p>
        </p:txBody>
      </p:sp>
      <p:cxnSp>
        <p:nvCxnSpPr>
          <p:cNvPr id="200" name="Connector 199"/>
          <p:cNvCxnSpPr/>
          <p:nvPr/>
        </p:nvCxnSpPr>
        <p:spPr>
          <a:xfrm flipH="1">
            <a:off x="6194694" y="5093208"/>
            <a:ext cx="5875386" cy="601026"/>
          </a:xfrm>
          <a:prstGeom prst="line">
            <a:avLst/>
          </a:prstGeom>
          <a:ln w="22225">
            <a:solidFill>
              <a:srgbClr val="6B46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Oval 200"/>
          <p:cNvSpPr/>
          <p:nvPr/>
        </p:nvSpPr>
        <p:spPr>
          <a:xfrm>
            <a:off x="8843893" y="7257246"/>
            <a:ext cx="310896" cy="310896"/>
          </a:xfrm>
          <a:prstGeom prst="ellipse">
            <a:avLst/>
          </a:prstGeom>
          <a:noFill/>
          <a:ln w="38100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Rounded Rectangle 201"/>
          <p:cNvSpPr/>
          <p:nvPr/>
        </p:nvSpPr>
        <p:spPr>
          <a:xfrm>
            <a:off x="13441680" y="5760720"/>
            <a:ext cx="4023360" cy="438912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0" rIns="128016" bIns="0" rtlCol="0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BTNU · T18 → btn_U</a:t>
            </a:r>
          </a:p>
        </p:txBody>
      </p:sp>
      <p:cxnSp>
        <p:nvCxnSpPr>
          <p:cNvPr id="203" name="Connector 202"/>
          <p:cNvCxnSpPr/>
          <p:nvPr/>
        </p:nvCxnSpPr>
        <p:spPr>
          <a:xfrm flipH="1">
            <a:off x="9108155" y="5980176"/>
            <a:ext cx="4333525" cy="1432518"/>
          </a:xfrm>
          <a:prstGeom prst="line">
            <a:avLst/>
          </a:prstGeom>
          <a:ln w="22225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Oval 203"/>
          <p:cNvSpPr/>
          <p:nvPr/>
        </p:nvSpPr>
        <p:spPr>
          <a:xfrm>
            <a:off x="8438778" y="7579458"/>
            <a:ext cx="310896" cy="310896"/>
          </a:xfrm>
          <a:prstGeom prst="ellipse">
            <a:avLst/>
          </a:prstGeom>
          <a:noFill/>
          <a:ln w="38100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Rounded Rectangle 204"/>
          <p:cNvSpPr/>
          <p:nvPr/>
        </p:nvSpPr>
        <p:spPr>
          <a:xfrm>
            <a:off x="13441680" y="6291072"/>
            <a:ext cx="4023360" cy="438912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0" rIns="128016" bIns="0" rtlCol="0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BTNL · W19 → btn_L</a:t>
            </a:r>
          </a:p>
        </p:txBody>
      </p:sp>
      <p:cxnSp>
        <p:nvCxnSpPr>
          <p:cNvPr id="206" name="Connector 205"/>
          <p:cNvCxnSpPr/>
          <p:nvPr/>
        </p:nvCxnSpPr>
        <p:spPr>
          <a:xfrm flipH="1">
            <a:off x="8703039" y="6510528"/>
            <a:ext cx="4738641" cy="1224378"/>
          </a:xfrm>
          <a:prstGeom prst="line">
            <a:avLst/>
          </a:prstGeom>
          <a:ln w="22225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Oval 206"/>
          <p:cNvSpPr/>
          <p:nvPr/>
        </p:nvSpPr>
        <p:spPr>
          <a:xfrm>
            <a:off x="8843893" y="7592346"/>
            <a:ext cx="310896" cy="310896"/>
          </a:xfrm>
          <a:prstGeom prst="ellipse">
            <a:avLst/>
          </a:prstGeom>
          <a:noFill/>
          <a:ln w="38100">
            <a:solidFill>
              <a:srgbClr val="FC81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Rounded Rectangle 207"/>
          <p:cNvSpPr/>
          <p:nvPr/>
        </p:nvSpPr>
        <p:spPr>
          <a:xfrm>
            <a:off x="13441680" y="6821424"/>
            <a:ext cx="4023360" cy="438912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0" rIns="128016" bIns="0" rtlCol="0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BTNC · U18 → rst (리셋)</a:t>
            </a:r>
          </a:p>
        </p:txBody>
      </p:sp>
      <p:cxnSp>
        <p:nvCxnSpPr>
          <p:cNvPr id="209" name="Connector 208"/>
          <p:cNvCxnSpPr/>
          <p:nvPr/>
        </p:nvCxnSpPr>
        <p:spPr>
          <a:xfrm flipH="1">
            <a:off x="9108155" y="7040880"/>
            <a:ext cx="4333525" cy="706914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Oval 209"/>
          <p:cNvSpPr/>
          <p:nvPr/>
        </p:nvSpPr>
        <p:spPr>
          <a:xfrm>
            <a:off x="9295753" y="7579458"/>
            <a:ext cx="310896" cy="310896"/>
          </a:xfrm>
          <a:prstGeom prst="ellipse">
            <a:avLst/>
          </a:prstGeom>
          <a:noFill/>
          <a:ln w="38100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Rounded Rectangle 210"/>
          <p:cNvSpPr/>
          <p:nvPr/>
        </p:nvSpPr>
        <p:spPr>
          <a:xfrm>
            <a:off x="13441680" y="7351775"/>
            <a:ext cx="4023360" cy="438912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0" rIns="128016" bIns="0" rtlCol="0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BTNR · T17 → btn_R</a:t>
            </a:r>
          </a:p>
        </p:txBody>
      </p:sp>
      <p:cxnSp>
        <p:nvCxnSpPr>
          <p:cNvPr id="212" name="Connector 211"/>
          <p:cNvCxnSpPr/>
          <p:nvPr/>
        </p:nvCxnSpPr>
        <p:spPr>
          <a:xfrm flipH="1">
            <a:off x="9560015" y="7571231"/>
            <a:ext cx="3881665" cy="163675"/>
          </a:xfrm>
          <a:prstGeom prst="line">
            <a:avLst/>
          </a:prstGeom>
          <a:ln w="22225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Oval 212"/>
          <p:cNvSpPr/>
          <p:nvPr/>
        </p:nvSpPr>
        <p:spPr>
          <a:xfrm>
            <a:off x="8843893" y="7983296"/>
            <a:ext cx="310896" cy="310896"/>
          </a:xfrm>
          <a:prstGeom prst="ellipse">
            <a:avLst/>
          </a:prstGeom>
          <a:noFill/>
          <a:ln w="38100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Rounded Rectangle 213"/>
          <p:cNvSpPr/>
          <p:nvPr/>
        </p:nvSpPr>
        <p:spPr>
          <a:xfrm>
            <a:off x="13441680" y="7882127"/>
            <a:ext cx="4023360" cy="438912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0" rIns="128016" bIns="0" rtlCol="0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BTND · U17 → btn_D</a:t>
            </a:r>
          </a:p>
        </p:txBody>
      </p:sp>
      <p:cxnSp>
        <p:nvCxnSpPr>
          <p:cNvPr id="215" name="Connector 214"/>
          <p:cNvCxnSpPr/>
          <p:nvPr/>
        </p:nvCxnSpPr>
        <p:spPr>
          <a:xfrm flipH="1">
            <a:off x="9108155" y="8101583"/>
            <a:ext cx="4333525" cy="37161"/>
          </a:xfrm>
          <a:prstGeom prst="line">
            <a:avLst/>
          </a:prstGeom>
          <a:ln w="22225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Rounded Rectangle 215"/>
          <p:cNvSpPr/>
          <p:nvPr/>
        </p:nvSpPr>
        <p:spPr>
          <a:xfrm>
            <a:off x="5127369" y="7362760"/>
            <a:ext cx="2240280" cy="274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FND (fnd_com · fnd_font)</a:t>
            </a:r>
          </a:p>
        </p:txBody>
      </p:sp>
      <p:sp>
        <p:nvSpPr>
          <p:cNvPr id="217" name="Rounded Rectangle 216"/>
          <p:cNvSpPr/>
          <p:nvPr/>
        </p:nvSpPr>
        <p:spPr>
          <a:xfrm>
            <a:off x="7129576" y="8015775"/>
            <a:ext cx="1737360" cy="274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2F855A"/>
                </a:solidFill>
                <a:latin typeface="Malgun Gothic"/>
                <a:ea typeface="Malgun Gothic"/>
                <a:cs typeface="Malgun Gothic"/>
              </a:rPr>
              <a:t>LED 0 ~ 15 (led)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679405" y="8594136"/>
            <a:ext cx="327208" cy="665903"/>
          </a:xfrm>
          <a:prstGeom prst="roundRect">
            <a:avLst>
              <a:gd name="adj" fmla="val 15000"/>
            </a:avLst>
          </a:prstGeom>
          <a:noFill/>
          <a:ln w="38100">
            <a:solidFill>
              <a:srgbClr val="F6AD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TextBox 218"/>
          <p:cNvSpPr txBox="1"/>
          <p:nvPr/>
        </p:nvSpPr>
        <p:spPr>
          <a:xfrm>
            <a:off x="4522969" y="9305759"/>
            <a:ext cx="6400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</a:rPr>
              <a:t>sw15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7841645" y="8594136"/>
            <a:ext cx="327208" cy="665903"/>
          </a:xfrm>
          <a:prstGeom prst="roundRect">
            <a:avLst>
              <a:gd name="adj" fmla="val 15000"/>
            </a:avLst>
          </a:prstGeom>
          <a:noFill/>
          <a:ln w="38100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TextBox 220"/>
          <p:cNvSpPr txBox="1"/>
          <p:nvPr/>
        </p:nvSpPr>
        <p:spPr>
          <a:xfrm>
            <a:off x="7829570" y="9305759"/>
            <a:ext cx="3513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sw6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8193005" y="8594136"/>
            <a:ext cx="327208" cy="665903"/>
          </a:xfrm>
          <a:prstGeom prst="roundRect">
            <a:avLst>
              <a:gd name="adj" fmla="val 15000"/>
            </a:avLst>
          </a:prstGeom>
          <a:noFill/>
          <a:ln w="38100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TextBox 222"/>
          <p:cNvSpPr txBox="1"/>
          <p:nvPr/>
        </p:nvSpPr>
        <p:spPr>
          <a:xfrm>
            <a:off x="8180930" y="9305759"/>
            <a:ext cx="3513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sw5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8544365" y="8594136"/>
            <a:ext cx="327208" cy="665903"/>
          </a:xfrm>
          <a:prstGeom prst="roundRect">
            <a:avLst>
              <a:gd name="adj" fmla="val 15000"/>
            </a:avLst>
          </a:prstGeom>
          <a:noFill/>
          <a:ln w="38100">
            <a:solidFill>
              <a:srgbClr val="90C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TextBox 224"/>
          <p:cNvSpPr txBox="1"/>
          <p:nvPr/>
        </p:nvSpPr>
        <p:spPr>
          <a:xfrm>
            <a:off x="8532290" y="9305759"/>
            <a:ext cx="3513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sw4</a:t>
            </a:r>
          </a:p>
        </p:txBody>
      </p:sp>
      <p:sp>
        <p:nvSpPr>
          <p:cNvPr id="226" name="Rounded Rectangle 225"/>
          <p:cNvSpPr/>
          <p:nvPr/>
        </p:nvSpPr>
        <p:spPr>
          <a:xfrm>
            <a:off x="8895725" y="8594136"/>
            <a:ext cx="327208" cy="665903"/>
          </a:xfrm>
          <a:prstGeom prst="roundRect">
            <a:avLst>
              <a:gd name="adj" fmla="val 15000"/>
            </a:avLst>
          </a:prstGeom>
          <a:noFill/>
          <a:ln w="38100">
            <a:solidFill>
              <a:srgbClr val="90C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TextBox 226"/>
          <p:cNvSpPr txBox="1"/>
          <p:nvPr/>
        </p:nvSpPr>
        <p:spPr>
          <a:xfrm>
            <a:off x="8883650" y="9305759"/>
            <a:ext cx="3513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sw3</a:t>
            </a:r>
          </a:p>
        </p:txBody>
      </p:sp>
      <p:sp>
        <p:nvSpPr>
          <p:cNvPr id="228" name="Rounded Rectangle 227"/>
          <p:cNvSpPr/>
          <p:nvPr/>
        </p:nvSpPr>
        <p:spPr>
          <a:xfrm>
            <a:off x="9247085" y="8594136"/>
            <a:ext cx="327208" cy="665903"/>
          </a:xfrm>
          <a:prstGeom prst="roundRect">
            <a:avLst>
              <a:gd name="adj" fmla="val 15000"/>
            </a:avLst>
          </a:prstGeom>
          <a:noFill/>
          <a:ln w="38100">
            <a:solidFill>
              <a:srgbClr val="90C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TextBox 228"/>
          <p:cNvSpPr txBox="1"/>
          <p:nvPr/>
        </p:nvSpPr>
        <p:spPr>
          <a:xfrm>
            <a:off x="9235010" y="9305759"/>
            <a:ext cx="3513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sw2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9598445" y="8594136"/>
            <a:ext cx="327208" cy="665903"/>
          </a:xfrm>
          <a:prstGeom prst="roundRect">
            <a:avLst>
              <a:gd name="adj" fmla="val 15000"/>
            </a:avLst>
          </a:prstGeom>
          <a:noFill/>
          <a:ln w="38100">
            <a:solidFill>
              <a:srgbClr val="90C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TextBox 230"/>
          <p:cNvSpPr txBox="1"/>
          <p:nvPr/>
        </p:nvSpPr>
        <p:spPr>
          <a:xfrm>
            <a:off x="9586370" y="9305759"/>
            <a:ext cx="3513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sw1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9949805" y="8594136"/>
            <a:ext cx="327208" cy="665903"/>
          </a:xfrm>
          <a:prstGeom prst="roundRect">
            <a:avLst>
              <a:gd name="adj" fmla="val 15000"/>
            </a:avLst>
          </a:prstGeom>
          <a:noFill/>
          <a:ln w="38100">
            <a:solidFill>
              <a:srgbClr val="90C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TextBox 232"/>
          <p:cNvSpPr txBox="1"/>
          <p:nvPr/>
        </p:nvSpPr>
        <p:spPr>
          <a:xfrm>
            <a:off x="9937730" y="9305759"/>
            <a:ext cx="3513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2B6CB0"/>
                </a:solidFill>
                <a:latin typeface="Malgun Gothic"/>
                <a:ea typeface="Malgun Gothic"/>
                <a:cs typeface="Malgun Gothic"/>
              </a:rPr>
              <a:t>sw0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1521440" y="8869680"/>
            <a:ext cx="5943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핀 이름 : merge_final_top.xdc 기준</a:t>
            </a:r>
          </a:p>
          <a:p>
            <a:pPr algn="r"/>
            <a:r>
              <a:rPr sz="1400" b="0">
                <a:solidFill>
                  <a:srgbClr val="595959"/>
                </a:solidFill>
                <a:latin typeface="Malgun Gothic"/>
                <a:ea typeface="Malgun Gothic"/>
                <a:cs typeface="Malgun Gothic"/>
              </a:rPr>
              <a:t>색 칸 = 이번 설계가 쓰는 핀 · 클럭 100 MHz (W5)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7" name="Google Shape;127;p18"/>
          <p:cNvGraphicFramePr/>
          <p:nvPr/>
        </p:nvGraphicFramePr>
        <p:xfrm>
          <a:off x="617221" y="2377440"/>
          <a:ext cx="8293608" cy="5952682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93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명령어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B46C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option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B46C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설정 대상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B46C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B46C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관련 IO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B46C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 예시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B46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 row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100"/>
                        <a:buFont typeface="Courier New"/>
                        <a:buNone/>
                      </a:pPr>
                      <a:r>
                        <a:rPr lang="ko" sz="22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/mod</a:t>
                      </a:r>
                      <a:endParaRPr sz="22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w_hm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시계, 시.분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rowSpan="8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 바꾸기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(이후 스위치 대신 UART 가 화면 결정)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row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562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C0562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④ </a:t>
                      </a: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FND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rowSpan="8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Courier New"/>
                        <a:buNone/>
                      </a:pPr>
                      <a:r>
                        <a:rPr lang="ko" sz="16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/mod dist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95959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59595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→ FND : 거리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w_ms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시계, 초.1/100초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s_hm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스톱워치, 시.분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s_ms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스톱워치, 초.1/100초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t_hm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타이머 (분.초)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t_ms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타이머 (분.초)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dist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거리 (SR04)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temp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온습도 (DHT11)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309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100"/>
                        <a:buFont typeface="Courier New"/>
                        <a:buNone/>
                      </a:pPr>
                      <a:r>
                        <a:rPr lang="ko" sz="22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/get</a:t>
                      </a:r>
                      <a:endParaRPr sz="22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C8C8C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8C8C8C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—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지금 화면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한 줄 전송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(공백 뒤 Enter)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562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C0562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① </a:t>
                      </a: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UART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Courier New"/>
                        <a:buNone/>
                      </a:pPr>
                      <a:r>
                        <a:rPr lang="ko" sz="16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/get ⏎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 row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100"/>
                        <a:buFont typeface="Courier New"/>
                        <a:buNone/>
                      </a:pPr>
                      <a:r>
                        <a:rPr lang="ko" sz="22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/btn</a:t>
                      </a:r>
                      <a:endParaRPr sz="22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R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 R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row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 한 번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(물리 버튼과 같음)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row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562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C0562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⑤ </a:t>
                      </a: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row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Courier New"/>
                        <a:buNone/>
                      </a:pPr>
                      <a:r>
                        <a:rPr lang="ko" sz="16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/btn U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95959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59595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거리 화면 : SR04 자동 측정 켜기/끄기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L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 L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U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 U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D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 D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128" name="Google Shape;128;p18"/>
          <p:cNvGraphicFramePr/>
          <p:nvPr/>
        </p:nvGraphicFramePr>
        <p:xfrm>
          <a:off x="9326881" y="2377440"/>
          <a:ext cx="8293608" cy="526705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98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93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명령어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B46C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option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B46C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설정 대상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B46C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B46C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관련 IO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B46C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 예시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B46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6140">
                <a:tc row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100"/>
                        <a:buFont typeface="Courier New"/>
                        <a:buNone/>
                      </a:pPr>
                      <a:r>
                        <a:rPr lang="ko" sz="22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/auto</a:t>
                      </a:r>
                      <a:endParaRPr sz="22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all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전체 (돌아가며)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1초마다 순환 전송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row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562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C0562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① </a:t>
                      </a: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UART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Courier New"/>
                        <a:buNone/>
                      </a:pPr>
                      <a:r>
                        <a:rPr lang="ko" sz="16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/auto all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_sw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스톱워치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1초마다 한 줄 전송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Courier New"/>
                        <a:buNone/>
                      </a:pPr>
                      <a:r>
                        <a:rPr lang="ko" sz="16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/auto dis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95959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59595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← 045cm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_tm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타이머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_wh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시계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dis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거리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tem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온습도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614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off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C8C8C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8C8C8C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—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자동 전송 끄기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Courier New"/>
                        <a:buNone/>
                      </a:pPr>
                      <a:r>
                        <a:rPr lang="ko" sz="16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/auto off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100"/>
                        <a:buFont typeface="Courier New"/>
                        <a:buNone/>
                      </a:pPr>
                      <a:r>
                        <a:rPr lang="ko" sz="22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/set</a:t>
                      </a:r>
                      <a:endParaRPr sz="22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w_hm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시계 시간 설정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설정 켜기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562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C0562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⑦ </a:t>
                      </a: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SW2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Courier New"/>
                        <a:buNone/>
                      </a:pPr>
                      <a:r>
                        <a:rPr lang="ko" sz="16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/set w_hm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24h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24시간 표시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+ Enter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562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C0562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⑦ </a:t>
                      </a: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SW3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Courier New"/>
                        <a:buNone/>
                      </a:pPr>
                      <a:r>
                        <a:rPr lang="ko" sz="16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/set 24h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12h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12시간 표시 (기본)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4F4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100"/>
                        <a:buFont typeface="Courier New"/>
                        <a:buNone/>
                      </a:pPr>
                      <a:r>
                        <a:rPr lang="ko" sz="22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/off</a:t>
                      </a:r>
                      <a:endParaRPr sz="22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Courier New"/>
                        <a:buNone/>
                      </a:pPr>
                      <a:r>
                        <a:rPr lang="ko" sz="18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w_h</a:t>
                      </a:r>
                      <a:endParaRPr sz="1800" u="none" strike="noStrike" cap="none">
                        <a:latin typeface="Consolas"/>
                        <a:ea typeface="Malgun Gothic"/>
                        <a:cs typeface="Consolas"/>
                        <a:sym typeface="Consolas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Malgun Gothic"/>
                        <a:buNone/>
                      </a:pP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시계 시간 설정</a:t>
                      </a:r>
                      <a:endParaRPr sz="16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설정 끄기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562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ko" sz="1800" b="1" u="none" strike="noStrike" cap="none">
                          <a:solidFill>
                            <a:srgbClr val="C0562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⑦ </a:t>
                      </a:r>
                      <a:r>
                        <a:rPr lang="ko" sz="1600" u="none" strike="noStrike" cap="non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SW2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800"/>
                        <a:buFont typeface="Courier New"/>
                        <a:buNone/>
                      </a:pPr>
                      <a:r>
                        <a:rPr lang="ko" sz="1600" b="1" u="none" strike="noStrike" cap="none">
                          <a:solidFill>
                            <a:srgbClr val="262626"/>
                          </a:solidFill>
                          <a:latin typeface="Consolas"/>
                          <a:ea typeface="Malgun Gothic"/>
                          <a:cs typeface="Consolas"/>
                          <a:sym typeface="Consolas"/>
                        </a:rPr>
                        <a:t>/off w_h</a:t>
                      </a:r>
                      <a:endParaRPr sz="18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68600" marR="68600" marT="13750" marB="1375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29" name="Google Shape;129;p18"/>
          <p:cNvSpPr txBox="1"/>
          <p:nvPr/>
        </p:nvSpPr>
        <p:spPr>
          <a:xfrm>
            <a:off x="9326880" y="7909560"/>
            <a:ext cx="82981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rgbClr val="C05621"/>
              </a:buClr>
              <a:buSzPts val="900"/>
            </a:pPr>
            <a:r>
              <a:rPr lang="en-US" altLang="ko" sz="18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※ </a:t>
            </a:r>
            <a:r>
              <a:rPr lang="en-US" altLang="ko" sz="1800" b="1">
                <a:solidFill>
                  <a:srgbClr val="262626"/>
                </a:solidFill>
                <a:latin typeface="Consolas"/>
                <a:ea typeface="Malgun Gothic"/>
                <a:cs typeface="Consolas"/>
                <a:sym typeface="Consolas"/>
              </a:rPr>
              <a:t>/set</a:t>
            </a:r>
            <a:r>
              <a:rPr lang="ko" altLang="en-US" sz="1800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altLang="ko" sz="1800" b="1">
                <a:solidFill>
                  <a:srgbClr val="262626"/>
                </a:solidFill>
                <a:latin typeface="Consolas"/>
                <a:ea typeface="Malgun Gothic"/>
                <a:cs typeface="Consolas"/>
                <a:sym typeface="Consolas"/>
              </a:rPr>
              <a:t>/off</a:t>
            </a:r>
            <a:r>
              <a:rPr lang="ko" altLang="en-US" sz="1800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 는 </a:t>
            </a:r>
            <a:r>
              <a:rPr lang="en-US" altLang="ko" sz="1800" b="1">
                <a:solidFill>
                  <a:srgbClr val="262626"/>
                </a:solidFill>
                <a:latin typeface="Consolas"/>
                <a:ea typeface="Malgun Gothic"/>
                <a:cs typeface="Consolas"/>
                <a:sym typeface="Consolas"/>
              </a:rPr>
              <a:t>/mod</a:t>
            </a:r>
            <a:r>
              <a:rPr lang="ko" altLang="en-US" sz="1800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 를 한 번 받은 뒤에만 동작</a:t>
            </a:r>
            <a:endParaRPr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>
              <a:buClr>
                <a:srgbClr val="C05621"/>
              </a:buClr>
              <a:buSzPts val="900"/>
            </a:pPr>
            <a:r>
              <a:rPr lang="en-US" altLang="ko" sz="18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※ </a:t>
            </a:r>
            <a:r>
              <a:rPr lang="en-US" altLang="ko" sz="1800" b="1">
                <a:solidFill>
                  <a:srgbClr val="262626"/>
                </a:solidFill>
                <a:latin typeface="Consolas"/>
                <a:ea typeface="Malgun Gothic"/>
                <a:cs typeface="Consolas"/>
                <a:sym typeface="Consolas"/>
              </a:rPr>
              <a:t>/get</a:t>
            </a:r>
            <a:r>
              <a:rPr lang="ko" altLang="en-US" sz="1800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은 자동 전송 중 무시</a:t>
            </a:r>
            <a:endParaRPr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0" name="Google Shape;130;p18"/>
          <p:cNvSpPr/>
          <p:nvPr/>
        </p:nvSpPr>
        <p:spPr>
          <a:xfrm>
            <a:off x="617220" y="8686800"/>
            <a:ext cx="17007840" cy="868680"/>
          </a:xfrm>
          <a:prstGeom prst="roundRect">
            <a:avLst>
              <a:gd name="adj" fmla="val 7692"/>
            </a:avLst>
          </a:prstGeom>
          <a:solidFill>
            <a:srgbClr val="F4F4F4"/>
          </a:solidFill>
          <a:ln w="9525" cap="flat" cmpd="sng">
            <a:noFill/>
          </a:ln>
        </p:spPr>
        <p:txBody>
          <a:bodyPr spcFirstLastPara="1" wrap="square" lIns="137150" tIns="137150" rIns="137150" bIns="137150" anchor="ctr" anchorCtr="0">
            <a:noAutofit/>
          </a:bodyPr>
          <a:lstStyle/>
          <a:p>
            <a:endParaRPr sz="3600"/>
          </a:p>
        </p:txBody>
      </p:sp>
      <p:sp>
        <p:nvSpPr>
          <p:cNvPr id="131" name="Google Shape;131;p18"/>
          <p:cNvSpPr txBox="1"/>
          <p:nvPr/>
        </p:nvSpPr>
        <p:spPr>
          <a:xfrm>
            <a:off x="891540" y="8686800"/>
            <a:ext cx="15910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C05621"/>
              </a:buClr>
              <a:buSzPts val="1100"/>
            </a:pPr>
            <a:r>
              <a:rPr lang="ko" altLang="en-US" sz="22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  <a:sym typeface="Malgun Gothic"/>
              </a:rPr>
              <a:t>통신  </a:t>
            </a:r>
            <a:r>
              <a:rPr lang="en-US" altLang="ko" sz="22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9600 bps · 8N1 · </a:t>
            </a:r>
            <a:r>
              <a:rPr lang="ko" altLang="en-US" sz="22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줄 끝 </a:t>
            </a:r>
            <a:r>
              <a:rPr lang="en-US" altLang="ko" sz="22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CR </a:t>
            </a:r>
            <a:r>
              <a:rPr lang="ko" altLang="en-US" sz="22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또는 </a:t>
            </a:r>
            <a:r>
              <a:rPr lang="en-US" altLang="ko" sz="2200" b="1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LF (Enter)</a:t>
            </a:r>
            <a:endParaRPr sz="2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>
              <a:spcBef>
                <a:spcPts val="400"/>
              </a:spcBef>
              <a:buClr>
                <a:srgbClr val="C05621"/>
              </a:buClr>
              <a:buSzPts val="1100"/>
            </a:pPr>
            <a:r>
              <a:rPr lang="ko" altLang="en-US" sz="2200" b="1">
                <a:solidFill>
                  <a:srgbClr val="C05621"/>
                </a:solidFill>
                <a:latin typeface="Malgun Gothic"/>
                <a:ea typeface="Malgun Gothic"/>
                <a:cs typeface="Malgun Gothic"/>
                <a:sym typeface="Malgun Gothic"/>
              </a:rPr>
              <a:t>형식  </a:t>
            </a:r>
            <a:r>
              <a:rPr lang="en-US" altLang="ko" sz="2200" b="1">
                <a:solidFill>
                  <a:srgbClr val="262626"/>
                </a:solidFill>
                <a:latin typeface="Consolas"/>
                <a:ea typeface="Malgun Gothic"/>
                <a:cs typeface="Consolas"/>
                <a:sym typeface="Consolas"/>
              </a:rPr>
              <a:t>/&lt;</a:t>
            </a:r>
            <a:r>
              <a:rPr lang="ko" altLang="en-US" sz="2200" b="1">
                <a:solidFill>
                  <a:srgbClr val="262626"/>
                </a:solidFill>
                <a:latin typeface="Consolas"/>
                <a:ea typeface="Malgun Gothic"/>
                <a:cs typeface="Consolas"/>
                <a:sym typeface="Consolas"/>
              </a:rPr>
              <a:t>명령 </a:t>
            </a:r>
            <a:r>
              <a:rPr lang="en-US" altLang="ko" sz="2200" b="1">
                <a:solidFill>
                  <a:srgbClr val="262626"/>
                </a:solidFill>
                <a:latin typeface="Consolas"/>
                <a:ea typeface="Malgun Gothic"/>
                <a:cs typeface="Consolas"/>
                <a:sym typeface="Consolas"/>
              </a:rPr>
              <a:t>3</a:t>
            </a:r>
            <a:r>
              <a:rPr lang="ko" altLang="en-US" sz="2200" b="1">
                <a:solidFill>
                  <a:srgbClr val="262626"/>
                </a:solidFill>
                <a:latin typeface="Consolas"/>
                <a:ea typeface="Malgun Gothic"/>
                <a:cs typeface="Consolas"/>
                <a:sym typeface="Consolas"/>
              </a:rPr>
              <a:t>글자</a:t>
            </a:r>
            <a:r>
              <a:rPr lang="en-US" altLang="ko" sz="2200" b="1">
                <a:solidFill>
                  <a:srgbClr val="262626"/>
                </a:solidFill>
                <a:latin typeface="Consolas"/>
                <a:ea typeface="Malgun Gothic"/>
                <a:cs typeface="Consolas"/>
                <a:sym typeface="Consolas"/>
              </a:rPr>
              <a:t>&gt; &lt;</a:t>
            </a:r>
            <a:r>
              <a:rPr lang="ko" altLang="en-US" sz="2200" b="1">
                <a:solidFill>
                  <a:srgbClr val="262626"/>
                </a:solidFill>
                <a:latin typeface="Consolas"/>
                <a:ea typeface="Malgun Gothic"/>
                <a:cs typeface="Consolas"/>
                <a:sym typeface="Consolas"/>
              </a:rPr>
              <a:t>옵션</a:t>
            </a:r>
            <a:r>
              <a:rPr lang="en-US" altLang="ko" sz="2200" b="1">
                <a:solidFill>
                  <a:srgbClr val="262626"/>
                </a:solidFill>
                <a:latin typeface="Consolas"/>
                <a:ea typeface="Malgun Gothic"/>
                <a:cs typeface="Consolas"/>
                <a:sym typeface="Consolas"/>
              </a:rPr>
              <a:t>&gt;</a:t>
            </a:r>
            <a:r>
              <a:rPr lang="ko" altLang="en-US" sz="2200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  </a:t>
            </a:r>
            <a:r>
              <a:rPr lang="en-US" altLang="ko" sz="2200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ko" altLang="en-US" sz="2200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명령은 소문자</a:t>
            </a:r>
            <a:r>
              <a:rPr lang="en-US" altLang="ko" sz="2200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" altLang="en-US" sz="2200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버튼만 대문자 </a:t>
            </a:r>
            <a:r>
              <a:rPr lang="en-US" altLang="ko" sz="2200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R L U D · </a:t>
            </a:r>
            <a:r>
              <a:rPr lang="ko" altLang="en-US" sz="2200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형식 오류 → </a:t>
            </a:r>
            <a:r>
              <a:rPr lang="en-US" altLang="ko" sz="2200" b="1">
                <a:solidFill>
                  <a:srgbClr val="C00000"/>
                </a:solidFill>
                <a:latin typeface="Consolas"/>
                <a:ea typeface="Malgun Gothic"/>
                <a:cs typeface="Consolas"/>
                <a:sym typeface="Consolas"/>
              </a:rPr>
              <a:t>ERROR</a:t>
            </a:r>
            <a:endParaRPr sz="2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2" name="text"/>
          <p:cNvSpPr txBox="1"/>
          <p:nvPr/>
        </p:nvSpPr>
        <p:spPr>
          <a:xfrm>
            <a:off x="12435840" y="20116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STOPWATCH · SENSOR · UART</a:t>
            </a:r>
            <a:endParaRPr lang="ko-KR" sz="1400" dirty="0"/>
          </a:p>
        </p:txBody>
      </p:sp>
      <p:sp>
        <p:nvSpPr>
          <p:cNvPr id="133" name="shape"/>
          <p:cNvSpPr/>
          <p:nvPr/>
        </p:nvSpPr>
        <p:spPr>
          <a:xfrm>
            <a:off x="841248" y="548640"/>
            <a:ext cx="146304" cy="14630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4" name="text"/>
          <p:cNvSpPr txBox="1"/>
          <p:nvPr/>
        </p:nvSpPr>
        <p:spPr>
          <a:xfrm>
            <a:off x="1078992" y="420624"/>
            <a:ext cx="91440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600" b="1" dirty="0">
                <a:solidFill>
                  <a:srgbClr val="404040"/>
                </a:solidFill>
                <a:latin typeface="Malgun Gothic"/>
                <a:ea typeface="Malgun Gothic"/>
                <a:cs typeface="Malgun Gothic"/>
              </a:rPr>
              <a:t>01  프로젝트 개요</a:t>
            </a:r>
            <a:endParaRPr lang="ko-KR" sz="1250" dirty="0"/>
          </a:p>
        </p:txBody>
      </p:sp>
      <p:sp>
        <p:nvSpPr>
          <p:cNvPr id="135" name="text"/>
          <p:cNvSpPr txBox="1"/>
          <p:nvPr/>
        </p:nvSpPr>
        <p:spPr>
          <a:xfrm>
            <a:off x="841248" y="786384"/>
            <a:ext cx="166420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4000" dirty="0">
                <a:solidFill>
                  <a:srgbClr val="262626"/>
                </a:solidFill>
                <a:latin typeface="Malgun Gothic Semilight"/>
                <a:ea typeface="Malgun Gothic Semilight"/>
                <a:cs typeface="Malgun Gothic Semilight"/>
              </a:rPr>
              <a:t>UART 명령어 및 기능</a:t>
            </a:r>
            <a:endParaRPr lang="ko-KR" sz="3000" dirty="0"/>
          </a:p>
        </p:txBody>
      </p:sp>
      <p:sp>
        <p:nvSpPr>
          <p:cNvPr id="136" name="chip"/>
          <p:cNvSpPr/>
          <p:nvPr/>
        </p:nvSpPr>
        <p:spPr>
          <a:xfrm>
            <a:off x="841248" y="1700784"/>
            <a:ext cx="1097280" cy="475488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  <a:endParaRPr lang="ko-KR" sz="1400" dirty="0"/>
          </a:p>
        </p:txBody>
      </p:sp>
      <p:sp>
        <p:nvSpPr>
          <p:cNvPr id="137" name="text"/>
          <p:cNvSpPr txBox="1"/>
          <p:nvPr/>
        </p:nvSpPr>
        <p:spPr>
          <a:xfrm>
            <a:off x="2103120" y="1645920"/>
            <a:ext cx="15453359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2400" b="1" dirty="0">
                <a:solidFill>
                  <a:srgbClr val="262626"/>
                </a:solidFill>
                <a:latin typeface="Malgun Gothic"/>
                <a:ea typeface="Malgun Gothic"/>
                <a:cs typeface="Malgun Gothic"/>
              </a:rPr>
              <a:t>명령 6 종 (/mod · /get · /btn · /auto · /set · /off) — PC 터미널로 화면 · 버튼 · 데이터 전송 제어</a:t>
            </a:r>
            <a:endParaRPr lang="ko-KR" sz="1900" dirty="0"/>
          </a:p>
        </p:txBody>
      </p:sp>
      <p:sp>
        <p:nvSpPr>
          <p:cNvPr id="138" name="text"/>
          <p:cNvSpPr txBox="1"/>
          <p:nvPr/>
        </p:nvSpPr>
        <p:spPr>
          <a:xfrm>
            <a:off x="16642080" y="9710928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buNone/>
            </a:pPr>
            <a:r>
              <a:rPr lang="ko-KR" altLang="en-US" sz="1400" dirty="0">
                <a:solidFill>
                  <a:srgbClr val="8C8C8C"/>
                </a:solidFill>
                <a:latin typeface="Malgun Gothic"/>
                <a:ea typeface="Malgun Gothic"/>
                <a:cs typeface="Malgun Gothic"/>
              </a:rPr>
              <a:t>05</a:t>
            </a:r>
            <a:endParaRPr lang="ko-KR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</TotalTime>
  <Words>1373</Words>
  <Application>Microsoft Office PowerPoint</Application>
  <PresentationFormat>사용자 지정</PresentationFormat>
  <Paragraphs>282</Paragraphs>
  <Slides>5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3" baseType="lpstr">
      <vt:lpstr>맑은 고딕</vt:lpstr>
      <vt:lpstr>맑은 고딕</vt:lpstr>
      <vt:lpstr>Malgun Gothic Semilight</vt:lpstr>
      <vt:lpstr>Arial</vt:lpstr>
      <vt:lpstr>Calibri</vt:lpstr>
      <vt:lpstr>Consolas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kccistc</dc:creator>
  <cp:lastModifiedBy>안성 정</cp:lastModifiedBy>
  <cp:revision>10</cp:revision>
  <dcterms:created xsi:type="dcterms:W3CDTF">2006-08-16T00:00:00Z</dcterms:created>
  <dcterms:modified xsi:type="dcterms:W3CDTF">2026-10-31T14:43:42Z</dcterms:modified>
</cp:coreProperties>
</file>