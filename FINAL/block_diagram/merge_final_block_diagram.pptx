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65" r:id="rId11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5" autoAdjust="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2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Top 블록 다이어그램 — UART 명령에서 FND · LED · TX 까지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명령은 RX → 디코더 → 컨트롤러에서 갈라짐 · 모드 비트 / 버튼 / 전송 요청으로 각 모듈 · 화면 · TX 까지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EB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3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5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E6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7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18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19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4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6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7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7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48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5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6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2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3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5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7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68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1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2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4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5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6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78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79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0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2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3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4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6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7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89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0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193292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165860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3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5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6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7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98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99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3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4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5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6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7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08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0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1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19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1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2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7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1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6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7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라벨"/>
          <p:cNvSpPr txBox="1"/>
          <p:nvPr/>
        </p:nvSpPr>
        <p:spPr>
          <a:xfrm>
            <a:off x="1110996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1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E6F4F3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3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4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5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distance 3</a:t>
            </a:r>
          </a:p>
        </p:txBody>
      </p:sp>
      <p:sp>
        <p:nvSpPr>
          <p:cNvPr id="146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hum·temp 4</a:t>
            </a:r>
          </a:p>
        </p:txBody>
      </p:sp>
      <p:cxnSp>
        <p:nvCxnSpPr>
          <p:cNvPr id="147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2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5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1" name="범례"/>
          <p:cNvSpPr/>
          <p:nvPr/>
        </p:nvSpPr>
        <p:spPr>
          <a:xfrm>
            <a:off x="841248" y="8796528"/>
            <a:ext cx="310896" cy="219456"/>
          </a:xfrm>
          <a:prstGeom prst="roundRect">
            <a:avLst>
              <a:gd name="adj" fmla="val 12000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라벨"/>
          <p:cNvSpPr txBox="1"/>
          <p:nvPr/>
        </p:nvSpPr>
        <p:spPr>
          <a:xfrm>
            <a:off x="1225296" y="874166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WTS</a:t>
            </a:r>
          </a:p>
        </p:txBody>
      </p:sp>
      <p:sp>
        <p:nvSpPr>
          <p:cNvPr id="163" name="범례"/>
          <p:cNvSpPr/>
          <p:nvPr/>
        </p:nvSpPr>
        <p:spPr>
          <a:xfrm>
            <a:off x="2084832" y="8796528"/>
            <a:ext cx="310896" cy="219456"/>
          </a:xfrm>
          <a:prstGeom prst="roundRect">
            <a:avLst>
              <a:gd name="adj" fmla="val 12000"/>
            </a:avLst>
          </a:prstGeom>
          <a:solidFill>
            <a:srgbClr val="EBF4FF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라벨"/>
          <p:cNvSpPr txBox="1"/>
          <p:nvPr/>
        </p:nvSpPr>
        <p:spPr>
          <a:xfrm>
            <a:off x="2468880" y="874166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SR04 거리</a:t>
            </a:r>
          </a:p>
        </p:txBody>
      </p:sp>
      <p:sp>
        <p:nvSpPr>
          <p:cNvPr id="165" name="범례"/>
          <p:cNvSpPr/>
          <p:nvPr/>
        </p:nvSpPr>
        <p:spPr>
          <a:xfrm>
            <a:off x="3803904" y="8796528"/>
            <a:ext cx="310896" cy="219456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라벨"/>
          <p:cNvSpPr txBox="1"/>
          <p:nvPr/>
        </p:nvSpPr>
        <p:spPr>
          <a:xfrm>
            <a:off x="4187952" y="874166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DHT11 온습도</a:t>
            </a:r>
          </a:p>
        </p:txBody>
      </p:sp>
      <p:sp>
        <p:nvSpPr>
          <p:cNvPr id="167" name="범례"/>
          <p:cNvSpPr/>
          <p:nvPr/>
        </p:nvSpPr>
        <p:spPr>
          <a:xfrm>
            <a:off x="5760720" y="8796528"/>
            <a:ext cx="310896" cy="219456"/>
          </a:xfrm>
          <a:prstGeom prst="roundRect">
            <a:avLst>
              <a:gd name="adj" fmla="val 12000"/>
            </a:avLst>
          </a:prstGeom>
          <a:solidFill>
            <a:srgbClr val="E6F4F3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라벨"/>
          <p:cNvSpPr txBox="1"/>
          <p:nvPr/>
        </p:nvSpPr>
        <p:spPr>
          <a:xfrm>
            <a:off x="6144768" y="874166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UART</a:t>
            </a:r>
          </a:p>
        </p:txBody>
      </p:sp>
      <p:sp>
        <p:nvSpPr>
          <p:cNvPr id="169" name="범례"/>
          <p:cNvSpPr/>
          <p:nvPr/>
        </p:nvSpPr>
        <p:spPr>
          <a:xfrm>
            <a:off x="7123176" y="8796528"/>
            <a:ext cx="310896" cy="21945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라벨"/>
          <p:cNvSpPr txBox="1"/>
          <p:nvPr/>
        </p:nvSpPr>
        <p:spPr>
          <a:xfrm>
            <a:off x="7507224" y="874166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· LED</a:t>
            </a:r>
          </a:p>
        </p:txBody>
      </p:sp>
      <p:sp>
        <p:nvSpPr>
          <p:cNvPr id="171" name="범례 AND"/>
          <p:cNvSpPr/>
          <p:nvPr/>
        </p:nvSpPr>
        <p:spPr>
          <a:xfrm>
            <a:off x="9262872" y="8732520"/>
            <a:ext cx="365760" cy="347472"/>
          </a:xfrm>
          <a:prstGeom prst="flowChartDelay">
            <a:avLst/>
          </a:prstGeom>
          <a:solidFill>
            <a:srgbClr val="FFFFFF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9720072" y="874166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AND · ≥1 = OR 게이트</a:t>
            </a:r>
          </a:p>
        </p:txBody>
      </p:sp>
      <p:cxnSp>
        <p:nvCxnSpPr>
          <p:cNvPr id="173" name="선"/>
          <p:cNvCxnSpPr/>
          <p:nvPr/>
        </p:nvCxnSpPr>
        <p:spPr>
          <a:xfrm>
            <a:off x="12234672" y="8906256"/>
            <a:ext cx="548640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라벨"/>
          <p:cNvSpPr txBox="1"/>
          <p:nvPr/>
        </p:nvSpPr>
        <p:spPr>
          <a:xfrm>
            <a:off x="12874752" y="87416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 kHz 클럭</a:t>
            </a:r>
          </a:p>
        </p:txBody>
      </p:sp>
      <p:sp>
        <p:nvSpPr>
          <p:cNvPr id="175" name="범례 태그"/>
          <p:cNvSpPr/>
          <p:nvPr/>
        </p:nvSpPr>
        <p:spPr>
          <a:xfrm>
            <a:off x="14292072" y="8759952"/>
            <a:ext cx="502920" cy="274320"/>
          </a:xfrm>
          <a:prstGeom prst="homePlate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라벨"/>
          <p:cNvSpPr txBox="1"/>
          <p:nvPr/>
        </p:nvSpPr>
        <p:spPr>
          <a:xfrm>
            <a:off x="14886432" y="8741664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태그 = 보드 핀 · 같은 이름의 신호</a:t>
            </a:r>
          </a:p>
        </p:txBody>
      </p:sp>
      <p:sp>
        <p:nvSpPr>
          <p:cNvPr id="177" name="라벨"/>
          <p:cNvSpPr txBox="1"/>
          <p:nvPr/>
        </p:nvSpPr>
        <p:spPr>
          <a:xfrm>
            <a:off x="841248" y="9189720"/>
            <a:ext cx="1554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명령 형식 : /&lt;명령&gt; &lt;옵션&gt;  ·  /mod  /btn  /get  /auto  /set  /off  →  다음 장부터 명령별 흐름 (켜진 경로만 색, 나머지 회색)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/mod 흐름 — 화면 · 버튼 대상 바꾸기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첫 /mod 부터 스위치 대신 UART 비트가 모드 결정 · [6:5] 로 버튼 대상과 FND · LED 화면이 같이 바뀜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3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5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E6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7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18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19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4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6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7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7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48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5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6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2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3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5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7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68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E6F4F3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1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2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4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5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6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78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79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0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2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3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4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6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7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E6F4F3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89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0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193292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165860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3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5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6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7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98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99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3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4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5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6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7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08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0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1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19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1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2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7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1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6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7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라벨"/>
          <p:cNvSpPr txBox="1"/>
          <p:nvPr/>
        </p:nvSpPr>
        <p:spPr>
          <a:xfrm>
            <a:off x="1110996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1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3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4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5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 3</a:t>
            </a:r>
          </a:p>
        </p:txBody>
      </p:sp>
      <p:sp>
        <p:nvSpPr>
          <p:cNvPr id="146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hum·temp 4</a:t>
            </a:r>
          </a:p>
        </p:txBody>
      </p:sp>
      <p:cxnSp>
        <p:nvCxnSpPr>
          <p:cNvPr id="147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2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5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1" name="라벨"/>
          <p:cNvSpPr txBox="1"/>
          <p:nvPr/>
        </p:nvSpPr>
        <p:spPr>
          <a:xfrm>
            <a:off x="411480" y="4828032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/mod 후 무시</a:t>
            </a:r>
          </a:p>
        </p:txBody>
      </p:sp>
      <p:sp>
        <p:nvSpPr>
          <p:cNvPr id="162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3" name="단계 2"/>
          <p:cNvSpPr/>
          <p:nvPr/>
        </p:nvSpPr>
        <p:spPr>
          <a:xfrm>
            <a:off x="6400800" y="781812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4" name="단계 3"/>
          <p:cNvSpPr/>
          <p:nvPr/>
        </p:nvSpPr>
        <p:spPr>
          <a:xfrm>
            <a:off x="1188720" y="553212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5" name="단계 4"/>
          <p:cNvSpPr/>
          <p:nvPr/>
        </p:nvSpPr>
        <p:spPr>
          <a:xfrm>
            <a:off x="3200400" y="4279392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6" name="단계 5"/>
          <p:cNvSpPr/>
          <p:nvPr/>
        </p:nvSpPr>
        <p:spPr>
          <a:xfrm>
            <a:off x="8321040" y="324612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7" name="단계 6"/>
          <p:cNvSpPr/>
          <p:nvPr/>
        </p:nvSpPr>
        <p:spPr>
          <a:xfrm>
            <a:off x="12984480" y="237744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8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9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rx → uart_rx → FIFO → 디코더 : "/mod " + 4 글자</a:t>
            </a:r>
          </a:p>
        </p:txBody>
      </p:sp>
      <p:sp>
        <p:nvSpPr>
          <p:cNvPr id="170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1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 : w_hm · s_ms · t_hm · dist · temp → 7 비트</a:t>
            </a:r>
          </a:p>
        </p:txBody>
      </p:sp>
      <p:sp>
        <p:nvSpPr>
          <p:cNvPr id="172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3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uart_mode = 1 (리셋 전까지) → MUX 가 UART 값 사용</a:t>
            </a:r>
          </a:p>
        </p:txBody>
      </p:sp>
      <p:sp>
        <p:nvSpPr>
          <p:cNvPr id="174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5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모드 디코드 [6:5] → mode_wts · dist · dht 버튼 대상</a:t>
            </a:r>
          </a:p>
        </p:txBody>
      </p:sp>
      <p:sp>
        <p:nvSpPr>
          <p:cNvPr id="176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7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ctrl_bit[4:0] → WTS 스위치 기능 (bit3 12/24 는 유지)</a:t>
            </a:r>
          </a:p>
        </p:txBody>
      </p:sp>
      <p:sp>
        <p:nvSpPr>
          <p:cNvPr id="178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79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disp_sel → FND MUX · LED 가 그 화면 값 선택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/btn 흐름 ① WTS 화면 — /btn R · L · U · D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UART 버튼은 물리 버튼과 OR → mode_wts AND 만 통과 · 같은 clk 에 겹치면 물리 버튼 먼저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3" name="라벨"/>
          <p:cNvSpPr txBox="1"/>
          <p:nvPr/>
        </p:nvSpPr>
        <p:spPr>
          <a:xfrm>
            <a:off x="6245351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(mode = 0) · 진행 중 동작은 계속</a:t>
            </a:r>
          </a:p>
        </p:txBody>
      </p:sp>
      <p:sp>
        <p:nvSpPr>
          <p:cNvPr id="14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6" name="라벨"/>
          <p:cNvSpPr txBox="1"/>
          <p:nvPr/>
        </p:nvSpPr>
        <p:spPr>
          <a:xfrm>
            <a:off x="6245351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(mode = 0) · 진행 중 동작은 계속</a:t>
            </a:r>
          </a:p>
        </p:txBody>
      </p:sp>
      <p:sp>
        <p:nvSpPr>
          <p:cNvPr id="17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9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20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3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6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8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2F855A"/>
          </a:solidFill>
          <a:ln w="222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9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2F855A"/>
          </a:solidFill>
          <a:ln w="222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9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2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7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60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2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4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5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7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9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70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3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4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6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7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8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80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81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2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4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5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6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8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9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3" name="라벨"/>
          <p:cNvSpPr txBox="1"/>
          <p:nvPr/>
        </p:nvSpPr>
        <p:spPr>
          <a:xfrm>
            <a:off x="1193292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4" name="라벨"/>
          <p:cNvSpPr txBox="1"/>
          <p:nvPr/>
        </p:nvSpPr>
        <p:spPr>
          <a:xfrm>
            <a:off x="1165860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5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7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8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9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100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3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5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6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7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8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9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10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2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9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21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3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4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9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3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8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9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라벨"/>
          <p:cNvSpPr txBox="1"/>
          <p:nvPr/>
        </p:nvSpPr>
        <p:spPr>
          <a:xfrm>
            <a:off x="1110996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3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5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6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7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 3</a:t>
            </a:r>
          </a:p>
        </p:txBody>
      </p:sp>
      <p:sp>
        <p:nvSpPr>
          <p:cNvPr id="148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hum·temp 4</a:t>
            </a:r>
          </a:p>
        </p:txBody>
      </p:sp>
      <p:cxnSp>
        <p:nvCxnSpPr>
          <p:cNvPr id="149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4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61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3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4" name="단계 2"/>
          <p:cNvSpPr/>
          <p:nvPr/>
        </p:nvSpPr>
        <p:spPr>
          <a:xfrm>
            <a:off x="7589520" y="5596128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5" name="단계 3"/>
          <p:cNvSpPr/>
          <p:nvPr/>
        </p:nvSpPr>
        <p:spPr>
          <a:xfrm>
            <a:off x="3703320" y="2697480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6" name="단계 4"/>
          <p:cNvSpPr/>
          <p:nvPr/>
        </p:nvSpPr>
        <p:spPr>
          <a:xfrm>
            <a:off x="4983480" y="2450592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7" name="단계 5"/>
          <p:cNvSpPr/>
          <p:nvPr/>
        </p:nvSpPr>
        <p:spPr>
          <a:xfrm>
            <a:off x="8321040" y="2697480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8" name="단계 6"/>
          <p:cNvSpPr/>
          <p:nvPr/>
        </p:nvSpPr>
        <p:spPr>
          <a:xfrm>
            <a:off x="12984480" y="2377440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9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0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 : "/btn " + 1 글자 (R · L · U · D)</a:t>
            </a:r>
          </a:p>
        </p:txBody>
      </p:sp>
      <p:sp>
        <p:nvSpPr>
          <p:cNvPr id="171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 : uart_btn 1 clk 펄스 (물리 버튼 clk 엔 대기)</a:t>
            </a:r>
          </a:p>
        </p:txBody>
      </p:sp>
      <p:sp>
        <p:nvSpPr>
          <p:cNvPr id="173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4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OR : 물리 btn | uart_btn → 같은 버튼 tick</a:t>
            </a:r>
          </a:p>
        </p:txBody>
      </p:sp>
      <p:sp>
        <p:nvSpPr>
          <p:cNvPr id="175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6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AND : mode_wts = 1 → WTS 만 통과 (거리 · 온습도 차단)</a:t>
            </a:r>
          </a:p>
        </p:txBody>
      </p:sp>
      <p:sp>
        <p:nvSpPr>
          <p:cNvPr id="177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8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wts_top : 스톱워치 R 시작 · 시계 커서 · 타이머 +1분</a:t>
            </a:r>
          </a:p>
        </p:txBody>
      </p:sp>
      <p:sp>
        <p:nvSpPr>
          <p:cNvPr id="179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80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MUX 0 번 (WTS) → FND 표시 · 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/btn 흐름 ② 거리 화면 — /btn R 측정 · /btn U 자동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/mod dist 상태에서 R · U 만 SR04 로 · trig 펄스 → echo 폭 측정 → 0.1 cm 표시 · 막대 LED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라벨"/>
          <p:cNvSpPr txBox="1"/>
          <p:nvPr/>
        </p:nvSpPr>
        <p:spPr>
          <a:xfrm>
            <a:off x="6245351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(mode = 0) · 진행 중 동작은 계속</a:t>
            </a:r>
          </a:p>
        </p:txBody>
      </p:sp>
      <p:sp>
        <p:nvSpPr>
          <p:cNvPr id="12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EB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4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6" name="라벨"/>
          <p:cNvSpPr txBox="1"/>
          <p:nvPr/>
        </p:nvSpPr>
        <p:spPr>
          <a:xfrm>
            <a:off x="6245351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(mode = 0) · 진행 중 동작은 계속</a:t>
            </a:r>
          </a:p>
        </p:txBody>
      </p:sp>
      <p:sp>
        <p:nvSpPr>
          <p:cNvPr id="17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EB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9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20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3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6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8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2B6CB0"/>
          </a:solidFill>
          <a:ln w="2222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9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3175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3175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9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2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2B6CB0"/>
          </a:solidFill>
          <a:ln w="2222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7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60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2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4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5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7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9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70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3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4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6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7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8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80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81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2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4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5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6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8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9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EBF4FF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3" name="라벨"/>
          <p:cNvSpPr txBox="1"/>
          <p:nvPr/>
        </p:nvSpPr>
        <p:spPr>
          <a:xfrm>
            <a:off x="1193292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4" name="라벨"/>
          <p:cNvSpPr txBox="1"/>
          <p:nvPr/>
        </p:nvSpPr>
        <p:spPr>
          <a:xfrm>
            <a:off x="1165860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5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7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8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9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100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3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5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6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7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8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9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10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2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9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21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3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4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9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3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3175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3175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3175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8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9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라벨"/>
          <p:cNvSpPr txBox="1"/>
          <p:nvPr/>
        </p:nvSpPr>
        <p:spPr>
          <a:xfrm>
            <a:off x="1110996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3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5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6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7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 3</a:t>
            </a:r>
          </a:p>
        </p:txBody>
      </p:sp>
      <p:sp>
        <p:nvSpPr>
          <p:cNvPr id="148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hum·temp 4</a:t>
            </a:r>
          </a:p>
        </p:txBody>
      </p:sp>
      <p:cxnSp>
        <p:nvCxnSpPr>
          <p:cNvPr id="149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4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61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3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4" name="단계 2"/>
          <p:cNvSpPr/>
          <p:nvPr/>
        </p:nvSpPr>
        <p:spPr>
          <a:xfrm>
            <a:off x="7589520" y="5596128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5" name="단계 3"/>
          <p:cNvSpPr/>
          <p:nvPr/>
        </p:nvSpPr>
        <p:spPr>
          <a:xfrm>
            <a:off x="3703320" y="2697480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6" name="단계 4"/>
          <p:cNvSpPr/>
          <p:nvPr/>
        </p:nvSpPr>
        <p:spPr>
          <a:xfrm>
            <a:off x="4983480" y="3593592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7" name="단계 5"/>
          <p:cNvSpPr/>
          <p:nvPr/>
        </p:nvSpPr>
        <p:spPr>
          <a:xfrm>
            <a:off x="8321040" y="3840480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8" name="단계 6"/>
          <p:cNvSpPr/>
          <p:nvPr/>
        </p:nvSpPr>
        <p:spPr>
          <a:xfrm>
            <a:off x="12984480" y="2377440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9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0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 : "/btn R" 또는 "/btn U"</a:t>
            </a:r>
          </a:p>
        </p:txBody>
      </p:sp>
      <p:sp>
        <p:nvSpPr>
          <p:cNvPr id="171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 : uart_btn 1 clk 펄스 (물리 버튼 clk 엔 대기)</a:t>
            </a:r>
          </a:p>
        </p:txBody>
      </p:sp>
      <p:sp>
        <p:nvSpPr>
          <p:cNvPr id="173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4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OR : 물리 btn | uart_btn → 같은 버튼 tick</a:t>
            </a:r>
          </a:p>
        </p:txBody>
      </p:sp>
      <p:sp>
        <p:nvSpPr>
          <p:cNvPr id="175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6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AND : mode_dist = 1 → SR04 만 통과</a:t>
            </a:r>
          </a:p>
        </p:txBody>
      </p:sp>
      <p:sp>
        <p:nvSpPr>
          <p:cNvPr id="177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8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sr04_top : R 1 회 측정 · U 자동 측정 (60 ms) 켜기/끄기</a:t>
            </a:r>
          </a:p>
        </p:txBody>
      </p:sp>
      <p:sp>
        <p:nvSpPr>
          <p:cNvPr id="179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80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MUX 1 번 → "352.7" / Err1~3 · LED 거리 막대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/btn 흐름 ③ 온습도 화면 — /btn R 측정 · /btn U 자동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/mod temp 상태에서 R · U 만 DHT11 로 · 단선 dht11_io 로 40 비트 수신 → 습도.온도 표시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라벨"/>
          <p:cNvSpPr txBox="1"/>
          <p:nvPr/>
        </p:nvSpPr>
        <p:spPr>
          <a:xfrm>
            <a:off x="6245351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(mode = 0) · 진행 중 동작은 계속</a:t>
            </a:r>
          </a:p>
        </p:txBody>
      </p:sp>
      <p:sp>
        <p:nvSpPr>
          <p:cNvPr id="12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4" name="라벨"/>
          <p:cNvSpPr txBox="1"/>
          <p:nvPr/>
        </p:nvSpPr>
        <p:spPr>
          <a:xfrm>
            <a:off x="6245351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(mode = 0) · 진행 중 동작은 계속</a:t>
            </a:r>
          </a:p>
        </p:txBody>
      </p:sp>
      <p:sp>
        <p:nvSpPr>
          <p:cNvPr id="15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7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9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20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3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6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8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C05621"/>
          </a:solidFill>
          <a:ln w="2222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9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31750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31750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9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2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7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60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2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C05621"/>
          </a:solidFill>
          <a:ln w="2222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4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5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7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9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70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3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4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6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7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8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80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81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2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4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5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6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8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9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FDF0E6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3" name="라벨"/>
          <p:cNvSpPr txBox="1"/>
          <p:nvPr/>
        </p:nvSpPr>
        <p:spPr>
          <a:xfrm>
            <a:off x="1193292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4" name="라벨"/>
          <p:cNvSpPr txBox="1"/>
          <p:nvPr/>
        </p:nvSpPr>
        <p:spPr>
          <a:xfrm>
            <a:off x="1165860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5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7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8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9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100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3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5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6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7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8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9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10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2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9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21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3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4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9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3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31750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31750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31750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8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9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라벨"/>
          <p:cNvSpPr txBox="1"/>
          <p:nvPr/>
        </p:nvSpPr>
        <p:spPr>
          <a:xfrm>
            <a:off x="1110996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3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5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6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7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 3</a:t>
            </a:r>
          </a:p>
        </p:txBody>
      </p:sp>
      <p:sp>
        <p:nvSpPr>
          <p:cNvPr id="148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hum·temp 4</a:t>
            </a:r>
          </a:p>
        </p:txBody>
      </p:sp>
      <p:cxnSp>
        <p:nvCxnSpPr>
          <p:cNvPr id="149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4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61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3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4" name="단계 2"/>
          <p:cNvSpPr/>
          <p:nvPr/>
        </p:nvSpPr>
        <p:spPr>
          <a:xfrm>
            <a:off x="7589520" y="5596128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5" name="단계 3"/>
          <p:cNvSpPr/>
          <p:nvPr/>
        </p:nvSpPr>
        <p:spPr>
          <a:xfrm>
            <a:off x="3703320" y="2697480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6" name="단계 4"/>
          <p:cNvSpPr/>
          <p:nvPr/>
        </p:nvSpPr>
        <p:spPr>
          <a:xfrm>
            <a:off x="4983480" y="4736592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7" name="단계 5"/>
          <p:cNvSpPr/>
          <p:nvPr/>
        </p:nvSpPr>
        <p:spPr>
          <a:xfrm>
            <a:off x="8321040" y="4983480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8" name="단계 6"/>
          <p:cNvSpPr/>
          <p:nvPr/>
        </p:nvSpPr>
        <p:spPr>
          <a:xfrm>
            <a:off x="12984480" y="2377440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9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0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 : "/btn R" 또는 "/btn U"</a:t>
            </a:r>
          </a:p>
        </p:txBody>
      </p:sp>
      <p:sp>
        <p:nvSpPr>
          <p:cNvPr id="171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 : uart_btn 1 clk 펄스 (물리 버튼 clk 엔 대기)</a:t>
            </a:r>
          </a:p>
        </p:txBody>
      </p:sp>
      <p:sp>
        <p:nvSpPr>
          <p:cNvPr id="173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4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OR : 물리 btn | uart_btn → 같은 버튼 tick</a:t>
            </a:r>
          </a:p>
        </p:txBody>
      </p:sp>
      <p:sp>
        <p:nvSpPr>
          <p:cNvPr id="175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6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AND : mode_dht = 1 → DHT11 만 통과</a:t>
            </a:r>
          </a:p>
        </p:txBody>
      </p:sp>
      <p:sp>
        <p:nvSpPr>
          <p:cNvPr id="177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8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dht11_top : R 1 회 측정 · U 자동 측정 (2 s) 켜기/끄기</a:t>
            </a:r>
          </a:p>
        </p:txBody>
      </p:sp>
      <p:sp>
        <p:nvSpPr>
          <p:cNvPr id="179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80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MUX 2 번 → "55.24" / ---- / Err · LED 상태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/get 흐름 — 지금 화면 값 1 회 전송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컨트롤러가 현재 모드로 send_sel 을 정하고 send_go 1 펄스 · sender 가 그 순간 값을 ASCII 한 줄로 TX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3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5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E6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7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18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19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4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6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7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7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48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5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6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2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3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5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7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68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1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2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4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5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6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78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79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0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2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3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4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6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7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89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0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193292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165860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3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5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6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7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98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99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3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4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5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6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7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08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0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1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19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1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2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7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1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6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7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라벨"/>
          <p:cNvSpPr txBox="1"/>
          <p:nvPr/>
        </p:nvSpPr>
        <p:spPr>
          <a:xfrm>
            <a:off x="1110996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1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E6F4F3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3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4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5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distance 3</a:t>
            </a:r>
          </a:p>
        </p:txBody>
      </p:sp>
      <p:sp>
        <p:nvSpPr>
          <p:cNvPr id="146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hum·temp 4</a:t>
            </a:r>
          </a:p>
        </p:txBody>
      </p:sp>
      <p:cxnSp>
        <p:nvCxnSpPr>
          <p:cNvPr id="147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2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5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1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2" name="단계 2"/>
          <p:cNvSpPr/>
          <p:nvPr/>
        </p:nvSpPr>
        <p:spPr>
          <a:xfrm>
            <a:off x="8503920" y="822960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3" name="단계 3"/>
          <p:cNvSpPr/>
          <p:nvPr/>
        </p:nvSpPr>
        <p:spPr>
          <a:xfrm>
            <a:off x="10698480" y="777240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4" name="단계 4"/>
          <p:cNvSpPr/>
          <p:nvPr/>
        </p:nvSpPr>
        <p:spPr>
          <a:xfrm>
            <a:off x="12938760" y="640080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5" name="단계 5"/>
          <p:cNvSpPr/>
          <p:nvPr/>
        </p:nvSpPr>
        <p:spPr>
          <a:xfrm>
            <a:off x="13533120" y="7882127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6" name="단계 6"/>
          <p:cNvSpPr/>
          <p:nvPr/>
        </p:nvSpPr>
        <p:spPr>
          <a:xfrm>
            <a:off x="16733520" y="690372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7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8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 : "/get " + Enter</a:t>
            </a:r>
          </a:p>
        </p:txBody>
      </p:sp>
      <p:sp>
        <p:nvSpPr>
          <p:cNvPr id="169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0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 : /mod 모드 → send_sel (온습도 4 · 거리 3 · …)</a:t>
            </a:r>
          </a:p>
        </p:txBody>
      </p:sp>
      <p:sp>
        <p:nvSpPr>
          <p:cNvPr id="171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전송 MUX : *_time · distance · hum·temp 중 선택</a:t>
            </a:r>
          </a:p>
        </p:txBody>
      </p:sp>
      <p:sp>
        <p:nvSpPr>
          <p:cNvPr id="173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4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send_go 1 펄스 → sender 가 그 순간 값 캡처</a:t>
            </a:r>
          </a:p>
        </p:txBody>
      </p:sp>
      <p:sp>
        <p:nvSpPr>
          <p:cNvPr id="175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6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sender_char_mux : "14:05:09.12" · "045cm" · "55%24C"</a:t>
            </a:r>
          </a:p>
        </p:txBody>
      </p:sp>
      <p:sp>
        <p:nvSpPr>
          <p:cNvPr id="177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78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FIFO_TX → uart_tx → tx · /auto 중엔 /get 무시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/auto 흐름 — 1 초마다 자동 전송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컨트롤러가 AUTO 상태로 1 Hz tick 을 켬 · 매 tick 마다 정해진 (all 이면 0→4 순환) 데이터를 한 줄씩 TX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3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5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E6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7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18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19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4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6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7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7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48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5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6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2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3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5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7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68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1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2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4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5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6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78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79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0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2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3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4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6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7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89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0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193292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165860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3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5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6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7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98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99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3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4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5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6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7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08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0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1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19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1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2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7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1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6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7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라벨"/>
          <p:cNvSpPr txBox="1"/>
          <p:nvPr/>
        </p:nvSpPr>
        <p:spPr>
          <a:xfrm>
            <a:off x="1110996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1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E6F4F3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3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4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5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distance 3</a:t>
            </a:r>
          </a:p>
        </p:txBody>
      </p:sp>
      <p:sp>
        <p:nvSpPr>
          <p:cNvPr id="146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hum·temp 4</a:t>
            </a:r>
          </a:p>
        </p:txBody>
      </p:sp>
      <p:cxnSp>
        <p:nvCxnSpPr>
          <p:cNvPr id="147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2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5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1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2" name="단계 2"/>
          <p:cNvSpPr/>
          <p:nvPr/>
        </p:nvSpPr>
        <p:spPr>
          <a:xfrm>
            <a:off x="6400800" y="781812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3" name="단계 3"/>
          <p:cNvSpPr/>
          <p:nvPr/>
        </p:nvSpPr>
        <p:spPr>
          <a:xfrm>
            <a:off x="9646920" y="7607808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4" name="단계 4"/>
          <p:cNvSpPr/>
          <p:nvPr/>
        </p:nvSpPr>
        <p:spPr>
          <a:xfrm>
            <a:off x="10698480" y="777240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5" name="단계 5"/>
          <p:cNvSpPr/>
          <p:nvPr/>
        </p:nvSpPr>
        <p:spPr>
          <a:xfrm>
            <a:off x="13533120" y="7882127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6" name="단계 6"/>
          <p:cNvSpPr/>
          <p:nvPr/>
        </p:nvSpPr>
        <p:spPr>
          <a:xfrm>
            <a:off x="16733520" y="690372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7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8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 : "/auto " + 3 글자 (_sw _tm _wh dis tem all off)</a:t>
            </a:r>
          </a:p>
        </p:txBody>
      </p:sp>
      <p:sp>
        <p:nvSpPr>
          <p:cNvPr id="169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0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 : AUTO 상태 · sender_tick 켜기</a:t>
            </a:r>
          </a:p>
        </p:txBody>
      </p:sp>
      <p:sp>
        <p:nvSpPr>
          <p:cNvPr id="171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 Hz 마다 send_sel · all = 0→1→2→3→4 순환</a:t>
            </a:r>
          </a:p>
        </p:txBody>
      </p:sp>
      <p:sp>
        <p:nvSpPr>
          <p:cNvPr id="173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4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전송 MUX → sender (busy 면 저장 후 바로 이어서)</a:t>
            </a:r>
          </a:p>
        </p:txBody>
      </p:sp>
      <p:sp>
        <p:nvSpPr>
          <p:cNvPr id="175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6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FIFO_TX → uart_tx → tx 한 줄씩</a:t>
            </a:r>
          </a:p>
        </p:txBody>
      </p:sp>
      <p:sp>
        <p:nvSpPr>
          <p:cNvPr id="177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78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/auto off → 멈춤 · FND 화면은 그대로 (/mod 와 별개)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/set · /off 흐름 — 시계 시간 설정 · 12 / 24 시간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/set 은 모드 비트 bit2 (set_sw2) · bit3 (hour24_sw3) 만 바꿈 · 값 변경은 /btn 으로 · /mod 받은 뒤에만 동작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3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5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7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18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19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4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6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7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7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48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5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6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2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3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5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7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68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1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2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4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5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6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78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79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0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2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3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4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6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7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89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0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193292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165860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3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5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6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7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98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99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3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4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5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6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7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08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0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1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19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1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2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7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1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6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7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라벨"/>
          <p:cNvSpPr txBox="1"/>
          <p:nvPr/>
        </p:nvSpPr>
        <p:spPr>
          <a:xfrm>
            <a:off x="1110996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1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3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4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5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 3</a:t>
            </a:r>
          </a:p>
        </p:txBody>
      </p:sp>
      <p:sp>
        <p:nvSpPr>
          <p:cNvPr id="146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hum·temp 4</a:t>
            </a:r>
          </a:p>
        </p:txBody>
      </p:sp>
      <p:cxnSp>
        <p:nvCxnSpPr>
          <p:cNvPr id="147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2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5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1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2" name="단계 2"/>
          <p:cNvSpPr/>
          <p:nvPr/>
        </p:nvSpPr>
        <p:spPr>
          <a:xfrm>
            <a:off x="6400800" y="7818120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3" name="단계 3"/>
          <p:cNvSpPr/>
          <p:nvPr/>
        </p:nvSpPr>
        <p:spPr>
          <a:xfrm>
            <a:off x="1188720" y="5532120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4" name="단계 4"/>
          <p:cNvSpPr/>
          <p:nvPr/>
        </p:nvSpPr>
        <p:spPr>
          <a:xfrm>
            <a:off x="8321040" y="3246120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5" name="단계 5"/>
          <p:cNvSpPr/>
          <p:nvPr/>
        </p:nvSpPr>
        <p:spPr>
          <a:xfrm>
            <a:off x="4983480" y="2450592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6" name="단계 6"/>
          <p:cNvSpPr/>
          <p:nvPr/>
        </p:nvSpPr>
        <p:spPr>
          <a:xfrm>
            <a:off x="12984480" y="2377440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7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8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 : "/set w_hm" · "/set 24h⏎" · "/off w_h"</a:t>
            </a:r>
          </a:p>
        </p:txBody>
      </p:sp>
      <p:sp>
        <p:nvSpPr>
          <p:cNvPr id="169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0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/set w_hm → bit2 = 1 (w_hm 화면일 때만) · /off → 0</a:t>
            </a:r>
          </a:p>
        </p:txBody>
      </p:sp>
      <p:sp>
        <p:nvSpPr>
          <p:cNvPr id="171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/set 24h · 12h → bit3 · /mod 를 바꿔도 유지</a:t>
            </a:r>
          </a:p>
        </p:txBody>
      </p:sp>
      <p:sp>
        <p:nvSpPr>
          <p:cNvPr id="173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4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ctrl_bit → wts_top 시계 설정 모드 · 12/24 변환</a:t>
            </a:r>
          </a:p>
        </p:txBody>
      </p:sp>
      <p:sp>
        <p:nvSpPr>
          <p:cNvPr id="175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6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/btn L · R 커서 · U · D ± (버튼 흐름은 /btn ① 과 같음)</a:t>
            </a:r>
          </a:p>
        </p:txBody>
      </p:sp>
      <p:sp>
        <p:nvSpPr>
          <p:cNvPr id="177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78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: 커서 자리 0.5 s 점멸 · LD15 오후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오류 흐름 — 형식이 틀리면 ERROR 응답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디코더가 틀린 글자에서 바로 버리고 o_error · 컨트롤러는 ERROR 를 get / auto 보다 먼저 보냄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3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5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53030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7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C53030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18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19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4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6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7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7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48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5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6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2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3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5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7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68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1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2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4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5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6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78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79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0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2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3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4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6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7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89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0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193292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165860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3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5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6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7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98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99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3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4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5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6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7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08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0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1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19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53030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1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2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7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1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6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7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31750">
            <a:solidFill>
              <a:srgbClr val="C5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라벨"/>
          <p:cNvSpPr txBox="1"/>
          <p:nvPr/>
        </p:nvSpPr>
        <p:spPr>
          <a:xfrm>
            <a:off x="1110996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53030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1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3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4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5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 3</a:t>
            </a:r>
          </a:p>
        </p:txBody>
      </p:sp>
      <p:sp>
        <p:nvSpPr>
          <p:cNvPr id="146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hum·temp 4</a:t>
            </a:r>
          </a:p>
        </p:txBody>
      </p:sp>
      <p:cxnSp>
        <p:nvCxnSpPr>
          <p:cNvPr id="147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31750">
            <a:solidFill>
              <a:srgbClr val="C5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31750">
            <a:solidFill>
              <a:srgbClr val="C5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53030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2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285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5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1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C530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2" name="단계 2"/>
          <p:cNvSpPr/>
          <p:nvPr/>
        </p:nvSpPr>
        <p:spPr>
          <a:xfrm>
            <a:off x="6400800" y="7818120"/>
            <a:ext cx="347472" cy="347472"/>
          </a:xfrm>
          <a:prstGeom prst="ellipse">
            <a:avLst/>
          </a:prstGeom>
          <a:solidFill>
            <a:srgbClr val="C530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3" name="단계 3"/>
          <p:cNvSpPr/>
          <p:nvPr/>
        </p:nvSpPr>
        <p:spPr>
          <a:xfrm>
            <a:off x="8503920" y="8229600"/>
            <a:ext cx="347472" cy="347472"/>
          </a:xfrm>
          <a:prstGeom prst="ellipse">
            <a:avLst/>
          </a:prstGeom>
          <a:solidFill>
            <a:srgbClr val="C530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4" name="단계 4"/>
          <p:cNvSpPr/>
          <p:nvPr/>
        </p:nvSpPr>
        <p:spPr>
          <a:xfrm>
            <a:off x="13533120" y="7882127"/>
            <a:ext cx="347472" cy="347472"/>
          </a:xfrm>
          <a:prstGeom prst="ellipse">
            <a:avLst/>
          </a:prstGeom>
          <a:solidFill>
            <a:srgbClr val="C530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5" name="단계 5"/>
          <p:cNvSpPr/>
          <p:nvPr/>
        </p:nvSpPr>
        <p:spPr>
          <a:xfrm>
            <a:off x="16733520" y="6903720"/>
            <a:ext cx="347472" cy="347472"/>
          </a:xfrm>
          <a:prstGeom prst="ellipse">
            <a:avLst/>
          </a:prstGeom>
          <a:solidFill>
            <a:srgbClr val="C530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6" name="단계 6"/>
          <p:cNvSpPr/>
          <p:nvPr/>
        </p:nvSpPr>
        <p:spPr>
          <a:xfrm>
            <a:off x="3200400" y="4279392"/>
            <a:ext cx="347472" cy="347472"/>
          </a:xfrm>
          <a:prstGeom prst="ellipse">
            <a:avLst/>
          </a:prstGeom>
          <a:solidFill>
            <a:srgbClr val="C530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7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8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 : 모르는 명령 · 공백 없음 · 빈 옵션 → 버림</a:t>
            </a:r>
          </a:p>
        </p:txBody>
      </p:sp>
      <p:sp>
        <p:nvSpPr>
          <p:cNvPr id="169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0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o_error 1 clk → 컨트롤러 err_pend 저장</a:t>
            </a:r>
          </a:p>
        </p:txBody>
      </p:sp>
      <p:sp>
        <p:nvSpPr>
          <p:cNvPr id="171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ERROR &gt; get / auto · sender busy 면 대기</a:t>
            </a:r>
          </a:p>
        </p:txBody>
      </p:sp>
      <p:sp>
        <p:nvSpPr>
          <p:cNvPr id="173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4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send_sel = 7 → sender 가 "ERROR" 글자 생성</a:t>
            </a:r>
          </a:p>
        </p:txBody>
      </p:sp>
      <p:sp>
        <p:nvSpPr>
          <p:cNvPr id="175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6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FIFO_TX → uart_tx → tx : "ERROR" CR LF</a:t>
            </a:r>
          </a:p>
        </p:txBody>
      </p:sp>
      <p:sp>
        <p:nvSpPr>
          <p:cNvPr id="177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78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모드 · 버튼 · 화면 그대로 · 다음 "/" 부터 다시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 ·  v2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v1 → v2 바뀌는 곳 — 전송 MUX 입력 2 개 · 글자 고르기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블록 · 모듈 · 포트 · 선 폭 24 비트는 그대로 · 비어 있던 윗비트에 센서 상태를 실어 PC 도 Err N · --%--C 를 받음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9" name="라벨 v2"/>
          <p:cNvSpPr txBox="1"/>
          <p:nvPr/>
        </p:nvSpPr>
        <p:spPr>
          <a:xfrm>
            <a:off x="841248" y="22402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①  </a:t>
            </a:r>
            <a:r>
              <a:rPr sz="16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전송 MUX 24 비트 — 비어 있던 윗비트에 상태를 실음</a:t>
            </a:r>
          </a:p>
        </p:txBody>
      </p:sp>
      <p:sp>
        <p:nvSpPr>
          <p:cNvPr id="10" name="라벨 v2"/>
          <p:cNvSpPr txBox="1"/>
          <p:nvPr/>
        </p:nvSpPr>
        <p:spPr>
          <a:xfrm>
            <a:off x="2148840" y="272491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11" name="라벨 v2"/>
          <p:cNvSpPr txBox="1"/>
          <p:nvPr/>
        </p:nvSpPr>
        <p:spPr>
          <a:xfrm>
            <a:off x="9061704" y="272491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2" name="라벨 v2"/>
          <p:cNvSpPr txBox="1"/>
          <p:nvPr/>
        </p:nvSpPr>
        <p:spPr>
          <a:xfrm>
            <a:off x="841248" y="2944368"/>
            <a:ext cx="11887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sel 3  거리</a:t>
            </a:r>
          </a:p>
        </p:txBody>
      </p:sp>
      <p:sp>
        <p:nvSpPr>
          <p:cNvPr id="13" name="라벨 v2"/>
          <p:cNvSpPr txBox="1"/>
          <p:nvPr/>
        </p:nvSpPr>
        <p:spPr>
          <a:xfrm>
            <a:off x="1764792" y="2944368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v1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2944368"/>
            <a:ext cx="4663440" cy="365760"/>
          </a:xfrm>
          <a:prstGeom prst="rect">
            <a:avLst/>
          </a:prstGeom>
          <a:solidFill>
            <a:srgbClr val="F1F3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15'd0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2944368"/>
            <a:ext cx="2798064" cy="365760"/>
          </a:xfrm>
          <a:prstGeom prst="rect">
            <a:avLst/>
          </a:prstGeom>
          <a:solidFill>
            <a:srgbClr val="EBF4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거리 cm  9</a:t>
            </a:r>
          </a:p>
        </p:txBody>
      </p:sp>
      <p:sp>
        <p:nvSpPr>
          <p:cNvPr id="16" name="라벨 v2"/>
          <p:cNvSpPr txBox="1"/>
          <p:nvPr/>
        </p:nvSpPr>
        <p:spPr>
          <a:xfrm>
            <a:off x="1764792" y="3401568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v2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40" y="3401568"/>
            <a:ext cx="4041648" cy="365760"/>
          </a:xfrm>
          <a:prstGeom prst="rect">
            <a:avLst/>
          </a:prstGeom>
          <a:solidFill>
            <a:srgbClr val="F1F3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13'd0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3401568"/>
            <a:ext cx="621792" cy="365760"/>
          </a:xfrm>
          <a:prstGeom prst="rect">
            <a:avLst/>
          </a:prstGeom>
          <a:solidFill>
            <a:srgbClr val="1E8E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3401568"/>
            <a:ext cx="2798064" cy="365760"/>
          </a:xfrm>
          <a:prstGeom prst="rect">
            <a:avLst/>
          </a:prstGeom>
          <a:solidFill>
            <a:srgbClr val="EBF4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거리 cm  9</a:t>
            </a:r>
          </a:p>
        </p:txBody>
      </p:sp>
      <p:sp>
        <p:nvSpPr>
          <p:cNvPr id="20" name="라벨 v2"/>
          <p:cNvSpPr txBox="1"/>
          <p:nvPr/>
        </p:nvSpPr>
        <p:spPr>
          <a:xfrm>
            <a:off x="841248" y="4041648"/>
            <a:ext cx="11887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sel 4  온습도</a:t>
            </a:r>
          </a:p>
        </p:txBody>
      </p:sp>
      <p:sp>
        <p:nvSpPr>
          <p:cNvPr id="21" name="라벨 v2"/>
          <p:cNvSpPr txBox="1"/>
          <p:nvPr/>
        </p:nvSpPr>
        <p:spPr>
          <a:xfrm>
            <a:off x="1764792" y="4041648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v1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8840" y="4041648"/>
            <a:ext cx="2487168" cy="365760"/>
          </a:xfrm>
          <a:prstGeom prst="rect">
            <a:avLst/>
          </a:prstGeom>
          <a:solidFill>
            <a:srgbClr val="F1F3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8'd0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8" y="4041648"/>
            <a:ext cx="2487168" cy="365760"/>
          </a:xfrm>
          <a:prstGeom prst="rect">
            <a:avLst/>
          </a:prstGeom>
          <a:solidFill>
            <a:srgbClr val="FDF0E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습도  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23176" y="4041648"/>
            <a:ext cx="2487168" cy="365760"/>
          </a:xfrm>
          <a:prstGeom prst="rect">
            <a:avLst/>
          </a:prstGeom>
          <a:solidFill>
            <a:srgbClr val="FDF0E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온도  8</a:t>
            </a:r>
          </a:p>
        </p:txBody>
      </p:sp>
      <p:sp>
        <p:nvSpPr>
          <p:cNvPr id="25" name="라벨 v2"/>
          <p:cNvSpPr txBox="1"/>
          <p:nvPr/>
        </p:nvSpPr>
        <p:spPr>
          <a:xfrm>
            <a:off x="1764792" y="4498848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v2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8840" y="4498848"/>
            <a:ext cx="1243584" cy="365760"/>
          </a:xfrm>
          <a:prstGeom prst="rect">
            <a:avLst/>
          </a:prstGeom>
          <a:solidFill>
            <a:srgbClr val="F1F3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4'd0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92424" y="4498848"/>
            <a:ext cx="310896" cy="365760"/>
          </a:xfrm>
          <a:prstGeom prst="rect">
            <a:avLst/>
          </a:prstGeom>
          <a:solidFill>
            <a:srgbClr val="1E8E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err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4498848"/>
            <a:ext cx="310896" cy="365760"/>
          </a:xfrm>
          <a:prstGeom prst="rect">
            <a:avLst/>
          </a:prstGeom>
          <a:solidFill>
            <a:srgbClr val="1E8E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14216" y="4498848"/>
            <a:ext cx="621792" cy="365760"/>
          </a:xfrm>
          <a:prstGeom prst="rect">
            <a:avLst/>
          </a:prstGeom>
          <a:solidFill>
            <a:srgbClr val="1E8E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36008" y="4498848"/>
            <a:ext cx="2487168" cy="365760"/>
          </a:xfrm>
          <a:prstGeom prst="rect">
            <a:avLst/>
          </a:prstGeom>
          <a:solidFill>
            <a:srgbClr val="FDF0E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습도  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23176" y="4498848"/>
            <a:ext cx="2487168" cy="365760"/>
          </a:xfrm>
          <a:prstGeom prst="rect">
            <a:avLst/>
          </a:prstGeom>
          <a:solidFill>
            <a:srgbClr val="FDF0E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온도  8</a:t>
            </a:r>
          </a:p>
        </p:txBody>
      </p:sp>
      <p:sp>
        <p:nvSpPr>
          <p:cNvPr id="32" name="라벨 v2"/>
          <p:cNvSpPr txBox="1"/>
          <p:nvPr/>
        </p:nvSpPr>
        <p:spPr>
          <a:xfrm>
            <a:off x="841248" y="4983480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sel 0 · 1 · 2 (시간) 와 sel 7 (ERROR) 은 그대로  ·  dsh = dashes (정상값 없음)  ·  선은 FND 가 쓰던 것을 이어 줌 (새 포트 없음)</a:t>
            </a:r>
          </a:p>
        </p:txBody>
      </p:sp>
      <p:sp>
        <p:nvSpPr>
          <p:cNvPr id="33" name="라벨 v2"/>
          <p:cNvSpPr txBox="1"/>
          <p:nvPr/>
        </p:nvSpPr>
        <p:spPr>
          <a:xfrm>
            <a:off x="841248" y="54864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②  </a:t>
            </a:r>
            <a:r>
              <a:rPr sz="16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sender_char_mux — 상태를 보고 글자 고르기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" y="5943600"/>
            <a:ext cx="8412480" cy="402336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35" name="라벨 v2"/>
          <p:cNvSpPr txBox="1"/>
          <p:nvPr/>
        </p:nvSpPr>
        <p:spPr>
          <a:xfrm>
            <a:off x="950976" y="5943600"/>
            <a:ext cx="1234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거리 줄</a:t>
            </a:r>
          </a:p>
        </p:txBody>
      </p:sp>
      <p:sp>
        <p:nvSpPr>
          <p:cNvPr id="36" name="라벨 v2"/>
          <p:cNvSpPr txBox="1"/>
          <p:nvPr/>
        </p:nvSpPr>
        <p:spPr>
          <a:xfrm>
            <a:off x="2322576" y="5943600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w_dst ≠ 00</a:t>
            </a:r>
          </a:p>
        </p:txBody>
      </p:sp>
      <p:sp>
        <p:nvSpPr>
          <p:cNvPr id="37" name="라벨 v2"/>
          <p:cNvSpPr txBox="1"/>
          <p:nvPr/>
        </p:nvSpPr>
        <p:spPr>
          <a:xfrm>
            <a:off x="4974336" y="5943600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Err 1 ~ Err 3</a:t>
            </a:r>
          </a:p>
        </p:txBody>
      </p:sp>
      <p:sp>
        <p:nvSpPr>
          <p:cNvPr id="38" name="라벨 v2"/>
          <p:cNvSpPr txBox="1"/>
          <p:nvPr/>
        </p:nvSpPr>
        <p:spPr>
          <a:xfrm>
            <a:off x="6986016" y="5943600"/>
            <a:ext cx="2240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7 글자 그대로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" y="6364224"/>
            <a:ext cx="841248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40" name="라벨 v2"/>
          <p:cNvSpPr txBox="1"/>
          <p:nvPr/>
        </p:nvSpPr>
        <p:spPr>
          <a:xfrm>
            <a:off x="950976" y="6364224"/>
            <a:ext cx="1234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온습도 줄</a:t>
            </a:r>
          </a:p>
        </p:txBody>
      </p:sp>
      <p:sp>
        <p:nvSpPr>
          <p:cNvPr id="41" name="라벨 v2"/>
          <p:cNvSpPr txBox="1"/>
          <p:nvPr/>
        </p:nvSpPr>
        <p:spPr>
          <a:xfrm>
            <a:off x="2322576" y="6364224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w_herr = 1 (실패)</a:t>
            </a:r>
          </a:p>
        </p:txBody>
      </p:sp>
      <p:sp>
        <p:nvSpPr>
          <p:cNvPr id="42" name="라벨 v2"/>
          <p:cNvSpPr txBox="1"/>
          <p:nvPr/>
        </p:nvSpPr>
        <p:spPr>
          <a:xfrm>
            <a:off x="4974336" y="63642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Err 1 ~ Err 3</a:t>
            </a:r>
          </a:p>
        </p:txBody>
      </p:sp>
      <p:sp>
        <p:nvSpPr>
          <p:cNvPr id="43" name="라벨 v2"/>
          <p:cNvSpPr txBox="1"/>
          <p:nvPr/>
        </p:nvSpPr>
        <p:spPr>
          <a:xfrm>
            <a:off x="6986016" y="6364224"/>
            <a:ext cx="2240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7 글자 (한 글자 짧음)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" y="6784848"/>
            <a:ext cx="8412480" cy="402336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45" name="라벨 v2"/>
          <p:cNvSpPr txBox="1"/>
          <p:nvPr/>
        </p:nvSpPr>
        <p:spPr>
          <a:xfrm>
            <a:off x="950976" y="6784848"/>
            <a:ext cx="1234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46" name="라벨 v2"/>
          <p:cNvSpPr txBox="1"/>
          <p:nvPr/>
        </p:nvSpPr>
        <p:spPr>
          <a:xfrm>
            <a:off x="2322576" y="6784848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w_hdash = 1 (측정 전)</a:t>
            </a:r>
          </a:p>
        </p:txBody>
      </p:sp>
      <p:sp>
        <p:nvSpPr>
          <p:cNvPr id="47" name="라벨 v2"/>
          <p:cNvSpPr txBox="1"/>
          <p:nvPr/>
        </p:nvSpPr>
        <p:spPr>
          <a:xfrm>
            <a:off x="4974336" y="6784848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--%--C</a:t>
            </a:r>
          </a:p>
        </p:txBody>
      </p:sp>
      <p:sp>
        <p:nvSpPr>
          <p:cNvPr id="48" name="라벨 v2"/>
          <p:cNvSpPr txBox="1"/>
          <p:nvPr/>
        </p:nvSpPr>
        <p:spPr>
          <a:xfrm>
            <a:off x="6986016" y="6784848"/>
            <a:ext cx="2240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8 글자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" y="7205472"/>
            <a:ext cx="841248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50" name="라벨 v2"/>
          <p:cNvSpPr txBox="1"/>
          <p:nvPr/>
        </p:nvSpPr>
        <p:spPr>
          <a:xfrm>
            <a:off x="950976" y="7205472"/>
            <a:ext cx="1234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51" name="라벨 v2"/>
          <p:cNvSpPr txBox="1"/>
          <p:nvPr/>
        </p:nvSpPr>
        <p:spPr>
          <a:xfrm>
            <a:off x="2322576" y="7205472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둘 다 0 (정상)</a:t>
            </a:r>
          </a:p>
        </p:txBody>
      </p:sp>
      <p:sp>
        <p:nvSpPr>
          <p:cNvPr id="52" name="라벨 v2"/>
          <p:cNvSpPr txBox="1"/>
          <p:nvPr/>
        </p:nvSpPr>
        <p:spPr>
          <a:xfrm>
            <a:off x="4974336" y="7205472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45%25C</a:t>
            </a:r>
          </a:p>
        </p:txBody>
      </p:sp>
      <p:sp>
        <p:nvSpPr>
          <p:cNvPr id="53" name="라벨 v2"/>
          <p:cNvSpPr txBox="1"/>
          <p:nvPr/>
        </p:nvSpPr>
        <p:spPr>
          <a:xfrm>
            <a:off x="6986016" y="7205472"/>
            <a:ext cx="2240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v1 과 같음</a:t>
            </a:r>
          </a:p>
        </p:txBody>
      </p:sp>
      <p:sp>
        <p:nvSpPr>
          <p:cNvPr id="54" name="라벨 v2"/>
          <p:cNvSpPr txBox="1"/>
          <p:nvPr/>
        </p:nvSpPr>
        <p:spPr>
          <a:xfrm>
            <a:off x="841248" y="767181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우선순위 err → dashes → 숫자 (FND fnd_dht.v 와 같은 순서) · 줄 길이는 send_go 순간 잡은 24 비트로 정해져 도중에 안 바뀜</a:t>
            </a:r>
          </a:p>
        </p:txBody>
      </p:sp>
      <p:sp>
        <p:nvSpPr>
          <p:cNvPr id="55" name="라벨 v2"/>
          <p:cNvSpPr txBox="1"/>
          <p:nvPr/>
        </p:nvSpPr>
        <p:spPr>
          <a:xfrm>
            <a:off x="10012680" y="22402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③  </a:t>
            </a:r>
            <a:r>
              <a:rPr sz="16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PC 에서 보이는 차이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12680" y="2724912"/>
            <a:ext cx="7452360" cy="475488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57" name="라벨 v2"/>
          <p:cNvSpPr txBox="1"/>
          <p:nvPr/>
        </p:nvSpPr>
        <p:spPr>
          <a:xfrm>
            <a:off x="10122408" y="2724912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상황</a:t>
            </a:r>
          </a:p>
        </p:txBody>
      </p:sp>
      <p:sp>
        <p:nvSpPr>
          <p:cNvPr id="58" name="라벨 v2"/>
          <p:cNvSpPr txBox="1"/>
          <p:nvPr/>
        </p:nvSpPr>
        <p:spPr>
          <a:xfrm>
            <a:off x="12454128" y="2724912"/>
            <a:ext cx="1325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</p:txBody>
      </p:sp>
      <p:sp>
        <p:nvSpPr>
          <p:cNvPr id="59" name="라벨 v2"/>
          <p:cNvSpPr txBox="1"/>
          <p:nvPr/>
        </p:nvSpPr>
        <p:spPr>
          <a:xfrm>
            <a:off x="13917168" y="2724912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v1 PC</a:t>
            </a:r>
          </a:p>
        </p:txBody>
      </p:sp>
      <p:sp>
        <p:nvSpPr>
          <p:cNvPr id="60" name="라벨 v2"/>
          <p:cNvSpPr txBox="1"/>
          <p:nvPr/>
        </p:nvSpPr>
        <p:spPr>
          <a:xfrm>
            <a:off x="15745968" y="2724912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v2 PC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12680" y="3236976"/>
            <a:ext cx="7452360" cy="47548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62" name="라벨 v2"/>
          <p:cNvSpPr txBox="1"/>
          <p:nvPr/>
        </p:nvSpPr>
        <p:spPr>
          <a:xfrm>
            <a:off x="10122408" y="3236976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거리 범위 밖</a:t>
            </a:r>
          </a:p>
        </p:txBody>
      </p:sp>
      <p:sp>
        <p:nvSpPr>
          <p:cNvPr id="63" name="라벨 v2"/>
          <p:cNvSpPr txBox="1"/>
          <p:nvPr/>
        </p:nvSpPr>
        <p:spPr>
          <a:xfrm>
            <a:off x="12454128" y="3236976"/>
            <a:ext cx="1325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Err2</a:t>
            </a:r>
          </a:p>
        </p:txBody>
      </p:sp>
      <p:sp>
        <p:nvSpPr>
          <p:cNvPr id="64" name="라벨 v2"/>
          <p:cNvSpPr txBox="1"/>
          <p:nvPr/>
        </p:nvSpPr>
        <p:spPr>
          <a:xfrm>
            <a:off x="13917168" y="3236976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9B2C2C"/>
                </a:solidFill>
                <a:latin typeface="Malgun Gothic"/>
                <a:ea typeface="Malgun Gothic"/>
                <a:cs typeface="Malgun Gothic"/>
              </a:rPr>
              <a:t>400cm</a:t>
            </a:r>
          </a:p>
        </p:txBody>
      </p:sp>
      <p:sp>
        <p:nvSpPr>
          <p:cNvPr id="65" name="라벨 v2"/>
          <p:cNvSpPr txBox="1"/>
          <p:nvPr/>
        </p:nvSpPr>
        <p:spPr>
          <a:xfrm>
            <a:off x="15745968" y="3236976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Err 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12680" y="3749040"/>
            <a:ext cx="7452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67" name="라벨 v2"/>
          <p:cNvSpPr txBox="1"/>
          <p:nvPr/>
        </p:nvSpPr>
        <p:spPr>
          <a:xfrm>
            <a:off x="10122408" y="3749040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거리 무응답</a:t>
            </a:r>
          </a:p>
        </p:txBody>
      </p:sp>
      <p:sp>
        <p:nvSpPr>
          <p:cNvPr id="68" name="라벨 v2"/>
          <p:cNvSpPr txBox="1"/>
          <p:nvPr/>
        </p:nvSpPr>
        <p:spPr>
          <a:xfrm>
            <a:off x="12454128" y="3749040"/>
            <a:ext cx="1325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Err1</a:t>
            </a:r>
          </a:p>
        </p:txBody>
      </p:sp>
      <p:sp>
        <p:nvSpPr>
          <p:cNvPr id="69" name="라벨 v2"/>
          <p:cNvSpPr txBox="1"/>
          <p:nvPr/>
        </p:nvSpPr>
        <p:spPr>
          <a:xfrm>
            <a:off x="13917168" y="3749040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9B2C2C"/>
                </a:solidFill>
                <a:latin typeface="Malgun Gothic"/>
                <a:ea typeface="Malgun Gothic"/>
                <a:cs typeface="Malgun Gothic"/>
              </a:rPr>
              <a:t>000cm</a:t>
            </a:r>
          </a:p>
        </p:txBody>
      </p:sp>
      <p:sp>
        <p:nvSpPr>
          <p:cNvPr id="70" name="라벨 v2"/>
          <p:cNvSpPr txBox="1"/>
          <p:nvPr/>
        </p:nvSpPr>
        <p:spPr>
          <a:xfrm>
            <a:off x="15745968" y="3749040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Err 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012680" y="4261104"/>
            <a:ext cx="7452360" cy="47548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72" name="라벨 v2"/>
          <p:cNvSpPr txBox="1"/>
          <p:nvPr/>
        </p:nvSpPr>
        <p:spPr>
          <a:xfrm>
            <a:off x="10122408" y="4261104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거리 echo 고착</a:t>
            </a:r>
          </a:p>
        </p:txBody>
      </p:sp>
      <p:sp>
        <p:nvSpPr>
          <p:cNvPr id="73" name="라벨 v2"/>
          <p:cNvSpPr txBox="1"/>
          <p:nvPr/>
        </p:nvSpPr>
        <p:spPr>
          <a:xfrm>
            <a:off x="12454128" y="4261104"/>
            <a:ext cx="1325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Err3</a:t>
            </a:r>
          </a:p>
        </p:txBody>
      </p:sp>
      <p:sp>
        <p:nvSpPr>
          <p:cNvPr id="74" name="라벨 v2"/>
          <p:cNvSpPr txBox="1"/>
          <p:nvPr/>
        </p:nvSpPr>
        <p:spPr>
          <a:xfrm>
            <a:off x="13917168" y="4261104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9B2C2C"/>
                </a:solidFill>
                <a:latin typeface="Malgun Gothic"/>
                <a:ea typeface="Malgun Gothic"/>
                <a:cs typeface="Malgun Gothic"/>
              </a:rPr>
              <a:t>직전 거리 숫자</a:t>
            </a:r>
          </a:p>
        </p:txBody>
      </p:sp>
      <p:sp>
        <p:nvSpPr>
          <p:cNvPr id="75" name="라벨 v2"/>
          <p:cNvSpPr txBox="1"/>
          <p:nvPr/>
        </p:nvSpPr>
        <p:spPr>
          <a:xfrm>
            <a:off x="15745968" y="4261104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Err 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12680" y="4773168"/>
            <a:ext cx="7452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77" name="라벨 v2"/>
          <p:cNvSpPr txBox="1"/>
          <p:nvPr/>
        </p:nvSpPr>
        <p:spPr>
          <a:xfrm>
            <a:off x="10122408" y="4773168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온습도 첫 측정 전</a:t>
            </a:r>
          </a:p>
        </p:txBody>
      </p:sp>
      <p:sp>
        <p:nvSpPr>
          <p:cNvPr id="78" name="라벨 v2"/>
          <p:cNvSpPr txBox="1"/>
          <p:nvPr/>
        </p:nvSpPr>
        <p:spPr>
          <a:xfrm>
            <a:off x="12454128" y="4773168"/>
            <a:ext cx="1325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----</a:t>
            </a:r>
          </a:p>
        </p:txBody>
      </p:sp>
      <p:sp>
        <p:nvSpPr>
          <p:cNvPr id="79" name="라벨 v2"/>
          <p:cNvSpPr txBox="1"/>
          <p:nvPr/>
        </p:nvSpPr>
        <p:spPr>
          <a:xfrm>
            <a:off x="13917168" y="4773168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9B2C2C"/>
                </a:solidFill>
                <a:latin typeface="Malgun Gothic"/>
                <a:ea typeface="Malgun Gothic"/>
                <a:cs typeface="Malgun Gothic"/>
              </a:rPr>
              <a:t>00%00C</a:t>
            </a:r>
          </a:p>
        </p:txBody>
      </p:sp>
      <p:sp>
        <p:nvSpPr>
          <p:cNvPr id="80" name="라벨 v2"/>
          <p:cNvSpPr txBox="1"/>
          <p:nvPr/>
        </p:nvSpPr>
        <p:spPr>
          <a:xfrm>
            <a:off x="15745968" y="4773168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--%--C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012680" y="5285232"/>
            <a:ext cx="7452360" cy="47548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82" name="라벨 v2"/>
          <p:cNvSpPr txBox="1"/>
          <p:nvPr/>
        </p:nvSpPr>
        <p:spPr>
          <a:xfrm>
            <a:off x="10122408" y="5285232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온습도 오류</a:t>
            </a:r>
          </a:p>
        </p:txBody>
      </p:sp>
      <p:sp>
        <p:nvSpPr>
          <p:cNvPr id="83" name="라벨 v2"/>
          <p:cNvSpPr txBox="1"/>
          <p:nvPr/>
        </p:nvSpPr>
        <p:spPr>
          <a:xfrm>
            <a:off x="12454128" y="5285232"/>
            <a:ext cx="1325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Err1 ~ Err3</a:t>
            </a:r>
          </a:p>
        </p:txBody>
      </p:sp>
      <p:sp>
        <p:nvSpPr>
          <p:cNvPr id="84" name="라벨 v2"/>
          <p:cNvSpPr txBox="1"/>
          <p:nvPr/>
        </p:nvSpPr>
        <p:spPr>
          <a:xfrm>
            <a:off x="13917168" y="5285232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9B2C2C"/>
                </a:solidFill>
                <a:latin typeface="Malgun Gothic"/>
                <a:ea typeface="Malgun Gothic"/>
                <a:cs typeface="Malgun Gothic"/>
              </a:rPr>
              <a:t>마지막 정상값</a:t>
            </a:r>
          </a:p>
        </p:txBody>
      </p:sp>
      <p:sp>
        <p:nvSpPr>
          <p:cNvPr id="85" name="라벨 v2"/>
          <p:cNvSpPr txBox="1"/>
          <p:nvPr/>
        </p:nvSpPr>
        <p:spPr>
          <a:xfrm>
            <a:off x="15745968" y="5285232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Err 1 ~ Err 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012680" y="5797296"/>
            <a:ext cx="7452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87" name="라벨 v2"/>
          <p:cNvSpPr txBox="1"/>
          <p:nvPr/>
        </p:nvSpPr>
        <p:spPr>
          <a:xfrm>
            <a:off x="10122408" y="5797296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정상 · 시간 · ERROR</a:t>
            </a:r>
          </a:p>
        </p:txBody>
      </p:sp>
      <p:sp>
        <p:nvSpPr>
          <p:cNvPr id="88" name="라벨 v2"/>
          <p:cNvSpPr txBox="1"/>
          <p:nvPr/>
        </p:nvSpPr>
        <p:spPr>
          <a:xfrm>
            <a:off x="12454128" y="5797296"/>
            <a:ext cx="1325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같음</a:t>
            </a:r>
          </a:p>
        </p:txBody>
      </p:sp>
      <p:sp>
        <p:nvSpPr>
          <p:cNvPr id="89" name="라벨 v2"/>
          <p:cNvSpPr txBox="1"/>
          <p:nvPr/>
        </p:nvSpPr>
        <p:spPr>
          <a:xfrm>
            <a:off x="13917168" y="5797296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같음</a:t>
            </a:r>
          </a:p>
        </p:txBody>
      </p:sp>
      <p:sp>
        <p:nvSpPr>
          <p:cNvPr id="90" name="라벨 v2"/>
          <p:cNvSpPr txBox="1"/>
          <p:nvPr/>
        </p:nvSpPr>
        <p:spPr>
          <a:xfrm>
            <a:off x="15745968" y="5797296"/>
            <a:ext cx="1691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같음</a:t>
            </a:r>
          </a:p>
        </p:txBody>
      </p:sp>
      <p:sp>
        <p:nvSpPr>
          <p:cNvPr id="91" name="라벨 v2"/>
          <p:cNvSpPr txBox="1"/>
          <p:nvPr/>
        </p:nvSpPr>
        <p:spPr>
          <a:xfrm>
            <a:off x="10012680" y="6355080"/>
            <a:ext cx="7498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v1 은 FND 가 오류여도 PC 엔 숫자 → v2 는 FND 와 PC 가 같은 상태를 보여 줌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41248" y="8321040"/>
            <a:ext cx="3945636" cy="1143000"/>
          </a:xfrm>
          <a:prstGeom prst="round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93" name="라벨 v2"/>
          <p:cNvSpPr txBox="1"/>
          <p:nvPr/>
        </p:nvSpPr>
        <p:spPr>
          <a:xfrm>
            <a:off x="1115568" y="8394192"/>
            <a:ext cx="339699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+16 LUT</a:t>
            </a:r>
          </a:p>
        </p:txBody>
      </p:sp>
      <p:sp>
        <p:nvSpPr>
          <p:cNvPr id="94" name="라벨 v2"/>
          <p:cNvSpPr txBox="1"/>
          <p:nvPr/>
        </p:nvSpPr>
        <p:spPr>
          <a:xfrm>
            <a:off x="1115568" y="8942832"/>
            <a:ext cx="33969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1,473 → 1,489 · FF 737 그대로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061204" y="8321040"/>
            <a:ext cx="3945636" cy="1143000"/>
          </a:xfrm>
          <a:prstGeom prst="round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96" name="라벨 v2"/>
          <p:cNvSpPr txBox="1"/>
          <p:nvPr/>
        </p:nvSpPr>
        <p:spPr>
          <a:xfrm>
            <a:off x="5335524" y="8394192"/>
            <a:ext cx="339699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+0.320 ns</a:t>
            </a:r>
          </a:p>
        </p:txBody>
      </p:sp>
      <p:sp>
        <p:nvSpPr>
          <p:cNvPr id="97" name="라벨 v2"/>
          <p:cNvSpPr txBox="1"/>
          <p:nvPr/>
        </p:nvSpPr>
        <p:spPr>
          <a:xfrm>
            <a:off x="5335524" y="8942832"/>
            <a:ext cx="33969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WNS (100 MHz) · WHS +0.078 · 위반 0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281160" y="8321040"/>
            <a:ext cx="3945636" cy="1143000"/>
          </a:xfrm>
          <a:prstGeom prst="round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99" name="라벨 v2"/>
          <p:cNvSpPr txBox="1"/>
          <p:nvPr/>
        </p:nvSpPr>
        <p:spPr>
          <a:xfrm>
            <a:off x="9555480" y="8394192"/>
            <a:ext cx="339699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560 / 0</a:t>
            </a:r>
          </a:p>
        </p:txBody>
      </p:sp>
      <p:sp>
        <p:nvSpPr>
          <p:cNvPr id="100" name="라벨 v2"/>
          <p:cNvSpPr txBox="1"/>
          <p:nvPr/>
        </p:nvSpPr>
        <p:spPr>
          <a:xfrm>
            <a:off x="9555480" y="8942832"/>
            <a:ext cx="33969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통합 TB 검사 · 불일치 (20 시나리오 · 랜덤 120)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3501116" y="8321040"/>
            <a:ext cx="3945636" cy="1143000"/>
          </a:xfrm>
          <a:prstGeom prst="round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102" name="라벨 v2"/>
          <p:cNvSpPr txBox="1"/>
          <p:nvPr/>
        </p:nvSpPr>
        <p:spPr>
          <a:xfrm>
            <a:off x="13775436" y="8394192"/>
            <a:ext cx="339699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10 / 31 보드</a:t>
            </a:r>
          </a:p>
        </p:txBody>
      </p:sp>
      <p:sp>
        <p:nvSpPr>
          <p:cNvPr id="103" name="라벨 v2"/>
          <p:cNvSpPr txBox="1"/>
          <p:nvPr/>
        </p:nvSpPr>
        <p:spPr>
          <a:xfrm>
            <a:off x="13775436" y="8942832"/>
            <a:ext cx="33969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Err 1 · Err 2 · Err 3 · --%--C 확인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 ·  v2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Top 블록 다이어그램 — UART 명령에서 FND · LED · TX 까지  (v2)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명령은 RX → 디코더 → 컨트롤러에서 갈라짐 · 모드 비트 / 버튼 / 전송 요청으로 각 모듈 · 화면 · TX 까지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EB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3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5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E6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7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18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19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4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6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7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7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48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5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6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2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3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5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7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68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1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2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4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5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6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78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79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0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2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3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4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6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7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89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0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202436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175004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3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5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6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7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98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99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3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4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5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6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7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08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0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1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19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1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2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7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1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6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7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라벨"/>
          <p:cNvSpPr txBox="1"/>
          <p:nvPr/>
        </p:nvSpPr>
        <p:spPr>
          <a:xfrm>
            <a:off x="1074420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1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E6F4F3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3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4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5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B6CB0"/>
          </a:solidFill>
          <a:ln w="254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distance·상태 3</a:t>
            </a:r>
          </a:p>
        </p:txBody>
      </p:sp>
      <p:sp>
        <p:nvSpPr>
          <p:cNvPr id="146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C05621"/>
          </a:solidFill>
          <a:ln w="254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hum·temp·상태 4</a:t>
            </a:r>
          </a:p>
        </p:txBody>
      </p:sp>
      <p:cxnSp>
        <p:nvCxnSpPr>
          <p:cNvPr id="147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190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2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5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190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1" name="범례"/>
          <p:cNvSpPr/>
          <p:nvPr/>
        </p:nvSpPr>
        <p:spPr>
          <a:xfrm>
            <a:off x="841248" y="8796528"/>
            <a:ext cx="310896" cy="219456"/>
          </a:xfrm>
          <a:prstGeom prst="roundRect">
            <a:avLst>
              <a:gd name="adj" fmla="val 12000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라벨"/>
          <p:cNvSpPr txBox="1"/>
          <p:nvPr/>
        </p:nvSpPr>
        <p:spPr>
          <a:xfrm>
            <a:off x="1225296" y="874166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WTS</a:t>
            </a:r>
          </a:p>
        </p:txBody>
      </p:sp>
      <p:sp>
        <p:nvSpPr>
          <p:cNvPr id="163" name="범례"/>
          <p:cNvSpPr/>
          <p:nvPr/>
        </p:nvSpPr>
        <p:spPr>
          <a:xfrm>
            <a:off x="2084832" y="8796528"/>
            <a:ext cx="310896" cy="219456"/>
          </a:xfrm>
          <a:prstGeom prst="roundRect">
            <a:avLst>
              <a:gd name="adj" fmla="val 12000"/>
            </a:avLst>
          </a:prstGeom>
          <a:solidFill>
            <a:srgbClr val="EBF4FF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라벨"/>
          <p:cNvSpPr txBox="1"/>
          <p:nvPr/>
        </p:nvSpPr>
        <p:spPr>
          <a:xfrm>
            <a:off x="2468880" y="874166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SR04 거리</a:t>
            </a:r>
          </a:p>
        </p:txBody>
      </p:sp>
      <p:sp>
        <p:nvSpPr>
          <p:cNvPr id="165" name="범례"/>
          <p:cNvSpPr/>
          <p:nvPr/>
        </p:nvSpPr>
        <p:spPr>
          <a:xfrm>
            <a:off x="3803904" y="8796528"/>
            <a:ext cx="310896" cy="219456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라벨"/>
          <p:cNvSpPr txBox="1"/>
          <p:nvPr/>
        </p:nvSpPr>
        <p:spPr>
          <a:xfrm>
            <a:off x="4187952" y="874166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DHT11 온습도</a:t>
            </a:r>
          </a:p>
        </p:txBody>
      </p:sp>
      <p:sp>
        <p:nvSpPr>
          <p:cNvPr id="167" name="범례"/>
          <p:cNvSpPr/>
          <p:nvPr/>
        </p:nvSpPr>
        <p:spPr>
          <a:xfrm>
            <a:off x="5760720" y="8796528"/>
            <a:ext cx="310896" cy="219456"/>
          </a:xfrm>
          <a:prstGeom prst="roundRect">
            <a:avLst>
              <a:gd name="adj" fmla="val 12000"/>
            </a:avLst>
          </a:prstGeom>
          <a:solidFill>
            <a:srgbClr val="E6F4F3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라벨"/>
          <p:cNvSpPr txBox="1"/>
          <p:nvPr/>
        </p:nvSpPr>
        <p:spPr>
          <a:xfrm>
            <a:off x="6144768" y="874166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UART</a:t>
            </a:r>
          </a:p>
        </p:txBody>
      </p:sp>
      <p:sp>
        <p:nvSpPr>
          <p:cNvPr id="169" name="범례"/>
          <p:cNvSpPr/>
          <p:nvPr/>
        </p:nvSpPr>
        <p:spPr>
          <a:xfrm>
            <a:off x="7123176" y="8796528"/>
            <a:ext cx="310896" cy="21945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라벨"/>
          <p:cNvSpPr txBox="1"/>
          <p:nvPr/>
        </p:nvSpPr>
        <p:spPr>
          <a:xfrm>
            <a:off x="7507224" y="874166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· LED</a:t>
            </a:r>
          </a:p>
        </p:txBody>
      </p:sp>
      <p:sp>
        <p:nvSpPr>
          <p:cNvPr id="171" name="범례 AND"/>
          <p:cNvSpPr/>
          <p:nvPr/>
        </p:nvSpPr>
        <p:spPr>
          <a:xfrm>
            <a:off x="9262872" y="8732520"/>
            <a:ext cx="365760" cy="347472"/>
          </a:xfrm>
          <a:prstGeom prst="flowChartDelay">
            <a:avLst/>
          </a:prstGeom>
          <a:solidFill>
            <a:srgbClr val="FFFFFF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9720072" y="874166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AND · ≥1 = OR 게이트</a:t>
            </a:r>
          </a:p>
        </p:txBody>
      </p:sp>
      <p:cxnSp>
        <p:nvCxnSpPr>
          <p:cNvPr id="173" name="선"/>
          <p:cNvCxnSpPr/>
          <p:nvPr/>
        </p:nvCxnSpPr>
        <p:spPr>
          <a:xfrm>
            <a:off x="12234672" y="8906256"/>
            <a:ext cx="548640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라벨"/>
          <p:cNvSpPr txBox="1"/>
          <p:nvPr/>
        </p:nvSpPr>
        <p:spPr>
          <a:xfrm>
            <a:off x="12874752" y="87416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 kHz 클럭</a:t>
            </a:r>
          </a:p>
        </p:txBody>
      </p:sp>
      <p:sp>
        <p:nvSpPr>
          <p:cNvPr id="175" name="범례 태그"/>
          <p:cNvSpPr/>
          <p:nvPr/>
        </p:nvSpPr>
        <p:spPr>
          <a:xfrm>
            <a:off x="14292072" y="8759952"/>
            <a:ext cx="502920" cy="274320"/>
          </a:xfrm>
          <a:prstGeom prst="homePlate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라벨"/>
          <p:cNvSpPr txBox="1"/>
          <p:nvPr/>
        </p:nvSpPr>
        <p:spPr>
          <a:xfrm>
            <a:off x="14886432" y="8741664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태그 = 보드 핀 · 같은 이름의 신호</a:t>
            </a:r>
          </a:p>
        </p:txBody>
      </p:sp>
      <p:sp>
        <p:nvSpPr>
          <p:cNvPr id="177" name="라벨"/>
          <p:cNvSpPr txBox="1"/>
          <p:nvPr/>
        </p:nvSpPr>
        <p:spPr>
          <a:xfrm>
            <a:off x="841248" y="9189720"/>
            <a:ext cx="1554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명령 형식 : /&lt;명령&gt; &lt;옵션&gt;  ·  /mod  /btn  /get  /auto  /set  /off  →  다음 장부터 명령별 흐름 (켜진 경로만 색, 나머지 회색)</a:t>
            </a:r>
          </a:p>
        </p:txBody>
      </p:sp>
      <p:cxnSp>
        <p:nvCxnSpPr>
          <p:cNvPr id="178" name="선 v2"/>
          <p:cNvCxnSpPr/>
          <p:nvPr/>
        </p:nvCxnSpPr>
        <p:spPr>
          <a:xfrm>
            <a:off x="11814048" y="4247388"/>
            <a:ext cx="0" cy="2427732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선 v2"/>
          <p:cNvCxnSpPr/>
          <p:nvPr/>
        </p:nvCxnSpPr>
        <p:spPr>
          <a:xfrm>
            <a:off x="11814048" y="6675120"/>
            <a:ext cx="457200" cy="0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선 v2"/>
          <p:cNvCxnSpPr/>
          <p:nvPr/>
        </p:nvCxnSpPr>
        <p:spPr>
          <a:xfrm>
            <a:off x="12271248" y="6675120"/>
            <a:ext cx="0" cy="27432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접점 v2"/>
          <p:cNvSpPr/>
          <p:nvPr/>
        </p:nvSpPr>
        <p:spPr>
          <a:xfrm>
            <a:off x="11772900" y="420624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2" name="선 v2"/>
          <p:cNvCxnSpPr/>
          <p:nvPr/>
        </p:nvCxnSpPr>
        <p:spPr>
          <a:xfrm>
            <a:off x="11887200" y="4247388"/>
            <a:ext cx="0" cy="2354580"/>
          </a:xfrm>
          <a:prstGeom prst="line">
            <a:avLst/>
          </a:prstGeom>
          <a:ln w="22225">
            <a:solidFill>
              <a:srgbClr val="1E8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선 v2"/>
          <p:cNvCxnSpPr/>
          <p:nvPr/>
        </p:nvCxnSpPr>
        <p:spPr>
          <a:xfrm>
            <a:off x="11887200" y="6601968"/>
            <a:ext cx="475488" cy="0"/>
          </a:xfrm>
          <a:prstGeom prst="line">
            <a:avLst/>
          </a:prstGeom>
          <a:ln w="22225">
            <a:solidFill>
              <a:srgbClr val="1E8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선 v2"/>
          <p:cNvCxnSpPr/>
          <p:nvPr/>
        </p:nvCxnSpPr>
        <p:spPr>
          <a:xfrm>
            <a:off x="12362688" y="6601968"/>
            <a:ext cx="0" cy="347472"/>
          </a:xfrm>
          <a:prstGeom prst="line">
            <a:avLst/>
          </a:prstGeom>
          <a:ln w="22225">
            <a:solidFill>
              <a:srgbClr val="1E8E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접점 v2"/>
          <p:cNvSpPr/>
          <p:nvPr/>
        </p:nvSpPr>
        <p:spPr>
          <a:xfrm>
            <a:off x="11846052" y="4206240"/>
            <a:ext cx="82296" cy="82296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6" name="선 v2"/>
          <p:cNvCxnSpPr/>
          <p:nvPr/>
        </p:nvCxnSpPr>
        <p:spPr>
          <a:xfrm>
            <a:off x="11960352" y="5390388"/>
            <a:ext cx="0" cy="1138428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선 v2"/>
          <p:cNvCxnSpPr/>
          <p:nvPr/>
        </p:nvCxnSpPr>
        <p:spPr>
          <a:xfrm>
            <a:off x="11960352" y="6528816"/>
            <a:ext cx="603504" cy="0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선 v2"/>
          <p:cNvCxnSpPr/>
          <p:nvPr/>
        </p:nvCxnSpPr>
        <p:spPr>
          <a:xfrm>
            <a:off x="12563856" y="6528816"/>
            <a:ext cx="0" cy="420624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접점 v2"/>
          <p:cNvSpPr/>
          <p:nvPr/>
        </p:nvSpPr>
        <p:spPr>
          <a:xfrm>
            <a:off x="11919204" y="534924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0" name="선 v2"/>
          <p:cNvCxnSpPr/>
          <p:nvPr/>
        </p:nvCxnSpPr>
        <p:spPr>
          <a:xfrm>
            <a:off x="12033504" y="5390388"/>
            <a:ext cx="0" cy="1065276"/>
          </a:xfrm>
          <a:prstGeom prst="line">
            <a:avLst/>
          </a:prstGeom>
          <a:ln w="22225">
            <a:solidFill>
              <a:srgbClr val="1E8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선 v2"/>
          <p:cNvCxnSpPr/>
          <p:nvPr/>
        </p:nvCxnSpPr>
        <p:spPr>
          <a:xfrm>
            <a:off x="12033504" y="6455664"/>
            <a:ext cx="621792" cy="0"/>
          </a:xfrm>
          <a:prstGeom prst="line">
            <a:avLst/>
          </a:prstGeom>
          <a:ln w="22225">
            <a:solidFill>
              <a:srgbClr val="1E8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선 v2"/>
          <p:cNvCxnSpPr/>
          <p:nvPr/>
        </p:nvCxnSpPr>
        <p:spPr>
          <a:xfrm>
            <a:off x="12655296" y="6455664"/>
            <a:ext cx="0" cy="493776"/>
          </a:xfrm>
          <a:prstGeom prst="line">
            <a:avLst/>
          </a:prstGeom>
          <a:ln w="22225">
            <a:solidFill>
              <a:srgbClr val="1E8E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접점 v2"/>
          <p:cNvSpPr/>
          <p:nvPr/>
        </p:nvSpPr>
        <p:spPr>
          <a:xfrm>
            <a:off x="11992356" y="5349240"/>
            <a:ext cx="82296" cy="82296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라벨 v2"/>
          <p:cNvSpPr txBox="1"/>
          <p:nvPr/>
        </p:nvSpPr>
        <p:spPr>
          <a:xfrm>
            <a:off x="8503920" y="365760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상태 → FND MUX </a:t>
            </a:r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+ 전송 MUX</a:t>
            </a:r>
          </a:p>
        </p:txBody>
      </p:sp>
      <p:sp>
        <p:nvSpPr>
          <p:cNvPr id="195" name="라벨 v2"/>
          <p:cNvSpPr txBox="1"/>
          <p:nvPr/>
        </p:nvSpPr>
        <p:spPr>
          <a:xfrm>
            <a:off x="8503920" y="480060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상태 → FND MUX </a:t>
            </a:r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+ 전송 MUX</a:t>
            </a:r>
          </a:p>
        </p:txBody>
      </p:sp>
      <p:sp>
        <p:nvSpPr>
          <p:cNvPr id="196" name="라벨 v2"/>
          <p:cNvSpPr txBox="1"/>
          <p:nvPr/>
        </p:nvSpPr>
        <p:spPr>
          <a:xfrm>
            <a:off x="841248" y="9582912"/>
            <a:ext cx="15361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v2</a:t>
            </a:r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  센서 상태 → 전송 MUX 연결 추가 (회색 선 = 값 · v1 부터  /  초록 선 = 상태 · v2 새로)  ·  전송 MUX 입력 3 · 4 = distance·상태 · hum·temp·상태  ·  블록 · 포트 · 선 폭은 그대로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  ·  v2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/mod 흐름 — 화면 · 버튼 대상 바꾸기  (v2)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첫 /mod 부터 스위치 대신 UART 비트가 모드 결정 · [6:5] 로 버튼 대상과 FND · LED 화면이 같이 바뀜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3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5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E6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7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18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19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4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6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7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7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48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5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6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2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3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5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7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68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E6F4F3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1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2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4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5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6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78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79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0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2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3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4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6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7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E6F4F3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89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0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202436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175004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3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5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6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7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98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99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3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4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5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6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7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08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0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1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19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1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2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7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1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6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7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라벨"/>
          <p:cNvSpPr txBox="1"/>
          <p:nvPr/>
        </p:nvSpPr>
        <p:spPr>
          <a:xfrm>
            <a:off x="1074420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1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3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4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5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distance·상태 3</a:t>
            </a:r>
          </a:p>
        </p:txBody>
      </p:sp>
      <p:sp>
        <p:nvSpPr>
          <p:cNvPr id="146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hum·temp·상태 4</a:t>
            </a:r>
          </a:p>
        </p:txBody>
      </p:sp>
      <p:cxnSp>
        <p:nvCxnSpPr>
          <p:cNvPr id="147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2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5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1" name="라벨"/>
          <p:cNvSpPr txBox="1"/>
          <p:nvPr/>
        </p:nvSpPr>
        <p:spPr>
          <a:xfrm>
            <a:off x="411480" y="4828032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/mod 후 무시</a:t>
            </a:r>
          </a:p>
        </p:txBody>
      </p:sp>
      <p:sp>
        <p:nvSpPr>
          <p:cNvPr id="162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3" name="단계 2"/>
          <p:cNvSpPr/>
          <p:nvPr/>
        </p:nvSpPr>
        <p:spPr>
          <a:xfrm>
            <a:off x="6400800" y="781812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4" name="단계 3"/>
          <p:cNvSpPr/>
          <p:nvPr/>
        </p:nvSpPr>
        <p:spPr>
          <a:xfrm>
            <a:off x="1188720" y="553212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5" name="단계 4"/>
          <p:cNvSpPr/>
          <p:nvPr/>
        </p:nvSpPr>
        <p:spPr>
          <a:xfrm>
            <a:off x="3200400" y="4279392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6" name="단계 5"/>
          <p:cNvSpPr/>
          <p:nvPr/>
        </p:nvSpPr>
        <p:spPr>
          <a:xfrm>
            <a:off x="8321040" y="324612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7" name="단계 6"/>
          <p:cNvSpPr/>
          <p:nvPr/>
        </p:nvSpPr>
        <p:spPr>
          <a:xfrm>
            <a:off x="12984480" y="237744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8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9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rx → uart_rx → FIFO → 디코더 : "/mod " + 4 글자</a:t>
            </a:r>
          </a:p>
        </p:txBody>
      </p:sp>
      <p:sp>
        <p:nvSpPr>
          <p:cNvPr id="170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1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 : w_hm · s_ms · t_hm · dist · temp → 7 비트</a:t>
            </a:r>
          </a:p>
        </p:txBody>
      </p:sp>
      <p:sp>
        <p:nvSpPr>
          <p:cNvPr id="172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3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uart_mode = 1 (리셋 전까지) → MUX 가 UART 값 사용</a:t>
            </a:r>
          </a:p>
        </p:txBody>
      </p:sp>
      <p:sp>
        <p:nvSpPr>
          <p:cNvPr id="174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5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모드 디코드 [6:5] → mode_wts · dist · dht 버튼 대상</a:t>
            </a:r>
          </a:p>
        </p:txBody>
      </p:sp>
      <p:sp>
        <p:nvSpPr>
          <p:cNvPr id="176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7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ctrl_bit[4:0] → WTS 스위치 기능 (bit3 12/24 는 유지)</a:t>
            </a:r>
          </a:p>
        </p:txBody>
      </p:sp>
      <p:sp>
        <p:nvSpPr>
          <p:cNvPr id="178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79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disp_sel → FND MUX · LED 가 그 화면 값 선택</a:t>
            </a:r>
          </a:p>
        </p:txBody>
      </p:sp>
      <p:cxnSp>
        <p:nvCxnSpPr>
          <p:cNvPr id="180" name="선 v2"/>
          <p:cNvCxnSpPr/>
          <p:nvPr/>
        </p:nvCxnSpPr>
        <p:spPr>
          <a:xfrm>
            <a:off x="11814048" y="4247388"/>
            <a:ext cx="0" cy="2427732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선 v2"/>
          <p:cNvCxnSpPr/>
          <p:nvPr/>
        </p:nvCxnSpPr>
        <p:spPr>
          <a:xfrm>
            <a:off x="11814048" y="6675120"/>
            <a:ext cx="457200" cy="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선 v2"/>
          <p:cNvCxnSpPr/>
          <p:nvPr/>
        </p:nvCxnSpPr>
        <p:spPr>
          <a:xfrm>
            <a:off x="12271248" y="6675120"/>
            <a:ext cx="0" cy="274320"/>
          </a:xfrm>
          <a:prstGeom prst="line">
            <a:avLst/>
          </a:prstGeom>
          <a:ln w="15875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접점 v2"/>
          <p:cNvSpPr/>
          <p:nvPr/>
        </p:nvSpPr>
        <p:spPr>
          <a:xfrm>
            <a:off x="11772900" y="42062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4" name="선 v2"/>
          <p:cNvCxnSpPr/>
          <p:nvPr/>
        </p:nvCxnSpPr>
        <p:spPr>
          <a:xfrm>
            <a:off x="11887200" y="4247388"/>
            <a:ext cx="0" cy="235458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선 v2"/>
          <p:cNvCxnSpPr/>
          <p:nvPr/>
        </p:nvCxnSpPr>
        <p:spPr>
          <a:xfrm>
            <a:off x="11887200" y="6601968"/>
            <a:ext cx="475488" cy="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선 v2"/>
          <p:cNvCxnSpPr/>
          <p:nvPr/>
        </p:nvCxnSpPr>
        <p:spPr>
          <a:xfrm>
            <a:off x="12362688" y="6601968"/>
            <a:ext cx="0" cy="347472"/>
          </a:xfrm>
          <a:prstGeom prst="line">
            <a:avLst/>
          </a:prstGeom>
          <a:ln w="15875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접점 v2"/>
          <p:cNvSpPr/>
          <p:nvPr/>
        </p:nvSpPr>
        <p:spPr>
          <a:xfrm>
            <a:off x="11846052" y="42062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8" name="선 v2"/>
          <p:cNvCxnSpPr/>
          <p:nvPr/>
        </p:nvCxnSpPr>
        <p:spPr>
          <a:xfrm>
            <a:off x="11960352" y="5390388"/>
            <a:ext cx="0" cy="1138428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선 v2"/>
          <p:cNvCxnSpPr/>
          <p:nvPr/>
        </p:nvCxnSpPr>
        <p:spPr>
          <a:xfrm>
            <a:off x="11960352" y="6528816"/>
            <a:ext cx="603504" cy="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선 v2"/>
          <p:cNvCxnSpPr/>
          <p:nvPr/>
        </p:nvCxnSpPr>
        <p:spPr>
          <a:xfrm>
            <a:off x="12563856" y="6528816"/>
            <a:ext cx="0" cy="420624"/>
          </a:xfrm>
          <a:prstGeom prst="line">
            <a:avLst/>
          </a:prstGeom>
          <a:ln w="15875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접점 v2"/>
          <p:cNvSpPr/>
          <p:nvPr/>
        </p:nvSpPr>
        <p:spPr>
          <a:xfrm>
            <a:off x="11919204" y="53492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2" name="선 v2"/>
          <p:cNvCxnSpPr/>
          <p:nvPr/>
        </p:nvCxnSpPr>
        <p:spPr>
          <a:xfrm>
            <a:off x="12033504" y="5390388"/>
            <a:ext cx="0" cy="1065276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선 v2"/>
          <p:cNvCxnSpPr/>
          <p:nvPr/>
        </p:nvCxnSpPr>
        <p:spPr>
          <a:xfrm>
            <a:off x="12033504" y="6455664"/>
            <a:ext cx="621792" cy="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선 v2"/>
          <p:cNvCxnSpPr/>
          <p:nvPr/>
        </p:nvCxnSpPr>
        <p:spPr>
          <a:xfrm>
            <a:off x="12655296" y="6455664"/>
            <a:ext cx="0" cy="493776"/>
          </a:xfrm>
          <a:prstGeom prst="line">
            <a:avLst/>
          </a:prstGeom>
          <a:ln w="15875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접점 v2"/>
          <p:cNvSpPr/>
          <p:nvPr/>
        </p:nvSpPr>
        <p:spPr>
          <a:xfrm>
            <a:off x="11992356" y="53492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라벨 v2"/>
          <p:cNvSpPr txBox="1"/>
          <p:nvPr/>
        </p:nvSpPr>
        <p:spPr>
          <a:xfrm>
            <a:off x="841248" y="9582912"/>
            <a:ext cx="15361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v2</a:t>
            </a:r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  이 흐름은 v1 과 같음 · 바뀐 곳은 전송 MUX 입력 3 · 4 (distance·상태 · hum·temp·상태) 뿐  →  /get · /auto 장 참고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  ·  v2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/btn 흐름 ① WTS 화면 — /btn R · L · U · D  (v2)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UART 버튼은 물리 버튼과 OR → mode_wts AND 만 통과 · 같은 clk 에 겹치면 물리 버튼 먼저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3" name="라벨"/>
          <p:cNvSpPr txBox="1"/>
          <p:nvPr/>
        </p:nvSpPr>
        <p:spPr>
          <a:xfrm>
            <a:off x="6245351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(mode = 0) · 진행 중 동작은 계속</a:t>
            </a:r>
          </a:p>
        </p:txBody>
      </p:sp>
      <p:sp>
        <p:nvSpPr>
          <p:cNvPr id="14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6" name="라벨"/>
          <p:cNvSpPr txBox="1"/>
          <p:nvPr/>
        </p:nvSpPr>
        <p:spPr>
          <a:xfrm>
            <a:off x="6245351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(mode = 0) · 진행 중 동작은 계속</a:t>
            </a:r>
          </a:p>
        </p:txBody>
      </p:sp>
      <p:sp>
        <p:nvSpPr>
          <p:cNvPr id="17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9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20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3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6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8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2F855A"/>
          </a:solidFill>
          <a:ln w="222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9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2F855A"/>
          </a:solidFill>
          <a:ln w="222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9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2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7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60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2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4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5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7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9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70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3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4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6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7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8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80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81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2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4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5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6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8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9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3" name="라벨"/>
          <p:cNvSpPr txBox="1"/>
          <p:nvPr/>
        </p:nvSpPr>
        <p:spPr>
          <a:xfrm>
            <a:off x="1202436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4" name="라벨"/>
          <p:cNvSpPr txBox="1"/>
          <p:nvPr/>
        </p:nvSpPr>
        <p:spPr>
          <a:xfrm>
            <a:off x="1175004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5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7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8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9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100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3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5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6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7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8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9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10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2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9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21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3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4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9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3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8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9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라벨"/>
          <p:cNvSpPr txBox="1"/>
          <p:nvPr/>
        </p:nvSpPr>
        <p:spPr>
          <a:xfrm>
            <a:off x="1074420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3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5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6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7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distance·상태 3</a:t>
            </a:r>
          </a:p>
        </p:txBody>
      </p:sp>
      <p:sp>
        <p:nvSpPr>
          <p:cNvPr id="148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hum·temp·상태 4</a:t>
            </a:r>
          </a:p>
        </p:txBody>
      </p:sp>
      <p:cxnSp>
        <p:nvCxnSpPr>
          <p:cNvPr id="149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4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61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3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4" name="단계 2"/>
          <p:cNvSpPr/>
          <p:nvPr/>
        </p:nvSpPr>
        <p:spPr>
          <a:xfrm>
            <a:off x="7589520" y="5596128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5" name="단계 3"/>
          <p:cNvSpPr/>
          <p:nvPr/>
        </p:nvSpPr>
        <p:spPr>
          <a:xfrm>
            <a:off x="3703320" y="2697480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6" name="단계 4"/>
          <p:cNvSpPr/>
          <p:nvPr/>
        </p:nvSpPr>
        <p:spPr>
          <a:xfrm>
            <a:off x="4983480" y="2450592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7" name="단계 5"/>
          <p:cNvSpPr/>
          <p:nvPr/>
        </p:nvSpPr>
        <p:spPr>
          <a:xfrm>
            <a:off x="8321040" y="2697480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8" name="단계 6"/>
          <p:cNvSpPr/>
          <p:nvPr/>
        </p:nvSpPr>
        <p:spPr>
          <a:xfrm>
            <a:off x="12984480" y="2377440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9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0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 : "/btn " + 1 글자 (R · L · U · D)</a:t>
            </a:r>
          </a:p>
        </p:txBody>
      </p:sp>
      <p:sp>
        <p:nvSpPr>
          <p:cNvPr id="171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 : uart_btn 1 clk 펄스 (물리 버튼 clk 엔 대기)</a:t>
            </a:r>
          </a:p>
        </p:txBody>
      </p:sp>
      <p:sp>
        <p:nvSpPr>
          <p:cNvPr id="173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4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OR : 물리 btn | uart_btn → 같은 버튼 tick</a:t>
            </a:r>
          </a:p>
        </p:txBody>
      </p:sp>
      <p:sp>
        <p:nvSpPr>
          <p:cNvPr id="175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6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AND : mode_wts = 1 → WTS 만 통과 (거리 · 온습도 차단)</a:t>
            </a:r>
          </a:p>
        </p:txBody>
      </p:sp>
      <p:sp>
        <p:nvSpPr>
          <p:cNvPr id="177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8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wts_top : 스톱워치 R 시작 · 시계 커서 · 타이머 +1분</a:t>
            </a:r>
          </a:p>
        </p:txBody>
      </p:sp>
      <p:sp>
        <p:nvSpPr>
          <p:cNvPr id="179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80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MUX 0 번 (WTS) → FND 표시 · LED</a:t>
            </a:r>
          </a:p>
        </p:txBody>
      </p:sp>
      <p:cxnSp>
        <p:nvCxnSpPr>
          <p:cNvPr id="181" name="선 v2"/>
          <p:cNvCxnSpPr/>
          <p:nvPr/>
        </p:nvCxnSpPr>
        <p:spPr>
          <a:xfrm>
            <a:off x="11814048" y="4247388"/>
            <a:ext cx="0" cy="2427732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선 v2"/>
          <p:cNvCxnSpPr/>
          <p:nvPr/>
        </p:nvCxnSpPr>
        <p:spPr>
          <a:xfrm>
            <a:off x="11814048" y="6675120"/>
            <a:ext cx="457200" cy="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선 v2"/>
          <p:cNvCxnSpPr/>
          <p:nvPr/>
        </p:nvCxnSpPr>
        <p:spPr>
          <a:xfrm>
            <a:off x="12271248" y="6675120"/>
            <a:ext cx="0" cy="274320"/>
          </a:xfrm>
          <a:prstGeom prst="line">
            <a:avLst/>
          </a:prstGeom>
          <a:ln w="15875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접점 v2"/>
          <p:cNvSpPr/>
          <p:nvPr/>
        </p:nvSpPr>
        <p:spPr>
          <a:xfrm>
            <a:off x="11772900" y="42062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5" name="선 v2"/>
          <p:cNvCxnSpPr/>
          <p:nvPr/>
        </p:nvCxnSpPr>
        <p:spPr>
          <a:xfrm>
            <a:off x="11887200" y="4247388"/>
            <a:ext cx="0" cy="235458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선 v2"/>
          <p:cNvCxnSpPr/>
          <p:nvPr/>
        </p:nvCxnSpPr>
        <p:spPr>
          <a:xfrm>
            <a:off x="11887200" y="6601968"/>
            <a:ext cx="475488" cy="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선 v2"/>
          <p:cNvCxnSpPr/>
          <p:nvPr/>
        </p:nvCxnSpPr>
        <p:spPr>
          <a:xfrm>
            <a:off x="12362688" y="6601968"/>
            <a:ext cx="0" cy="347472"/>
          </a:xfrm>
          <a:prstGeom prst="line">
            <a:avLst/>
          </a:prstGeom>
          <a:ln w="15875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접점 v2"/>
          <p:cNvSpPr/>
          <p:nvPr/>
        </p:nvSpPr>
        <p:spPr>
          <a:xfrm>
            <a:off x="11846052" y="42062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9" name="선 v2"/>
          <p:cNvCxnSpPr/>
          <p:nvPr/>
        </p:nvCxnSpPr>
        <p:spPr>
          <a:xfrm>
            <a:off x="11960352" y="5390388"/>
            <a:ext cx="0" cy="1138428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선 v2"/>
          <p:cNvCxnSpPr/>
          <p:nvPr/>
        </p:nvCxnSpPr>
        <p:spPr>
          <a:xfrm>
            <a:off x="11960352" y="6528816"/>
            <a:ext cx="603504" cy="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선 v2"/>
          <p:cNvCxnSpPr/>
          <p:nvPr/>
        </p:nvCxnSpPr>
        <p:spPr>
          <a:xfrm>
            <a:off x="12563856" y="6528816"/>
            <a:ext cx="0" cy="420624"/>
          </a:xfrm>
          <a:prstGeom prst="line">
            <a:avLst/>
          </a:prstGeom>
          <a:ln w="15875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접점 v2"/>
          <p:cNvSpPr/>
          <p:nvPr/>
        </p:nvSpPr>
        <p:spPr>
          <a:xfrm>
            <a:off x="11919204" y="53492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3" name="선 v2"/>
          <p:cNvCxnSpPr/>
          <p:nvPr/>
        </p:nvCxnSpPr>
        <p:spPr>
          <a:xfrm>
            <a:off x="12033504" y="5390388"/>
            <a:ext cx="0" cy="1065276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선 v2"/>
          <p:cNvCxnSpPr/>
          <p:nvPr/>
        </p:nvCxnSpPr>
        <p:spPr>
          <a:xfrm>
            <a:off x="12033504" y="6455664"/>
            <a:ext cx="621792" cy="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선 v2"/>
          <p:cNvCxnSpPr/>
          <p:nvPr/>
        </p:nvCxnSpPr>
        <p:spPr>
          <a:xfrm>
            <a:off x="12655296" y="6455664"/>
            <a:ext cx="0" cy="493776"/>
          </a:xfrm>
          <a:prstGeom prst="line">
            <a:avLst/>
          </a:prstGeom>
          <a:ln w="15875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접점 v2"/>
          <p:cNvSpPr/>
          <p:nvPr/>
        </p:nvSpPr>
        <p:spPr>
          <a:xfrm>
            <a:off x="11992356" y="53492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라벨 v2"/>
          <p:cNvSpPr txBox="1"/>
          <p:nvPr/>
        </p:nvSpPr>
        <p:spPr>
          <a:xfrm>
            <a:off x="841248" y="9582912"/>
            <a:ext cx="15361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v2</a:t>
            </a:r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  이 흐름은 v1 과 같음 · 바뀐 곳은 전송 MUX 입력 3 · 4 (distance·상태 · hum·temp·상태) 뿐  →  /get · /auto 장 참고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  ·  v2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/btn 흐름 ② 거리 화면 — /btn R 측정 · /btn U 자동  (v2)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/mod dist 상태에서 R · U 만 SR04 로 · trig 펄스 → echo 폭 측정 → 0.1 cm 표시 · 막대 LED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라벨"/>
          <p:cNvSpPr txBox="1"/>
          <p:nvPr/>
        </p:nvSpPr>
        <p:spPr>
          <a:xfrm>
            <a:off x="6245351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(mode = 0) · 진행 중 동작은 계속</a:t>
            </a:r>
          </a:p>
        </p:txBody>
      </p:sp>
      <p:sp>
        <p:nvSpPr>
          <p:cNvPr id="12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EB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4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6" name="라벨"/>
          <p:cNvSpPr txBox="1"/>
          <p:nvPr/>
        </p:nvSpPr>
        <p:spPr>
          <a:xfrm>
            <a:off x="6245351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(mode = 0) · 진행 중 동작은 계속</a:t>
            </a:r>
          </a:p>
        </p:txBody>
      </p:sp>
      <p:sp>
        <p:nvSpPr>
          <p:cNvPr id="17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EB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9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20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3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6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8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2B6CB0"/>
          </a:solidFill>
          <a:ln w="2222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9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3175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3175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9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2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2B6CB0"/>
          </a:solidFill>
          <a:ln w="2222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7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60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2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4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5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7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9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70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3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4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6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7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8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80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81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2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4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5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6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8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9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EBF4FF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3" name="라벨"/>
          <p:cNvSpPr txBox="1"/>
          <p:nvPr/>
        </p:nvSpPr>
        <p:spPr>
          <a:xfrm>
            <a:off x="1202436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4" name="라벨"/>
          <p:cNvSpPr txBox="1"/>
          <p:nvPr/>
        </p:nvSpPr>
        <p:spPr>
          <a:xfrm>
            <a:off x="1175004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5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7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8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9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100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3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5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6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7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8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9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10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2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9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21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3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4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9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3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3175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3175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3175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8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9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라벨"/>
          <p:cNvSpPr txBox="1"/>
          <p:nvPr/>
        </p:nvSpPr>
        <p:spPr>
          <a:xfrm>
            <a:off x="1074420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3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5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6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7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distance·상태 3</a:t>
            </a:r>
          </a:p>
        </p:txBody>
      </p:sp>
      <p:sp>
        <p:nvSpPr>
          <p:cNvPr id="148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hum·temp·상태 4</a:t>
            </a:r>
          </a:p>
        </p:txBody>
      </p:sp>
      <p:cxnSp>
        <p:nvCxnSpPr>
          <p:cNvPr id="149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4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61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3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4" name="단계 2"/>
          <p:cNvSpPr/>
          <p:nvPr/>
        </p:nvSpPr>
        <p:spPr>
          <a:xfrm>
            <a:off x="7589520" y="5596128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5" name="단계 3"/>
          <p:cNvSpPr/>
          <p:nvPr/>
        </p:nvSpPr>
        <p:spPr>
          <a:xfrm>
            <a:off x="3703320" y="2697480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6" name="단계 4"/>
          <p:cNvSpPr/>
          <p:nvPr/>
        </p:nvSpPr>
        <p:spPr>
          <a:xfrm>
            <a:off x="4983480" y="3593592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7" name="단계 5"/>
          <p:cNvSpPr/>
          <p:nvPr/>
        </p:nvSpPr>
        <p:spPr>
          <a:xfrm>
            <a:off x="8321040" y="3840480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8" name="단계 6"/>
          <p:cNvSpPr/>
          <p:nvPr/>
        </p:nvSpPr>
        <p:spPr>
          <a:xfrm>
            <a:off x="12984480" y="2377440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9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0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 : "/btn R" 또는 "/btn U"</a:t>
            </a:r>
          </a:p>
        </p:txBody>
      </p:sp>
      <p:sp>
        <p:nvSpPr>
          <p:cNvPr id="171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 : uart_btn 1 clk 펄스 (물리 버튼 clk 엔 대기)</a:t>
            </a:r>
          </a:p>
        </p:txBody>
      </p:sp>
      <p:sp>
        <p:nvSpPr>
          <p:cNvPr id="173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4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OR : 물리 btn | uart_btn → 같은 버튼 tick</a:t>
            </a:r>
          </a:p>
        </p:txBody>
      </p:sp>
      <p:sp>
        <p:nvSpPr>
          <p:cNvPr id="175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6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AND : mode_dist = 1 → SR04 만 통과</a:t>
            </a:r>
          </a:p>
        </p:txBody>
      </p:sp>
      <p:sp>
        <p:nvSpPr>
          <p:cNvPr id="177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8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sr04_top : R 1 회 측정 · U 자동 측정 (60 ms) 켜기/끄기</a:t>
            </a:r>
          </a:p>
        </p:txBody>
      </p:sp>
      <p:sp>
        <p:nvSpPr>
          <p:cNvPr id="179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80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MUX 1 번 → "352.7" / Err1~3 · LED 거리 막대</a:t>
            </a:r>
          </a:p>
        </p:txBody>
      </p:sp>
      <p:cxnSp>
        <p:nvCxnSpPr>
          <p:cNvPr id="181" name="선 v2"/>
          <p:cNvCxnSpPr/>
          <p:nvPr/>
        </p:nvCxnSpPr>
        <p:spPr>
          <a:xfrm>
            <a:off x="11814048" y="4247388"/>
            <a:ext cx="0" cy="2427732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선 v2"/>
          <p:cNvCxnSpPr/>
          <p:nvPr/>
        </p:nvCxnSpPr>
        <p:spPr>
          <a:xfrm>
            <a:off x="11814048" y="6675120"/>
            <a:ext cx="457200" cy="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선 v2"/>
          <p:cNvCxnSpPr/>
          <p:nvPr/>
        </p:nvCxnSpPr>
        <p:spPr>
          <a:xfrm>
            <a:off x="12271248" y="6675120"/>
            <a:ext cx="0" cy="274320"/>
          </a:xfrm>
          <a:prstGeom prst="line">
            <a:avLst/>
          </a:prstGeom>
          <a:ln w="15875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접점 v2"/>
          <p:cNvSpPr/>
          <p:nvPr/>
        </p:nvSpPr>
        <p:spPr>
          <a:xfrm>
            <a:off x="11772900" y="42062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5" name="선 v2"/>
          <p:cNvCxnSpPr/>
          <p:nvPr/>
        </p:nvCxnSpPr>
        <p:spPr>
          <a:xfrm>
            <a:off x="11887200" y="4247388"/>
            <a:ext cx="0" cy="235458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선 v2"/>
          <p:cNvCxnSpPr/>
          <p:nvPr/>
        </p:nvCxnSpPr>
        <p:spPr>
          <a:xfrm>
            <a:off x="11887200" y="6601968"/>
            <a:ext cx="475488" cy="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선 v2"/>
          <p:cNvCxnSpPr/>
          <p:nvPr/>
        </p:nvCxnSpPr>
        <p:spPr>
          <a:xfrm>
            <a:off x="12362688" y="6601968"/>
            <a:ext cx="0" cy="347472"/>
          </a:xfrm>
          <a:prstGeom prst="line">
            <a:avLst/>
          </a:prstGeom>
          <a:ln w="15875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접점 v2"/>
          <p:cNvSpPr/>
          <p:nvPr/>
        </p:nvSpPr>
        <p:spPr>
          <a:xfrm>
            <a:off x="11846052" y="42062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9" name="선 v2"/>
          <p:cNvCxnSpPr/>
          <p:nvPr/>
        </p:nvCxnSpPr>
        <p:spPr>
          <a:xfrm>
            <a:off x="11960352" y="5390388"/>
            <a:ext cx="0" cy="1138428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선 v2"/>
          <p:cNvCxnSpPr/>
          <p:nvPr/>
        </p:nvCxnSpPr>
        <p:spPr>
          <a:xfrm>
            <a:off x="11960352" y="6528816"/>
            <a:ext cx="603504" cy="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선 v2"/>
          <p:cNvCxnSpPr/>
          <p:nvPr/>
        </p:nvCxnSpPr>
        <p:spPr>
          <a:xfrm>
            <a:off x="12563856" y="6528816"/>
            <a:ext cx="0" cy="420624"/>
          </a:xfrm>
          <a:prstGeom prst="line">
            <a:avLst/>
          </a:prstGeom>
          <a:ln w="15875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접점 v2"/>
          <p:cNvSpPr/>
          <p:nvPr/>
        </p:nvSpPr>
        <p:spPr>
          <a:xfrm>
            <a:off x="11919204" y="53492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3" name="선 v2"/>
          <p:cNvCxnSpPr/>
          <p:nvPr/>
        </p:nvCxnSpPr>
        <p:spPr>
          <a:xfrm>
            <a:off x="12033504" y="5390388"/>
            <a:ext cx="0" cy="1065276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선 v2"/>
          <p:cNvCxnSpPr/>
          <p:nvPr/>
        </p:nvCxnSpPr>
        <p:spPr>
          <a:xfrm>
            <a:off x="12033504" y="6455664"/>
            <a:ext cx="621792" cy="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선 v2"/>
          <p:cNvCxnSpPr/>
          <p:nvPr/>
        </p:nvCxnSpPr>
        <p:spPr>
          <a:xfrm>
            <a:off x="12655296" y="6455664"/>
            <a:ext cx="0" cy="493776"/>
          </a:xfrm>
          <a:prstGeom prst="line">
            <a:avLst/>
          </a:prstGeom>
          <a:ln w="15875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접점 v2"/>
          <p:cNvSpPr/>
          <p:nvPr/>
        </p:nvSpPr>
        <p:spPr>
          <a:xfrm>
            <a:off x="11992356" y="53492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라벨 v2"/>
          <p:cNvSpPr txBox="1"/>
          <p:nvPr/>
        </p:nvSpPr>
        <p:spPr>
          <a:xfrm>
            <a:off x="841248" y="9582912"/>
            <a:ext cx="15361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v2</a:t>
            </a:r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  이 흐름은 v1 과 같음 · 바뀐 곳은 전송 MUX 입력 3 · 4 (distance·상태 · hum·temp·상태) 뿐  →  /get · /auto 장 참고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  ·  v2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/btn 흐름 ③ 온습도 화면 — /btn R 측정 · /btn U 자동  (v2)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/mod temp 상태에서 R · U 만 DHT11 로 · 단선 dht11_io 로 40 비트 수신 → 습도.온도 표시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라벨"/>
          <p:cNvSpPr txBox="1"/>
          <p:nvPr/>
        </p:nvSpPr>
        <p:spPr>
          <a:xfrm>
            <a:off x="6245351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(mode = 0) · 진행 중 동작은 계속</a:t>
            </a:r>
          </a:p>
        </p:txBody>
      </p:sp>
      <p:sp>
        <p:nvSpPr>
          <p:cNvPr id="12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4" name="라벨"/>
          <p:cNvSpPr txBox="1"/>
          <p:nvPr/>
        </p:nvSpPr>
        <p:spPr>
          <a:xfrm>
            <a:off x="6245351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(mode = 0) · 진행 중 동작은 계속</a:t>
            </a:r>
          </a:p>
        </p:txBody>
      </p:sp>
      <p:sp>
        <p:nvSpPr>
          <p:cNvPr id="15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7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9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20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3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6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8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C05621"/>
          </a:solidFill>
          <a:ln w="2222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9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31750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31750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9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2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7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60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2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C05621"/>
          </a:solidFill>
          <a:ln w="2222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4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5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7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9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70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3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4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6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7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8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80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81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2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4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5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6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8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9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FDF0E6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3" name="라벨"/>
          <p:cNvSpPr txBox="1"/>
          <p:nvPr/>
        </p:nvSpPr>
        <p:spPr>
          <a:xfrm>
            <a:off x="1202436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4" name="라벨"/>
          <p:cNvSpPr txBox="1"/>
          <p:nvPr/>
        </p:nvSpPr>
        <p:spPr>
          <a:xfrm>
            <a:off x="1175004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5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7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8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9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100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3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5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6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7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8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9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10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2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9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21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3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4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9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3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31750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31750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31750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8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9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라벨"/>
          <p:cNvSpPr txBox="1"/>
          <p:nvPr/>
        </p:nvSpPr>
        <p:spPr>
          <a:xfrm>
            <a:off x="1074420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3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5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6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7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distance·상태 3</a:t>
            </a:r>
          </a:p>
        </p:txBody>
      </p:sp>
      <p:sp>
        <p:nvSpPr>
          <p:cNvPr id="148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hum·temp·상태 4</a:t>
            </a:r>
          </a:p>
        </p:txBody>
      </p:sp>
      <p:cxnSp>
        <p:nvCxnSpPr>
          <p:cNvPr id="149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4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61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3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4" name="단계 2"/>
          <p:cNvSpPr/>
          <p:nvPr/>
        </p:nvSpPr>
        <p:spPr>
          <a:xfrm>
            <a:off x="7589520" y="5596128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5" name="단계 3"/>
          <p:cNvSpPr/>
          <p:nvPr/>
        </p:nvSpPr>
        <p:spPr>
          <a:xfrm>
            <a:off x="3703320" y="2697480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6" name="단계 4"/>
          <p:cNvSpPr/>
          <p:nvPr/>
        </p:nvSpPr>
        <p:spPr>
          <a:xfrm>
            <a:off x="4983480" y="4736592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7" name="단계 5"/>
          <p:cNvSpPr/>
          <p:nvPr/>
        </p:nvSpPr>
        <p:spPr>
          <a:xfrm>
            <a:off x="8321040" y="4983480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8" name="단계 6"/>
          <p:cNvSpPr/>
          <p:nvPr/>
        </p:nvSpPr>
        <p:spPr>
          <a:xfrm>
            <a:off x="12984480" y="2377440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9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0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 : "/btn R" 또는 "/btn U"</a:t>
            </a:r>
          </a:p>
        </p:txBody>
      </p:sp>
      <p:sp>
        <p:nvSpPr>
          <p:cNvPr id="171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 : uart_btn 1 clk 펄스 (물리 버튼 clk 엔 대기)</a:t>
            </a:r>
          </a:p>
        </p:txBody>
      </p:sp>
      <p:sp>
        <p:nvSpPr>
          <p:cNvPr id="173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4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OR : 물리 btn | uart_btn → 같은 버튼 tick</a:t>
            </a:r>
          </a:p>
        </p:txBody>
      </p:sp>
      <p:sp>
        <p:nvSpPr>
          <p:cNvPr id="175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6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AND : mode_dht = 1 → DHT11 만 통과</a:t>
            </a:r>
          </a:p>
        </p:txBody>
      </p:sp>
      <p:sp>
        <p:nvSpPr>
          <p:cNvPr id="177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8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dht11_top : R 1 회 측정 · U 자동 측정 (2 s) 켜기/끄기</a:t>
            </a:r>
          </a:p>
        </p:txBody>
      </p:sp>
      <p:sp>
        <p:nvSpPr>
          <p:cNvPr id="179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80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MUX 2 번 → "55.24" / ---- / Err · LED 상태</a:t>
            </a:r>
          </a:p>
        </p:txBody>
      </p:sp>
      <p:cxnSp>
        <p:nvCxnSpPr>
          <p:cNvPr id="181" name="선 v2"/>
          <p:cNvCxnSpPr/>
          <p:nvPr/>
        </p:nvCxnSpPr>
        <p:spPr>
          <a:xfrm>
            <a:off x="11814048" y="4247388"/>
            <a:ext cx="0" cy="2427732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선 v2"/>
          <p:cNvCxnSpPr/>
          <p:nvPr/>
        </p:nvCxnSpPr>
        <p:spPr>
          <a:xfrm>
            <a:off x="11814048" y="6675120"/>
            <a:ext cx="457200" cy="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선 v2"/>
          <p:cNvCxnSpPr/>
          <p:nvPr/>
        </p:nvCxnSpPr>
        <p:spPr>
          <a:xfrm>
            <a:off x="12271248" y="6675120"/>
            <a:ext cx="0" cy="274320"/>
          </a:xfrm>
          <a:prstGeom prst="line">
            <a:avLst/>
          </a:prstGeom>
          <a:ln w="15875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접점 v2"/>
          <p:cNvSpPr/>
          <p:nvPr/>
        </p:nvSpPr>
        <p:spPr>
          <a:xfrm>
            <a:off x="11772900" y="42062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5" name="선 v2"/>
          <p:cNvCxnSpPr/>
          <p:nvPr/>
        </p:nvCxnSpPr>
        <p:spPr>
          <a:xfrm>
            <a:off x="11887200" y="4247388"/>
            <a:ext cx="0" cy="235458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선 v2"/>
          <p:cNvCxnSpPr/>
          <p:nvPr/>
        </p:nvCxnSpPr>
        <p:spPr>
          <a:xfrm>
            <a:off x="11887200" y="6601968"/>
            <a:ext cx="475488" cy="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선 v2"/>
          <p:cNvCxnSpPr/>
          <p:nvPr/>
        </p:nvCxnSpPr>
        <p:spPr>
          <a:xfrm>
            <a:off x="12362688" y="6601968"/>
            <a:ext cx="0" cy="347472"/>
          </a:xfrm>
          <a:prstGeom prst="line">
            <a:avLst/>
          </a:prstGeom>
          <a:ln w="15875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접점 v2"/>
          <p:cNvSpPr/>
          <p:nvPr/>
        </p:nvSpPr>
        <p:spPr>
          <a:xfrm>
            <a:off x="11846052" y="42062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9" name="선 v2"/>
          <p:cNvCxnSpPr/>
          <p:nvPr/>
        </p:nvCxnSpPr>
        <p:spPr>
          <a:xfrm>
            <a:off x="11960352" y="5390388"/>
            <a:ext cx="0" cy="1138428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선 v2"/>
          <p:cNvCxnSpPr/>
          <p:nvPr/>
        </p:nvCxnSpPr>
        <p:spPr>
          <a:xfrm>
            <a:off x="11960352" y="6528816"/>
            <a:ext cx="603504" cy="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선 v2"/>
          <p:cNvCxnSpPr/>
          <p:nvPr/>
        </p:nvCxnSpPr>
        <p:spPr>
          <a:xfrm>
            <a:off x="12563856" y="6528816"/>
            <a:ext cx="0" cy="420624"/>
          </a:xfrm>
          <a:prstGeom prst="line">
            <a:avLst/>
          </a:prstGeom>
          <a:ln w="15875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접점 v2"/>
          <p:cNvSpPr/>
          <p:nvPr/>
        </p:nvSpPr>
        <p:spPr>
          <a:xfrm>
            <a:off x="11919204" y="53492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3" name="선 v2"/>
          <p:cNvCxnSpPr/>
          <p:nvPr/>
        </p:nvCxnSpPr>
        <p:spPr>
          <a:xfrm>
            <a:off x="12033504" y="5390388"/>
            <a:ext cx="0" cy="1065276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선 v2"/>
          <p:cNvCxnSpPr/>
          <p:nvPr/>
        </p:nvCxnSpPr>
        <p:spPr>
          <a:xfrm>
            <a:off x="12033504" y="6455664"/>
            <a:ext cx="621792" cy="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선 v2"/>
          <p:cNvCxnSpPr/>
          <p:nvPr/>
        </p:nvCxnSpPr>
        <p:spPr>
          <a:xfrm>
            <a:off x="12655296" y="6455664"/>
            <a:ext cx="0" cy="493776"/>
          </a:xfrm>
          <a:prstGeom prst="line">
            <a:avLst/>
          </a:prstGeom>
          <a:ln w="15875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접점 v2"/>
          <p:cNvSpPr/>
          <p:nvPr/>
        </p:nvSpPr>
        <p:spPr>
          <a:xfrm>
            <a:off x="11992356" y="53492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라벨 v2"/>
          <p:cNvSpPr txBox="1"/>
          <p:nvPr/>
        </p:nvSpPr>
        <p:spPr>
          <a:xfrm>
            <a:off x="841248" y="9582912"/>
            <a:ext cx="15361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v2</a:t>
            </a:r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  이 흐름은 v1 과 같음 · 바뀐 곳은 전송 MUX 입력 3 · 4 (distance·상태 · hum·temp·상태) 뿐  →  /get · /auto 장 참고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  ·  v2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/get 흐름 — 지금 화면 값 1 회 전송  (v2)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전송 MUX 에 상태 비트를 같이 실음 (24 비트의 빈 윗비트) → sender 가 상태를 보고 Err N · --%--C 글자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3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5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E6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7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18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19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4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6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7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7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48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5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6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2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3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5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7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68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1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2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4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5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6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78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79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0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2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3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4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6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7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89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0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202436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175004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3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5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6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7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98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99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3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4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5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6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7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08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0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1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19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1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2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7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1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6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7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라벨"/>
          <p:cNvSpPr txBox="1"/>
          <p:nvPr/>
        </p:nvSpPr>
        <p:spPr>
          <a:xfrm>
            <a:off x="1074420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1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E6F4F3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3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4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5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C7A7B"/>
          </a:solidFill>
          <a:ln w="254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distance·상태 3</a:t>
            </a:r>
          </a:p>
        </p:txBody>
      </p:sp>
      <p:sp>
        <p:nvSpPr>
          <p:cNvPr id="146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C7A7B"/>
          </a:solidFill>
          <a:ln w="254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hum·temp·상태 4</a:t>
            </a:r>
          </a:p>
        </p:txBody>
      </p:sp>
      <p:cxnSp>
        <p:nvCxnSpPr>
          <p:cNvPr id="147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2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5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1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2" name="단계 2"/>
          <p:cNvSpPr/>
          <p:nvPr/>
        </p:nvSpPr>
        <p:spPr>
          <a:xfrm>
            <a:off x="8503920" y="822960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3" name="단계 3"/>
          <p:cNvSpPr/>
          <p:nvPr/>
        </p:nvSpPr>
        <p:spPr>
          <a:xfrm>
            <a:off x="10698480" y="777240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4" name="단계 4"/>
          <p:cNvSpPr/>
          <p:nvPr/>
        </p:nvSpPr>
        <p:spPr>
          <a:xfrm>
            <a:off x="12938760" y="640080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5" name="단계 5"/>
          <p:cNvSpPr/>
          <p:nvPr/>
        </p:nvSpPr>
        <p:spPr>
          <a:xfrm>
            <a:off x="13533120" y="7882127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6" name="단계 6"/>
          <p:cNvSpPr/>
          <p:nvPr/>
        </p:nvSpPr>
        <p:spPr>
          <a:xfrm>
            <a:off x="16733520" y="690372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7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8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 : "/get " + Enter</a:t>
            </a:r>
          </a:p>
        </p:txBody>
      </p:sp>
      <p:sp>
        <p:nvSpPr>
          <p:cNvPr id="169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0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 : /mod 모드 → send_sel (온습도 4 · 거리 3 · …)</a:t>
            </a:r>
          </a:p>
        </p:txBody>
      </p:sp>
      <p:sp>
        <p:nvSpPr>
          <p:cNvPr id="171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전송 MUX : *_time · distance·상태 · hum·temp·상태</a:t>
            </a:r>
          </a:p>
        </p:txBody>
      </p:sp>
      <p:sp>
        <p:nvSpPr>
          <p:cNvPr id="173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4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send_go 1 펄스 → sender 가 그 순간 값 캡처</a:t>
            </a:r>
          </a:p>
        </p:txBody>
      </p:sp>
      <p:sp>
        <p:nvSpPr>
          <p:cNvPr id="175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6" name="라벨"/>
          <p:cNvSpPr txBox="1"/>
          <p:nvPr/>
        </p:nvSpPr>
        <p:spPr>
          <a:xfrm>
            <a:off x="6830568" y="9061704"/>
            <a:ext cx="51663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sender_char_mux : "14:05:09.12" · "045cm" · "55%24C"</a:t>
            </a:r>
            <a:r>
              <a:rPr sz="11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 · "Err 2" · "--%--C"</a:t>
            </a:r>
          </a:p>
        </p:txBody>
      </p:sp>
      <p:sp>
        <p:nvSpPr>
          <p:cNvPr id="177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78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FIFO_TX → uart_tx → tx · /auto 중엔 /get 무시</a:t>
            </a:r>
          </a:p>
        </p:txBody>
      </p:sp>
      <p:cxnSp>
        <p:nvCxnSpPr>
          <p:cNvPr id="179" name="선 v2"/>
          <p:cNvCxnSpPr/>
          <p:nvPr/>
        </p:nvCxnSpPr>
        <p:spPr>
          <a:xfrm>
            <a:off x="11814048" y="4247388"/>
            <a:ext cx="0" cy="2427732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선 v2"/>
          <p:cNvCxnSpPr/>
          <p:nvPr/>
        </p:nvCxnSpPr>
        <p:spPr>
          <a:xfrm>
            <a:off x="11814048" y="6675120"/>
            <a:ext cx="457200" cy="0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선 v2"/>
          <p:cNvCxnSpPr/>
          <p:nvPr/>
        </p:nvCxnSpPr>
        <p:spPr>
          <a:xfrm>
            <a:off x="12271248" y="6675120"/>
            <a:ext cx="0" cy="27432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접점 v2"/>
          <p:cNvSpPr/>
          <p:nvPr/>
        </p:nvSpPr>
        <p:spPr>
          <a:xfrm>
            <a:off x="11772900" y="420624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3" name="선 v2"/>
          <p:cNvCxnSpPr/>
          <p:nvPr/>
        </p:nvCxnSpPr>
        <p:spPr>
          <a:xfrm>
            <a:off x="11887200" y="4247388"/>
            <a:ext cx="0" cy="2354580"/>
          </a:xfrm>
          <a:prstGeom prst="line">
            <a:avLst/>
          </a:prstGeom>
          <a:ln w="22225">
            <a:solidFill>
              <a:srgbClr val="1E8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선 v2"/>
          <p:cNvCxnSpPr/>
          <p:nvPr/>
        </p:nvCxnSpPr>
        <p:spPr>
          <a:xfrm>
            <a:off x="11887200" y="6601968"/>
            <a:ext cx="475488" cy="0"/>
          </a:xfrm>
          <a:prstGeom prst="line">
            <a:avLst/>
          </a:prstGeom>
          <a:ln w="22225">
            <a:solidFill>
              <a:srgbClr val="1E8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선 v2"/>
          <p:cNvCxnSpPr/>
          <p:nvPr/>
        </p:nvCxnSpPr>
        <p:spPr>
          <a:xfrm>
            <a:off x="12362688" y="6601968"/>
            <a:ext cx="0" cy="347472"/>
          </a:xfrm>
          <a:prstGeom prst="line">
            <a:avLst/>
          </a:prstGeom>
          <a:ln w="22225">
            <a:solidFill>
              <a:srgbClr val="1E8E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접점 v2"/>
          <p:cNvSpPr/>
          <p:nvPr/>
        </p:nvSpPr>
        <p:spPr>
          <a:xfrm>
            <a:off x="11846052" y="4206240"/>
            <a:ext cx="82296" cy="82296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7" name="선 v2"/>
          <p:cNvCxnSpPr/>
          <p:nvPr/>
        </p:nvCxnSpPr>
        <p:spPr>
          <a:xfrm>
            <a:off x="11960352" y="5390388"/>
            <a:ext cx="0" cy="1138428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선 v2"/>
          <p:cNvCxnSpPr/>
          <p:nvPr/>
        </p:nvCxnSpPr>
        <p:spPr>
          <a:xfrm>
            <a:off x="11960352" y="6528816"/>
            <a:ext cx="603504" cy="0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선 v2"/>
          <p:cNvCxnSpPr/>
          <p:nvPr/>
        </p:nvCxnSpPr>
        <p:spPr>
          <a:xfrm>
            <a:off x="12563856" y="6528816"/>
            <a:ext cx="0" cy="420624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접점 v2"/>
          <p:cNvSpPr/>
          <p:nvPr/>
        </p:nvSpPr>
        <p:spPr>
          <a:xfrm>
            <a:off x="11919204" y="534924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1" name="선 v2"/>
          <p:cNvCxnSpPr/>
          <p:nvPr/>
        </p:nvCxnSpPr>
        <p:spPr>
          <a:xfrm>
            <a:off x="12033504" y="5390388"/>
            <a:ext cx="0" cy="1065276"/>
          </a:xfrm>
          <a:prstGeom prst="line">
            <a:avLst/>
          </a:prstGeom>
          <a:ln w="22225">
            <a:solidFill>
              <a:srgbClr val="1E8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선 v2"/>
          <p:cNvCxnSpPr/>
          <p:nvPr/>
        </p:nvCxnSpPr>
        <p:spPr>
          <a:xfrm>
            <a:off x="12033504" y="6455664"/>
            <a:ext cx="621792" cy="0"/>
          </a:xfrm>
          <a:prstGeom prst="line">
            <a:avLst/>
          </a:prstGeom>
          <a:ln w="22225">
            <a:solidFill>
              <a:srgbClr val="1E8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선 v2"/>
          <p:cNvCxnSpPr/>
          <p:nvPr/>
        </p:nvCxnSpPr>
        <p:spPr>
          <a:xfrm>
            <a:off x="12655296" y="6455664"/>
            <a:ext cx="0" cy="493776"/>
          </a:xfrm>
          <a:prstGeom prst="line">
            <a:avLst/>
          </a:prstGeom>
          <a:ln w="22225">
            <a:solidFill>
              <a:srgbClr val="1E8E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접점 v2"/>
          <p:cNvSpPr/>
          <p:nvPr/>
        </p:nvSpPr>
        <p:spPr>
          <a:xfrm>
            <a:off x="11992356" y="5349240"/>
            <a:ext cx="82296" cy="82296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라벨 v2"/>
          <p:cNvSpPr txBox="1"/>
          <p:nvPr/>
        </p:nvSpPr>
        <p:spPr>
          <a:xfrm>
            <a:off x="8503920" y="365760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상태 → FND MUX </a:t>
            </a:r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+ 전송 MUX</a:t>
            </a:r>
          </a:p>
        </p:txBody>
      </p:sp>
      <p:sp>
        <p:nvSpPr>
          <p:cNvPr id="196" name="라벨 v2"/>
          <p:cNvSpPr txBox="1"/>
          <p:nvPr/>
        </p:nvSpPr>
        <p:spPr>
          <a:xfrm>
            <a:off x="8503920" y="480060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상태 → FND MUX </a:t>
            </a:r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+ 전송 MUX</a:t>
            </a:r>
          </a:p>
        </p:txBody>
      </p:sp>
      <p:sp>
        <p:nvSpPr>
          <p:cNvPr id="197" name="라벨 v2"/>
          <p:cNvSpPr txBox="1"/>
          <p:nvPr/>
        </p:nvSpPr>
        <p:spPr>
          <a:xfrm>
            <a:off x="841248" y="9582912"/>
            <a:ext cx="15361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v2</a:t>
            </a:r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  전송 MUX 3 = {13'd0, 상태, 거리} · 4 = {4'd0, err, dashes, 상태, 습도, 온도}  →  PC 도 Err 1 · Err 2 · Err 3 · --%--C  (회색 선 = 값 · 초록 선 = 상태)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  ·  v2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/auto 흐름 — 1 초마다 자동 전송  (v2)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컨트롤러가 AUTO 상태로 1 Hz tick 을 켬 · 매 tick 마다 정해진 (all 이면 0→4 순환) 데이터를 한 줄씩 TX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3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5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E6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7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18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19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4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6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7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7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48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5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6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2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3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5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7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68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1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2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4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5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6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78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79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0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2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3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4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6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7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89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0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202436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175004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3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5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6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7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98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99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3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4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5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6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7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08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0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1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19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1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2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7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1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6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7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라벨"/>
          <p:cNvSpPr txBox="1"/>
          <p:nvPr/>
        </p:nvSpPr>
        <p:spPr>
          <a:xfrm>
            <a:off x="1074420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1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E6F4F3"/>
          </a:solidFill>
          <a:ln w="1905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3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4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5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C7A7B"/>
          </a:solidFill>
          <a:ln w="254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distance·상태 3</a:t>
            </a:r>
          </a:p>
        </p:txBody>
      </p:sp>
      <p:sp>
        <p:nvSpPr>
          <p:cNvPr id="146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2C7A7B"/>
          </a:solidFill>
          <a:ln w="254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hum·temp·상태 4</a:t>
            </a:r>
          </a:p>
        </p:txBody>
      </p:sp>
      <p:cxnSp>
        <p:nvCxnSpPr>
          <p:cNvPr id="147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31750">
            <a:solidFill>
              <a:srgbClr val="2C7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C7A7B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2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5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31750">
            <a:solidFill>
              <a:srgbClr val="2C7A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1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2" name="단계 2"/>
          <p:cNvSpPr/>
          <p:nvPr/>
        </p:nvSpPr>
        <p:spPr>
          <a:xfrm>
            <a:off x="6400800" y="781812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3" name="단계 3"/>
          <p:cNvSpPr/>
          <p:nvPr/>
        </p:nvSpPr>
        <p:spPr>
          <a:xfrm>
            <a:off x="9646920" y="7607808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4" name="단계 4"/>
          <p:cNvSpPr/>
          <p:nvPr/>
        </p:nvSpPr>
        <p:spPr>
          <a:xfrm>
            <a:off x="10698480" y="777240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5" name="단계 5"/>
          <p:cNvSpPr/>
          <p:nvPr/>
        </p:nvSpPr>
        <p:spPr>
          <a:xfrm>
            <a:off x="13533120" y="7882127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6" name="단계 6"/>
          <p:cNvSpPr/>
          <p:nvPr/>
        </p:nvSpPr>
        <p:spPr>
          <a:xfrm>
            <a:off x="16733520" y="6903720"/>
            <a:ext cx="347472" cy="347472"/>
          </a:xfrm>
          <a:prstGeom prst="ellipse">
            <a:avLst/>
          </a:prstGeom>
          <a:solidFill>
            <a:srgbClr val="2C7A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7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8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 : "/auto " + 3 글자 (_sw _tm _wh dis tem all off)</a:t>
            </a:r>
          </a:p>
        </p:txBody>
      </p:sp>
      <p:sp>
        <p:nvSpPr>
          <p:cNvPr id="169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0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 : AUTO 상태 · sender_tick 켜기</a:t>
            </a:r>
          </a:p>
        </p:txBody>
      </p:sp>
      <p:sp>
        <p:nvSpPr>
          <p:cNvPr id="171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 Hz 마다 send_sel · all = 0→1→2→3→4 순환</a:t>
            </a:r>
          </a:p>
        </p:txBody>
      </p:sp>
      <p:sp>
        <p:nvSpPr>
          <p:cNvPr id="173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4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전송 MUX (상태 비트 포함) → sender (busy 면 저장 후 이어서)</a:t>
            </a:r>
          </a:p>
        </p:txBody>
      </p:sp>
      <p:sp>
        <p:nvSpPr>
          <p:cNvPr id="175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6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FIFO_TX → uart_tx → tx 한 줄씩</a:t>
            </a:r>
          </a:p>
        </p:txBody>
      </p:sp>
      <p:sp>
        <p:nvSpPr>
          <p:cNvPr id="177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78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/auto off → 멈춤 · FND 화면은 그대로 (/mod 와 별개)</a:t>
            </a:r>
          </a:p>
        </p:txBody>
      </p:sp>
      <p:cxnSp>
        <p:nvCxnSpPr>
          <p:cNvPr id="179" name="선 v2"/>
          <p:cNvCxnSpPr/>
          <p:nvPr/>
        </p:nvCxnSpPr>
        <p:spPr>
          <a:xfrm>
            <a:off x="11814048" y="4247388"/>
            <a:ext cx="0" cy="2427732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선 v2"/>
          <p:cNvCxnSpPr/>
          <p:nvPr/>
        </p:nvCxnSpPr>
        <p:spPr>
          <a:xfrm>
            <a:off x="11814048" y="6675120"/>
            <a:ext cx="457200" cy="0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선 v2"/>
          <p:cNvCxnSpPr/>
          <p:nvPr/>
        </p:nvCxnSpPr>
        <p:spPr>
          <a:xfrm>
            <a:off x="12271248" y="6675120"/>
            <a:ext cx="0" cy="274320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접점 v2"/>
          <p:cNvSpPr/>
          <p:nvPr/>
        </p:nvSpPr>
        <p:spPr>
          <a:xfrm>
            <a:off x="11772900" y="420624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3" name="선 v2"/>
          <p:cNvCxnSpPr/>
          <p:nvPr/>
        </p:nvCxnSpPr>
        <p:spPr>
          <a:xfrm>
            <a:off x="11887200" y="4247388"/>
            <a:ext cx="0" cy="2354580"/>
          </a:xfrm>
          <a:prstGeom prst="line">
            <a:avLst/>
          </a:prstGeom>
          <a:ln w="22225">
            <a:solidFill>
              <a:srgbClr val="1E8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선 v2"/>
          <p:cNvCxnSpPr/>
          <p:nvPr/>
        </p:nvCxnSpPr>
        <p:spPr>
          <a:xfrm>
            <a:off x="11887200" y="6601968"/>
            <a:ext cx="475488" cy="0"/>
          </a:xfrm>
          <a:prstGeom prst="line">
            <a:avLst/>
          </a:prstGeom>
          <a:ln w="22225">
            <a:solidFill>
              <a:srgbClr val="1E8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선 v2"/>
          <p:cNvCxnSpPr/>
          <p:nvPr/>
        </p:nvCxnSpPr>
        <p:spPr>
          <a:xfrm>
            <a:off x="12362688" y="6601968"/>
            <a:ext cx="0" cy="347472"/>
          </a:xfrm>
          <a:prstGeom prst="line">
            <a:avLst/>
          </a:prstGeom>
          <a:ln w="22225">
            <a:solidFill>
              <a:srgbClr val="1E8E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접점 v2"/>
          <p:cNvSpPr/>
          <p:nvPr/>
        </p:nvSpPr>
        <p:spPr>
          <a:xfrm>
            <a:off x="11846052" y="4206240"/>
            <a:ext cx="82296" cy="82296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7" name="선 v2"/>
          <p:cNvCxnSpPr/>
          <p:nvPr/>
        </p:nvCxnSpPr>
        <p:spPr>
          <a:xfrm>
            <a:off x="11960352" y="5390388"/>
            <a:ext cx="0" cy="1138428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선 v2"/>
          <p:cNvCxnSpPr/>
          <p:nvPr/>
        </p:nvCxnSpPr>
        <p:spPr>
          <a:xfrm>
            <a:off x="11960352" y="6528816"/>
            <a:ext cx="603504" cy="0"/>
          </a:xfrm>
          <a:prstGeom prst="line">
            <a:avLst/>
          </a:prstGeom>
          <a:ln w="22225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선 v2"/>
          <p:cNvCxnSpPr/>
          <p:nvPr/>
        </p:nvCxnSpPr>
        <p:spPr>
          <a:xfrm>
            <a:off x="12563856" y="6528816"/>
            <a:ext cx="0" cy="420624"/>
          </a:xfrm>
          <a:prstGeom prst="line">
            <a:avLst/>
          </a:prstGeom>
          <a:ln w="22225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접점 v2"/>
          <p:cNvSpPr/>
          <p:nvPr/>
        </p:nvSpPr>
        <p:spPr>
          <a:xfrm>
            <a:off x="11919204" y="534924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1" name="선 v2"/>
          <p:cNvCxnSpPr/>
          <p:nvPr/>
        </p:nvCxnSpPr>
        <p:spPr>
          <a:xfrm>
            <a:off x="12033504" y="5390388"/>
            <a:ext cx="0" cy="1065276"/>
          </a:xfrm>
          <a:prstGeom prst="line">
            <a:avLst/>
          </a:prstGeom>
          <a:ln w="22225">
            <a:solidFill>
              <a:srgbClr val="1E8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선 v2"/>
          <p:cNvCxnSpPr/>
          <p:nvPr/>
        </p:nvCxnSpPr>
        <p:spPr>
          <a:xfrm>
            <a:off x="12033504" y="6455664"/>
            <a:ext cx="621792" cy="0"/>
          </a:xfrm>
          <a:prstGeom prst="line">
            <a:avLst/>
          </a:prstGeom>
          <a:ln w="22225">
            <a:solidFill>
              <a:srgbClr val="1E8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선 v2"/>
          <p:cNvCxnSpPr/>
          <p:nvPr/>
        </p:nvCxnSpPr>
        <p:spPr>
          <a:xfrm>
            <a:off x="12655296" y="6455664"/>
            <a:ext cx="0" cy="493776"/>
          </a:xfrm>
          <a:prstGeom prst="line">
            <a:avLst/>
          </a:prstGeom>
          <a:ln w="22225">
            <a:solidFill>
              <a:srgbClr val="1E8E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접점 v2"/>
          <p:cNvSpPr/>
          <p:nvPr/>
        </p:nvSpPr>
        <p:spPr>
          <a:xfrm>
            <a:off x="11992356" y="5349240"/>
            <a:ext cx="82296" cy="82296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라벨 v2"/>
          <p:cNvSpPr txBox="1"/>
          <p:nvPr/>
        </p:nvSpPr>
        <p:spPr>
          <a:xfrm>
            <a:off x="8503920" y="365760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상태 → FND MUX </a:t>
            </a:r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+ 전송 MUX</a:t>
            </a:r>
          </a:p>
        </p:txBody>
      </p:sp>
      <p:sp>
        <p:nvSpPr>
          <p:cNvPr id="196" name="라벨 v2"/>
          <p:cNvSpPr txBox="1"/>
          <p:nvPr/>
        </p:nvSpPr>
        <p:spPr>
          <a:xfrm>
            <a:off x="8503920" y="480060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상태 → FND MUX </a:t>
            </a:r>
            <a:r>
              <a:rPr sz="1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+ 전송 MUX</a:t>
            </a:r>
          </a:p>
        </p:txBody>
      </p:sp>
      <p:sp>
        <p:nvSpPr>
          <p:cNvPr id="197" name="라벨 v2"/>
          <p:cNvSpPr txBox="1"/>
          <p:nvPr/>
        </p:nvSpPr>
        <p:spPr>
          <a:xfrm>
            <a:off x="841248" y="9582912"/>
            <a:ext cx="15361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v2</a:t>
            </a:r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  /auto dis · tem · all 의 거리 · 온습도 줄도 /get 과 같은 길  →  오류면 Err N · 측정 전이면 --%--C  (회색 선 = 값 · 초록 선 = 상태)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  ·  v2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/set · /off 흐름 — 시계 시간 설정 · 12 / 24 시간  (v2)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/set 은 모드 비트 bit2 (set_sw2) · bit3 (hour24_sw3) 만 바꿈 · 값 변경은 /btn 으로 · /mod 받은 뒤에만 동작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3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5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7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18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19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4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6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7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7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48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5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6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2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3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5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7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68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1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2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4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5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6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78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79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0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2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3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4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6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7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89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0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202436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175004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3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5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6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7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98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99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3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4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5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6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7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08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0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1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19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1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2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7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31750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1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6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7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라벨"/>
          <p:cNvSpPr txBox="1"/>
          <p:nvPr/>
        </p:nvSpPr>
        <p:spPr>
          <a:xfrm>
            <a:off x="1074420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1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3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4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5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distance·상태 3</a:t>
            </a:r>
          </a:p>
        </p:txBody>
      </p:sp>
      <p:sp>
        <p:nvSpPr>
          <p:cNvPr id="146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hum·temp·상태 4</a:t>
            </a:r>
          </a:p>
        </p:txBody>
      </p:sp>
      <p:cxnSp>
        <p:nvCxnSpPr>
          <p:cNvPr id="147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2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5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1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2" name="단계 2"/>
          <p:cNvSpPr/>
          <p:nvPr/>
        </p:nvSpPr>
        <p:spPr>
          <a:xfrm>
            <a:off x="6400800" y="7818120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3" name="단계 3"/>
          <p:cNvSpPr/>
          <p:nvPr/>
        </p:nvSpPr>
        <p:spPr>
          <a:xfrm>
            <a:off x="1188720" y="5532120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4" name="단계 4"/>
          <p:cNvSpPr/>
          <p:nvPr/>
        </p:nvSpPr>
        <p:spPr>
          <a:xfrm>
            <a:off x="8321040" y="3246120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5" name="단계 5"/>
          <p:cNvSpPr/>
          <p:nvPr/>
        </p:nvSpPr>
        <p:spPr>
          <a:xfrm>
            <a:off x="4983480" y="2450592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6" name="단계 6"/>
          <p:cNvSpPr/>
          <p:nvPr/>
        </p:nvSpPr>
        <p:spPr>
          <a:xfrm>
            <a:off x="12984480" y="2377440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7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8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 : "/set w_hm" · "/set 24h⏎" · "/off w_h"</a:t>
            </a:r>
          </a:p>
        </p:txBody>
      </p:sp>
      <p:sp>
        <p:nvSpPr>
          <p:cNvPr id="169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0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/set w_hm → bit2 = 1 (w_hm 화면일 때만) · /off → 0</a:t>
            </a:r>
          </a:p>
        </p:txBody>
      </p:sp>
      <p:sp>
        <p:nvSpPr>
          <p:cNvPr id="171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/set 24h · 12h → bit3 · /mod 를 바꿔도 유지</a:t>
            </a:r>
          </a:p>
        </p:txBody>
      </p:sp>
      <p:sp>
        <p:nvSpPr>
          <p:cNvPr id="173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4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ctrl_bit → wts_top 시계 설정 모드 · 12/24 변환</a:t>
            </a:r>
          </a:p>
        </p:txBody>
      </p:sp>
      <p:sp>
        <p:nvSpPr>
          <p:cNvPr id="175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6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/btn L · R 커서 · U · D ± (버튼 흐름은 /btn ① 과 같음)</a:t>
            </a:r>
          </a:p>
        </p:txBody>
      </p:sp>
      <p:sp>
        <p:nvSpPr>
          <p:cNvPr id="177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78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: 커서 자리 0.5 s 점멸 · LD15 오후</a:t>
            </a:r>
          </a:p>
        </p:txBody>
      </p:sp>
      <p:cxnSp>
        <p:nvCxnSpPr>
          <p:cNvPr id="179" name="선 v2"/>
          <p:cNvCxnSpPr/>
          <p:nvPr/>
        </p:nvCxnSpPr>
        <p:spPr>
          <a:xfrm>
            <a:off x="11814048" y="4247388"/>
            <a:ext cx="0" cy="2427732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선 v2"/>
          <p:cNvCxnSpPr/>
          <p:nvPr/>
        </p:nvCxnSpPr>
        <p:spPr>
          <a:xfrm>
            <a:off x="11814048" y="6675120"/>
            <a:ext cx="457200" cy="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선 v2"/>
          <p:cNvCxnSpPr/>
          <p:nvPr/>
        </p:nvCxnSpPr>
        <p:spPr>
          <a:xfrm>
            <a:off x="12271248" y="6675120"/>
            <a:ext cx="0" cy="274320"/>
          </a:xfrm>
          <a:prstGeom prst="line">
            <a:avLst/>
          </a:prstGeom>
          <a:ln w="15875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접점 v2"/>
          <p:cNvSpPr/>
          <p:nvPr/>
        </p:nvSpPr>
        <p:spPr>
          <a:xfrm>
            <a:off x="11772900" y="42062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3" name="선 v2"/>
          <p:cNvCxnSpPr/>
          <p:nvPr/>
        </p:nvCxnSpPr>
        <p:spPr>
          <a:xfrm>
            <a:off x="11887200" y="4247388"/>
            <a:ext cx="0" cy="235458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선 v2"/>
          <p:cNvCxnSpPr/>
          <p:nvPr/>
        </p:nvCxnSpPr>
        <p:spPr>
          <a:xfrm>
            <a:off x="11887200" y="6601968"/>
            <a:ext cx="475488" cy="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선 v2"/>
          <p:cNvCxnSpPr/>
          <p:nvPr/>
        </p:nvCxnSpPr>
        <p:spPr>
          <a:xfrm>
            <a:off x="12362688" y="6601968"/>
            <a:ext cx="0" cy="347472"/>
          </a:xfrm>
          <a:prstGeom prst="line">
            <a:avLst/>
          </a:prstGeom>
          <a:ln w="15875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접점 v2"/>
          <p:cNvSpPr/>
          <p:nvPr/>
        </p:nvSpPr>
        <p:spPr>
          <a:xfrm>
            <a:off x="11846052" y="42062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7" name="선 v2"/>
          <p:cNvCxnSpPr/>
          <p:nvPr/>
        </p:nvCxnSpPr>
        <p:spPr>
          <a:xfrm>
            <a:off x="11960352" y="5390388"/>
            <a:ext cx="0" cy="1138428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선 v2"/>
          <p:cNvCxnSpPr/>
          <p:nvPr/>
        </p:nvCxnSpPr>
        <p:spPr>
          <a:xfrm>
            <a:off x="11960352" y="6528816"/>
            <a:ext cx="603504" cy="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선 v2"/>
          <p:cNvCxnSpPr/>
          <p:nvPr/>
        </p:nvCxnSpPr>
        <p:spPr>
          <a:xfrm>
            <a:off x="12563856" y="6528816"/>
            <a:ext cx="0" cy="420624"/>
          </a:xfrm>
          <a:prstGeom prst="line">
            <a:avLst/>
          </a:prstGeom>
          <a:ln w="15875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접점 v2"/>
          <p:cNvSpPr/>
          <p:nvPr/>
        </p:nvSpPr>
        <p:spPr>
          <a:xfrm>
            <a:off x="11919204" y="53492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1" name="선 v2"/>
          <p:cNvCxnSpPr/>
          <p:nvPr/>
        </p:nvCxnSpPr>
        <p:spPr>
          <a:xfrm>
            <a:off x="12033504" y="5390388"/>
            <a:ext cx="0" cy="1065276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선 v2"/>
          <p:cNvCxnSpPr/>
          <p:nvPr/>
        </p:nvCxnSpPr>
        <p:spPr>
          <a:xfrm>
            <a:off x="12033504" y="6455664"/>
            <a:ext cx="621792" cy="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선 v2"/>
          <p:cNvCxnSpPr/>
          <p:nvPr/>
        </p:nvCxnSpPr>
        <p:spPr>
          <a:xfrm>
            <a:off x="12655296" y="6455664"/>
            <a:ext cx="0" cy="493776"/>
          </a:xfrm>
          <a:prstGeom prst="line">
            <a:avLst/>
          </a:prstGeom>
          <a:ln w="15875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접점 v2"/>
          <p:cNvSpPr/>
          <p:nvPr/>
        </p:nvSpPr>
        <p:spPr>
          <a:xfrm>
            <a:off x="11992356" y="53492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라벨 v2"/>
          <p:cNvSpPr txBox="1"/>
          <p:nvPr/>
        </p:nvSpPr>
        <p:spPr>
          <a:xfrm>
            <a:off x="841248" y="9582912"/>
            <a:ext cx="15361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v2</a:t>
            </a:r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  이 흐름은 v1 과 같음 · 바뀐 곳은 전송 MUX 입력 3 · 4 (distance·상태 · hum·temp·상태) 뿐  →  /get · /auto 장 참고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WTS · SR04 · DHT11 · UART</a:t>
            </a:r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라벨"/>
          <p:cNvSpPr txBox="1"/>
          <p:nvPr/>
        </p:nvSpPr>
        <p:spPr>
          <a:xfrm>
            <a:off x="1042415" y="4023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명령별 흐름  ·  v2</a:t>
            </a:r>
          </a:p>
        </p:txBody>
      </p:sp>
      <p:sp>
        <p:nvSpPr>
          <p:cNvPr id="5" name="라벨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오류 흐름 — 형식이 틀리면 ERROR 응답  (v2)</a:t>
            </a:r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7" name="라벨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디코더가 틀린 글자에서 바로 버리고 o_error · 컨트롤러는 ERROR 를 get / auto 보다 먼저 보냄</a:t>
            </a:r>
          </a:p>
        </p:txBody>
      </p:sp>
      <p:sp>
        <p:nvSpPr>
          <p:cNvPr id="8" name="라벨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9" name="줄 WTS  스톱워치 · 시계 · 타이머"/>
          <p:cNvSpPr/>
          <p:nvPr/>
        </p:nvSpPr>
        <p:spPr>
          <a:xfrm>
            <a:off x="5806440" y="2487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라벨"/>
          <p:cNvSpPr txBox="1"/>
          <p:nvPr/>
        </p:nvSpPr>
        <p:spPr>
          <a:xfrm>
            <a:off x="5916168" y="2514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WTS  스톱워치 · 시계 · 타이머</a:t>
            </a:r>
          </a:p>
        </p:txBody>
      </p:sp>
      <p:sp>
        <p:nvSpPr>
          <p:cNvPr id="11" name="줄 SR04  초음파 거리"/>
          <p:cNvSpPr/>
          <p:nvPr/>
        </p:nvSpPr>
        <p:spPr>
          <a:xfrm>
            <a:off x="5806440" y="3630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라벨"/>
          <p:cNvSpPr txBox="1"/>
          <p:nvPr/>
        </p:nvSpPr>
        <p:spPr>
          <a:xfrm>
            <a:off x="5916168" y="3657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SR04  초음파 거리</a:t>
            </a:r>
          </a:p>
        </p:txBody>
      </p:sp>
      <p:sp>
        <p:nvSpPr>
          <p:cNvPr id="13" name="줄 DHT11  온습도"/>
          <p:cNvSpPr/>
          <p:nvPr/>
        </p:nvSpPr>
        <p:spPr>
          <a:xfrm>
            <a:off x="5806440" y="4773168"/>
            <a:ext cx="6035040" cy="1051560"/>
          </a:xfrm>
          <a:prstGeom prst="roundRect">
            <a:avLst>
              <a:gd name="adj" fmla="val 695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라벨"/>
          <p:cNvSpPr txBox="1"/>
          <p:nvPr/>
        </p:nvSpPr>
        <p:spPr>
          <a:xfrm>
            <a:off x="5916168" y="4800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  온습도</a:t>
            </a:r>
          </a:p>
        </p:txBody>
      </p:sp>
      <p:sp>
        <p:nvSpPr>
          <p:cNvPr id="15" name="줄 UART  명령 수신 · 응답 전송  (uart_top)"/>
          <p:cNvSpPr/>
          <p:nvPr/>
        </p:nvSpPr>
        <p:spPr>
          <a:xfrm>
            <a:off x="1600200" y="6355080"/>
            <a:ext cx="15133320" cy="2011680"/>
          </a:xfrm>
          <a:prstGeom prst="roundRect">
            <a:avLst>
              <a:gd name="adj" fmla="val 3636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라벨"/>
          <p:cNvSpPr txBox="1"/>
          <p:nvPr/>
        </p:nvSpPr>
        <p:spPr>
          <a:xfrm>
            <a:off x="1709928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53030"/>
                </a:solidFill>
                <a:latin typeface="Malgun Gothic"/>
                <a:ea typeface="Malgun Gothic"/>
                <a:cs typeface="Malgun Gothic"/>
              </a:rPr>
              <a:t>UART  명령 수신 · 응답 전송  (uart_top)</a:t>
            </a:r>
          </a:p>
        </p:txBody>
      </p:sp>
      <p:sp>
        <p:nvSpPr>
          <p:cNvPr id="17" name="라벨"/>
          <p:cNvSpPr txBox="1"/>
          <p:nvPr/>
        </p:nvSpPr>
        <p:spPr>
          <a:xfrm>
            <a:off x="11137392" y="638251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C53030"/>
                </a:solidFill>
                <a:latin typeface="Malgun Gothic"/>
                <a:ea typeface="Malgun Gothic"/>
                <a:cs typeface="Malgun Gothic"/>
              </a:rPr>
              <a:t>9600 bps · 8N1</a:t>
            </a:r>
          </a:p>
        </p:txBody>
      </p:sp>
      <p:sp>
        <p:nvSpPr>
          <p:cNvPr id="18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cxnSp>
        <p:nvCxnSpPr>
          <p:cNvPr id="19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21" name="선"/>
          <p:cNvCxnSpPr/>
          <p:nvPr/>
        </p:nvCxnSpPr>
        <p:spPr>
          <a:xfrm>
            <a:off x="3429000" y="2249424"/>
            <a:ext cx="11567159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선"/>
          <p:cNvCxnSpPr/>
          <p:nvPr/>
        </p:nvCxnSpPr>
        <p:spPr>
          <a:xfrm>
            <a:off x="14996159" y="2249424"/>
            <a:ext cx="0" cy="356616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24" name="선"/>
          <p:cNvCxnSpPr/>
          <p:nvPr/>
        </p:nvCxnSpPr>
        <p:spPr>
          <a:xfrm>
            <a:off x="2194560" y="2441448"/>
            <a:ext cx="0" cy="118872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태그 btn_R"/>
          <p:cNvSpPr/>
          <p:nvPr/>
        </p:nvSpPr>
        <p:spPr>
          <a:xfrm>
            <a:off x="411480" y="263347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btn_R</a:t>
            </a:r>
          </a:p>
        </p:txBody>
      </p:sp>
      <p:cxnSp>
        <p:nvCxnSpPr>
          <p:cNvPr id="26" name="선"/>
          <p:cNvCxnSpPr/>
          <p:nvPr/>
        </p:nvCxnSpPr>
        <p:spPr>
          <a:xfrm>
            <a:off x="1417320" y="277977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태그 btn_L"/>
          <p:cNvSpPr/>
          <p:nvPr/>
        </p:nvSpPr>
        <p:spPr>
          <a:xfrm>
            <a:off x="411480" y="299923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btn_L</a:t>
            </a:r>
          </a:p>
        </p:txBody>
      </p:sp>
      <p:cxnSp>
        <p:nvCxnSpPr>
          <p:cNvPr id="28" name="선"/>
          <p:cNvCxnSpPr/>
          <p:nvPr/>
        </p:nvCxnSpPr>
        <p:spPr>
          <a:xfrm>
            <a:off x="1417320" y="314553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태그 btn_U"/>
          <p:cNvSpPr/>
          <p:nvPr/>
        </p:nvSpPr>
        <p:spPr>
          <a:xfrm>
            <a:off x="411480" y="3364991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btn_U</a:t>
            </a:r>
          </a:p>
        </p:txBody>
      </p:sp>
      <p:cxnSp>
        <p:nvCxnSpPr>
          <p:cNvPr id="30" name="선"/>
          <p:cNvCxnSpPr/>
          <p:nvPr/>
        </p:nvCxnSpPr>
        <p:spPr>
          <a:xfrm>
            <a:off x="1417320" y="351129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태그 btn_D"/>
          <p:cNvSpPr/>
          <p:nvPr/>
        </p:nvSpPr>
        <p:spPr>
          <a:xfrm>
            <a:off x="411480" y="3730752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</a:t>
            </a:r>
          </a:p>
        </p:txBody>
      </p:sp>
      <p:cxnSp>
        <p:nvCxnSpPr>
          <p:cNvPr id="32" name="선"/>
          <p:cNvCxnSpPr/>
          <p:nvPr/>
        </p:nvCxnSpPr>
        <p:spPr>
          <a:xfrm>
            <a:off x="1417320" y="3877056"/>
            <a:ext cx="320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블록 btn_debounce&#10;×4"/>
          <p:cNvSpPr/>
          <p:nvPr/>
        </p:nvSpPr>
        <p:spPr>
          <a:xfrm>
            <a:off x="1737360" y="2560320"/>
            <a:ext cx="1371600" cy="1481328"/>
          </a:xfrm>
          <a:prstGeom prst="roundRect">
            <a:avLst>
              <a:gd name="adj" fmla="val 5333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/>
            <a:r>
              <a:rPr sz="12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cxnSp>
        <p:nvCxnSpPr>
          <p:cNvPr id="34" name="선"/>
          <p:cNvCxnSpPr/>
          <p:nvPr/>
        </p:nvCxnSpPr>
        <p:spPr>
          <a:xfrm>
            <a:off x="3108960" y="3163824"/>
            <a:ext cx="868679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라벨"/>
          <p:cNvSpPr txBox="1"/>
          <p:nvPr/>
        </p:nvSpPr>
        <p:spPr>
          <a:xfrm>
            <a:off x="3182112" y="290779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phy_btn</a:t>
            </a:r>
          </a:p>
        </p:txBody>
      </p:sp>
      <p:sp>
        <p:nvSpPr>
          <p:cNvPr id="36" name="게이트"/>
          <p:cNvSpPr/>
          <p:nvPr/>
        </p:nvSpPr>
        <p:spPr>
          <a:xfrm>
            <a:off x="3977639" y="3026664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≥1</a:t>
            </a:r>
          </a:p>
        </p:txBody>
      </p:sp>
      <p:cxnSp>
        <p:nvCxnSpPr>
          <p:cNvPr id="37" name="선"/>
          <p:cNvCxnSpPr/>
          <p:nvPr/>
        </p:nvCxnSpPr>
        <p:spPr>
          <a:xfrm>
            <a:off x="4526280" y="3300984"/>
            <a:ext cx="1828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선"/>
          <p:cNvCxnSpPr/>
          <p:nvPr/>
        </p:nvCxnSpPr>
        <p:spPr>
          <a:xfrm>
            <a:off x="4709160" y="2967228"/>
            <a:ext cx="0" cy="2285999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접점"/>
          <p:cNvSpPr/>
          <p:nvPr/>
        </p:nvSpPr>
        <p:spPr>
          <a:xfrm>
            <a:off x="4668012" y="3259836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선"/>
          <p:cNvCxnSpPr/>
          <p:nvPr/>
        </p:nvCxnSpPr>
        <p:spPr>
          <a:xfrm>
            <a:off x="3611880" y="4965192"/>
            <a:ext cx="128016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선"/>
          <p:cNvCxnSpPr/>
          <p:nvPr/>
        </p:nvCxnSpPr>
        <p:spPr>
          <a:xfrm>
            <a:off x="4892040" y="3241548"/>
            <a:ext cx="0" cy="228600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접점"/>
          <p:cNvSpPr/>
          <p:nvPr/>
        </p:nvSpPr>
        <p:spPr>
          <a:xfrm>
            <a:off x="4850892" y="4924044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선"/>
          <p:cNvCxnSpPr/>
          <p:nvPr/>
        </p:nvCxnSpPr>
        <p:spPr>
          <a:xfrm>
            <a:off x="4709160" y="2967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선"/>
          <p:cNvCxnSpPr/>
          <p:nvPr/>
        </p:nvCxnSpPr>
        <p:spPr>
          <a:xfrm>
            <a:off x="4892040" y="3241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접점"/>
          <p:cNvSpPr/>
          <p:nvPr/>
        </p:nvSpPr>
        <p:spPr>
          <a:xfrm>
            <a:off x="4850892" y="320040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게이트"/>
          <p:cNvSpPr/>
          <p:nvPr/>
        </p:nvSpPr>
        <p:spPr>
          <a:xfrm>
            <a:off x="5074920" y="2830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47" name="라벨"/>
          <p:cNvSpPr txBox="1"/>
          <p:nvPr/>
        </p:nvSpPr>
        <p:spPr>
          <a:xfrm>
            <a:off x="5029200" y="3387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mode_wts</a:t>
            </a:r>
          </a:p>
        </p:txBody>
      </p:sp>
      <p:cxnSp>
        <p:nvCxnSpPr>
          <p:cNvPr id="48" name="선"/>
          <p:cNvCxnSpPr/>
          <p:nvPr/>
        </p:nvCxnSpPr>
        <p:spPr>
          <a:xfrm>
            <a:off x="5623560" y="3104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라벨"/>
          <p:cNvSpPr txBox="1"/>
          <p:nvPr/>
        </p:nvSpPr>
        <p:spPr>
          <a:xfrm>
            <a:off x="5669280" y="2839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cxnSp>
        <p:nvCxnSpPr>
          <p:cNvPr id="50" name="선"/>
          <p:cNvCxnSpPr/>
          <p:nvPr/>
        </p:nvCxnSpPr>
        <p:spPr>
          <a:xfrm>
            <a:off x="4709160" y="4110228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접점"/>
          <p:cNvSpPr/>
          <p:nvPr/>
        </p:nvSpPr>
        <p:spPr>
          <a:xfrm>
            <a:off x="4668012" y="406908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선"/>
          <p:cNvCxnSpPr/>
          <p:nvPr/>
        </p:nvCxnSpPr>
        <p:spPr>
          <a:xfrm>
            <a:off x="4892040" y="4384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접점"/>
          <p:cNvSpPr/>
          <p:nvPr/>
        </p:nvSpPr>
        <p:spPr>
          <a:xfrm>
            <a:off x="4850892" y="434340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게이트"/>
          <p:cNvSpPr/>
          <p:nvPr/>
        </p:nvSpPr>
        <p:spPr>
          <a:xfrm>
            <a:off x="5074920" y="3973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55" name="라벨"/>
          <p:cNvSpPr txBox="1"/>
          <p:nvPr/>
        </p:nvSpPr>
        <p:spPr>
          <a:xfrm>
            <a:off x="5029200" y="45308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mode_dist</a:t>
            </a:r>
          </a:p>
        </p:txBody>
      </p:sp>
      <p:cxnSp>
        <p:nvCxnSpPr>
          <p:cNvPr id="56" name="선"/>
          <p:cNvCxnSpPr/>
          <p:nvPr/>
        </p:nvCxnSpPr>
        <p:spPr>
          <a:xfrm>
            <a:off x="5623560" y="4247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라벨"/>
          <p:cNvSpPr txBox="1"/>
          <p:nvPr/>
        </p:nvSpPr>
        <p:spPr>
          <a:xfrm>
            <a:off x="5669280" y="3982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cxnSp>
        <p:nvCxnSpPr>
          <p:cNvPr id="58" name="선"/>
          <p:cNvCxnSpPr/>
          <p:nvPr/>
        </p:nvCxnSpPr>
        <p:spPr>
          <a:xfrm>
            <a:off x="4709160" y="5253227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접점"/>
          <p:cNvSpPr/>
          <p:nvPr/>
        </p:nvSpPr>
        <p:spPr>
          <a:xfrm>
            <a:off x="4668012" y="5212079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선"/>
          <p:cNvCxnSpPr/>
          <p:nvPr/>
        </p:nvCxnSpPr>
        <p:spPr>
          <a:xfrm>
            <a:off x="4892040" y="5527548"/>
            <a:ext cx="1828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게이트"/>
          <p:cNvSpPr/>
          <p:nvPr/>
        </p:nvSpPr>
        <p:spPr>
          <a:xfrm>
            <a:off x="5074920" y="511606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62" name="라벨"/>
          <p:cNvSpPr txBox="1"/>
          <p:nvPr/>
        </p:nvSpPr>
        <p:spPr>
          <a:xfrm>
            <a:off x="5029200" y="5673851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mode_dht</a:t>
            </a:r>
          </a:p>
        </p:txBody>
      </p:sp>
      <p:cxnSp>
        <p:nvCxnSpPr>
          <p:cNvPr id="63" name="선"/>
          <p:cNvCxnSpPr/>
          <p:nvPr/>
        </p:nvCxnSpPr>
        <p:spPr>
          <a:xfrm>
            <a:off x="5623560" y="5390388"/>
            <a:ext cx="7315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라벨"/>
          <p:cNvSpPr txBox="1"/>
          <p:nvPr/>
        </p:nvSpPr>
        <p:spPr>
          <a:xfrm>
            <a:off x="5669280" y="512521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 · U</a:t>
            </a:r>
          </a:p>
        </p:txBody>
      </p:sp>
      <p:sp>
        <p:nvSpPr>
          <p:cNvPr id="65" name="모드 선택 칸"/>
          <p:cNvSpPr/>
          <p:nvPr/>
        </p:nvSpPr>
        <p:spPr>
          <a:xfrm>
            <a:off x="1600200" y="4160520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BFBFC"/>
          </a:solidFill>
          <a:ln w="12700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라벨"/>
          <p:cNvSpPr txBox="1"/>
          <p:nvPr/>
        </p:nvSpPr>
        <p:spPr>
          <a:xfrm>
            <a:off x="1664208" y="41788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67" name="태그 sw0 ~ sw6"/>
          <p:cNvSpPr/>
          <p:nvPr/>
        </p:nvSpPr>
        <p:spPr>
          <a:xfrm>
            <a:off x="411480" y="4498848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sw0 ~ sw6</a:t>
            </a:r>
          </a:p>
        </p:txBody>
      </p:sp>
      <p:cxnSp>
        <p:nvCxnSpPr>
          <p:cNvPr id="68" name="선"/>
          <p:cNvCxnSpPr/>
          <p:nvPr/>
        </p:nvCxnSpPr>
        <p:spPr>
          <a:xfrm>
            <a:off x="1417320" y="4645152"/>
            <a:ext cx="5486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MUX MUX"/>
          <p:cNvSpPr/>
          <p:nvPr/>
        </p:nvSpPr>
        <p:spPr>
          <a:xfrm>
            <a:off x="1965960" y="448056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라벨"/>
          <p:cNvSpPr txBox="1"/>
          <p:nvPr/>
        </p:nvSpPr>
        <p:spPr>
          <a:xfrm>
            <a:off x="1965960" y="452628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1" name="라벨"/>
          <p:cNvSpPr txBox="1"/>
          <p:nvPr/>
        </p:nvSpPr>
        <p:spPr>
          <a:xfrm>
            <a:off x="1965960" y="5093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72" name="선"/>
          <p:cNvCxnSpPr/>
          <p:nvPr/>
        </p:nvCxnSpPr>
        <p:spPr>
          <a:xfrm>
            <a:off x="2423160" y="4965192"/>
            <a:ext cx="2743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블록 모드&#10;디코드"/>
          <p:cNvSpPr/>
          <p:nvPr/>
        </p:nvSpPr>
        <p:spPr>
          <a:xfrm>
            <a:off x="2697480" y="4663440"/>
            <a:ext cx="914400" cy="603504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모드</a:t>
            </a:r>
          </a:p>
          <a:p>
            <a:pPr algn="ctr"/>
            <a:r>
              <a:rPr sz="11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디코드</a:t>
            </a:r>
          </a:p>
        </p:txBody>
      </p:sp>
      <p:sp>
        <p:nvSpPr>
          <p:cNvPr id="74" name="라벨"/>
          <p:cNvSpPr txBox="1"/>
          <p:nvPr/>
        </p:nvSpPr>
        <p:spPr>
          <a:xfrm>
            <a:off x="2331720" y="53400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→ mode_* · disp_sel</a:t>
            </a:r>
          </a:p>
        </p:txBody>
      </p:sp>
      <p:sp>
        <p:nvSpPr>
          <p:cNvPr id="75" name="블록 wts_top"/>
          <p:cNvSpPr/>
          <p:nvPr/>
        </p:nvSpPr>
        <p:spPr>
          <a:xfrm>
            <a:off x="6355080" y="2761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wts_top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control_unit · datapath × 3</a:t>
            </a:r>
          </a:p>
        </p:txBody>
      </p:sp>
      <p:cxnSp>
        <p:nvCxnSpPr>
          <p:cNvPr id="76" name="선"/>
          <p:cNvCxnSpPr/>
          <p:nvPr/>
        </p:nvCxnSpPr>
        <p:spPr>
          <a:xfrm>
            <a:off x="8549640" y="3104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라벨"/>
          <p:cNvSpPr txBox="1"/>
          <p:nvPr/>
        </p:nvSpPr>
        <p:spPr>
          <a:xfrm>
            <a:off x="8686800" y="2839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disp  시 · 분 · 초 · 1/100</a:t>
            </a:r>
          </a:p>
        </p:txBody>
      </p:sp>
      <p:sp>
        <p:nvSpPr>
          <p:cNvPr id="78" name="라벨"/>
          <p:cNvSpPr txBox="1"/>
          <p:nvPr/>
        </p:nvSpPr>
        <p:spPr>
          <a:xfrm>
            <a:off x="8686800" y="3150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← ctrl_bit[4:0]  (sw0 · sw1 · sw2 · sw3 · sw4)</a:t>
            </a:r>
          </a:p>
        </p:txBody>
      </p:sp>
      <p:sp>
        <p:nvSpPr>
          <p:cNvPr id="79" name="블록 sr04_top"/>
          <p:cNvSpPr/>
          <p:nvPr/>
        </p:nvSpPr>
        <p:spPr>
          <a:xfrm>
            <a:off x="6355080" y="3904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sr04_top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mode_ctrl · led_bar</a:t>
            </a:r>
          </a:p>
        </p:txBody>
      </p:sp>
      <p:cxnSp>
        <p:nvCxnSpPr>
          <p:cNvPr id="80" name="선"/>
          <p:cNvCxnSpPr/>
          <p:nvPr/>
        </p:nvCxnSpPr>
        <p:spPr>
          <a:xfrm>
            <a:off x="8549640" y="4247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라벨"/>
          <p:cNvSpPr txBox="1"/>
          <p:nvPr/>
        </p:nvSpPr>
        <p:spPr>
          <a:xfrm>
            <a:off x="8686800" y="3982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distance_x10 · err · status</a:t>
            </a:r>
          </a:p>
        </p:txBody>
      </p:sp>
      <p:sp>
        <p:nvSpPr>
          <p:cNvPr id="82" name="라벨"/>
          <p:cNvSpPr txBox="1"/>
          <p:nvPr/>
        </p:nvSpPr>
        <p:spPr>
          <a:xfrm>
            <a:off x="8686800" y="429310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trig → JA1 · echo ← JA2 · sw15 = 거리 막대 LED</a:t>
            </a:r>
          </a:p>
        </p:txBody>
      </p:sp>
      <p:sp>
        <p:nvSpPr>
          <p:cNvPr id="83" name="블록 dht11_top"/>
          <p:cNvSpPr/>
          <p:nvPr/>
        </p:nvSpPr>
        <p:spPr>
          <a:xfrm>
            <a:off x="6355080" y="5047488"/>
            <a:ext cx="2194560" cy="685800"/>
          </a:xfrm>
          <a:prstGeom prst="roundRect">
            <a:avLst>
              <a:gd name="adj" fmla="val 10666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dht11_top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core · controller · manager</a:t>
            </a:r>
          </a:p>
        </p:txBody>
      </p:sp>
      <p:cxnSp>
        <p:nvCxnSpPr>
          <p:cNvPr id="84" name="선"/>
          <p:cNvCxnSpPr/>
          <p:nvPr/>
        </p:nvCxnSpPr>
        <p:spPr>
          <a:xfrm>
            <a:off x="8549640" y="5390388"/>
            <a:ext cx="361188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라벨"/>
          <p:cNvSpPr txBox="1"/>
          <p:nvPr/>
        </p:nvSpPr>
        <p:spPr>
          <a:xfrm>
            <a:off x="8686800" y="51252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 · dashes · err</a:t>
            </a:r>
          </a:p>
        </p:txBody>
      </p:sp>
      <p:sp>
        <p:nvSpPr>
          <p:cNvPr id="86" name="라벨"/>
          <p:cNvSpPr txBox="1"/>
          <p:nvPr/>
        </p:nvSpPr>
        <p:spPr>
          <a:xfrm>
            <a:off x="8686800" y="5436107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dht11_io ↔ JXADC3 (M2)</a:t>
            </a:r>
          </a:p>
        </p:txBody>
      </p:sp>
      <p:sp>
        <p:nvSpPr>
          <p:cNvPr id="87" name="MUX FND"/>
          <p:cNvSpPr/>
          <p:nvPr/>
        </p:nvSpPr>
        <p:spPr>
          <a:xfrm>
            <a:off x="12161520" y="2606040"/>
            <a:ext cx="640080" cy="3108960"/>
          </a:xfrm>
          <a:prstGeom prst="roundRect">
            <a:avLst>
              <a:gd name="adj" fmla="val 11428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라벨"/>
          <p:cNvSpPr txBox="1"/>
          <p:nvPr/>
        </p:nvSpPr>
        <p:spPr>
          <a:xfrm>
            <a:off x="12161520" y="2985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89" name="라벨"/>
          <p:cNvSpPr txBox="1"/>
          <p:nvPr/>
        </p:nvSpPr>
        <p:spPr>
          <a:xfrm>
            <a:off x="12161520" y="4128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0" name="라벨"/>
          <p:cNvSpPr txBox="1"/>
          <p:nvPr/>
        </p:nvSpPr>
        <p:spPr>
          <a:xfrm>
            <a:off x="12161520" y="527151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1" name="라벨"/>
          <p:cNvSpPr txBox="1"/>
          <p:nvPr/>
        </p:nvSpPr>
        <p:spPr>
          <a:xfrm>
            <a:off x="12024360" y="57424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 MUX</a:t>
            </a:r>
          </a:p>
        </p:txBody>
      </p:sp>
      <p:sp>
        <p:nvSpPr>
          <p:cNvPr id="92" name="라벨"/>
          <p:cNvSpPr txBox="1"/>
          <p:nvPr/>
        </p:nvSpPr>
        <p:spPr>
          <a:xfrm>
            <a:off x="11750040" y="596188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sel = disp_sel</a:t>
            </a:r>
          </a:p>
        </p:txBody>
      </p:sp>
      <p:cxnSp>
        <p:nvCxnSpPr>
          <p:cNvPr id="93" name="선"/>
          <p:cNvCxnSpPr/>
          <p:nvPr/>
        </p:nvCxnSpPr>
        <p:spPr>
          <a:xfrm>
            <a:off x="12801600" y="3017520"/>
            <a:ext cx="128016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라벨"/>
          <p:cNvSpPr txBox="1"/>
          <p:nvPr/>
        </p:nvSpPr>
        <p:spPr>
          <a:xfrm>
            <a:off x="12874752" y="277063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fnd_data</a:t>
            </a:r>
          </a:p>
        </p:txBody>
      </p:sp>
      <p:sp>
        <p:nvSpPr>
          <p:cNvPr id="95" name="블록 FND&#10;컨트롤러"/>
          <p:cNvSpPr/>
          <p:nvPr/>
        </p:nvSpPr>
        <p:spPr>
          <a:xfrm>
            <a:off x="14081760" y="26060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</a:p>
        </p:txBody>
      </p:sp>
      <p:sp>
        <p:nvSpPr>
          <p:cNvPr id="96" name="태그 disp_sel"/>
          <p:cNvSpPr/>
          <p:nvPr/>
        </p:nvSpPr>
        <p:spPr>
          <a:xfrm>
            <a:off x="13167360" y="325526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97" name="태그 wt_cursor"/>
          <p:cNvSpPr/>
          <p:nvPr/>
        </p:nvSpPr>
        <p:spPr>
          <a:xfrm>
            <a:off x="13167360" y="354787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98" name="태그 set_sw2"/>
          <p:cNvSpPr/>
          <p:nvPr/>
        </p:nvSpPr>
        <p:spPr>
          <a:xfrm>
            <a:off x="13167360" y="384048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set_sw2</a:t>
            </a:r>
          </a:p>
        </p:txBody>
      </p:sp>
      <p:cxnSp>
        <p:nvCxnSpPr>
          <p:cNvPr id="99" name="선"/>
          <p:cNvCxnSpPr/>
          <p:nvPr/>
        </p:nvCxnSpPr>
        <p:spPr>
          <a:xfrm>
            <a:off x="15910559" y="3054096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태그 fnd_com"/>
          <p:cNvSpPr/>
          <p:nvPr/>
        </p:nvSpPr>
        <p:spPr>
          <a:xfrm>
            <a:off x="16322040" y="29077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cxnSp>
        <p:nvCxnSpPr>
          <p:cNvPr id="101" name="선"/>
          <p:cNvCxnSpPr/>
          <p:nvPr/>
        </p:nvCxnSpPr>
        <p:spPr>
          <a:xfrm>
            <a:off x="15910559" y="3739896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태그 fnd_font"/>
          <p:cNvSpPr/>
          <p:nvPr/>
        </p:nvSpPr>
        <p:spPr>
          <a:xfrm>
            <a:off x="16322040" y="3593592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103" name="블록 LED 로직"/>
          <p:cNvSpPr/>
          <p:nvPr/>
        </p:nvSpPr>
        <p:spPr>
          <a:xfrm>
            <a:off x="14081760" y="4343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led_output</a:t>
            </a:r>
          </a:p>
        </p:txBody>
      </p:sp>
      <p:sp>
        <p:nvSpPr>
          <p:cNvPr id="104" name="태그 disp_sel"/>
          <p:cNvSpPr/>
          <p:nvPr/>
        </p:nvSpPr>
        <p:spPr>
          <a:xfrm>
            <a:off x="13167360" y="4425696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disp_sel</a:t>
            </a:r>
          </a:p>
        </p:txBody>
      </p:sp>
      <p:sp>
        <p:nvSpPr>
          <p:cNvPr id="105" name="태그 WTS 신호"/>
          <p:cNvSpPr/>
          <p:nvPr/>
        </p:nvSpPr>
        <p:spPr>
          <a:xfrm>
            <a:off x="13167360" y="4718304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WTS 신호</a:t>
            </a:r>
          </a:p>
        </p:txBody>
      </p:sp>
      <p:sp>
        <p:nvSpPr>
          <p:cNvPr id="106" name="태그 sr04_led"/>
          <p:cNvSpPr/>
          <p:nvPr/>
        </p:nvSpPr>
        <p:spPr>
          <a:xfrm>
            <a:off x="13167360" y="5010912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sr04_led</a:t>
            </a:r>
          </a:p>
        </p:txBody>
      </p:sp>
      <p:sp>
        <p:nvSpPr>
          <p:cNvPr id="107" name="태그 dht_led"/>
          <p:cNvSpPr/>
          <p:nvPr/>
        </p:nvSpPr>
        <p:spPr>
          <a:xfrm>
            <a:off x="13167360" y="5303520"/>
            <a:ext cx="896112" cy="256032"/>
          </a:xfrm>
          <a:prstGeom prst="homePlate">
            <a:avLst>
              <a:gd name="adj" fmla="val 20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dht_led</a:t>
            </a:r>
          </a:p>
        </p:txBody>
      </p:sp>
      <p:cxnSp>
        <p:nvCxnSpPr>
          <p:cNvPr id="108" name="선"/>
          <p:cNvCxnSpPr/>
          <p:nvPr/>
        </p:nvCxnSpPr>
        <p:spPr>
          <a:xfrm>
            <a:off x="15910559" y="5029200"/>
            <a:ext cx="411481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태그 led[15:0]"/>
          <p:cNvSpPr/>
          <p:nvPr/>
        </p:nvSpPr>
        <p:spPr>
          <a:xfrm>
            <a:off x="16322040" y="4882896"/>
            <a:ext cx="1325880" cy="292608"/>
          </a:xfrm>
          <a:prstGeom prst="homePlate">
            <a:avLst>
              <a:gd name="adj" fmla="val 15448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110" name="태그 rx"/>
          <p:cNvSpPr/>
          <p:nvPr/>
        </p:nvSpPr>
        <p:spPr>
          <a:xfrm>
            <a:off x="411480" y="6903720"/>
            <a:ext cx="1005840" cy="292608"/>
          </a:xfrm>
          <a:prstGeom prst="homePlate">
            <a:avLst>
              <a:gd name="adj" fmla="val 20363"/>
            </a:avLst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rx</a:t>
            </a:r>
          </a:p>
        </p:txBody>
      </p:sp>
      <p:cxnSp>
        <p:nvCxnSpPr>
          <p:cNvPr id="111" name="선"/>
          <p:cNvCxnSpPr/>
          <p:nvPr/>
        </p:nvCxnSpPr>
        <p:spPr>
          <a:xfrm>
            <a:off x="1417320" y="7050024"/>
            <a:ext cx="365760" cy="0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블록 uart_rx"/>
          <p:cNvSpPr/>
          <p:nvPr/>
        </p:nvSpPr>
        <p:spPr>
          <a:xfrm>
            <a:off x="1783080" y="676656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uart_rx</a:t>
            </a:r>
          </a:p>
        </p:txBody>
      </p:sp>
      <p:cxnSp>
        <p:nvCxnSpPr>
          <p:cNvPr id="113" name="선"/>
          <p:cNvCxnSpPr/>
          <p:nvPr/>
        </p:nvCxnSpPr>
        <p:spPr>
          <a:xfrm>
            <a:off x="2971800" y="7050024"/>
            <a:ext cx="274320" cy="0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블록 fifo"/>
          <p:cNvSpPr/>
          <p:nvPr/>
        </p:nvSpPr>
        <p:spPr>
          <a:xfrm>
            <a:off x="3246120" y="6766560"/>
            <a:ext cx="914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RX × 8</a:t>
            </a:r>
          </a:p>
        </p:txBody>
      </p:sp>
      <p:cxnSp>
        <p:nvCxnSpPr>
          <p:cNvPr id="115" name="선"/>
          <p:cNvCxnSpPr/>
          <p:nvPr/>
        </p:nvCxnSpPr>
        <p:spPr>
          <a:xfrm>
            <a:off x="4160520" y="7050024"/>
            <a:ext cx="274320" cy="0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블록 ASCII_DECODER"/>
          <p:cNvSpPr/>
          <p:nvPr/>
        </p:nvSpPr>
        <p:spPr>
          <a:xfrm>
            <a:off x="4434840" y="66751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ASCII_DECODER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/명령 + 옵션 파싱</a:t>
            </a:r>
          </a:p>
        </p:txBody>
      </p:sp>
      <p:cxnSp>
        <p:nvCxnSpPr>
          <p:cNvPr id="117" name="선"/>
          <p:cNvCxnSpPr/>
          <p:nvPr/>
        </p:nvCxnSpPr>
        <p:spPr>
          <a:xfrm>
            <a:off x="6263640" y="7050024"/>
            <a:ext cx="502920" cy="0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블록 baud_tick_gen"/>
          <p:cNvSpPr/>
          <p:nvPr/>
        </p:nvSpPr>
        <p:spPr>
          <a:xfrm>
            <a:off x="1783080" y="7680960"/>
            <a:ext cx="1188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baud_tick_gen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9600 × 16</a:t>
            </a:r>
          </a:p>
        </p:txBody>
      </p:sp>
      <p:cxnSp>
        <p:nvCxnSpPr>
          <p:cNvPr id="119" name="선"/>
          <p:cNvCxnSpPr/>
          <p:nvPr/>
        </p:nvCxnSpPr>
        <p:spPr>
          <a:xfrm flipV="1">
            <a:off x="2377440" y="7333488"/>
            <a:ext cx="0" cy="347472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라벨"/>
          <p:cNvSpPr txBox="1"/>
          <p:nvPr/>
        </p:nvSpPr>
        <p:spPr>
          <a:xfrm>
            <a:off x="3063240" y="7827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53030"/>
                </a:solidFill>
                <a:latin typeface="Malgun Gothic"/>
                <a:ea typeface="Malgun Gothic"/>
                <a:cs typeface="Malgun Gothic"/>
              </a:rPr>
              <a:t>→ RX · TX 공용</a:t>
            </a:r>
          </a:p>
        </p:txBody>
      </p:sp>
      <p:sp>
        <p:nvSpPr>
          <p:cNvPr id="121" name="블록 UART_CONTROLLER"/>
          <p:cNvSpPr/>
          <p:nvPr/>
        </p:nvSpPr>
        <p:spPr>
          <a:xfrm>
            <a:off x="6766560" y="66751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UART_CONTROLLER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mode · auto · btn FSM</a:t>
            </a:r>
          </a:p>
        </p:txBody>
      </p:sp>
      <p:cxnSp>
        <p:nvCxnSpPr>
          <p:cNvPr id="122" name="선"/>
          <p:cNvCxnSpPr/>
          <p:nvPr/>
        </p:nvCxnSpPr>
        <p:spPr>
          <a:xfrm flipV="1">
            <a:off x="6903720" y="6217920"/>
            <a:ext cx="0" cy="45720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선"/>
          <p:cNvCxnSpPr/>
          <p:nvPr/>
        </p:nvCxnSpPr>
        <p:spPr>
          <a:xfrm flipH="1">
            <a:off x="1691640" y="6217920"/>
            <a:ext cx="52120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선"/>
          <p:cNvCxnSpPr/>
          <p:nvPr/>
        </p:nvCxnSpPr>
        <p:spPr>
          <a:xfrm flipV="1">
            <a:off x="1691640" y="5212080"/>
            <a:ext cx="0" cy="100584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선"/>
          <p:cNvCxnSpPr/>
          <p:nvPr/>
        </p:nvCxnSpPr>
        <p:spPr>
          <a:xfrm>
            <a:off x="1691640" y="5212080"/>
            <a:ext cx="2743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라벨"/>
          <p:cNvSpPr txBox="1"/>
          <p:nvPr/>
        </p:nvSpPr>
        <p:spPr>
          <a:xfrm>
            <a:off x="3931920" y="62362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module_control_bit[6:0]</a:t>
            </a:r>
          </a:p>
        </p:txBody>
      </p:sp>
      <p:cxnSp>
        <p:nvCxnSpPr>
          <p:cNvPr id="127" name="선"/>
          <p:cNvCxnSpPr/>
          <p:nvPr/>
        </p:nvCxnSpPr>
        <p:spPr>
          <a:xfrm flipV="1">
            <a:off x="7178040" y="6080760"/>
            <a:ext cx="0" cy="59436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선"/>
          <p:cNvCxnSpPr/>
          <p:nvPr/>
        </p:nvCxnSpPr>
        <p:spPr>
          <a:xfrm flipH="1">
            <a:off x="2194560" y="6080760"/>
            <a:ext cx="4983480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선"/>
          <p:cNvCxnSpPr/>
          <p:nvPr/>
        </p:nvCxnSpPr>
        <p:spPr>
          <a:xfrm flipV="1">
            <a:off x="2194560" y="5468112"/>
            <a:ext cx="0" cy="61264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라벨"/>
          <p:cNvSpPr txBox="1"/>
          <p:nvPr/>
        </p:nvSpPr>
        <p:spPr>
          <a:xfrm>
            <a:off x="2286000" y="585216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uart_mode</a:t>
            </a:r>
          </a:p>
        </p:txBody>
      </p:sp>
      <p:cxnSp>
        <p:nvCxnSpPr>
          <p:cNvPr id="131" name="선"/>
          <p:cNvCxnSpPr/>
          <p:nvPr/>
        </p:nvCxnSpPr>
        <p:spPr>
          <a:xfrm flipV="1">
            <a:off x="7452360" y="5943600"/>
            <a:ext cx="0" cy="73152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선"/>
          <p:cNvCxnSpPr/>
          <p:nvPr/>
        </p:nvCxnSpPr>
        <p:spPr>
          <a:xfrm flipH="1">
            <a:off x="3749039" y="5943600"/>
            <a:ext cx="3703321" cy="0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선"/>
          <p:cNvCxnSpPr/>
          <p:nvPr/>
        </p:nvCxnSpPr>
        <p:spPr>
          <a:xfrm flipV="1">
            <a:off x="3749039" y="3438144"/>
            <a:ext cx="0" cy="2505456"/>
          </a:xfrm>
          <a:prstGeom prst="line">
            <a:avLst/>
          </a:prstGeom>
          <a:ln w="12700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선"/>
          <p:cNvCxnSpPr/>
          <p:nvPr/>
        </p:nvCxnSpPr>
        <p:spPr>
          <a:xfrm>
            <a:off x="3749039" y="3438144"/>
            <a:ext cx="2286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라벨"/>
          <p:cNvSpPr txBox="1"/>
          <p:nvPr/>
        </p:nvSpPr>
        <p:spPr>
          <a:xfrm>
            <a:off x="3840480" y="370332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uart_btn</a:t>
            </a:r>
          </a:p>
        </p:txBody>
      </p:sp>
      <p:sp>
        <p:nvSpPr>
          <p:cNvPr id="136" name="블록 sender_tick"/>
          <p:cNvSpPr/>
          <p:nvPr/>
        </p:nvSpPr>
        <p:spPr>
          <a:xfrm>
            <a:off x="9555480" y="696772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sender_tick</a:t>
            </a:r>
          </a:p>
          <a:p>
            <a:pPr algn="ctr"/>
            <a:r>
              <a:rPr sz="1000" b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1 Hz · scan 0→4</a:t>
            </a:r>
          </a:p>
        </p:txBody>
      </p:sp>
      <p:cxnSp>
        <p:nvCxnSpPr>
          <p:cNvPr id="137" name="선"/>
          <p:cNvCxnSpPr/>
          <p:nvPr/>
        </p:nvCxnSpPr>
        <p:spPr>
          <a:xfrm flipH="1">
            <a:off x="9144000" y="7251192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선"/>
          <p:cNvCxnSpPr/>
          <p:nvPr/>
        </p:nvCxnSpPr>
        <p:spPr>
          <a:xfrm>
            <a:off x="9144000" y="6784848"/>
            <a:ext cx="4727448" cy="0"/>
          </a:xfrm>
          <a:prstGeom prst="line">
            <a:avLst/>
          </a:prstGeom>
          <a:ln w="31750">
            <a:solidFill>
              <a:srgbClr val="C5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선"/>
          <p:cNvCxnSpPr/>
          <p:nvPr/>
        </p:nvCxnSpPr>
        <p:spPr>
          <a:xfrm>
            <a:off x="13871448" y="6784848"/>
            <a:ext cx="0" cy="301752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라벨"/>
          <p:cNvSpPr txBox="1"/>
          <p:nvPr/>
        </p:nvSpPr>
        <p:spPr>
          <a:xfrm>
            <a:off x="10744200" y="654710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53030"/>
                </a:solidFill>
                <a:latin typeface="Malgun Gothic"/>
                <a:ea typeface="Malgun Gothic"/>
                <a:cs typeface="Malgun Gothic"/>
              </a:rPr>
              <a:t>send_go</a:t>
            </a:r>
          </a:p>
        </p:txBody>
      </p:sp>
      <p:sp>
        <p:nvSpPr>
          <p:cNvPr id="141" name="MUX 전송"/>
          <p:cNvSpPr/>
          <p:nvPr/>
        </p:nvSpPr>
        <p:spPr>
          <a:xfrm>
            <a:off x="12161520" y="6949440"/>
            <a:ext cx="640080" cy="1097280"/>
          </a:xfrm>
          <a:prstGeom prst="roundRect">
            <a:avLst>
              <a:gd name="adj" fmla="val 11428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라벨"/>
          <p:cNvSpPr txBox="1"/>
          <p:nvPr/>
        </p:nvSpPr>
        <p:spPr>
          <a:xfrm>
            <a:off x="12161520" y="737920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3" name="라벨"/>
          <p:cNvSpPr txBox="1"/>
          <p:nvPr/>
        </p:nvSpPr>
        <p:spPr>
          <a:xfrm>
            <a:off x="12161520" y="7269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  <a:p>
            <a:pPr algn="ctr"/>
            <a:r>
              <a:rPr sz="10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144" name="태그 *_time 0~2"/>
          <p:cNvSpPr/>
          <p:nvPr/>
        </p:nvSpPr>
        <p:spPr>
          <a:xfrm>
            <a:off x="11082528" y="700430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*_time 0~2</a:t>
            </a:r>
          </a:p>
        </p:txBody>
      </p:sp>
      <p:sp>
        <p:nvSpPr>
          <p:cNvPr id="145" name="태그 distance 3"/>
          <p:cNvSpPr/>
          <p:nvPr/>
        </p:nvSpPr>
        <p:spPr>
          <a:xfrm>
            <a:off x="11082528" y="737006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distance·상태 3</a:t>
            </a:r>
          </a:p>
        </p:txBody>
      </p:sp>
      <p:sp>
        <p:nvSpPr>
          <p:cNvPr id="146" name="태그 hum·temp 4"/>
          <p:cNvSpPr/>
          <p:nvPr/>
        </p:nvSpPr>
        <p:spPr>
          <a:xfrm>
            <a:off x="11082528" y="7735824"/>
            <a:ext cx="1024128" cy="256032"/>
          </a:xfrm>
          <a:prstGeom prst="homePlate">
            <a:avLst>
              <a:gd name="adj" fmla="val 17500"/>
            </a:avLst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hum·temp·상태 4</a:t>
            </a:r>
          </a:p>
        </p:txBody>
      </p:sp>
      <p:cxnSp>
        <p:nvCxnSpPr>
          <p:cNvPr id="147" name="선"/>
          <p:cNvCxnSpPr/>
          <p:nvPr/>
        </p:nvCxnSpPr>
        <p:spPr>
          <a:xfrm>
            <a:off x="12801600" y="7498079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선"/>
          <p:cNvCxnSpPr/>
          <p:nvPr/>
        </p:nvCxnSpPr>
        <p:spPr>
          <a:xfrm>
            <a:off x="8869680" y="8046720"/>
            <a:ext cx="0" cy="201168"/>
          </a:xfrm>
          <a:prstGeom prst="line">
            <a:avLst/>
          </a:prstGeom>
          <a:ln w="31750">
            <a:solidFill>
              <a:srgbClr val="C5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선"/>
          <p:cNvCxnSpPr/>
          <p:nvPr/>
        </p:nvCxnSpPr>
        <p:spPr>
          <a:xfrm>
            <a:off x="8869680" y="8247888"/>
            <a:ext cx="5001768" cy="0"/>
          </a:xfrm>
          <a:prstGeom prst="line">
            <a:avLst/>
          </a:prstGeom>
          <a:ln w="31750">
            <a:solidFill>
              <a:srgbClr val="C5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선"/>
          <p:cNvCxnSpPr/>
          <p:nvPr/>
        </p:nvCxnSpPr>
        <p:spPr>
          <a:xfrm flipV="1">
            <a:off x="13871448" y="7909560"/>
            <a:ext cx="0" cy="338328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라벨"/>
          <p:cNvSpPr txBox="1"/>
          <p:nvPr/>
        </p:nvSpPr>
        <p:spPr>
          <a:xfrm>
            <a:off x="9509760" y="80101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53030"/>
                </a:solidFill>
                <a:latin typeface="Malgun Gothic"/>
                <a:ea typeface="Malgun Gothic"/>
                <a:cs typeface="Malgun Gothic"/>
              </a:rPr>
              <a:t>send_sel</a:t>
            </a:r>
          </a:p>
        </p:txBody>
      </p:sp>
      <p:cxnSp>
        <p:nvCxnSpPr>
          <p:cNvPr id="152" name="선"/>
          <p:cNvCxnSpPr/>
          <p:nvPr/>
        </p:nvCxnSpPr>
        <p:spPr>
          <a:xfrm flipV="1">
            <a:off x="12481560" y="8046720"/>
            <a:ext cx="0" cy="20116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접점"/>
          <p:cNvSpPr/>
          <p:nvPr/>
        </p:nvSpPr>
        <p:spPr>
          <a:xfrm>
            <a:off x="12440412" y="8206740"/>
            <a:ext cx="82296" cy="82296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블록 uart_sender"/>
          <p:cNvSpPr/>
          <p:nvPr/>
        </p:nvSpPr>
        <p:spPr>
          <a:xfrm>
            <a:off x="13213080" y="7086600"/>
            <a:ext cx="1325880" cy="82296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285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uart_sender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숫자 → ASCII 한 줄</a:t>
            </a:r>
          </a:p>
        </p:txBody>
      </p:sp>
      <p:cxnSp>
        <p:nvCxnSpPr>
          <p:cNvPr id="155" name="선"/>
          <p:cNvCxnSpPr/>
          <p:nvPr/>
        </p:nvCxnSpPr>
        <p:spPr>
          <a:xfrm>
            <a:off x="14538960" y="7498079"/>
            <a:ext cx="228599" cy="0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블록 fifo"/>
          <p:cNvSpPr/>
          <p:nvPr/>
        </p:nvSpPr>
        <p:spPr>
          <a:xfrm>
            <a:off x="14767559" y="7214616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fifo</a:t>
            </a:r>
          </a:p>
          <a:p>
            <a:pPr algn="ctr"/>
            <a:r>
              <a:rPr sz="1000" b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TX × 64</a:t>
            </a:r>
          </a:p>
        </p:txBody>
      </p:sp>
      <p:cxnSp>
        <p:nvCxnSpPr>
          <p:cNvPr id="157" name="선"/>
          <p:cNvCxnSpPr/>
          <p:nvPr/>
        </p:nvCxnSpPr>
        <p:spPr>
          <a:xfrm>
            <a:off x="15590520" y="7498079"/>
            <a:ext cx="228600" cy="0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블록 uart_tx"/>
          <p:cNvSpPr/>
          <p:nvPr/>
        </p:nvSpPr>
        <p:spPr>
          <a:xfrm>
            <a:off x="15819120" y="7214616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uart_tx</a:t>
            </a:r>
          </a:p>
        </p:txBody>
      </p:sp>
      <p:cxnSp>
        <p:nvCxnSpPr>
          <p:cNvPr id="159" name="선"/>
          <p:cNvCxnSpPr/>
          <p:nvPr/>
        </p:nvCxnSpPr>
        <p:spPr>
          <a:xfrm>
            <a:off x="16687800" y="7498079"/>
            <a:ext cx="182880" cy="0"/>
          </a:xfrm>
          <a:prstGeom prst="line">
            <a:avLst/>
          </a:prstGeom>
          <a:ln w="31750">
            <a:solidFill>
              <a:srgbClr val="C5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태그 tx"/>
          <p:cNvSpPr/>
          <p:nvPr/>
        </p:nvSpPr>
        <p:spPr>
          <a:xfrm>
            <a:off x="16870680" y="7351775"/>
            <a:ext cx="822960" cy="292608"/>
          </a:xfrm>
          <a:prstGeom prst="homePlate">
            <a:avLst>
              <a:gd name="adj" fmla="val 24888"/>
            </a:avLst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tx</a:t>
            </a:r>
          </a:p>
        </p:txBody>
      </p:sp>
      <p:sp>
        <p:nvSpPr>
          <p:cNvPr id="161" name="단계 1"/>
          <p:cNvSpPr/>
          <p:nvPr/>
        </p:nvSpPr>
        <p:spPr>
          <a:xfrm>
            <a:off x="6089904" y="6473952"/>
            <a:ext cx="347472" cy="347472"/>
          </a:xfrm>
          <a:prstGeom prst="ellipse">
            <a:avLst/>
          </a:prstGeom>
          <a:solidFill>
            <a:srgbClr val="C530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2" name="단계 2"/>
          <p:cNvSpPr/>
          <p:nvPr/>
        </p:nvSpPr>
        <p:spPr>
          <a:xfrm>
            <a:off x="6400800" y="7818120"/>
            <a:ext cx="347472" cy="347472"/>
          </a:xfrm>
          <a:prstGeom prst="ellipse">
            <a:avLst/>
          </a:prstGeom>
          <a:solidFill>
            <a:srgbClr val="C530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3" name="단계 3"/>
          <p:cNvSpPr/>
          <p:nvPr/>
        </p:nvSpPr>
        <p:spPr>
          <a:xfrm>
            <a:off x="8503920" y="8229600"/>
            <a:ext cx="347472" cy="347472"/>
          </a:xfrm>
          <a:prstGeom prst="ellipse">
            <a:avLst/>
          </a:prstGeom>
          <a:solidFill>
            <a:srgbClr val="C530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4" name="단계 4"/>
          <p:cNvSpPr/>
          <p:nvPr/>
        </p:nvSpPr>
        <p:spPr>
          <a:xfrm>
            <a:off x="13533120" y="7882127"/>
            <a:ext cx="347472" cy="347472"/>
          </a:xfrm>
          <a:prstGeom prst="ellipse">
            <a:avLst/>
          </a:prstGeom>
          <a:solidFill>
            <a:srgbClr val="C530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5" name="단계 5"/>
          <p:cNvSpPr/>
          <p:nvPr/>
        </p:nvSpPr>
        <p:spPr>
          <a:xfrm>
            <a:off x="16733520" y="6903720"/>
            <a:ext cx="347472" cy="347472"/>
          </a:xfrm>
          <a:prstGeom prst="ellipse">
            <a:avLst/>
          </a:prstGeom>
          <a:solidFill>
            <a:srgbClr val="C530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6" name="단계 6"/>
          <p:cNvSpPr/>
          <p:nvPr/>
        </p:nvSpPr>
        <p:spPr>
          <a:xfrm>
            <a:off x="3200400" y="4279392"/>
            <a:ext cx="347472" cy="347472"/>
          </a:xfrm>
          <a:prstGeom prst="ellipse">
            <a:avLst/>
          </a:prstGeom>
          <a:solidFill>
            <a:srgbClr val="C530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7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8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디코더 : 모르는 명령 · 공백 없음 · 빈 옵션 → 버림</a:t>
            </a:r>
          </a:p>
        </p:txBody>
      </p:sp>
      <p:sp>
        <p:nvSpPr>
          <p:cNvPr id="169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0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o_error 1 clk → 컨트롤러 err_pend 저장</a:t>
            </a:r>
          </a:p>
        </p:txBody>
      </p:sp>
      <p:sp>
        <p:nvSpPr>
          <p:cNvPr id="171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2" name="라벨"/>
          <p:cNvSpPr txBox="1"/>
          <p:nvPr/>
        </p:nvSpPr>
        <p:spPr>
          <a:xfrm>
            <a:off x="12408407" y="86045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ERROR &gt; get / auto · sender busy 면 대기</a:t>
            </a:r>
          </a:p>
        </p:txBody>
      </p:sp>
      <p:sp>
        <p:nvSpPr>
          <p:cNvPr id="173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4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send_sel = 7 → sender 가 "ERROR" 글자 생성</a:t>
            </a:r>
          </a:p>
        </p:txBody>
      </p:sp>
      <p:sp>
        <p:nvSpPr>
          <p:cNvPr id="175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6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FIFO_TX → uart_tx → tx : "ERROR" CR LF</a:t>
            </a:r>
          </a:p>
        </p:txBody>
      </p:sp>
      <p:sp>
        <p:nvSpPr>
          <p:cNvPr id="177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78" name="라벨"/>
          <p:cNvSpPr txBox="1"/>
          <p:nvPr/>
        </p:nvSpPr>
        <p:spPr>
          <a:xfrm>
            <a:off x="12408407" y="9061704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모드 · 버튼 · 화면 그대로 · 다음 "/" 부터 다시</a:t>
            </a:r>
          </a:p>
        </p:txBody>
      </p:sp>
      <p:cxnSp>
        <p:nvCxnSpPr>
          <p:cNvPr id="179" name="선 v2"/>
          <p:cNvCxnSpPr/>
          <p:nvPr/>
        </p:nvCxnSpPr>
        <p:spPr>
          <a:xfrm>
            <a:off x="11814048" y="4247388"/>
            <a:ext cx="0" cy="2427732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선 v2"/>
          <p:cNvCxnSpPr/>
          <p:nvPr/>
        </p:nvCxnSpPr>
        <p:spPr>
          <a:xfrm>
            <a:off x="11814048" y="6675120"/>
            <a:ext cx="457200" cy="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선 v2"/>
          <p:cNvCxnSpPr/>
          <p:nvPr/>
        </p:nvCxnSpPr>
        <p:spPr>
          <a:xfrm>
            <a:off x="12271248" y="6675120"/>
            <a:ext cx="0" cy="274320"/>
          </a:xfrm>
          <a:prstGeom prst="line">
            <a:avLst/>
          </a:prstGeom>
          <a:ln w="15875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접점 v2"/>
          <p:cNvSpPr/>
          <p:nvPr/>
        </p:nvSpPr>
        <p:spPr>
          <a:xfrm>
            <a:off x="11772900" y="42062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3" name="선 v2"/>
          <p:cNvCxnSpPr/>
          <p:nvPr/>
        </p:nvCxnSpPr>
        <p:spPr>
          <a:xfrm>
            <a:off x="11887200" y="4247388"/>
            <a:ext cx="0" cy="235458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선 v2"/>
          <p:cNvCxnSpPr/>
          <p:nvPr/>
        </p:nvCxnSpPr>
        <p:spPr>
          <a:xfrm>
            <a:off x="11887200" y="6601968"/>
            <a:ext cx="475488" cy="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선 v2"/>
          <p:cNvCxnSpPr/>
          <p:nvPr/>
        </p:nvCxnSpPr>
        <p:spPr>
          <a:xfrm>
            <a:off x="12362688" y="6601968"/>
            <a:ext cx="0" cy="347472"/>
          </a:xfrm>
          <a:prstGeom prst="line">
            <a:avLst/>
          </a:prstGeom>
          <a:ln w="15875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접점 v2"/>
          <p:cNvSpPr/>
          <p:nvPr/>
        </p:nvSpPr>
        <p:spPr>
          <a:xfrm>
            <a:off x="11846052" y="42062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7" name="선 v2"/>
          <p:cNvCxnSpPr/>
          <p:nvPr/>
        </p:nvCxnSpPr>
        <p:spPr>
          <a:xfrm>
            <a:off x="11960352" y="5390388"/>
            <a:ext cx="0" cy="1138428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선 v2"/>
          <p:cNvCxnSpPr/>
          <p:nvPr/>
        </p:nvCxnSpPr>
        <p:spPr>
          <a:xfrm>
            <a:off x="11960352" y="6528816"/>
            <a:ext cx="603504" cy="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선 v2"/>
          <p:cNvCxnSpPr/>
          <p:nvPr/>
        </p:nvCxnSpPr>
        <p:spPr>
          <a:xfrm>
            <a:off x="12563856" y="6528816"/>
            <a:ext cx="0" cy="420624"/>
          </a:xfrm>
          <a:prstGeom prst="line">
            <a:avLst/>
          </a:prstGeom>
          <a:ln w="15875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접점 v2"/>
          <p:cNvSpPr/>
          <p:nvPr/>
        </p:nvSpPr>
        <p:spPr>
          <a:xfrm>
            <a:off x="11919204" y="53492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1" name="선 v2"/>
          <p:cNvCxnSpPr/>
          <p:nvPr/>
        </p:nvCxnSpPr>
        <p:spPr>
          <a:xfrm>
            <a:off x="12033504" y="5390388"/>
            <a:ext cx="0" cy="1065276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선 v2"/>
          <p:cNvCxnSpPr/>
          <p:nvPr/>
        </p:nvCxnSpPr>
        <p:spPr>
          <a:xfrm>
            <a:off x="12033504" y="6455664"/>
            <a:ext cx="621792" cy="0"/>
          </a:xfrm>
          <a:prstGeom prst="line">
            <a:avLst/>
          </a:prstGeom>
          <a:ln w="1587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선 v2"/>
          <p:cNvCxnSpPr/>
          <p:nvPr/>
        </p:nvCxnSpPr>
        <p:spPr>
          <a:xfrm>
            <a:off x="12655296" y="6455664"/>
            <a:ext cx="0" cy="493776"/>
          </a:xfrm>
          <a:prstGeom prst="line">
            <a:avLst/>
          </a:prstGeom>
          <a:ln w="15875">
            <a:solidFill>
              <a:srgbClr val="D5D9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접점 v2"/>
          <p:cNvSpPr/>
          <p:nvPr/>
        </p:nvSpPr>
        <p:spPr>
          <a:xfrm>
            <a:off x="11992356" y="5349240"/>
            <a:ext cx="82296" cy="82296"/>
          </a:xfrm>
          <a:prstGeom prst="ellipse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라벨 v2"/>
          <p:cNvSpPr txBox="1"/>
          <p:nvPr/>
        </p:nvSpPr>
        <p:spPr>
          <a:xfrm>
            <a:off x="841248" y="9582912"/>
            <a:ext cx="15361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v2</a:t>
            </a:r>
            <a:r>
              <a:rPr sz="1100" b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  이 흐름은 v1 과 같음 · 바뀐 곳은 전송 MUX 입력 3 · 4 (distance·상태 · hum·temp·상태) 뿐  →  /get · /auto 장 참고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80C10A81-ABE3-5BF5-8C92-021B21BA9A03}"/>
              </a:ext>
            </a:extLst>
          </p:cNvPr>
          <p:cNvGrpSpPr/>
          <p:nvPr/>
        </p:nvGrpSpPr>
        <p:grpSpPr>
          <a:xfrm>
            <a:off x="427382" y="594360"/>
            <a:ext cx="8716617" cy="4876800"/>
            <a:chOff x="182880" y="594360"/>
            <a:chExt cx="10500360" cy="597408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FFE4D19E-FBE4-38EE-EC41-1853E39A2D54}"/>
                </a:ext>
              </a:extLst>
            </p:cNvPr>
            <p:cNvSpPr/>
            <p:nvPr/>
          </p:nvSpPr>
          <p:spPr>
            <a:xfrm>
              <a:off x="807720" y="1280160"/>
              <a:ext cx="4617720" cy="431292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UART</a:t>
              </a:r>
              <a:r>
                <a:rPr lang="ko-KR" altLang="en-US"/>
                <a:t> </a:t>
              </a:r>
              <a:r>
                <a:rPr lang="en-US" altLang="ko-KR"/>
                <a:t>CONSOLE</a:t>
              </a:r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798937D5-8720-986D-70E5-0B61103ABC8D}"/>
                </a:ext>
              </a:extLst>
            </p:cNvPr>
            <p:cNvSpPr/>
            <p:nvPr/>
          </p:nvSpPr>
          <p:spPr>
            <a:xfrm>
              <a:off x="5577840" y="1280160"/>
              <a:ext cx="4617720" cy="431292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FPGA</a:t>
              </a:r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6DB894B-3D9B-E957-112A-F971CCB50BD7}"/>
                </a:ext>
              </a:extLst>
            </p:cNvPr>
            <p:cNvSpPr/>
            <p:nvPr/>
          </p:nvSpPr>
          <p:spPr>
            <a:xfrm>
              <a:off x="182880" y="594360"/>
              <a:ext cx="10500360" cy="5974080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D6237C1-503D-E065-4FFE-DD0E8F7EC969}"/>
                </a:ext>
              </a:extLst>
            </p:cNvPr>
            <p:cNvSpPr/>
            <p:nvPr/>
          </p:nvSpPr>
          <p:spPr>
            <a:xfrm>
              <a:off x="2912240" y="777240"/>
              <a:ext cx="1630680" cy="502920"/>
            </a:xfrm>
            <a:prstGeom prst="rect">
              <a:avLst/>
            </a:prstGeom>
            <a:solidFill>
              <a:schemeClr val="bg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/mod s_ms 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34FD4F6-F90A-EFED-D9A6-8A18BED2C7C1}"/>
                </a:ext>
              </a:extLst>
            </p:cNvPr>
            <p:cNvSpPr/>
            <p:nvPr/>
          </p:nvSpPr>
          <p:spPr>
            <a:xfrm>
              <a:off x="807719" y="777240"/>
              <a:ext cx="1946677" cy="502920"/>
            </a:xfrm>
            <a:prstGeom prst="rect">
              <a:avLst/>
            </a:prstGeom>
            <a:solidFill>
              <a:schemeClr val="bg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</a:rPr>
                <a:t>스톱워치 제어</a:t>
              </a:r>
              <a:r>
                <a:rPr lang="en-US" altLang="ko-KR">
                  <a:solidFill>
                    <a:schemeClr val="tx1"/>
                  </a:solidFill>
                </a:rPr>
                <a:t> 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5506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4468</Words>
  <Application>Microsoft Office PowerPoint</Application>
  <PresentationFormat>사용자 지정</PresentationFormat>
  <Paragraphs>1065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Malgun Gothic</vt:lpstr>
      <vt:lpstr>Malgun Gothic Semilight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안성 정</cp:lastModifiedBy>
  <cp:revision>2</cp:revision>
  <dcterms:created xsi:type="dcterms:W3CDTF">2013-01-27T09:14:16Z</dcterms:created>
  <dcterms:modified xsi:type="dcterms:W3CDTF">2026-10-31T08:38:31Z</dcterms:modified>
  <cp:category/>
</cp:coreProperties>
</file>